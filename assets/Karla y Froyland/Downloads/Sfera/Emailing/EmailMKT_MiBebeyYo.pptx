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56b5f74ef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c56b5f74ef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c56b5f74ef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6b5f74ef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c56b5f74ef_2_4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c56b5f74ef_2_4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56b5f74ef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c56b5f74ef_2_10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c56b5f74ef_2_10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56b5f74ef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c56b5f74ef_2_11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c56b5f74ef_2_11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56b5f74ef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c56b5f74ef_2_16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c56b5f74ef_2_16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56b5f74ef_2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c56b5f74ef_2_23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c56b5f74ef_2_23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56b5f74ef_2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3c56b5f74ef_2_30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c56b5f74ef_2_30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56b5f74ef_2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3c56b5f74ef_2_35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c56b5f74ef_2_35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56b5f74ef_2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3c56b5f74ef_2_36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c56b5f74ef_2_36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56b5f74ef_2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c56b5f74ef_2_41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3c56b5f74ef_2_41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56b5f74ef_2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3c56b5f74ef_2_47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3c56b5f74ef_2_47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56b5f74ef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g3c56b5f74ef_2_51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c56b5f74ef_2_51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c56b5f74ef_2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" name="Google Shape;587;g3c56b5f74ef_2_52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g3c56b5f74ef_2_52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56b5f74ef_2_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g3c56b5f74ef_2_58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g3c56b5f74ef_2_58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c56b5f74ef_2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3" name="Google Shape;703;g3c56b5f74ef_2_63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g3c56b5f74ef_2_63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56b5f74ef_2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0" name="Google Shape;770;g3c56b5f74ef_2_70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g3c56b5f74ef_2_70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c56b5f74ef_2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3" name="Google Shape;783;g3c56b5f74ef_2_71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g3c56b5f74ef_2_71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56b5f74ef_2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g3c56b5f74ef_2_78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g3c56b5f74ef_2_78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c56b5f74ef_2_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6" name="Google Shape;926;g3c56b5f74ef_2_85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g3c56b5f74ef_2_85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c56b5f74ef_2_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7" name="Google Shape;997;g3c56b5f74ef_2_92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g3c56b5f74ef_2_92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c56b5f74ef_2_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9" name="Google Shape;1069;g3c56b5f74ef_2_99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g3c56b5f74ef_2_99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c56b5f74ef_2_10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7" name="Google Shape;1127;g3c56b5f74ef_2_105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g3c56b5f74ef_2_105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03A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347472" y="292608"/>
            <a:ext cx="1371600" cy="438912"/>
          </a:xfrm>
          <a:prstGeom prst="rect">
            <a:avLst/>
          </a:prstGeom>
          <a:solidFill>
            <a:srgbClr val="110B2A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47472" y="29260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1828800" y="292608"/>
            <a:ext cx="1691640" cy="438912"/>
          </a:xfrm>
          <a:prstGeom prst="rect">
            <a:avLst/>
          </a:prstGeom>
          <a:solidFill>
            <a:srgbClr val="110B2A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1828800" y="29260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MI BEBÉ Y YO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47472" y="10058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CURSO DE CAPACITACIÓN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47472" y="1389888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Georgia"/>
              <a:buNone/>
            </a:pPr>
            <a:r>
              <a:rPr lang="es" sz="3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Email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Georgia"/>
              <a:buNone/>
            </a:pPr>
            <a:r>
              <a:rPr lang="es" sz="3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Marketing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47472" y="27889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500"/>
              <a:buFont typeface="Calibri"/>
              <a:buNone/>
            </a:pPr>
            <a:r>
              <a:rPr lang="es" sz="15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para Mi Bebé y Yo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47472" y="3255264"/>
            <a:ext cx="32918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Guía didáctica: desde la teoría del email marketing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hasta el envío exitoso de campañas a miles de mamás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y papás en mibebeyyo.mx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7472" y="4133088"/>
            <a:ext cx="3291840" cy="594360"/>
          </a:xfrm>
          <a:prstGeom prst="rect">
            <a:avLst/>
          </a:prstGeom>
          <a:solidFill>
            <a:srgbClr val="0C082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502920" y="4187952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Eduardo Acevedo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02920" y="440740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Consultor Digital  ·  Sunname Technologies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069080" y="193885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aprenderás?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069080" y="669373"/>
            <a:ext cx="4846320" cy="868680"/>
          </a:xfrm>
          <a:prstGeom prst="rect">
            <a:avLst/>
          </a:prstGeom>
          <a:solidFill>
            <a:srgbClr val="0E1F48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4069080" y="669373"/>
            <a:ext cx="109728" cy="8686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2816" y="897973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4700016" y="760813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Ecosistema del Email Marketing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700016" y="108999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Objetivos, métricas clave y reglas anti-spam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069080" y="1693501"/>
            <a:ext cx="4846320" cy="868680"/>
          </a:xfrm>
          <a:prstGeom prst="rect">
            <a:avLst/>
          </a:prstGeom>
          <a:solidFill>
            <a:srgbClr val="1A0E3A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4069080" y="1693501"/>
            <a:ext cx="109728" cy="86868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2816" y="1922101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4700016" y="1784941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Herramientas y Fundamentos Web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700016" y="2114125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VSC, HTML/CSS y diseño responsive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069080" y="2717629"/>
            <a:ext cx="4846320" cy="868680"/>
          </a:xfrm>
          <a:prstGeom prst="rect">
            <a:avLst/>
          </a:prstGeom>
          <a:solidFill>
            <a:srgbClr val="0E1F48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069080" y="2717629"/>
            <a:ext cx="109728" cy="8686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2816" y="2946229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4700016" y="2809069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Edición Práctica de Plantillas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700016" y="3138253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Ctrl+H, textos, imágenes y previsualización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4069080" y="3741757"/>
            <a:ext cx="4846320" cy="868680"/>
          </a:xfrm>
          <a:prstGeom prst="rect">
            <a:avLst/>
          </a:prstGeom>
          <a:solidFill>
            <a:srgbClr val="1A0E3A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4069080" y="3741757"/>
            <a:ext cx="109728" cy="86868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42816" y="397035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4700016" y="383319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Ejecución y Gestión en Splio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700016" y="4162381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Subir, segmentar, probar y programar envíos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069080" y="4720165"/>
            <a:ext cx="1572768" cy="25603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4069080" y="4720165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 Módulos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733288" y="4720165"/>
            <a:ext cx="1572768" cy="25603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733288" y="4720165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Talleres Prácticos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397496" y="4720165"/>
            <a:ext cx="1572768" cy="25603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7397496" y="4720165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VSC · HTML · Splio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Contenido del Curso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ÍNDICE GENERAL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256032" y="777240"/>
            <a:ext cx="2029968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256032" y="777240"/>
            <a:ext cx="2029968" cy="21945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65760" y="1078992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Georgia"/>
              <a:buNone/>
            </a:pPr>
            <a:r>
              <a:rPr lang="es" sz="3000" b="1" i="0" u="none" strike="noStrike" cap="none">
                <a:solidFill>
                  <a:srgbClr val="46C2C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65760" y="164592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Ecosistema del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Email Marketing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65760" y="2377440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84632" y="235000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¿Para qué enviamos correos?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65760" y="2880360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484632" y="285292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Anatomía del correo exitoso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65760" y="3383280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84632" y="335584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Métricas clave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" y="3886200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484632" y="385876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Cómo evitar el spam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2432304" y="777240"/>
            <a:ext cx="2029968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2432304" y="777240"/>
            <a:ext cx="2029968" cy="21945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2542032" y="1078992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3000"/>
              <a:buFont typeface="Georgia"/>
              <a:buNone/>
            </a:pPr>
            <a:r>
              <a:rPr lang="es" sz="3000" b="1" i="0" u="none" strike="noStrike" cap="none">
                <a:solidFill>
                  <a:srgbClr val="7F52A0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542032" y="164592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Herramientas 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Fundamentos Web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2542032" y="2377440"/>
            <a:ext cx="54864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2660904" y="235000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Visual Studio Code (VSC)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2542032" y="2880360"/>
            <a:ext cx="54864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2660904" y="285292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HTML: el esqueleto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2542032" y="3383280"/>
            <a:ext cx="54864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2660904" y="335584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CSS: la ropa y el estilo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542032" y="3886200"/>
            <a:ext cx="54864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2660904" y="385876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Diseño responsive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608576" y="777240"/>
            <a:ext cx="2029968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4608576" y="777240"/>
            <a:ext cx="2029968" cy="21945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4718304" y="1078992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Georgia"/>
              <a:buNone/>
            </a:pPr>
            <a:r>
              <a:rPr lang="es" sz="3000" b="1" i="0" u="none" strike="noStrike" cap="none">
                <a:solidFill>
                  <a:srgbClr val="26398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718304" y="164592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Edición Práctica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de Plantillas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718304" y="237744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4837176" y="235000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Flujo de trabajo semanal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718304" y="288036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837176" y="285292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Ctrl+H: buscar y reemplazar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718304" y="338328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4837176" y="335584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Editar textos e imágenes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718304" y="388620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837176" y="385876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Previsualizar en Chrome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784848" y="777240"/>
            <a:ext cx="2029968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784848" y="777240"/>
            <a:ext cx="2029968" cy="219456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6894576" y="1078992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3000"/>
              <a:buFont typeface="Georgia"/>
              <a:buNone/>
            </a:pPr>
            <a:r>
              <a:rPr lang="es" sz="3000" b="1" i="0" u="none" strike="noStrike" cap="none">
                <a:solidFill>
                  <a:srgbClr val="2C1A56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894576" y="164592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Ejecución 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Gestión en Splio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894576" y="237744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013448" y="235000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Tour por Splio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894576" y="288036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7013448" y="285292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Subir la campaña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894576" y="338328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7013448" y="335584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Segmentación de audiencias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894576" y="388620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7013448" y="385876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Pruebas y programación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03A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182880" y="0"/>
            <a:ext cx="8961120" cy="4572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6858000" y="731520"/>
            <a:ext cx="2926080" cy="2926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16078"/>
            </a:srgbClr>
          </a:solidFill>
          <a:ln w="12700" cap="flat" cmpd="sng">
            <a:solidFill>
              <a:srgbClr val="7F52A0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863840" y="18288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20000"/>
            </a:srgbClr>
          </a:solidFill>
          <a:ln w="12700" cap="flat" cmpd="sng">
            <a:solidFill>
              <a:srgbClr val="46C2C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6217920" y="310896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45098"/>
            </a:srgbClr>
          </a:solidFill>
          <a:ln w="12700" cap="flat" cmpd="sng">
            <a:solidFill>
              <a:srgbClr val="26398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57200" y="1234440"/>
            <a:ext cx="68580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Ecosistema del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 Marketing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57200" y="290779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1400"/>
              <a:buFont typeface="Calibri"/>
              <a:buNone/>
            </a:pPr>
            <a:r>
              <a:rPr lang="es" sz="14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Objetivos · Anatomía · Métricas · Anti-Spam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1.1 — ¿Para Qué Enviamos Correos?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1 · 1.1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56032" y="758952"/>
            <a:ext cx="8631936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457200" y="84124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00"/>
              <a:buFont typeface="Calibri"/>
              <a:buNone/>
            </a:pPr>
            <a:r>
              <a:rPr lang="es" sz="10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El email marketing en Mi Bebé y Yo no es solo mandar mensajes: es la principal vía de comunicación con una comunidad de madres y padres que confían en la revista.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56032" y="1600200"/>
            <a:ext cx="2816352" cy="3337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256032" y="1600200"/>
            <a:ext cx="2816352" cy="29260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393192" y="198424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81960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912" y="20299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/>
          <p:nvPr/>
        </p:nvSpPr>
        <p:spPr>
          <a:xfrm>
            <a:off x="2587752" y="1636776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65760" y="2596896"/>
            <a:ext cx="2596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Llevar Tráfico a los Artículos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65760" y="3017520"/>
            <a:ext cx="25968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Enviamos un correo con titular atractivo y un botón que lleva al artículo en mibebeyyo.mx.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65760" y="3785616"/>
            <a:ext cx="2596896" cy="804672"/>
          </a:xfrm>
          <a:prstGeom prst="rect">
            <a:avLst/>
          </a:prstGeom>
          <a:solidFill>
            <a:srgbClr val="46C2CE">
              <a:alpha val="12156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624" y="38587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713232" y="3803904"/>
            <a:ext cx="224942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Más clics = más visitas = mayor ingreso publicitario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227832" y="1600200"/>
            <a:ext cx="2816352" cy="3337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3227832" y="1600200"/>
            <a:ext cx="2816352" cy="29260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3364992" y="198424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81960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0712" y="20299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/>
          <p:nvPr/>
        </p:nvSpPr>
        <p:spPr>
          <a:xfrm>
            <a:off x="5559552" y="1636776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337560" y="2596896"/>
            <a:ext cx="2596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Promover Sorteos y Canastillas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337560" y="3017520"/>
            <a:ext cx="25968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"¡Participa para ganar una canastilla! Solo suscriptoras de la newsletter participan."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337560" y="3785616"/>
            <a:ext cx="2596896" cy="804672"/>
          </a:xfrm>
          <a:prstGeom prst="rect">
            <a:avLst/>
          </a:prstGeom>
          <a:solidFill>
            <a:srgbClr val="7F52A0">
              <a:alpha val="12156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2424" y="38587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3685032" y="3803904"/>
            <a:ext cx="224942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Fideliza lectoras y hace crecer la lista de correos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199632" y="1600200"/>
            <a:ext cx="2816352" cy="3337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6199632" y="1600200"/>
            <a:ext cx="2816352" cy="29260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6336792" y="198424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81960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2512" y="20299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/>
          <p:nvPr/>
        </p:nvSpPr>
        <p:spPr>
          <a:xfrm>
            <a:off x="8531352" y="1636776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309360" y="2596896"/>
            <a:ext cx="2596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Campañas de Marcas Patrocinadoras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6309360" y="3017520"/>
            <a:ext cx="25968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Una marca paga a Mi Bebé y Yo para enviar un correo dedicado a sus suscriptoras.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309360" y="3785616"/>
            <a:ext cx="2596896" cy="804672"/>
          </a:xfrm>
          <a:prstGeom prst="rect">
            <a:avLst/>
          </a:prstGeom>
          <a:solidFill>
            <a:srgbClr val="263980">
              <a:alpha val="1215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4224" y="38587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/>
          <p:nvPr/>
        </p:nvSpPr>
        <p:spPr>
          <a:xfrm>
            <a:off x="6656832" y="3803904"/>
            <a:ext cx="224942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La edición correcta del HTML es crucial — acuerdo comercial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 — La Anatomía de un Correo Exitoso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1 · 1.2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256032" y="758952"/>
            <a:ext cx="3520440" cy="4160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256032" y="758952"/>
            <a:ext cx="3520440" cy="310896"/>
          </a:xfrm>
          <a:prstGeom prst="rect">
            <a:avLst/>
          </a:prstGeom>
          <a:solidFill>
            <a:srgbClr val="E8EDF8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384048" y="795528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📬  Mi Bebé y Yo — vista previa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292608" y="1115568"/>
            <a:ext cx="3456432" cy="38404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365760" y="1133856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lang="es" sz="5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ASUNTO</a:t>
            </a:r>
            <a:endParaRPr sz="5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365760" y="1207008"/>
            <a:ext cx="331012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¿Sientes que nunca duermes? 😴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292608" y="1517904"/>
            <a:ext cx="3456432" cy="329184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365760" y="1536192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500"/>
              <a:buFont typeface="Calibri"/>
              <a:buNone/>
            </a:pPr>
            <a:r>
              <a:rPr lang="es" sz="500" b="1" i="0" u="none" strike="noStrike" cap="none" dirty="0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PRE-HEADER</a:t>
            </a:r>
            <a:endParaRPr sz="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65760" y="1643719"/>
            <a:ext cx="331012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 dirty="0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Descubre los trucos para que tu bebé duerma más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292608" y="1865376"/>
            <a:ext cx="3456432" cy="658368"/>
          </a:xfrm>
          <a:prstGeom prst="rect">
            <a:avLst/>
          </a:prstGeom>
          <a:solidFill>
            <a:srgbClr val="E6F8FA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365760" y="1883664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500"/>
              <a:buFont typeface="Calibri"/>
              <a:buNone/>
            </a:pPr>
            <a:r>
              <a:rPr lang="es" sz="50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BANNER PRINCIPAL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65760" y="2048256"/>
            <a:ext cx="33101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5070"/>
              </a:buClr>
              <a:buSzPts val="800"/>
              <a:buFont typeface="Calibri"/>
              <a:buNone/>
            </a:pPr>
            <a:r>
              <a:rPr lang="es" sz="800" b="0" i="0" u="none" strike="noStrike" cap="none" dirty="0">
                <a:solidFill>
                  <a:srgbClr val="3A5070"/>
                </a:solidFill>
                <a:latin typeface="Calibri"/>
                <a:ea typeface="Calibri"/>
                <a:cs typeface="Calibri"/>
                <a:sym typeface="Calibri"/>
              </a:rPr>
              <a:t>🖼  Imagen grande · tema central de la semana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292608" y="2542032"/>
            <a:ext cx="3456432" cy="4389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365760" y="2560320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500"/>
              <a:buFont typeface="Calibri"/>
              <a:buNone/>
            </a:pPr>
            <a:r>
              <a:rPr lang="es" sz="500" b="1" i="0" u="none" strike="noStrike" cap="none" dirty="0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TITULAR + EXTRACTO</a:t>
            </a:r>
            <a:endParaRPr sz="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65760" y="2724912"/>
            <a:ext cx="3310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Párrafo con resumen del artículo más importante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292608" y="2999232"/>
            <a:ext cx="3456432" cy="32918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365760" y="3017520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lang="es" sz="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BOTÓN CTA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65760" y="3090672"/>
            <a:ext cx="331012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Lee el artículo completo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292608" y="3346704"/>
            <a:ext cx="3456432" cy="438912"/>
          </a:xfrm>
          <a:prstGeom prst="rect">
            <a:avLst/>
          </a:prstGeom>
          <a:solidFill>
            <a:srgbClr val="EFF3FF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365760" y="3364992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500"/>
              <a:buFont typeface="Calibri"/>
              <a:buNone/>
            </a:pPr>
            <a:r>
              <a:rPr lang="es" sz="50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ARTÍCULOS SECUNDARIOS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65760" y="3529584"/>
            <a:ext cx="3310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2–4 artículos: imagen + título + botón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92608" y="3803904"/>
            <a:ext cx="3456432" cy="329184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365760" y="3822192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500"/>
              <a:buFont typeface="Calibri"/>
              <a:buNone/>
            </a:pPr>
            <a:r>
              <a:rPr lang="es" sz="50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SORTEO / PATROCINADOR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365760" y="3895344"/>
            <a:ext cx="331012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Sección condicional si aplica esa semana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2608" y="4151376"/>
            <a:ext cx="3456432" cy="347472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D0D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65760" y="4169664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Calibri"/>
              <a:buNone/>
            </a:pPr>
            <a:r>
              <a:rPr lang="es" sz="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FOOTER (pie)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365760" y="4242816"/>
            <a:ext cx="331012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00"/>
              <a:buFont typeface="Calibri"/>
              <a:buNone/>
            </a:pPr>
            <a:r>
              <a:rPr lang="es" sz="800" b="0" i="0" u="none" strike="noStrike" cap="none" dirty="0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Logo · Redes · Enlace de desuscripción ✦ obligatorio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3977640" y="713232"/>
            <a:ext cx="4919472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3977640" y="713232"/>
            <a:ext cx="4919472" cy="32004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8224" y="7863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4352544" y="758952"/>
            <a:ext cx="44256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Asunto — La 1ª Impresión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4114800" y="1170432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4334256" y="1014644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 dirty="0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Empatía real: '¿Sientes que nunca duermes?' 😴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4114800" y="150876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4334256" y="1352972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 dirty="0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Emojis estratégicos: 🍼🤰💕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4114800" y="184708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4334256" y="1691300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Específico y curioso — genera preguntas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114800" y="218541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7490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4334256" y="2029628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 dirty="0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Evita: 'Newsletter de esta semana'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3977640" y="2377440"/>
            <a:ext cx="4919472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3977640" y="2377440"/>
            <a:ext cx="4919472" cy="32004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8224" y="24505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/>
          <p:nvPr/>
        </p:nvSpPr>
        <p:spPr>
          <a:xfrm>
            <a:off x="4352544" y="2423160"/>
            <a:ext cx="44256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Pre-header — El Gancho Extra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4114800" y="269714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4334256" y="2678852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Complementa y amplía el asunto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4114800" y="303546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4334256" y="3017180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Aparece antes de abrir en Gmail/Outlook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4114800" y="337379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7490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4334256" y="3355508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Añade contexto para convencer de abrir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3977640" y="3749040"/>
            <a:ext cx="4919472" cy="12801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3977640" y="3749040"/>
            <a:ext cx="4919472" cy="32004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5" name="Google Shape;275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78224" y="38221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/>
          <p:nvPr/>
        </p:nvSpPr>
        <p:spPr>
          <a:xfrm>
            <a:off x="4352544" y="3794760"/>
            <a:ext cx="44256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CTA — Botón de Acción Claro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4114800" y="4185615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74901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4334256" y="4167327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'Lee el artículo completo'  ·  'Participa aquí'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114800" y="4523943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74901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4334256" y="4505655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Grande y fácil de tocar en móvil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4114800" y="488289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74901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4334256" y="4864608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El elemento más importante para generar clics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 — Métricas Clave: Los Números que Importan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1 · 1.3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256032" y="758952"/>
            <a:ext cx="1627632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256032" y="758952"/>
            <a:ext cx="1627632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0515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0"/>
          <p:cNvSpPr/>
          <p:nvPr/>
        </p:nvSpPr>
        <p:spPr>
          <a:xfrm>
            <a:off x="347472" y="1609344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Open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347472" y="18745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Tasa de Apertura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384048" y="2139696"/>
            <a:ext cx="1371600" cy="548640"/>
          </a:xfrm>
          <a:prstGeom prst="rect">
            <a:avLst/>
          </a:prstGeom>
          <a:solidFill>
            <a:srgbClr val="46C2CE">
              <a:alpha val="85882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384048" y="21396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000"/>
              <a:buFont typeface="Calibri"/>
              <a:buNone/>
            </a:pPr>
            <a:r>
              <a:rPr lang="es" sz="2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20–35%</a:t>
            </a:r>
            <a:endParaRPr sz="2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347472" y="2779776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Referencia del sector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347472" y="299923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% de personas que abrieron el correo entre el total de destinatarios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347472" y="3611880"/>
            <a:ext cx="1444752" cy="658368"/>
          </a:xfrm>
          <a:prstGeom prst="rect">
            <a:avLst/>
          </a:prstGeom>
          <a:solidFill>
            <a:srgbClr val="46C2CE">
              <a:alpha val="10196"/>
            </a:srgbClr>
          </a:solidFill>
          <a:ln w="12700" cap="flat" cmpd="sng">
            <a:solidFill>
              <a:srgbClr val="46C2C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904" y="36758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0"/>
          <p:cNvSpPr/>
          <p:nvPr/>
        </p:nvSpPr>
        <p:spPr>
          <a:xfrm>
            <a:off x="585216" y="3639312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Temas como 'Nombres de bebé' superan el 40%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1993392" y="758952"/>
            <a:ext cx="1627632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1993392" y="758952"/>
            <a:ext cx="1627632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" name="Google Shape;309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0320" y="10515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/>
          <p:nvPr/>
        </p:nvSpPr>
        <p:spPr>
          <a:xfrm>
            <a:off x="2084832" y="1609344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Click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2084832" y="18745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Tasa de Clics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2121408" y="2139696"/>
            <a:ext cx="1371600" cy="548640"/>
          </a:xfrm>
          <a:prstGeom prst="rect">
            <a:avLst/>
          </a:prstGeom>
          <a:solidFill>
            <a:srgbClr val="7F52A0">
              <a:alpha val="85882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2121408" y="21396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2000"/>
              <a:buFont typeface="Calibri"/>
              <a:buNone/>
            </a:pPr>
            <a:r>
              <a:rPr lang="es" sz="2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2–5%</a:t>
            </a:r>
            <a:endParaRPr sz="2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2084832" y="2779776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Referencia del sector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2084832" y="299923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% que hicieron clic en algún enlace dentro del correo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2084832" y="3611880"/>
            <a:ext cx="1444752" cy="658368"/>
          </a:xfrm>
          <a:prstGeom prst="rect">
            <a:avLst/>
          </a:prstGeom>
          <a:solidFill>
            <a:srgbClr val="7F52A0">
              <a:alpha val="10196"/>
            </a:srgbClr>
          </a:solidFill>
          <a:ln w="12700" cap="flat" cmpd="sng">
            <a:solidFill>
              <a:srgbClr val="7F52A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2264" y="36758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0"/>
          <p:cNvSpPr/>
          <p:nvPr/>
        </p:nvSpPr>
        <p:spPr>
          <a:xfrm>
            <a:off x="2322576" y="3639312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CTAs claros y relevantes mejoran este número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3730752" y="758952"/>
            <a:ext cx="1627632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3730752" y="758952"/>
            <a:ext cx="1627632" cy="20116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97680" y="10515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/>
          <p:nvPr/>
        </p:nvSpPr>
        <p:spPr>
          <a:xfrm>
            <a:off x="3822192" y="1609344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Bounce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3822192" y="18745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Tasa de Rebote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3858768" y="2139696"/>
            <a:ext cx="1371600" cy="548640"/>
          </a:xfrm>
          <a:prstGeom prst="rect">
            <a:avLst/>
          </a:prstGeom>
          <a:solidFill>
            <a:srgbClr val="F5A623">
              <a:alpha val="85882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3858768" y="21396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libri"/>
              <a:buNone/>
            </a:pPr>
            <a:r>
              <a:rPr lang="es" sz="2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&lt; 2%</a:t>
            </a:r>
            <a:endParaRPr sz="2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3822192" y="2779776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Referencia del sector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3822192" y="299923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Correos que no pudieron ser entregados al destinatario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3822192" y="3611880"/>
            <a:ext cx="1444752" cy="658368"/>
          </a:xfrm>
          <a:prstGeom prst="rect">
            <a:avLst/>
          </a:prstGeom>
          <a:solidFill>
            <a:srgbClr val="F5A623">
              <a:alpha val="10196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9" name="Google Shape;329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9624" y="36758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/>
          <p:nvPr/>
        </p:nvSpPr>
        <p:spPr>
          <a:xfrm>
            <a:off x="4059936" y="3639312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Hard: dirección inválida · Soft: bandeja llena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468112" y="758952"/>
            <a:ext cx="1627632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5468112" y="758952"/>
            <a:ext cx="1627632" cy="201168"/>
          </a:xfrm>
          <a:prstGeom prst="rect">
            <a:avLst/>
          </a:prstGeom>
          <a:solidFill>
            <a:srgbClr val="E5334E"/>
          </a:solidFill>
          <a:ln w="12700" cap="flat" cmpd="sng">
            <a:solidFill>
              <a:srgbClr val="E533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3" name="Google Shape;333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5040" y="10515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/>
          <p:nvPr/>
        </p:nvSpPr>
        <p:spPr>
          <a:xfrm>
            <a:off x="5559552" y="1609344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Unsubscribe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5559552" y="18745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Desuscripción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5596128" y="2139696"/>
            <a:ext cx="1371600" cy="548640"/>
          </a:xfrm>
          <a:prstGeom prst="rect">
            <a:avLst/>
          </a:prstGeom>
          <a:solidFill>
            <a:srgbClr val="E5334E">
              <a:alpha val="85882"/>
            </a:srgbClr>
          </a:solidFill>
          <a:ln w="12700" cap="flat" cmpd="sng">
            <a:solidFill>
              <a:srgbClr val="E533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5596128" y="21396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34E"/>
              </a:buClr>
              <a:buSzPts val="2000"/>
              <a:buFont typeface="Calibri"/>
              <a:buNone/>
            </a:pPr>
            <a:r>
              <a:rPr lang="es" sz="2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&lt; 0.5%</a:t>
            </a:r>
            <a:endParaRPr sz="2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5559552" y="2779776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Referencia del sector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5559552" y="299923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Personas que se dieron de baja de la newsletter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5559552" y="3611880"/>
            <a:ext cx="1444752" cy="658368"/>
          </a:xfrm>
          <a:prstGeom prst="rect">
            <a:avLst/>
          </a:prstGeom>
          <a:solidFill>
            <a:srgbClr val="E5334E">
              <a:alpha val="10196"/>
            </a:srgbClr>
          </a:solidFill>
          <a:ln w="12700" cap="flat" cmpd="sng">
            <a:solidFill>
              <a:srgbClr val="E5334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1" name="Google Shape;341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86984" y="36758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0"/>
          <p:cNvSpPr/>
          <p:nvPr/>
        </p:nvSpPr>
        <p:spPr>
          <a:xfrm>
            <a:off x="5797296" y="3639312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Segmentar correctamente reduce este número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7205472" y="758952"/>
            <a:ext cx="1627632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7205472" y="758952"/>
            <a:ext cx="1627632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5" name="Google Shape;345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72400" y="10515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0"/>
          <p:cNvSpPr/>
          <p:nvPr/>
        </p:nvSpPr>
        <p:spPr>
          <a:xfrm>
            <a:off x="7296912" y="1609344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Spam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7296912" y="18745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Tasa de Spam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7333488" y="2139696"/>
            <a:ext cx="1371600" cy="548640"/>
          </a:xfrm>
          <a:prstGeom prst="rect">
            <a:avLst/>
          </a:prstGeom>
          <a:solidFill>
            <a:srgbClr val="2C1A56">
              <a:alpha val="85882"/>
            </a:srgbClr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7333488" y="2139696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2000"/>
              <a:buFont typeface="Calibri"/>
              <a:buNone/>
            </a:pPr>
            <a:r>
              <a:rPr lang="es" sz="2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&lt; 0.1%</a:t>
            </a:r>
            <a:endParaRPr sz="2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7296912" y="2779776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Referencia del sector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7296912" y="299923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Correos marcados como spam por los destinatarios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7296912" y="3611880"/>
            <a:ext cx="1444752" cy="658368"/>
          </a:xfrm>
          <a:prstGeom prst="rect">
            <a:avLst/>
          </a:prstGeom>
          <a:solidFill>
            <a:srgbClr val="2C1A56">
              <a:alpha val="10196"/>
            </a:srgbClr>
          </a:solidFill>
          <a:ln w="12700" cap="flat" cmpd="sng">
            <a:solidFill>
              <a:srgbClr val="2C1A5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3" name="Google Shape;353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344" y="36758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0"/>
          <p:cNvSpPr/>
          <p:nvPr/>
        </p:nvSpPr>
        <p:spPr>
          <a:xfrm>
            <a:off x="7534656" y="3639312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Nunca superarlo — afecta la entregabilidad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1.4 — Cómo Evitar que los Correos Caigan en Spam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1 · 1.4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256032" y="758952"/>
            <a:ext cx="4169664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1"/>
          <p:cNvSpPr/>
          <p:nvPr/>
        </p:nvSpPr>
        <p:spPr>
          <a:xfrm>
            <a:off x="256032" y="758952"/>
            <a:ext cx="4169664" cy="365760"/>
          </a:xfrm>
          <a:prstGeom prst="rect">
            <a:avLst/>
          </a:prstGeom>
          <a:solidFill>
            <a:srgbClr val="E5334E"/>
          </a:solidFill>
          <a:ln w="12700" cap="flat" cmpd="sng">
            <a:solidFill>
              <a:srgbClr val="E533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822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1"/>
          <p:cNvSpPr/>
          <p:nvPr/>
        </p:nvSpPr>
        <p:spPr>
          <a:xfrm>
            <a:off x="658368" y="82296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NUNCA hagas esto — generan spam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384048" y="1261872"/>
            <a:ext cx="3913632" cy="402336"/>
          </a:xfrm>
          <a:prstGeom prst="rect">
            <a:avLst/>
          </a:prstGeom>
          <a:solidFill>
            <a:srgbClr val="E5334E">
              <a:alpha val="9019"/>
            </a:srgbClr>
          </a:solidFill>
          <a:ln w="12700" cap="flat" cmpd="sng">
            <a:solidFill>
              <a:srgbClr val="E5334E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2" name="Google Shape;372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" y="13441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1"/>
          <p:cNvSpPr/>
          <p:nvPr/>
        </p:nvSpPr>
        <p:spPr>
          <a:xfrm>
            <a:off x="694944" y="1280160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Palabras: GRATIS, GANA DINERO, ¡URGENTE!, 100% GARANTIZADO en el asunto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384048" y="1737360"/>
            <a:ext cx="3913632" cy="402336"/>
          </a:xfrm>
          <a:prstGeom prst="rect">
            <a:avLst/>
          </a:prstGeom>
          <a:solidFill>
            <a:srgbClr val="E5334E">
              <a:alpha val="9019"/>
            </a:srgbClr>
          </a:solidFill>
          <a:ln w="12700" cap="flat" cmpd="sng">
            <a:solidFill>
              <a:srgbClr val="E5334E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" y="18196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1"/>
          <p:cNvSpPr/>
          <p:nvPr/>
        </p:nvSpPr>
        <p:spPr>
          <a:xfrm>
            <a:off x="694944" y="1755648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Asunto escrito en MAYÚSCULAS COMPLETAS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384048" y="2212848"/>
            <a:ext cx="3913632" cy="402336"/>
          </a:xfrm>
          <a:prstGeom prst="rect">
            <a:avLst/>
          </a:prstGeom>
          <a:solidFill>
            <a:srgbClr val="E5334E">
              <a:alpha val="9019"/>
            </a:srgbClr>
          </a:solidFill>
          <a:ln w="12700" cap="flat" cmpd="sng">
            <a:solidFill>
              <a:srgbClr val="E5334E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8" name="Google Shape;378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" y="22951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1"/>
          <p:cNvSpPr/>
          <p:nvPr/>
        </p:nvSpPr>
        <p:spPr>
          <a:xfrm>
            <a:off x="694944" y="2231136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Demasiadas imágenes con muy poco texto (ideal: 60% texto / 40% imágenes)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384048" y="2688336"/>
            <a:ext cx="3913632" cy="402336"/>
          </a:xfrm>
          <a:prstGeom prst="rect">
            <a:avLst/>
          </a:prstGeom>
          <a:solidFill>
            <a:srgbClr val="E5334E">
              <a:alpha val="9019"/>
            </a:srgbClr>
          </a:solidFill>
          <a:ln w="12700" cap="flat" cmpd="sng">
            <a:solidFill>
              <a:srgbClr val="E5334E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" y="27706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1"/>
          <p:cNvSpPr/>
          <p:nvPr/>
        </p:nvSpPr>
        <p:spPr>
          <a:xfrm>
            <a:off x="694944" y="2706624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Enviar a listas compradas o no verificadas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384048" y="3163824"/>
            <a:ext cx="3913632" cy="402336"/>
          </a:xfrm>
          <a:prstGeom prst="rect">
            <a:avLst/>
          </a:prstGeom>
          <a:solidFill>
            <a:srgbClr val="E5334E">
              <a:alpha val="9019"/>
            </a:srgbClr>
          </a:solidFill>
          <a:ln w="12700" cap="flat" cmpd="sng">
            <a:solidFill>
              <a:srgbClr val="E5334E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4" name="Google Shape;384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" y="3246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1"/>
          <p:cNvSpPr/>
          <p:nvPr/>
        </p:nvSpPr>
        <p:spPr>
          <a:xfrm>
            <a:off x="694944" y="3182112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No incluir enlace de desuscripción en el footer del correo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384048" y="3639312"/>
            <a:ext cx="3913632" cy="402336"/>
          </a:xfrm>
          <a:prstGeom prst="rect">
            <a:avLst/>
          </a:prstGeom>
          <a:solidFill>
            <a:srgbClr val="E5334E">
              <a:alpha val="9019"/>
            </a:srgbClr>
          </a:solidFill>
          <a:ln w="12700" cap="flat" cmpd="sng">
            <a:solidFill>
              <a:srgbClr val="E5334E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" name="Google Shape;387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" y="37216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1"/>
          <p:cNvSpPr/>
          <p:nvPr/>
        </p:nvSpPr>
        <p:spPr>
          <a:xfrm>
            <a:off x="694944" y="3657600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Muchos signos de exclamación seguidos !!!!!!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4718304" y="758952"/>
            <a:ext cx="4169664" cy="3977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4718304" y="758952"/>
            <a:ext cx="4169664" cy="365760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1" name="Google Shape;391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8032" y="822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/>
          <p:nvPr/>
        </p:nvSpPr>
        <p:spPr>
          <a:xfrm>
            <a:off x="5120640" y="82296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Buenas prácticas — hazlo siempre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4846320" y="1261872"/>
            <a:ext cx="3913632" cy="402336"/>
          </a:xfrm>
          <a:prstGeom prst="rect">
            <a:avLst/>
          </a:prstGeom>
          <a:solidFill>
            <a:srgbClr val="27AE60">
              <a:alpha val="9019"/>
            </a:srgbClr>
          </a:solidFill>
          <a:ln w="12700" cap="flat" cmpd="sng">
            <a:solidFill>
              <a:srgbClr val="27AE6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13441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1"/>
          <p:cNvSpPr/>
          <p:nvPr/>
        </p:nvSpPr>
        <p:spPr>
          <a:xfrm>
            <a:off x="5148072" y="1280160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Remitente reconocible: 'Mi Bebé y Yo' en lugar de un correo desconocido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4846320" y="1737360"/>
            <a:ext cx="3913632" cy="402336"/>
          </a:xfrm>
          <a:prstGeom prst="rect">
            <a:avLst/>
          </a:prstGeom>
          <a:solidFill>
            <a:srgbClr val="27AE60">
              <a:alpha val="9019"/>
            </a:srgbClr>
          </a:solidFill>
          <a:ln w="12700" cap="flat" cmpd="sng">
            <a:solidFill>
              <a:srgbClr val="27AE6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7" name="Google Shape;397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18196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1"/>
          <p:cNvSpPr/>
          <p:nvPr/>
        </p:nvSpPr>
        <p:spPr>
          <a:xfrm>
            <a:off x="5148072" y="1755648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Asuntos naturales, conversacionales y empáticos con la audiencia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4846320" y="2212848"/>
            <a:ext cx="3913632" cy="402336"/>
          </a:xfrm>
          <a:prstGeom prst="rect">
            <a:avLst/>
          </a:prstGeom>
          <a:solidFill>
            <a:srgbClr val="27AE60">
              <a:alpha val="9019"/>
            </a:srgbClr>
          </a:solidFill>
          <a:ln w="12700" cap="flat" cmpd="sng">
            <a:solidFill>
              <a:srgbClr val="27AE6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0" name="Google Shape;400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22951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5148072" y="2231136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Siempre incluir el enlace de desuscripción en el footer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4846320" y="2688336"/>
            <a:ext cx="3913632" cy="402336"/>
          </a:xfrm>
          <a:prstGeom prst="rect">
            <a:avLst/>
          </a:prstGeom>
          <a:solidFill>
            <a:srgbClr val="27AE60">
              <a:alpha val="9019"/>
            </a:srgbClr>
          </a:solidFill>
          <a:ln w="12700" cap="flat" cmpd="sng">
            <a:solidFill>
              <a:srgbClr val="27AE6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3" name="Google Shape;403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27706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1"/>
          <p:cNvSpPr/>
          <p:nvPr/>
        </p:nvSpPr>
        <p:spPr>
          <a:xfrm>
            <a:off x="5148072" y="2706624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Mantener la base de datos limpia y actualizada en Splio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4846320" y="3163824"/>
            <a:ext cx="3913632" cy="402336"/>
          </a:xfrm>
          <a:prstGeom prst="rect">
            <a:avLst/>
          </a:prstGeom>
          <a:solidFill>
            <a:srgbClr val="27AE60">
              <a:alpha val="9019"/>
            </a:srgbClr>
          </a:solidFill>
          <a:ln w="12700" cap="flat" cmpd="sng">
            <a:solidFill>
              <a:srgbClr val="27AE6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6" name="Google Shape;406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3246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1"/>
          <p:cNvSpPr/>
          <p:nvPr/>
        </p:nvSpPr>
        <p:spPr>
          <a:xfrm>
            <a:off x="5148072" y="3182112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Enviar desde un dominio autenticado (lo configura el equipo técnico)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4846320" y="3639312"/>
            <a:ext cx="3913632" cy="402336"/>
          </a:xfrm>
          <a:prstGeom prst="rect">
            <a:avLst/>
          </a:prstGeom>
          <a:solidFill>
            <a:srgbClr val="27AE60">
              <a:alpha val="9019"/>
            </a:srgbClr>
          </a:solidFill>
          <a:ln w="12700" cap="flat" cmpd="sng">
            <a:solidFill>
              <a:srgbClr val="27AE6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" name="Google Shape;409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2040" y="37216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1"/>
          <p:cNvSpPr/>
          <p:nvPr/>
        </p:nvSpPr>
        <p:spPr>
          <a:xfrm>
            <a:off x="5148072" y="3657600"/>
            <a:ext cx="35295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Relación equilibrada: 60% texto — 40% imágenes en el cuerpo del correo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03A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182880" y="0"/>
            <a:ext cx="8961120" cy="4572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6858000" y="731520"/>
            <a:ext cx="2926080" cy="2926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16078"/>
            </a:srgbClr>
          </a:solidFill>
          <a:ln w="12700" cap="flat" cmpd="sng">
            <a:solidFill>
              <a:srgbClr val="7F52A0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7863840" y="18288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20000"/>
            </a:srgbClr>
          </a:solidFill>
          <a:ln w="12700" cap="flat" cmpd="sng">
            <a:solidFill>
              <a:srgbClr val="46C2C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6217920" y="310896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45098"/>
            </a:srgbClr>
          </a:solidFill>
          <a:ln w="12700" cap="flat" cmpd="sng">
            <a:solidFill>
              <a:srgbClr val="26398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457200" y="1234440"/>
            <a:ext cx="68580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 y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Fundamentos Web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457200" y="290779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1400"/>
              <a:buFont typeface="Calibri"/>
              <a:buNone/>
            </a:pPr>
            <a:r>
              <a:rPr lang="es" sz="14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VSC · HTML · CSS · Diseño Responsive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3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2.1 — Visual Studio Code: Tu Espacio de Trabajo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2 · 2.1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256032" y="758952"/>
            <a:ext cx="8631936" cy="685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438912" y="841248"/>
            <a:ext cx="8321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Visual Studio Code (VSC) es un editor de texto gratuito de Microsoft que nos permite abrir y editar archivos HTML. Colorea el código según su función (syntax highlighting), facilitando identificar textos, enlaces e imágenes.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256032" y="1591056"/>
            <a:ext cx="4169664" cy="1874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256032" y="1591056"/>
            <a:ext cx="4169664" cy="32004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420624" y="1627632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Cómo instalar VSC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384048" y="202996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3"/>
          <p:cNvSpPr/>
          <p:nvPr/>
        </p:nvSpPr>
        <p:spPr>
          <a:xfrm>
            <a:off x="384048" y="202996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658368" y="2011680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Abre tu navegador y ve a code.visualstudio.com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384048" y="235915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384048" y="23591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658368" y="2340864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Haz clic en Descargar para Windows o Mac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384048" y="268833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384048" y="268833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658368" y="2670048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Instala el programa siguiendo las instrucciones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384048" y="30175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3"/>
          <p:cNvSpPr/>
          <p:nvPr/>
        </p:nvSpPr>
        <p:spPr>
          <a:xfrm>
            <a:off x="384048" y="30175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658368" y="2999232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Abre VSC — verás una pantalla oscura de bienvenida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256032" y="3593592"/>
            <a:ext cx="4169664" cy="1005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3"/>
          <p:cNvSpPr/>
          <p:nvPr/>
        </p:nvSpPr>
        <p:spPr>
          <a:xfrm>
            <a:off x="256032" y="3593592"/>
            <a:ext cx="4169664" cy="29260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402336" y="3630168"/>
            <a:ext cx="3886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Cómo abrir la plantilla HTML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402336" y="396849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Archivo → Abrir Archivo (File → Open File) → selecciona el archivo .html → Abrir. El código aparecerá con colores en el panel principal.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4718304" y="1591056"/>
            <a:ext cx="4169664" cy="30083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3"/>
          <p:cNvSpPr/>
          <p:nvPr/>
        </p:nvSpPr>
        <p:spPr>
          <a:xfrm>
            <a:off x="4718304" y="1591056"/>
            <a:ext cx="4169664" cy="32004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23"/>
          <p:cNvSpPr/>
          <p:nvPr/>
        </p:nvSpPr>
        <p:spPr>
          <a:xfrm>
            <a:off x="4864608" y="1627632"/>
            <a:ext cx="39136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Extensiones Recomendadas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4846320" y="2048256"/>
            <a:ext cx="3913632" cy="676656"/>
          </a:xfrm>
          <a:prstGeom prst="rect">
            <a:avLst/>
          </a:prstGeom>
          <a:solidFill>
            <a:srgbClr val="46C2CE">
              <a:alpha val="10196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4846320" y="2048256"/>
            <a:ext cx="91440" cy="676656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5010912" y="2103120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Prettier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5010912" y="2359152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Autoformatea el código para que sea más legible y ordenado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4846320" y="2871216"/>
            <a:ext cx="3913632" cy="676656"/>
          </a:xfrm>
          <a:prstGeom prst="rect">
            <a:avLst/>
          </a:prstGeom>
          <a:solidFill>
            <a:srgbClr val="7F52A0">
              <a:alpha val="10196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4846320" y="2871216"/>
            <a:ext cx="91440" cy="676656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5010912" y="2926080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Auto Rename Tag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5010912" y="3182112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Al cambiar una etiqueta HTML, cambia la de cierre automáticamente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4846320" y="3694176"/>
            <a:ext cx="3913632" cy="676656"/>
          </a:xfrm>
          <a:prstGeom prst="rect">
            <a:avLst/>
          </a:prstGeom>
          <a:solidFill>
            <a:srgbClr val="263980">
              <a:alpha val="1019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4846320" y="3694176"/>
            <a:ext cx="91440" cy="676656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5010912" y="3749040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Live Server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5010912" y="4005072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Previsualiza el HTML en el navegador en tiempo real mientras editas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4718304" y="4535424"/>
            <a:ext cx="4169664" cy="64008"/>
          </a:xfrm>
          <a:prstGeom prst="rect">
            <a:avLst/>
          </a:prstGeom>
          <a:solidFill>
            <a:srgbClr val="46C2CE">
              <a:alpha val="60000"/>
            </a:srgbClr>
          </a:solidFill>
          <a:ln w="12700" cap="flat" cmpd="sng">
            <a:solidFill>
              <a:srgbClr val="46C2CE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4846320" y="4608576"/>
            <a:ext cx="39136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Instalar: ícono de cuadrados (Extensions) en el menú lateral → buscar el nombre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4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2.2 — HTML y CSS: El Esqueleto y la Ropa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4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2 · 2.2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256032" y="758952"/>
            <a:ext cx="4169664" cy="33101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256032" y="758952"/>
            <a:ext cx="4169664" cy="36576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8" name="Google Shape;488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822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4"/>
          <p:cNvSpPr/>
          <p:nvPr/>
        </p:nvSpPr>
        <p:spPr>
          <a:xfrm>
            <a:off x="685800" y="822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 — El Esqueleto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402336" y="1234440"/>
            <a:ext cx="3913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Define la ESTRUCTURA: dónde va el título, la imagen, el botón. Es como el esqueleto del cuerpo humano.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384048" y="1719072"/>
            <a:ext cx="3913632" cy="420624"/>
          </a:xfrm>
          <a:prstGeom prst="rect">
            <a:avLst/>
          </a:prstGeom>
          <a:solidFill>
            <a:srgbClr val="E6F8FA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4"/>
          <p:cNvSpPr/>
          <p:nvPr/>
        </p:nvSpPr>
        <p:spPr>
          <a:xfrm>
            <a:off x="384048" y="1719072"/>
            <a:ext cx="1755648" cy="420624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4"/>
          <p:cNvSpPr/>
          <p:nvPr/>
        </p:nvSpPr>
        <p:spPr>
          <a:xfrm>
            <a:off x="438912" y="1764792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750"/>
              <a:buFont typeface="Consolas"/>
              <a:buNone/>
            </a:pPr>
            <a:r>
              <a:rPr lang="es" sz="750" b="1" i="0" u="none" strike="noStrike" cap="none">
                <a:solidFill>
                  <a:srgbClr val="2C1A56"/>
                </a:solidFill>
                <a:latin typeface="Consolas"/>
                <a:ea typeface="Consolas"/>
                <a:cs typeface="Consolas"/>
                <a:sym typeface="Consolas"/>
              </a:rPr>
              <a:t>&lt;p&gt;...&lt;/p&gt;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2194560" y="1764792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Textos, extractos y titulares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384048" y="2212848"/>
            <a:ext cx="3913632" cy="420624"/>
          </a:xfrm>
          <a:prstGeom prst="rect">
            <a:avLst/>
          </a:prstGeom>
          <a:solidFill>
            <a:srgbClr val="F0F4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4"/>
          <p:cNvSpPr/>
          <p:nvPr/>
        </p:nvSpPr>
        <p:spPr>
          <a:xfrm>
            <a:off x="384048" y="2212848"/>
            <a:ext cx="1755648" cy="420624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4"/>
          <p:cNvSpPr/>
          <p:nvPr/>
        </p:nvSpPr>
        <p:spPr>
          <a:xfrm>
            <a:off x="438912" y="225856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750"/>
              <a:buFont typeface="Consolas"/>
              <a:buNone/>
            </a:pPr>
            <a:r>
              <a:rPr lang="es" sz="750" b="1" i="0" u="none" strike="noStrike" cap="none">
                <a:solidFill>
                  <a:srgbClr val="2C1A56"/>
                </a:solidFill>
                <a:latin typeface="Consolas"/>
                <a:ea typeface="Consolas"/>
                <a:cs typeface="Consolas"/>
                <a:sym typeface="Consolas"/>
              </a:rPr>
              <a:t>&lt;a href="..."&gt;...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2194560" y="2258568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Botones y enlaces — cambias el href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384048" y="2706624"/>
            <a:ext cx="3913632" cy="420624"/>
          </a:xfrm>
          <a:prstGeom prst="rect">
            <a:avLst/>
          </a:prstGeom>
          <a:solidFill>
            <a:srgbClr val="E6F8FA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4"/>
          <p:cNvSpPr/>
          <p:nvPr/>
        </p:nvSpPr>
        <p:spPr>
          <a:xfrm>
            <a:off x="384048" y="2706624"/>
            <a:ext cx="1755648" cy="420624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4"/>
          <p:cNvSpPr/>
          <p:nvPr/>
        </p:nvSpPr>
        <p:spPr>
          <a:xfrm>
            <a:off x="438912" y="2752344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750"/>
              <a:buFont typeface="Consolas"/>
              <a:buNone/>
            </a:pPr>
            <a:r>
              <a:rPr lang="es" sz="750" b="1" i="0" u="none" strike="noStrike" cap="none">
                <a:solidFill>
                  <a:srgbClr val="2C1A56"/>
                </a:solidFill>
                <a:latin typeface="Consolas"/>
                <a:ea typeface="Consolas"/>
                <a:cs typeface="Consolas"/>
                <a:sym typeface="Consolas"/>
              </a:rPr>
              <a:t>&lt;img src="..." alt=""&gt;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2194560" y="2752344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Banners y fotos — cambia src y alt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384048" y="3200400"/>
            <a:ext cx="3913632" cy="420624"/>
          </a:xfrm>
          <a:prstGeom prst="rect">
            <a:avLst/>
          </a:prstGeom>
          <a:solidFill>
            <a:srgbClr val="F0F4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4"/>
          <p:cNvSpPr/>
          <p:nvPr/>
        </p:nvSpPr>
        <p:spPr>
          <a:xfrm>
            <a:off x="384048" y="3200400"/>
            <a:ext cx="1755648" cy="420624"/>
          </a:xfrm>
          <a:prstGeom prst="rect">
            <a:avLst/>
          </a:prstGeom>
          <a:solidFill>
            <a:srgbClr val="46C2CE">
              <a:alpha val="80000"/>
            </a:srgbClr>
          </a:solidFill>
          <a:ln w="12700" cap="flat" cmpd="sng">
            <a:solidFill>
              <a:srgbClr val="46C2CE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4"/>
          <p:cNvSpPr/>
          <p:nvPr/>
        </p:nvSpPr>
        <p:spPr>
          <a:xfrm>
            <a:off x="438912" y="324612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750"/>
              <a:buFont typeface="Consolas"/>
              <a:buNone/>
            </a:pPr>
            <a:r>
              <a:rPr lang="es" sz="750" b="1" i="0" u="none" strike="noStrike" cap="none">
                <a:solidFill>
                  <a:srgbClr val="2C1A56"/>
                </a:solidFill>
                <a:latin typeface="Consolas"/>
                <a:ea typeface="Consolas"/>
                <a:cs typeface="Consolas"/>
                <a:sym typeface="Consolas"/>
              </a:rPr>
              <a:t>&lt;td&gt;...&lt;/td&gt;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2194560" y="3246120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Celdas de tabla — estructura del correo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4718304" y="758952"/>
            <a:ext cx="4169664" cy="33101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4"/>
          <p:cNvSpPr/>
          <p:nvPr/>
        </p:nvSpPr>
        <p:spPr>
          <a:xfrm>
            <a:off x="4718304" y="758952"/>
            <a:ext cx="4169664" cy="36576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4"/>
          <p:cNvSpPr/>
          <p:nvPr/>
        </p:nvSpPr>
        <p:spPr>
          <a:xfrm>
            <a:off x="4864608" y="822960"/>
            <a:ext cx="39136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— La Ropa y el Estilo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4864608" y="1234440"/>
            <a:ext cx="3913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Define el ASPECTO VISUAL: colores, tipografías, tamaños. Generalmente ya está configurado en la plantilla.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4846320" y="1719072"/>
            <a:ext cx="3913632" cy="457200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C8B8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512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9472" y="18013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4"/>
          <p:cNvSpPr/>
          <p:nvPr/>
        </p:nvSpPr>
        <p:spPr>
          <a:xfrm>
            <a:off x="5248656" y="1755648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Tonos rosas, azules y pasteles — colores de marca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4846320" y="2267712"/>
            <a:ext cx="3913632" cy="457200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C8B8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5" name="Google Shape;515;p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9472" y="23500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4"/>
          <p:cNvSpPr/>
          <p:nvPr/>
        </p:nvSpPr>
        <p:spPr>
          <a:xfrm>
            <a:off x="5248656" y="2304288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Tipografía y tamaño de fuentes — definidos en la plantilla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4846320" y="2816352"/>
            <a:ext cx="3913632" cy="457200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C8B8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8" name="Google Shape;518;p2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19472" y="28986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4"/>
          <p:cNvSpPr/>
          <p:nvPr/>
        </p:nvSpPr>
        <p:spPr>
          <a:xfrm>
            <a:off x="5248656" y="2852928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Tamaño y espaciado de botones — ya configurado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4718304" y="3401568"/>
            <a:ext cx="4169664" cy="667512"/>
          </a:xfrm>
          <a:prstGeom prst="rect">
            <a:avLst/>
          </a:prstGeom>
          <a:solidFill>
            <a:srgbClr val="F5A623">
              <a:alpha val="78039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1" name="Google Shape;521;p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28032" y="3511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4"/>
          <p:cNvSpPr/>
          <p:nvPr/>
        </p:nvSpPr>
        <p:spPr>
          <a:xfrm>
            <a:off x="5175504" y="3456432"/>
            <a:ext cx="358444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Regla de oro: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"/>
          <p:cNvSpPr/>
          <p:nvPr/>
        </p:nvSpPr>
        <p:spPr>
          <a:xfrm>
            <a:off x="5175504" y="3675888"/>
            <a:ext cx="358444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Si no sabes exactamente qué hace una línea de CSS, NO la toques. Cambiarla puede romper el diseño completo.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256032" y="4178808"/>
            <a:ext cx="8631936" cy="67665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4"/>
          <p:cNvSpPr/>
          <p:nvPr/>
        </p:nvSpPr>
        <p:spPr>
          <a:xfrm>
            <a:off x="411480" y="425196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Analogía: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411480" y="448056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HTML = Esqueleto del cuerpo humano. Define la forma, pero no el color ni el estilo.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4480560" y="4224528"/>
            <a:ext cx="91440" cy="822960"/>
          </a:xfrm>
          <a:prstGeom prst="rect">
            <a:avLst/>
          </a:prstGeom>
          <a:solidFill>
            <a:srgbClr val="D0D8F4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4"/>
          <p:cNvSpPr/>
          <p:nvPr/>
        </p:nvSpPr>
        <p:spPr>
          <a:xfrm>
            <a:off x="4663440" y="4480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CSS = La ropa y el maquillaje. Define colores, tipografía y todo el estilo visual del correo.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5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5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2.3 — Diseño Responsive: Vital para Nuestras Lectoras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5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2 · 2.3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256032" y="758952"/>
            <a:ext cx="8631936" cy="10241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5"/>
          <p:cNvSpPr/>
          <p:nvPr/>
        </p:nvSpPr>
        <p:spPr>
          <a:xfrm>
            <a:off x="256032" y="758952"/>
            <a:ext cx="2377440" cy="102412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5"/>
          <p:cNvSpPr/>
          <p:nvPr/>
        </p:nvSpPr>
        <p:spPr>
          <a:xfrm>
            <a:off x="256032" y="758952"/>
            <a:ext cx="237744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s" sz="3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80–90%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2779776" y="88696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500"/>
              <a:buFont typeface="Calibri"/>
              <a:buNone/>
            </a:pPr>
            <a:r>
              <a:rPr lang="es" sz="15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de nuestras lectoras abren los correos en su CELULAR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2779776" y="133502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950"/>
              <a:buFont typeface="Calibri"/>
              <a:buNone/>
            </a:pPr>
            <a:r>
              <a:rPr lang="es" sz="950" b="0" i="1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Mientras dan pecho · En la sala de espera del pediatra · En las madrugadas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822960"/>
            <a:ext cx="34747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5"/>
          <p:cNvSpPr/>
          <p:nvPr/>
        </p:nvSpPr>
        <p:spPr>
          <a:xfrm>
            <a:off x="256032" y="1920240"/>
            <a:ext cx="8631936" cy="530352"/>
          </a:xfrm>
          <a:prstGeom prst="rect">
            <a:avLst/>
          </a:prstGeom>
          <a:solidFill>
            <a:srgbClr val="E5334E">
              <a:alpha val="87843"/>
            </a:srgbClr>
          </a:solidFill>
          <a:ln w="12700" cap="flat" cmpd="sng">
            <a:solidFill>
              <a:srgbClr val="E533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8" name="Google Shape;548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5"/>
          <p:cNvSpPr/>
          <p:nvPr/>
        </p:nvSpPr>
        <p:spPr>
          <a:xfrm>
            <a:off x="676656" y="1956816"/>
            <a:ext cx="8092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1030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A01030"/>
                </a:solidFill>
                <a:latin typeface="Calibri"/>
                <a:ea typeface="Calibri"/>
                <a:cs typeface="Calibri"/>
                <a:sym typeface="Calibri"/>
              </a:rPr>
              <a:t>Un correo que se rompe en móvil = campaña fallida, sin importar qué tan bueno sea el contenido.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256032" y="2596896"/>
            <a:ext cx="8631936" cy="274320"/>
          </a:xfrm>
          <a:prstGeom prst="rect">
            <a:avLst/>
          </a:prstGeom>
          <a:solidFill>
            <a:srgbClr val="263980">
              <a:alpha val="9215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5"/>
          <p:cNvSpPr/>
          <p:nvPr/>
        </p:nvSpPr>
        <p:spPr>
          <a:xfrm>
            <a:off x="402336" y="261518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DEBES VERIFICAR SIEMPRE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256032" y="2980944"/>
            <a:ext cx="4169664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256032" y="2980944"/>
            <a:ext cx="109728" cy="73152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4" name="Google Shape;554;p2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16382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5"/>
          <p:cNvSpPr/>
          <p:nvPr/>
        </p:nvSpPr>
        <p:spPr>
          <a:xfrm>
            <a:off x="877824" y="3072384"/>
            <a:ext cx="34381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El banner principal no debe ser tan ancho que se corte en pantallas pequeñas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4700016" y="2980944"/>
            <a:ext cx="4169664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5"/>
          <p:cNvSpPr/>
          <p:nvPr/>
        </p:nvSpPr>
        <p:spPr>
          <a:xfrm>
            <a:off x="4700016" y="2980944"/>
            <a:ext cx="109728" cy="73152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p2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01184" y="316382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5"/>
          <p:cNvSpPr/>
          <p:nvPr/>
        </p:nvSpPr>
        <p:spPr>
          <a:xfrm>
            <a:off x="5321808" y="3072384"/>
            <a:ext cx="34381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Los botones (CTA) deben ser grandes y fáciles de tocar con el dedo pulgar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256032" y="3803904"/>
            <a:ext cx="4169664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5"/>
          <p:cNvSpPr/>
          <p:nvPr/>
        </p:nvSpPr>
        <p:spPr>
          <a:xfrm>
            <a:off x="256032" y="3803904"/>
            <a:ext cx="109728" cy="73152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2" name="Google Shape;562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9867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5"/>
          <p:cNvSpPr/>
          <p:nvPr/>
        </p:nvSpPr>
        <p:spPr>
          <a:xfrm>
            <a:off x="877824" y="3895344"/>
            <a:ext cx="34381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Las imágenes deben tener versión pequeña o estar configuradas como responsivas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4700016" y="3803904"/>
            <a:ext cx="4169664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5"/>
          <p:cNvSpPr/>
          <p:nvPr/>
        </p:nvSpPr>
        <p:spPr>
          <a:xfrm>
            <a:off x="4700016" y="3803904"/>
            <a:ext cx="109728" cy="73152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6" name="Google Shape;566;p2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01184" y="398678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5"/>
          <p:cNvSpPr/>
          <p:nvPr/>
        </p:nvSpPr>
        <p:spPr>
          <a:xfrm>
            <a:off x="5321808" y="3895344"/>
            <a:ext cx="34381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Los textos no deben ser tan pequeños que sean ilegibles en una pantalla de 5 pulgadas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256032" y="4681728"/>
            <a:ext cx="8631936" cy="274320"/>
          </a:xfrm>
          <a:prstGeom prst="rect">
            <a:avLst/>
          </a:prstGeom>
          <a:solidFill>
            <a:srgbClr val="263980">
              <a:alpha val="9019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5"/>
          <p:cNvSpPr/>
          <p:nvPr/>
        </p:nvSpPr>
        <p:spPr>
          <a:xfrm>
            <a:off x="438912" y="470001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💡  Chrome DevTools → F12 → ícono de teléfono (Toggle device toolbar) → iPhone o Pixel → verificar vista móvil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03A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182880" y="0"/>
            <a:ext cx="8961120" cy="4572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6"/>
          <p:cNvSpPr/>
          <p:nvPr/>
        </p:nvSpPr>
        <p:spPr>
          <a:xfrm>
            <a:off x="6858000" y="731520"/>
            <a:ext cx="2926080" cy="2926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16078"/>
            </a:srgbClr>
          </a:solidFill>
          <a:ln w="12700" cap="flat" cmpd="sng">
            <a:solidFill>
              <a:srgbClr val="7F52A0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6"/>
          <p:cNvSpPr/>
          <p:nvPr/>
        </p:nvSpPr>
        <p:spPr>
          <a:xfrm>
            <a:off x="7863840" y="18288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20000"/>
            </a:srgbClr>
          </a:solidFill>
          <a:ln w="12700" cap="flat" cmpd="sng">
            <a:solidFill>
              <a:srgbClr val="46C2C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6217920" y="310896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45098"/>
            </a:srgbClr>
          </a:solidFill>
          <a:ln w="12700" cap="flat" cmpd="sng">
            <a:solidFill>
              <a:srgbClr val="26398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6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"/>
          <p:cNvSpPr/>
          <p:nvPr/>
        </p:nvSpPr>
        <p:spPr>
          <a:xfrm>
            <a:off x="457200" y="1234440"/>
            <a:ext cx="68580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Edición Práctica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Plantillas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457200" y="290779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1400"/>
              <a:buFont typeface="Calibri"/>
              <a:buNone/>
            </a:pPr>
            <a:r>
              <a:rPr lang="es" sz="14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Flujo de trabajo · Ctrl+H · Textos · Imágenes · Revisión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3.1 &amp; 3.2 — Flujo de Trabajo y Buscar &amp; Reemplazar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3 · 3.1-3.2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256032" y="758952"/>
            <a:ext cx="27889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256032" y="758952"/>
            <a:ext cx="2788920" cy="16459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365760" y="9875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365760" y="9875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822960" y="100584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Recibir el brief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365760" y="1472184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El equipo editorial proporciona los artículos, sus URLs e imágenes de la semana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3209544" y="758952"/>
            <a:ext cx="27889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3209544" y="758952"/>
            <a:ext cx="2788920" cy="16459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3319272" y="9875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3319272" y="9875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3776472" y="100584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Duplicar la plantilla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3319272" y="1472184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NUNCA edites el original. Copia y renombra: 'newsletter-semana-12-2025.html'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6163056" y="758952"/>
            <a:ext cx="27889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6163056" y="758952"/>
            <a:ext cx="2788920" cy="16459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6272784" y="9875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6272784" y="9875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6729984" y="100584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Abrir en VSC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6272784" y="1472184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Abre el archivo copiado en VSC. El código aparecerá en el panel principal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256032" y="2176272"/>
            <a:ext cx="27889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256032" y="2176272"/>
            <a:ext cx="2788920" cy="16459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365760" y="24048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365760" y="24048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822960" y="242316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Editar contenido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365760" y="2889504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Cambiar enlaces, textos e imágenes siguiendo las instrucciones de este módulo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3209544" y="2176272"/>
            <a:ext cx="27889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3209544" y="2176272"/>
            <a:ext cx="2788920" cy="16459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3319272" y="24048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3319272" y="24048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7"/>
          <p:cNvSpPr/>
          <p:nvPr/>
        </p:nvSpPr>
        <p:spPr>
          <a:xfrm>
            <a:off x="3776472" y="242316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Previsualizar Chrome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3319272" y="2889504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Guarda (Ctrl+S) y abre en Chrome. Verifica vista escritorio Y modo móvil (F12)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7"/>
          <p:cNvSpPr/>
          <p:nvPr/>
        </p:nvSpPr>
        <p:spPr>
          <a:xfrm>
            <a:off x="6163056" y="2176272"/>
            <a:ext cx="2788920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6163056" y="2176272"/>
            <a:ext cx="2788920" cy="16459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6272784" y="24048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6272784" y="24048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6729984" y="242316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50"/>
              <a:buFont typeface="Calibri"/>
              <a:buNone/>
            </a:pPr>
            <a:r>
              <a:rPr lang="es" sz="10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Subir a Splio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7"/>
          <p:cNvSpPr/>
          <p:nvPr/>
        </p:nvSpPr>
        <p:spPr>
          <a:xfrm>
            <a:off x="6272784" y="2889504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Con el diseño aprobado, copia el HTML completo y súbelo a Splio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7"/>
          <p:cNvSpPr/>
          <p:nvPr/>
        </p:nvSpPr>
        <p:spPr>
          <a:xfrm>
            <a:off x="256032" y="3630168"/>
            <a:ext cx="8631936" cy="109728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256032" y="3630168"/>
            <a:ext cx="128016" cy="10972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502920" y="37033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Ctrl+H — El Poder de Buscar y Reemplazar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7"/>
          <p:cNvSpPr/>
          <p:nvPr/>
        </p:nvSpPr>
        <p:spPr>
          <a:xfrm>
            <a:off x="502920" y="4005072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Cambia TODOS los enlaces de la semana pasada por los de esta semana en segundos.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7"/>
          <p:cNvSpPr/>
          <p:nvPr/>
        </p:nvSpPr>
        <p:spPr>
          <a:xfrm>
            <a:off x="5468112" y="3712464"/>
            <a:ext cx="804672" cy="8046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5468112" y="3712464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7"/>
          <p:cNvSpPr/>
          <p:nvPr/>
        </p:nvSpPr>
        <p:spPr>
          <a:xfrm>
            <a:off x="5468112" y="3986784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Presiona Ctrl+H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7"/>
          <p:cNvSpPr/>
          <p:nvPr/>
        </p:nvSpPr>
        <p:spPr>
          <a:xfrm>
            <a:off x="6382512" y="3712464"/>
            <a:ext cx="804672" cy="8046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6382512" y="3712464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/>
          <p:nvPr/>
        </p:nvSpPr>
        <p:spPr>
          <a:xfrm>
            <a:off x="6382512" y="3986784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Campo 'Buscar':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URL anterior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7296912" y="3712464"/>
            <a:ext cx="804672" cy="8046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7296912" y="3712464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7"/>
          <p:cNvSpPr/>
          <p:nvPr/>
        </p:nvSpPr>
        <p:spPr>
          <a:xfrm>
            <a:off x="7296912" y="3986784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Campo 'Reemplazar':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nueva URL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7"/>
          <p:cNvSpPr/>
          <p:nvPr/>
        </p:nvSpPr>
        <p:spPr>
          <a:xfrm>
            <a:off x="8211312" y="3712464"/>
            <a:ext cx="804672" cy="804672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8211312" y="3712464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7"/>
          <p:cNvSpPr/>
          <p:nvPr/>
        </p:nvSpPr>
        <p:spPr>
          <a:xfrm>
            <a:off x="8211312" y="3986784"/>
            <a:ext cx="80467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Clic en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00"/>
              <a:buFont typeface="Calibri"/>
              <a:buNone/>
            </a:pPr>
            <a:r>
              <a:rPr lang="es" sz="7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Reemplazar Todos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8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3.3 &amp; 3.4 — Edición de Textos e Imágenes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8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3 · 3.3-3.4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8"/>
          <p:cNvSpPr/>
          <p:nvPr/>
        </p:nvSpPr>
        <p:spPr>
          <a:xfrm>
            <a:off x="256032" y="758952"/>
            <a:ext cx="4169664" cy="2377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256032" y="758952"/>
            <a:ext cx="4169664" cy="34747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1" name="Google Shape;661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822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8"/>
          <p:cNvSpPr/>
          <p:nvPr/>
        </p:nvSpPr>
        <p:spPr>
          <a:xfrm>
            <a:off x="676656" y="822960"/>
            <a:ext cx="36393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3.3 — Editar Textos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402336" y="1234440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Regla: solo edita LO QUE ESTÁ ENTRE las etiquetas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402336" y="1581912"/>
            <a:ext cx="3913632" cy="475488"/>
          </a:xfrm>
          <a:prstGeom prst="rect">
            <a:avLst/>
          </a:prstGeom>
          <a:solidFill>
            <a:srgbClr val="27AE60">
              <a:alpha val="12156"/>
            </a:srgbClr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493776" y="160934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CORRECTO: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493776" y="177393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800"/>
              <a:buFont typeface="Consolas"/>
              <a:buNone/>
            </a:pPr>
            <a:r>
              <a:rPr lang="es" sz="800" b="0" i="0" u="none" strike="noStrike" cap="none">
                <a:solidFill>
                  <a:srgbClr val="2C1A56"/>
                </a:solidFill>
                <a:latin typeface="Consolas"/>
                <a:ea typeface="Consolas"/>
                <a:cs typeface="Consolas"/>
                <a:sym typeface="Consolas"/>
              </a:rPr>
              <a:t>&lt;p class="titular"&gt;Los mejores purés para tu bebé&lt;/p&gt;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402336" y="2157984"/>
            <a:ext cx="3913632" cy="475488"/>
          </a:xfrm>
          <a:prstGeom prst="rect">
            <a:avLst/>
          </a:prstGeom>
          <a:solidFill>
            <a:srgbClr val="E5334E">
              <a:alpha val="12156"/>
            </a:srgbClr>
          </a:solidFill>
          <a:ln w="12700" cap="flat" cmpd="sng">
            <a:solidFill>
              <a:srgbClr val="E533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493776" y="2176272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34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E5334E"/>
                </a:solidFill>
                <a:latin typeface="Calibri"/>
                <a:ea typeface="Calibri"/>
                <a:cs typeface="Calibri"/>
                <a:sym typeface="Calibri"/>
              </a:rPr>
              <a:t>✗  ERROR — borraste la clase CSS: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8"/>
          <p:cNvSpPr/>
          <p:nvPr/>
        </p:nvSpPr>
        <p:spPr>
          <a:xfrm>
            <a:off x="493776" y="234086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34E"/>
              </a:buClr>
              <a:buSzPts val="800"/>
              <a:buFont typeface="Consolas"/>
              <a:buNone/>
            </a:pPr>
            <a:r>
              <a:rPr lang="es" sz="800" b="0" i="0" u="none" strike="noStrike" cap="none">
                <a:solidFill>
                  <a:srgbClr val="E5334E"/>
                </a:solidFill>
                <a:latin typeface="Consolas"/>
                <a:ea typeface="Consolas"/>
                <a:cs typeface="Consolas"/>
                <a:sym typeface="Consolas"/>
              </a:rPr>
              <a:t>&lt;p&gt;Los mejores purés para tu bebé&lt;/p&gt;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402336" y="2724912"/>
            <a:ext cx="39136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0" i="1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Al borrar la clase CSS rompiste el diseño visual del correo.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8"/>
          <p:cNvSpPr/>
          <p:nvPr/>
        </p:nvSpPr>
        <p:spPr>
          <a:xfrm>
            <a:off x="4718304" y="758952"/>
            <a:ext cx="4169664" cy="2377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8"/>
          <p:cNvSpPr/>
          <p:nvPr/>
        </p:nvSpPr>
        <p:spPr>
          <a:xfrm>
            <a:off x="4718304" y="758952"/>
            <a:ext cx="4169664" cy="34747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3" name="Google Shape;673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8032" y="822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8"/>
          <p:cNvSpPr/>
          <p:nvPr/>
        </p:nvSpPr>
        <p:spPr>
          <a:xfrm>
            <a:off x="5138928" y="822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3.4 — Cambiar Banners e Imágenes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8"/>
          <p:cNvSpPr/>
          <p:nvPr/>
        </p:nvSpPr>
        <p:spPr>
          <a:xfrm>
            <a:off x="4864608" y="1234440"/>
            <a:ext cx="39136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Cambiar imagen implica dos partes: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8"/>
          <p:cNvSpPr/>
          <p:nvPr/>
        </p:nvSpPr>
        <p:spPr>
          <a:xfrm>
            <a:off x="4864608" y="1536192"/>
            <a:ext cx="3913632" cy="594360"/>
          </a:xfrm>
          <a:prstGeom prst="rect">
            <a:avLst/>
          </a:prstGeom>
          <a:solidFill>
            <a:srgbClr val="EEE8F8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8"/>
          <p:cNvSpPr/>
          <p:nvPr/>
        </p:nvSpPr>
        <p:spPr>
          <a:xfrm>
            <a:off x="4937760" y="1581912"/>
            <a:ext cx="37673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750"/>
              <a:buFont typeface="Consolas"/>
              <a:buNone/>
            </a:pPr>
            <a:r>
              <a:rPr lang="es" sz="750" b="0" i="0" u="none" strike="noStrike" cap="none">
                <a:solidFill>
                  <a:srgbClr val="2C1A56"/>
                </a:solidFill>
                <a:latin typeface="Consolas"/>
                <a:ea typeface="Consolas"/>
                <a:cs typeface="Consolas"/>
                <a:sym typeface="Consolas"/>
              </a:rPr>
              <a:t>&lt;img src="https://cdn.mibebeyyo.mx/banners/nombre.jpg"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750"/>
              <a:buFont typeface="Consolas"/>
              <a:buNone/>
            </a:pPr>
            <a:r>
              <a:rPr lang="es" sz="750" b="0" i="0" u="none" strike="noStrike" cap="none">
                <a:solidFill>
                  <a:srgbClr val="2C1A56"/>
                </a:solidFill>
                <a:latin typeface="Consolas"/>
                <a:ea typeface="Consolas"/>
                <a:cs typeface="Consolas"/>
                <a:sym typeface="Consolas"/>
              </a:rPr>
              <a:t>     alt="descripción de la imagen" width="600"&gt;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4864608" y="2249424"/>
            <a:ext cx="3913632" cy="329184"/>
          </a:xfrm>
          <a:prstGeom prst="rect">
            <a:avLst/>
          </a:prstGeom>
          <a:solidFill>
            <a:srgbClr val="46C2CE">
              <a:alpha val="12156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8"/>
          <p:cNvSpPr/>
          <p:nvPr/>
        </p:nvSpPr>
        <p:spPr>
          <a:xfrm>
            <a:off x="4864608" y="2249424"/>
            <a:ext cx="457200" cy="32918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4864608" y="2249424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s" sz="9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8"/>
          <p:cNvSpPr/>
          <p:nvPr/>
        </p:nvSpPr>
        <p:spPr>
          <a:xfrm>
            <a:off x="5376672" y="227685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Cambia el nombre del archivo: "crema-antiestirias.jpg" → nuevo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8"/>
          <p:cNvSpPr/>
          <p:nvPr/>
        </p:nvSpPr>
        <p:spPr>
          <a:xfrm>
            <a:off x="4864608" y="2633472"/>
            <a:ext cx="3913632" cy="329184"/>
          </a:xfrm>
          <a:prstGeom prst="rect">
            <a:avLst/>
          </a:prstGeom>
          <a:solidFill>
            <a:srgbClr val="7F52A0">
              <a:alpha val="12156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4864608" y="2633472"/>
            <a:ext cx="457200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8"/>
          <p:cNvSpPr/>
          <p:nvPr/>
        </p:nvSpPr>
        <p:spPr>
          <a:xfrm>
            <a:off x="4864608" y="2633472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s" sz="9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8"/>
          <p:cNvSpPr/>
          <p:nvPr/>
        </p:nvSpPr>
        <p:spPr>
          <a:xfrm>
            <a:off x="5376672" y="266090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Actualiza la descripción: "bebé de 6 meses comiendo puré"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/>
          <p:nvPr/>
        </p:nvSpPr>
        <p:spPr>
          <a:xfrm>
            <a:off x="256032" y="3264408"/>
            <a:ext cx="8631936" cy="1481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28"/>
          <p:cNvSpPr/>
          <p:nvPr/>
        </p:nvSpPr>
        <p:spPr>
          <a:xfrm>
            <a:off x="256032" y="3264408"/>
            <a:ext cx="8631936" cy="32004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8"/>
          <p:cNvSpPr/>
          <p:nvPr/>
        </p:nvSpPr>
        <p:spPr>
          <a:xfrm>
            <a:off x="420624" y="3310128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Buenas prácticas para el texto ALT (texto alternativo)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9" name="Google Shape;689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2336" y="3694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8"/>
          <p:cNvSpPr/>
          <p:nvPr/>
        </p:nvSpPr>
        <p:spPr>
          <a:xfrm>
            <a:off x="658368" y="3675888"/>
            <a:ext cx="39136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Describe exactamente lo que se ve: "bebé de 6 meses comiendo puré de zanahoria"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1" name="Google Shape;691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2336" y="40325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8"/>
          <p:cNvSpPr/>
          <p:nvPr/>
        </p:nvSpPr>
        <p:spPr>
          <a:xfrm>
            <a:off x="658368" y="4014216"/>
            <a:ext cx="39136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Para banners de marca: "Banner promocional: crema antiestrías Marca X"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3" name="Google Shape;693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2336" y="43708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8"/>
          <p:cNvSpPr/>
          <p:nvPr/>
        </p:nvSpPr>
        <p:spPr>
          <a:xfrm>
            <a:off x="658368" y="4352544"/>
            <a:ext cx="39136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Para botones imagen: "Botón: Lee el artículo completo"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2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6320" y="36941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28"/>
          <p:cNvSpPr/>
          <p:nvPr/>
        </p:nvSpPr>
        <p:spPr>
          <a:xfrm>
            <a:off x="5102352" y="36758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Nunca dejes el alt vacío en imágenes importantes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7" name="Google Shape;697;p2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6320" y="40782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8"/>
          <p:cNvSpPr/>
          <p:nvPr/>
        </p:nvSpPr>
        <p:spPr>
          <a:xfrm>
            <a:off x="5102352" y="405993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Evita textos vagos como 'foto', 'imagen' o 'banner'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29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29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3.5 — Revisión y Previsualización en Chrome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9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9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3 · 3.5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9"/>
          <p:cNvSpPr/>
          <p:nvPr/>
        </p:nvSpPr>
        <p:spPr>
          <a:xfrm>
            <a:off x="256032" y="758952"/>
            <a:ext cx="4169664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29"/>
          <p:cNvSpPr/>
          <p:nvPr/>
        </p:nvSpPr>
        <p:spPr>
          <a:xfrm>
            <a:off x="256032" y="758952"/>
            <a:ext cx="4169664" cy="34747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3" name="Google Shape;713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822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29"/>
          <p:cNvSpPr/>
          <p:nvPr/>
        </p:nvSpPr>
        <p:spPr>
          <a:xfrm>
            <a:off x="676656" y="822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Previsualizar en Chrome (Desktop)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9"/>
          <p:cNvSpPr/>
          <p:nvPr/>
        </p:nvSpPr>
        <p:spPr>
          <a:xfrm>
            <a:off x="384048" y="125272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9"/>
          <p:cNvSpPr/>
          <p:nvPr/>
        </p:nvSpPr>
        <p:spPr>
          <a:xfrm>
            <a:off x="384048" y="125272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9"/>
          <p:cNvSpPr/>
          <p:nvPr/>
        </p:nvSpPr>
        <p:spPr>
          <a:xfrm>
            <a:off x="658368" y="123444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Guarda el archivo con Ctrl+S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9"/>
          <p:cNvSpPr/>
          <p:nvPr/>
        </p:nvSpPr>
        <p:spPr>
          <a:xfrm>
            <a:off x="384048" y="167335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9"/>
          <p:cNvSpPr/>
          <p:nvPr/>
        </p:nvSpPr>
        <p:spPr>
          <a:xfrm>
            <a:off x="384048" y="1673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658368" y="165506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Abre Chrome (o tu navegador preferido)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9"/>
          <p:cNvSpPr/>
          <p:nvPr/>
        </p:nvSpPr>
        <p:spPr>
          <a:xfrm>
            <a:off x="384048" y="209397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9"/>
          <p:cNvSpPr/>
          <p:nvPr/>
        </p:nvSpPr>
        <p:spPr>
          <a:xfrm>
            <a:off x="384048" y="209397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9"/>
          <p:cNvSpPr/>
          <p:nvPr/>
        </p:nvSpPr>
        <p:spPr>
          <a:xfrm>
            <a:off x="658368" y="20756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Arrastra el .html a la pestaña del navegador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9"/>
          <p:cNvSpPr/>
          <p:nvPr/>
        </p:nvSpPr>
        <p:spPr>
          <a:xfrm>
            <a:off x="384048" y="25146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9"/>
          <p:cNvSpPr/>
          <p:nvPr/>
        </p:nvSpPr>
        <p:spPr>
          <a:xfrm>
            <a:off x="384048" y="251460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658368" y="249631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Verifica: colores de marca, imágenes, textos y botones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9"/>
          <p:cNvSpPr/>
          <p:nvPr/>
        </p:nvSpPr>
        <p:spPr>
          <a:xfrm>
            <a:off x="384048" y="293522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9"/>
          <p:cNvSpPr/>
          <p:nvPr/>
        </p:nvSpPr>
        <p:spPr>
          <a:xfrm>
            <a:off x="384048" y="293522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658368" y="291693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Haz clic en CADA enlace — confirma que no den error 404 ni lleven a URLs antiguas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4718304" y="758952"/>
            <a:ext cx="4169664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9"/>
          <p:cNvSpPr/>
          <p:nvPr/>
        </p:nvSpPr>
        <p:spPr>
          <a:xfrm>
            <a:off x="4718304" y="758952"/>
            <a:ext cx="4169664" cy="34747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2" name="Google Shape;732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8032" y="822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9"/>
          <p:cNvSpPr/>
          <p:nvPr/>
        </p:nvSpPr>
        <p:spPr>
          <a:xfrm>
            <a:off x="5138928" y="822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Verificación en Modo Móvil (DevTools)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9"/>
          <p:cNvSpPr/>
          <p:nvPr/>
        </p:nvSpPr>
        <p:spPr>
          <a:xfrm>
            <a:off x="4846320" y="125272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29"/>
          <p:cNvSpPr/>
          <p:nvPr/>
        </p:nvSpPr>
        <p:spPr>
          <a:xfrm>
            <a:off x="4846320" y="125272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9"/>
          <p:cNvSpPr/>
          <p:nvPr/>
        </p:nvSpPr>
        <p:spPr>
          <a:xfrm>
            <a:off x="5120640" y="123444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Con el HTML en Chrome, presiona F12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9"/>
          <p:cNvSpPr/>
          <p:nvPr/>
        </p:nvSpPr>
        <p:spPr>
          <a:xfrm>
            <a:off x="4846320" y="167335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9"/>
          <p:cNvSpPr/>
          <p:nvPr/>
        </p:nvSpPr>
        <p:spPr>
          <a:xfrm>
            <a:off x="4846320" y="1673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9"/>
          <p:cNvSpPr/>
          <p:nvPr/>
        </p:nvSpPr>
        <p:spPr>
          <a:xfrm>
            <a:off x="5120640" y="1655064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Clic en ícono de teléfono/tablet (Toggle device toolbar)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9"/>
          <p:cNvSpPr/>
          <p:nvPr/>
        </p:nvSpPr>
        <p:spPr>
          <a:xfrm>
            <a:off x="4846320" y="209397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9"/>
          <p:cNvSpPr/>
          <p:nvPr/>
        </p:nvSpPr>
        <p:spPr>
          <a:xfrm>
            <a:off x="4846320" y="209397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9"/>
          <p:cNvSpPr/>
          <p:nvPr/>
        </p:nvSpPr>
        <p:spPr>
          <a:xfrm>
            <a:off x="5120640" y="20756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Selecciona dispositivo: iPhone 12 o Pixel 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9"/>
          <p:cNvSpPr/>
          <p:nvPr/>
        </p:nvSpPr>
        <p:spPr>
          <a:xfrm>
            <a:off x="4846320" y="25146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9"/>
          <p:cNvSpPr/>
          <p:nvPr/>
        </p:nvSpPr>
        <p:spPr>
          <a:xfrm>
            <a:off x="4846320" y="251460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9"/>
          <p:cNvSpPr/>
          <p:nvPr/>
        </p:nvSpPr>
        <p:spPr>
          <a:xfrm>
            <a:off x="5120640" y="249631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Verifica que el correo se vea bien en pantalla pequeña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9"/>
          <p:cNvSpPr/>
          <p:nvPr/>
        </p:nvSpPr>
        <p:spPr>
          <a:xfrm>
            <a:off x="256032" y="3584448"/>
            <a:ext cx="8631936" cy="256032"/>
          </a:xfrm>
          <a:prstGeom prst="rect">
            <a:avLst/>
          </a:prstGeom>
          <a:solidFill>
            <a:srgbClr val="263980">
              <a:alpha val="9215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9"/>
          <p:cNvSpPr/>
          <p:nvPr/>
        </p:nvSpPr>
        <p:spPr>
          <a:xfrm>
            <a:off x="402336" y="3602736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CHECKLIST DE PREVISUALIZACIÓN — verifica SIEMPRE antes de subir a Splio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9"/>
          <p:cNvSpPr/>
          <p:nvPr/>
        </p:nvSpPr>
        <p:spPr>
          <a:xfrm>
            <a:off x="256032" y="3931920"/>
            <a:ext cx="2788920" cy="420624"/>
          </a:xfrm>
          <a:prstGeom prst="rect">
            <a:avLst/>
          </a:prstGeom>
          <a:solidFill>
            <a:srgbClr val="46C2CE">
              <a:alpha val="10196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9" name="Google Shape;749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" y="40416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29"/>
          <p:cNvSpPr/>
          <p:nvPr/>
        </p:nvSpPr>
        <p:spPr>
          <a:xfrm>
            <a:off x="603504" y="4005072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¿Los colores de marca se mantienen (rosa, azul, pasteles)?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9"/>
          <p:cNvSpPr/>
          <p:nvPr/>
        </p:nvSpPr>
        <p:spPr>
          <a:xfrm>
            <a:off x="3209544" y="3931920"/>
            <a:ext cx="2788920" cy="420624"/>
          </a:xfrm>
          <a:prstGeom prst="rect">
            <a:avLst/>
          </a:prstGeom>
          <a:solidFill>
            <a:srgbClr val="46C2CE">
              <a:alpha val="10196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2" name="Google Shape;752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0984" y="40416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29"/>
          <p:cNvSpPr/>
          <p:nvPr/>
        </p:nvSpPr>
        <p:spPr>
          <a:xfrm>
            <a:off x="3557016" y="4005072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¿Las imágenes cargan correctamente?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9"/>
          <p:cNvSpPr/>
          <p:nvPr/>
        </p:nvSpPr>
        <p:spPr>
          <a:xfrm>
            <a:off x="6163056" y="3931920"/>
            <a:ext cx="2788920" cy="420624"/>
          </a:xfrm>
          <a:prstGeom prst="rect">
            <a:avLst/>
          </a:prstGeom>
          <a:solidFill>
            <a:srgbClr val="7F52A0">
              <a:alpha val="10196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5" name="Google Shape;755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4496" y="40416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9"/>
          <p:cNvSpPr/>
          <p:nvPr/>
        </p:nvSpPr>
        <p:spPr>
          <a:xfrm>
            <a:off x="6510528" y="4005072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¿Los textos son los correctos (artículo de ESTA semana)?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9"/>
          <p:cNvSpPr/>
          <p:nvPr/>
        </p:nvSpPr>
        <p:spPr>
          <a:xfrm>
            <a:off x="256032" y="4425696"/>
            <a:ext cx="2788920" cy="420624"/>
          </a:xfrm>
          <a:prstGeom prst="rect">
            <a:avLst/>
          </a:prstGeom>
          <a:solidFill>
            <a:srgbClr val="7F52A0">
              <a:alpha val="10196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8" name="Google Shape;758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" y="45354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29"/>
          <p:cNvSpPr/>
          <p:nvPr/>
        </p:nvSpPr>
        <p:spPr>
          <a:xfrm>
            <a:off x="603504" y="449884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¿Los botones se ven bien y tienen el texto correcto?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9"/>
          <p:cNvSpPr/>
          <p:nvPr/>
        </p:nvSpPr>
        <p:spPr>
          <a:xfrm>
            <a:off x="3209544" y="4425696"/>
            <a:ext cx="2788920" cy="420624"/>
          </a:xfrm>
          <a:prstGeom prst="rect">
            <a:avLst/>
          </a:prstGeom>
          <a:solidFill>
            <a:srgbClr val="263980">
              <a:alpha val="1019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1" name="Google Shape;761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0984" y="45354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9"/>
          <p:cNvSpPr/>
          <p:nvPr/>
        </p:nvSpPr>
        <p:spPr>
          <a:xfrm>
            <a:off x="3557016" y="449884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¿Cada enlace lleva al URL correcto? (sin 404 ni semana anterior)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9"/>
          <p:cNvSpPr/>
          <p:nvPr/>
        </p:nvSpPr>
        <p:spPr>
          <a:xfrm>
            <a:off x="6163056" y="4425696"/>
            <a:ext cx="2788920" cy="420624"/>
          </a:xfrm>
          <a:prstGeom prst="rect">
            <a:avLst/>
          </a:prstGeom>
          <a:solidFill>
            <a:srgbClr val="263980">
              <a:alpha val="1019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4" name="Google Shape;764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4496" y="45354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29"/>
          <p:cNvSpPr/>
          <p:nvPr/>
        </p:nvSpPr>
        <p:spPr>
          <a:xfrm>
            <a:off x="6510528" y="449884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¿El correo se ve bien en vista móvil?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03A"/>
        </a:solidFill>
        <a:effectLst/>
      </p:bgPr>
    </p:bg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0"/>
          <p:cNvSpPr/>
          <p:nvPr/>
        </p:nvSpPr>
        <p:spPr>
          <a:xfrm>
            <a:off x="182880" y="0"/>
            <a:ext cx="8961120" cy="4572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0"/>
          <p:cNvSpPr/>
          <p:nvPr/>
        </p:nvSpPr>
        <p:spPr>
          <a:xfrm>
            <a:off x="6858000" y="731520"/>
            <a:ext cx="2926080" cy="29260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16078"/>
            </a:srgbClr>
          </a:solidFill>
          <a:ln w="12700" cap="flat" cmpd="sng">
            <a:solidFill>
              <a:srgbClr val="7F52A0">
                <a:alpha val="1607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0"/>
          <p:cNvSpPr/>
          <p:nvPr/>
        </p:nvSpPr>
        <p:spPr>
          <a:xfrm>
            <a:off x="7863840" y="18288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20000"/>
            </a:srgbClr>
          </a:solidFill>
          <a:ln w="12700" cap="flat" cmpd="sng">
            <a:solidFill>
              <a:srgbClr val="46C2C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0"/>
          <p:cNvSpPr/>
          <p:nvPr/>
        </p:nvSpPr>
        <p:spPr>
          <a:xfrm>
            <a:off x="6217920" y="310896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45098"/>
            </a:srgbClr>
          </a:solidFill>
          <a:ln w="12700" cap="flat" cmpd="sng">
            <a:solidFill>
              <a:srgbClr val="26398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0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0"/>
          <p:cNvSpPr/>
          <p:nvPr/>
        </p:nvSpPr>
        <p:spPr>
          <a:xfrm>
            <a:off x="457200" y="1234440"/>
            <a:ext cx="68580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Ejecución y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en Splio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0"/>
          <p:cNvSpPr/>
          <p:nvPr/>
        </p:nvSpPr>
        <p:spPr>
          <a:xfrm>
            <a:off x="457200" y="290779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1400"/>
              <a:buFont typeface="Calibri"/>
              <a:buNone/>
            </a:pPr>
            <a:r>
              <a:rPr lang="es" sz="14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Subir campaña · Segmentación · Pruebas · Programación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1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1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4.1 &amp; 4.2 — Tour por Splio y Subir la Campaña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1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1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4 · 4.1-4.2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256032" y="768096"/>
            <a:ext cx="8631936" cy="237744"/>
          </a:xfrm>
          <a:prstGeom prst="rect">
            <a:avLst/>
          </a:prstGeom>
          <a:solidFill>
            <a:srgbClr val="263980">
              <a:alpha val="9019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402336" y="786384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SECCIONES DE SPLIO — Las que usarás el 90% del tiempo: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256032" y="1097280"/>
            <a:ext cx="201168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1"/>
          <p:cNvSpPr/>
          <p:nvPr/>
        </p:nvSpPr>
        <p:spPr>
          <a:xfrm>
            <a:off x="1005840" y="120700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5" name="Google Shape;795;p31" descr="preencoded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060704" y="113124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1"/>
          <p:cNvSpPr/>
          <p:nvPr/>
        </p:nvSpPr>
        <p:spPr>
          <a:xfrm>
            <a:off x="347472" y="154926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Campañas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347472" y="179615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800"/>
              <a:buFont typeface="Calibri"/>
              <a:buNone/>
            </a:pPr>
            <a:r>
              <a:rPr lang="es" sz="800" b="0" i="1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Campaigns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347472" y="198817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Creas, editas y programas las newsletters. Tu área principal de trabajo.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2432304" y="1097280"/>
            <a:ext cx="201168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1"/>
          <p:cNvSpPr/>
          <p:nvPr/>
        </p:nvSpPr>
        <p:spPr>
          <a:xfrm>
            <a:off x="3182112" y="120700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1" name="Google Shape;801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6976" y="113124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31"/>
          <p:cNvSpPr/>
          <p:nvPr/>
        </p:nvSpPr>
        <p:spPr>
          <a:xfrm>
            <a:off x="2523744" y="154926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Contactos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2523744" y="179615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800"/>
              <a:buFont typeface="Calibri"/>
              <a:buNone/>
            </a:pPr>
            <a:r>
              <a:rPr lang="es" sz="800" b="0" i="1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Contacts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1"/>
          <p:cNvSpPr/>
          <p:nvPr/>
        </p:nvSpPr>
        <p:spPr>
          <a:xfrm>
            <a:off x="2523744" y="198817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Base de datos de suscriptoras. Crear y ver segmentos de audiencia.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1"/>
          <p:cNvSpPr/>
          <p:nvPr/>
        </p:nvSpPr>
        <p:spPr>
          <a:xfrm>
            <a:off x="4608576" y="1097280"/>
            <a:ext cx="201168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5358384" y="120700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7" name="Google Shape;807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13248" y="113124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31"/>
          <p:cNvSpPr/>
          <p:nvPr/>
        </p:nvSpPr>
        <p:spPr>
          <a:xfrm>
            <a:off x="4700016" y="154926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Estadísticas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/>
          <p:nvPr/>
        </p:nvSpPr>
        <p:spPr>
          <a:xfrm>
            <a:off x="4700016" y="179615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800"/>
              <a:buFont typeface="Calibri"/>
              <a:buNone/>
            </a:pPr>
            <a:r>
              <a:rPr lang="es" sz="800" b="0" i="1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Statistics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1"/>
          <p:cNvSpPr/>
          <p:nvPr/>
        </p:nvSpPr>
        <p:spPr>
          <a:xfrm>
            <a:off x="4700016" y="198817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Revisar métricas: aperturas, clics, rebotes de correos enviados.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6784848" y="1097280"/>
            <a:ext cx="2011680" cy="1298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1"/>
          <p:cNvSpPr/>
          <p:nvPr/>
        </p:nvSpPr>
        <p:spPr>
          <a:xfrm>
            <a:off x="7534656" y="120700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3" name="Google Shape;813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89520" y="113124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1"/>
          <p:cNvSpPr/>
          <p:nvPr/>
        </p:nvSpPr>
        <p:spPr>
          <a:xfrm>
            <a:off x="6876288" y="154926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Plantillas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1"/>
          <p:cNvSpPr/>
          <p:nvPr/>
        </p:nvSpPr>
        <p:spPr>
          <a:xfrm>
            <a:off x="6876288" y="179615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800"/>
              <a:buFont typeface="Calibri"/>
              <a:buNone/>
            </a:pPr>
            <a:r>
              <a:rPr lang="es" sz="800" b="0" i="1" u="none" strike="noStrike" cap="non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Templates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1"/>
          <p:cNvSpPr/>
          <p:nvPr/>
        </p:nvSpPr>
        <p:spPr>
          <a:xfrm>
            <a:off x="6876288" y="198817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Biblioteca de plantillas. Aquí está la plantilla base de Mi Bebé y Yo.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1"/>
          <p:cNvSpPr/>
          <p:nvPr/>
        </p:nvSpPr>
        <p:spPr>
          <a:xfrm>
            <a:off x="256032" y="2523744"/>
            <a:ext cx="8631936" cy="237744"/>
          </a:xfrm>
          <a:prstGeom prst="rect">
            <a:avLst/>
          </a:prstGeom>
          <a:solidFill>
            <a:srgbClr val="263980">
              <a:alpha val="9019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402336" y="2542032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PASOS PARA SUBIR TU CAMPAÑA A SPLIO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1"/>
          <p:cNvSpPr/>
          <p:nvPr/>
        </p:nvSpPr>
        <p:spPr>
          <a:xfrm>
            <a:off x="256032" y="2852928"/>
            <a:ext cx="1627632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1"/>
          <p:cNvSpPr/>
          <p:nvPr/>
        </p:nvSpPr>
        <p:spPr>
          <a:xfrm>
            <a:off x="256032" y="2852928"/>
            <a:ext cx="1627632" cy="1828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1"/>
          <p:cNvSpPr/>
          <p:nvPr/>
        </p:nvSpPr>
        <p:spPr>
          <a:xfrm>
            <a:off x="822960" y="309067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1"/>
          <p:cNvSpPr/>
          <p:nvPr/>
        </p:nvSpPr>
        <p:spPr>
          <a:xfrm>
            <a:off x="822960" y="3090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s" sz="1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1"/>
          <p:cNvSpPr/>
          <p:nvPr/>
        </p:nvSpPr>
        <p:spPr>
          <a:xfrm>
            <a:off x="347472" y="367588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Nueva Campaña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1"/>
          <p:cNvSpPr/>
          <p:nvPr/>
        </p:nvSpPr>
        <p:spPr>
          <a:xfrm>
            <a:off x="347472" y="3959352"/>
            <a:ext cx="14447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Menú Campañas → botón + → Nueva Campaña → Email Campaign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1"/>
          <p:cNvSpPr/>
          <p:nvPr/>
        </p:nvSpPr>
        <p:spPr>
          <a:xfrm>
            <a:off x="1993392" y="2852928"/>
            <a:ext cx="1627632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1"/>
          <p:cNvSpPr/>
          <p:nvPr/>
        </p:nvSpPr>
        <p:spPr>
          <a:xfrm>
            <a:off x="1993392" y="2852928"/>
            <a:ext cx="1627632" cy="18288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1"/>
          <p:cNvSpPr/>
          <p:nvPr/>
        </p:nvSpPr>
        <p:spPr>
          <a:xfrm>
            <a:off x="2560320" y="309067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83921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1"/>
          <p:cNvSpPr/>
          <p:nvPr/>
        </p:nvSpPr>
        <p:spPr>
          <a:xfrm>
            <a:off x="2560320" y="3090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600"/>
              <a:buFont typeface="Calibri"/>
              <a:buNone/>
            </a:pPr>
            <a:r>
              <a:rPr lang="es" sz="16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1"/>
          <p:cNvSpPr/>
          <p:nvPr/>
        </p:nvSpPr>
        <p:spPr>
          <a:xfrm>
            <a:off x="2084832" y="367588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Nombrar campaña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1"/>
          <p:cNvSpPr/>
          <p:nvPr/>
        </p:nvSpPr>
        <p:spPr>
          <a:xfrm>
            <a:off x="2084832" y="3959352"/>
            <a:ext cx="14447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"Newsletter_Semana12_Nutrición_Bebés_2025" — descriptivo + fecha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1"/>
          <p:cNvSpPr/>
          <p:nvPr/>
        </p:nvSpPr>
        <p:spPr>
          <a:xfrm>
            <a:off x="3730752" y="2852928"/>
            <a:ext cx="1627632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1"/>
          <p:cNvSpPr/>
          <p:nvPr/>
        </p:nvSpPr>
        <p:spPr>
          <a:xfrm>
            <a:off x="3730752" y="2852928"/>
            <a:ext cx="1627632" cy="1828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1"/>
          <p:cNvSpPr/>
          <p:nvPr/>
        </p:nvSpPr>
        <p:spPr>
          <a:xfrm>
            <a:off x="4297680" y="309067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83921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1"/>
          <p:cNvSpPr/>
          <p:nvPr/>
        </p:nvSpPr>
        <p:spPr>
          <a:xfrm>
            <a:off x="4297680" y="3090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600"/>
              <a:buFont typeface="Calibri"/>
              <a:buNone/>
            </a:pPr>
            <a:r>
              <a:rPr lang="es" sz="16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1"/>
          <p:cNvSpPr/>
          <p:nvPr/>
        </p:nvSpPr>
        <p:spPr>
          <a:xfrm>
            <a:off x="3822192" y="367588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Editor HTML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1"/>
          <p:cNvSpPr/>
          <p:nvPr/>
        </p:nvSpPr>
        <p:spPr>
          <a:xfrm>
            <a:off x="3822192" y="3959352"/>
            <a:ext cx="14447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"HTML Editor" o "Código Fuente" — siempre pegar el HTML directamente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1"/>
          <p:cNvSpPr/>
          <p:nvPr/>
        </p:nvSpPr>
        <p:spPr>
          <a:xfrm>
            <a:off x="5468112" y="2852928"/>
            <a:ext cx="1627632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1"/>
          <p:cNvSpPr/>
          <p:nvPr/>
        </p:nvSpPr>
        <p:spPr>
          <a:xfrm>
            <a:off x="5468112" y="2852928"/>
            <a:ext cx="1627632" cy="18288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1"/>
          <p:cNvSpPr/>
          <p:nvPr/>
        </p:nvSpPr>
        <p:spPr>
          <a:xfrm>
            <a:off x="6035040" y="309067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C1A56">
              <a:alpha val="83921"/>
            </a:srgbClr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1"/>
          <p:cNvSpPr/>
          <p:nvPr/>
        </p:nvSpPr>
        <p:spPr>
          <a:xfrm>
            <a:off x="6035040" y="3090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1600"/>
              <a:buFont typeface="Calibri"/>
              <a:buNone/>
            </a:pPr>
            <a:r>
              <a:rPr lang="es" sz="1600" b="1" i="0" u="none" strike="noStrike" cap="non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1"/>
          <p:cNvSpPr/>
          <p:nvPr/>
        </p:nvSpPr>
        <p:spPr>
          <a:xfrm>
            <a:off x="5559552" y="367588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Pegar el HTML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1"/>
          <p:cNvSpPr/>
          <p:nvPr/>
        </p:nvSpPr>
        <p:spPr>
          <a:xfrm>
            <a:off x="5559552" y="3959352"/>
            <a:ext cx="14447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Ctrl+A en VSC → Ctrl+C → Ctrl+V en Splio. Pega TODO el contenido del .html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1"/>
          <p:cNvSpPr/>
          <p:nvPr/>
        </p:nvSpPr>
        <p:spPr>
          <a:xfrm>
            <a:off x="7205472" y="2852928"/>
            <a:ext cx="1627632" cy="1920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1"/>
          <p:cNvSpPr/>
          <p:nvPr/>
        </p:nvSpPr>
        <p:spPr>
          <a:xfrm>
            <a:off x="7205472" y="2852928"/>
            <a:ext cx="1627632" cy="1828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1"/>
          <p:cNvSpPr/>
          <p:nvPr/>
        </p:nvSpPr>
        <p:spPr>
          <a:xfrm>
            <a:off x="7772400" y="309067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31"/>
          <p:cNvSpPr/>
          <p:nvPr/>
        </p:nvSpPr>
        <p:spPr>
          <a:xfrm>
            <a:off x="7772400" y="3090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s" sz="1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1"/>
          <p:cNvSpPr/>
          <p:nvPr/>
        </p:nvSpPr>
        <p:spPr>
          <a:xfrm>
            <a:off x="7296912" y="3675888"/>
            <a:ext cx="14447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50"/>
              <a:buFont typeface="Calibri"/>
              <a:buNone/>
            </a:pPr>
            <a:r>
              <a:rPr lang="es" sz="9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Verificar preview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1"/>
          <p:cNvSpPr/>
          <p:nvPr/>
        </p:nvSpPr>
        <p:spPr>
          <a:xfrm>
            <a:off x="7296912" y="3959352"/>
            <a:ext cx="144475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Splio tiene previsualización propia — confirma que el correo se ve bien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3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2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4.3 &amp; 4.4 — Configuración del Envío y Segmentación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2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2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4 · 4.3-4.4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2"/>
          <p:cNvSpPr/>
          <p:nvPr/>
        </p:nvSpPr>
        <p:spPr>
          <a:xfrm>
            <a:off x="256032" y="758952"/>
            <a:ext cx="4169664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2"/>
          <p:cNvSpPr/>
          <p:nvPr/>
        </p:nvSpPr>
        <p:spPr>
          <a:xfrm>
            <a:off x="256032" y="758952"/>
            <a:ext cx="4169664" cy="347472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2"/>
          <p:cNvSpPr/>
          <p:nvPr/>
        </p:nvSpPr>
        <p:spPr>
          <a:xfrm>
            <a:off x="402336" y="804672"/>
            <a:ext cx="39136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4.3 — Configuración del Envío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2"/>
          <p:cNvSpPr/>
          <p:nvPr/>
        </p:nvSpPr>
        <p:spPr>
          <a:xfrm>
            <a:off x="402336" y="123444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Nombre del remitente: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2"/>
          <p:cNvSpPr/>
          <p:nvPr/>
        </p:nvSpPr>
        <p:spPr>
          <a:xfrm>
            <a:off x="2286000" y="1243584"/>
            <a:ext cx="2011680" cy="237744"/>
          </a:xfrm>
          <a:prstGeom prst="rect">
            <a:avLst/>
          </a:prstGeom>
          <a:solidFill>
            <a:srgbClr val="46C2CE">
              <a:alpha val="10196"/>
            </a:srgbClr>
          </a:solidFill>
          <a:ln w="12700" cap="flat" cmpd="sng">
            <a:solidFill>
              <a:srgbClr val="46C2CE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2"/>
          <p:cNvSpPr/>
          <p:nvPr/>
        </p:nvSpPr>
        <p:spPr>
          <a:xfrm>
            <a:off x="2340864" y="1243584"/>
            <a:ext cx="19385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"Mi Bebé y Yo" — lo que verá la lectora en bandeja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2"/>
          <p:cNvSpPr/>
          <p:nvPr/>
        </p:nvSpPr>
        <p:spPr>
          <a:xfrm>
            <a:off x="402336" y="158191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Dirección de correo: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2"/>
          <p:cNvSpPr/>
          <p:nvPr/>
        </p:nvSpPr>
        <p:spPr>
          <a:xfrm>
            <a:off x="2286000" y="1591056"/>
            <a:ext cx="2011680" cy="237744"/>
          </a:xfrm>
          <a:prstGeom prst="rect">
            <a:avLst/>
          </a:prstGeom>
          <a:solidFill>
            <a:srgbClr val="7F52A0">
              <a:alpha val="10196"/>
            </a:srgbClr>
          </a:solidFill>
          <a:ln w="12700" cap="flat" cmpd="sng">
            <a:solidFill>
              <a:srgbClr val="7F52A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2"/>
          <p:cNvSpPr/>
          <p:nvPr/>
        </p:nvSpPr>
        <p:spPr>
          <a:xfrm>
            <a:off x="2340864" y="1591056"/>
            <a:ext cx="19385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hola@mibebeyyo.mx — NUNCA uses correos personales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2"/>
          <p:cNvSpPr/>
          <p:nvPr/>
        </p:nvSpPr>
        <p:spPr>
          <a:xfrm>
            <a:off x="402336" y="192938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Asunto: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2"/>
          <p:cNvSpPr/>
          <p:nvPr/>
        </p:nvSpPr>
        <p:spPr>
          <a:xfrm>
            <a:off x="2286000" y="1938528"/>
            <a:ext cx="2011680" cy="237744"/>
          </a:xfrm>
          <a:prstGeom prst="rect">
            <a:avLst/>
          </a:prstGeom>
          <a:solidFill>
            <a:srgbClr val="263980">
              <a:alpha val="10196"/>
            </a:srgbClr>
          </a:solidFill>
          <a:ln w="12700" cap="flat" cmpd="sng">
            <a:solidFill>
              <a:srgbClr val="26398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2"/>
          <p:cNvSpPr/>
          <p:nvPr/>
        </p:nvSpPr>
        <p:spPr>
          <a:xfrm>
            <a:off x="2340864" y="1938528"/>
            <a:ext cx="19385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El titular indicado por el equipo editorial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2"/>
          <p:cNvSpPr/>
          <p:nvPr/>
        </p:nvSpPr>
        <p:spPr>
          <a:xfrm>
            <a:off x="402336" y="227685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Pre-header: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2"/>
          <p:cNvSpPr/>
          <p:nvPr/>
        </p:nvSpPr>
        <p:spPr>
          <a:xfrm>
            <a:off x="2286000" y="2286000"/>
            <a:ext cx="2011680" cy="237744"/>
          </a:xfrm>
          <a:prstGeom prst="rect">
            <a:avLst/>
          </a:prstGeom>
          <a:solidFill>
            <a:srgbClr val="46C2CE">
              <a:alpha val="10196"/>
            </a:srgbClr>
          </a:solidFill>
          <a:ln w="12700" cap="flat" cmpd="sng">
            <a:solidFill>
              <a:srgbClr val="46C2CE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2"/>
          <p:cNvSpPr/>
          <p:nvPr/>
        </p:nvSpPr>
        <p:spPr>
          <a:xfrm>
            <a:off x="2340864" y="2286000"/>
            <a:ext cx="19385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Complemento del asunto — siempre agrégalo si es posible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402336" y="262432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Reply-To: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2"/>
          <p:cNvSpPr/>
          <p:nvPr/>
        </p:nvSpPr>
        <p:spPr>
          <a:xfrm>
            <a:off x="2286000" y="2633472"/>
            <a:ext cx="2011680" cy="237744"/>
          </a:xfrm>
          <a:prstGeom prst="rect">
            <a:avLst/>
          </a:prstGeom>
          <a:solidFill>
            <a:srgbClr val="7F52A0">
              <a:alpha val="10196"/>
            </a:srgbClr>
          </a:solidFill>
          <a:ln w="12700" cap="flat" cmpd="sng">
            <a:solidFill>
              <a:srgbClr val="7F52A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2"/>
          <p:cNvSpPr/>
          <p:nvPr/>
        </p:nvSpPr>
        <p:spPr>
          <a:xfrm>
            <a:off x="2340864" y="2633472"/>
            <a:ext cx="19385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Dirección válida donde las lectoras pueden contestar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2"/>
          <p:cNvSpPr/>
          <p:nvPr/>
        </p:nvSpPr>
        <p:spPr>
          <a:xfrm>
            <a:off x="4718304" y="758952"/>
            <a:ext cx="4169664" cy="2331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2"/>
          <p:cNvSpPr/>
          <p:nvPr/>
        </p:nvSpPr>
        <p:spPr>
          <a:xfrm>
            <a:off x="4718304" y="758952"/>
            <a:ext cx="4169664" cy="347472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32"/>
          <p:cNvSpPr/>
          <p:nvPr/>
        </p:nvSpPr>
        <p:spPr>
          <a:xfrm>
            <a:off x="4864608" y="804672"/>
            <a:ext cx="39136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4.4 — ¿Por Qué Segmentamos?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2"/>
          <p:cNvSpPr/>
          <p:nvPr/>
        </p:nvSpPr>
        <p:spPr>
          <a:xfrm>
            <a:off x="4864608" y="1234440"/>
            <a:ext cx="391363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900"/>
              <a:buFont typeface="Calibri"/>
              <a:buNone/>
            </a:pPr>
            <a:r>
              <a:rPr lang="es" sz="900" b="0" i="1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No tiene sentido enviar 'Cómo prepararse para el parto' a una mamá cuyo hijo ya tiene 2 años.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2"/>
          <p:cNvSpPr/>
          <p:nvPr/>
        </p:nvSpPr>
        <p:spPr>
          <a:xfrm>
            <a:off x="4846320" y="1764792"/>
            <a:ext cx="3913632" cy="329184"/>
          </a:xfrm>
          <a:prstGeom prst="rect">
            <a:avLst/>
          </a:prstGeom>
          <a:solidFill>
            <a:srgbClr val="7F52A0">
              <a:alpha val="12156"/>
            </a:srgbClr>
          </a:solidFill>
          <a:ln w="12700" cap="flat" cmpd="sng">
            <a:solidFill>
              <a:srgbClr val="7F52A0">
                <a:alpha val="3803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4" name="Google Shape;884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9472" y="18379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32"/>
          <p:cNvSpPr/>
          <p:nvPr/>
        </p:nvSpPr>
        <p:spPr>
          <a:xfrm>
            <a:off x="5175504" y="1783080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Aumenta la tasa de apertura y clics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2"/>
          <p:cNvSpPr/>
          <p:nvPr/>
        </p:nvSpPr>
        <p:spPr>
          <a:xfrm>
            <a:off x="4846320" y="2148840"/>
            <a:ext cx="3913632" cy="329184"/>
          </a:xfrm>
          <a:prstGeom prst="rect">
            <a:avLst/>
          </a:prstGeom>
          <a:solidFill>
            <a:srgbClr val="7F52A0">
              <a:alpha val="12156"/>
            </a:srgbClr>
          </a:solidFill>
          <a:ln w="12700" cap="flat" cmpd="sng">
            <a:solidFill>
              <a:srgbClr val="7F52A0">
                <a:alpha val="3803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7" name="Google Shape;887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9472" y="22219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32"/>
          <p:cNvSpPr/>
          <p:nvPr/>
        </p:nvSpPr>
        <p:spPr>
          <a:xfrm>
            <a:off x="5175504" y="2167128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Reduce las desuscripciones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2"/>
          <p:cNvSpPr/>
          <p:nvPr/>
        </p:nvSpPr>
        <p:spPr>
          <a:xfrm>
            <a:off x="4846320" y="2532888"/>
            <a:ext cx="3913632" cy="329184"/>
          </a:xfrm>
          <a:prstGeom prst="rect">
            <a:avLst/>
          </a:prstGeom>
          <a:solidFill>
            <a:srgbClr val="7F52A0">
              <a:alpha val="12156"/>
            </a:srgbClr>
          </a:solidFill>
          <a:ln w="12700" cap="flat" cmpd="sng">
            <a:solidFill>
              <a:srgbClr val="7F52A0">
                <a:alpha val="3803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0" name="Google Shape;890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9472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32"/>
          <p:cNvSpPr/>
          <p:nvPr/>
        </p:nvSpPr>
        <p:spPr>
          <a:xfrm>
            <a:off x="5175504" y="2551176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900"/>
              <a:buFont typeface="Calibri"/>
              <a:buNone/>
            </a:pPr>
            <a:r>
              <a:rPr lang="es" sz="9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Contenido más relevante para cada etapa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2"/>
          <p:cNvSpPr/>
          <p:nvPr/>
        </p:nvSpPr>
        <p:spPr>
          <a:xfrm>
            <a:off x="256032" y="3182112"/>
            <a:ext cx="8631936" cy="237744"/>
          </a:xfrm>
          <a:prstGeom prst="rect">
            <a:avLst/>
          </a:prstGeom>
          <a:solidFill>
            <a:srgbClr val="263980">
              <a:alpha val="9019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2"/>
          <p:cNvSpPr/>
          <p:nvPr/>
        </p:nvSpPr>
        <p:spPr>
          <a:xfrm>
            <a:off x="402336" y="3200400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SEGMENTOS EN MI BEBÉ Y YO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2"/>
          <p:cNvSpPr/>
          <p:nvPr/>
        </p:nvSpPr>
        <p:spPr>
          <a:xfrm>
            <a:off x="256032" y="3511296"/>
            <a:ext cx="4169664" cy="329184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32"/>
          <p:cNvSpPr/>
          <p:nvPr/>
        </p:nvSpPr>
        <p:spPr>
          <a:xfrm>
            <a:off x="256032" y="3511296"/>
            <a:ext cx="73152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32"/>
          <p:cNvSpPr/>
          <p:nvPr/>
        </p:nvSpPr>
        <p:spPr>
          <a:xfrm>
            <a:off x="393192" y="3566160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Embarazadas 1° trimestre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2"/>
          <p:cNvSpPr/>
          <p:nvPr/>
        </p:nvSpPr>
        <p:spPr>
          <a:xfrm>
            <a:off x="2496312" y="35661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Síntomas del embarazo, nutrición prenatal, primeras visitas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2"/>
          <p:cNvSpPr/>
          <p:nvPr/>
        </p:nvSpPr>
        <p:spPr>
          <a:xfrm>
            <a:off x="4700016" y="3511296"/>
            <a:ext cx="4169664" cy="329184"/>
          </a:xfrm>
          <a:prstGeom prst="rect">
            <a:avLst/>
          </a:prstGeom>
          <a:solidFill>
            <a:srgbClr val="EFF3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32"/>
          <p:cNvSpPr/>
          <p:nvPr/>
        </p:nvSpPr>
        <p:spPr>
          <a:xfrm>
            <a:off x="4700016" y="3511296"/>
            <a:ext cx="73152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32"/>
          <p:cNvSpPr/>
          <p:nvPr/>
        </p:nvSpPr>
        <p:spPr>
          <a:xfrm>
            <a:off x="4837176" y="3566160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Embarazadas 2° trimestre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2"/>
          <p:cNvSpPr/>
          <p:nvPr/>
        </p:nvSpPr>
        <p:spPr>
          <a:xfrm>
            <a:off x="6940296" y="35661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Movimientos del bebé, preparación para el parto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2"/>
          <p:cNvSpPr/>
          <p:nvPr/>
        </p:nvSpPr>
        <p:spPr>
          <a:xfrm>
            <a:off x="256032" y="3895344"/>
            <a:ext cx="4169664" cy="329184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32"/>
          <p:cNvSpPr/>
          <p:nvPr/>
        </p:nvSpPr>
        <p:spPr>
          <a:xfrm>
            <a:off x="256032" y="3895344"/>
            <a:ext cx="73152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2"/>
          <p:cNvSpPr/>
          <p:nvPr/>
        </p:nvSpPr>
        <p:spPr>
          <a:xfrm>
            <a:off x="393192" y="3950208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Embarazadas 3° trimestre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2"/>
          <p:cNvSpPr/>
          <p:nvPr/>
        </p:nvSpPr>
        <p:spPr>
          <a:xfrm>
            <a:off x="2496312" y="395020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Bolsa del hospital, señales de labor, últimos preparativos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2"/>
          <p:cNvSpPr/>
          <p:nvPr/>
        </p:nvSpPr>
        <p:spPr>
          <a:xfrm>
            <a:off x="4700016" y="3895344"/>
            <a:ext cx="4169664" cy="329184"/>
          </a:xfrm>
          <a:prstGeom prst="rect">
            <a:avLst/>
          </a:prstGeom>
          <a:solidFill>
            <a:srgbClr val="EFF3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2"/>
          <p:cNvSpPr/>
          <p:nvPr/>
        </p:nvSpPr>
        <p:spPr>
          <a:xfrm>
            <a:off x="4700016" y="3895344"/>
            <a:ext cx="73152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2"/>
          <p:cNvSpPr/>
          <p:nvPr/>
        </p:nvSpPr>
        <p:spPr>
          <a:xfrm>
            <a:off x="4837176" y="3950208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Mamás · Recién nacido (0-6 m)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2"/>
          <p:cNvSpPr/>
          <p:nvPr/>
        </p:nvSpPr>
        <p:spPr>
          <a:xfrm>
            <a:off x="6940296" y="395020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Lactancia, sueño del bebé, desarrollo neurológico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2"/>
          <p:cNvSpPr/>
          <p:nvPr/>
        </p:nvSpPr>
        <p:spPr>
          <a:xfrm>
            <a:off x="256032" y="4279392"/>
            <a:ext cx="4169664" cy="329184"/>
          </a:xfrm>
          <a:prstGeom prst="rect">
            <a:avLst/>
          </a:prstGeom>
          <a:solidFill>
            <a:srgbClr val="EDE8F5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2"/>
          <p:cNvSpPr/>
          <p:nvPr/>
        </p:nvSpPr>
        <p:spPr>
          <a:xfrm>
            <a:off x="256032" y="4279392"/>
            <a:ext cx="73152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2"/>
          <p:cNvSpPr/>
          <p:nvPr/>
        </p:nvSpPr>
        <p:spPr>
          <a:xfrm>
            <a:off x="393192" y="4334256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Mamás · Bebé (6-12 m)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2"/>
          <p:cNvSpPr/>
          <p:nvPr/>
        </p:nvSpPr>
        <p:spPr>
          <a:xfrm>
            <a:off x="2496312" y="433425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Introducción de sólidos, desarrollo motor, seguridad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2"/>
          <p:cNvSpPr/>
          <p:nvPr/>
        </p:nvSpPr>
        <p:spPr>
          <a:xfrm>
            <a:off x="4700016" y="4279392"/>
            <a:ext cx="4169664" cy="329184"/>
          </a:xfrm>
          <a:prstGeom prst="rect">
            <a:avLst/>
          </a:prstGeom>
          <a:solidFill>
            <a:srgbClr val="EFF3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>
            <a:off x="4700016" y="4279392"/>
            <a:ext cx="73152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32"/>
          <p:cNvSpPr/>
          <p:nvPr/>
        </p:nvSpPr>
        <p:spPr>
          <a:xfrm>
            <a:off x="4837176" y="4334256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Mamás · Bebés (1-2 años)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2"/>
          <p:cNvSpPr/>
          <p:nvPr/>
        </p:nvSpPr>
        <p:spPr>
          <a:xfrm>
            <a:off x="6940296" y="433425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Primeros pasos, lenguaje, alimentación del pequeño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2"/>
          <p:cNvSpPr/>
          <p:nvPr/>
        </p:nvSpPr>
        <p:spPr>
          <a:xfrm>
            <a:off x="256032" y="4681728"/>
            <a:ext cx="8631936" cy="237744"/>
          </a:xfrm>
          <a:prstGeom prst="rect">
            <a:avLst/>
          </a:prstGeom>
          <a:solidFill>
            <a:srgbClr val="46C2CE">
              <a:alpha val="78039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32"/>
          <p:cNvSpPr/>
          <p:nvPr/>
        </p:nvSpPr>
        <p:spPr>
          <a:xfrm>
            <a:off x="256032" y="4681728"/>
            <a:ext cx="91440" cy="23774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2"/>
          <p:cNvSpPr/>
          <p:nvPr/>
        </p:nvSpPr>
        <p:spPr>
          <a:xfrm>
            <a:off x="420624" y="470001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Lista general (todos los segmentos)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2"/>
          <p:cNvSpPr/>
          <p:nvPr/>
        </p:nvSpPr>
        <p:spPr>
          <a:xfrm>
            <a:off x="4114800" y="4700016"/>
            <a:ext cx="47000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F90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5A6F90"/>
                </a:solidFill>
                <a:latin typeface="Calibri"/>
                <a:ea typeface="Calibri"/>
                <a:cs typeface="Calibri"/>
                <a:sym typeface="Calibri"/>
              </a:rPr>
              <a:t>Sorteos, artículos evergreen y campañas de marcas patrocinadoras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3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33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33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4.5 &amp; 4.6 — Pruebas Obligatorias y Horarios de Envío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3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MÓDULO 4 · 4.5-4.6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3"/>
          <p:cNvSpPr/>
          <p:nvPr/>
        </p:nvSpPr>
        <p:spPr>
          <a:xfrm>
            <a:off x="256032" y="758952"/>
            <a:ext cx="8631936" cy="475488"/>
          </a:xfrm>
          <a:prstGeom prst="rect">
            <a:avLst/>
          </a:prstGeom>
          <a:solidFill>
            <a:srgbClr val="E5334E">
              <a:alpha val="87843"/>
            </a:srgbClr>
          </a:solidFill>
          <a:ln w="12700" cap="flat" cmpd="sng">
            <a:solidFill>
              <a:srgbClr val="E533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5" name="Google Shape;935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868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33"/>
          <p:cNvSpPr/>
          <p:nvPr/>
        </p:nvSpPr>
        <p:spPr>
          <a:xfrm>
            <a:off x="694944" y="804672"/>
            <a:ext cx="8092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1030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A01030"/>
                </a:solidFill>
                <a:latin typeface="Calibri"/>
                <a:ea typeface="Calibri"/>
                <a:cs typeface="Calibri"/>
                <a:sym typeface="Calibri"/>
              </a:rPr>
              <a:t>NUNCA envíes a la base de datos completa sin antes hacer pruebas. Este paso evita la mayoría de los errores graves.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3"/>
          <p:cNvSpPr/>
          <p:nvPr/>
        </p:nvSpPr>
        <p:spPr>
          <a:xfrm>
            <a:off x="256032" y="1353312"/>
            <a:ext cx="4169664" cy="2834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33"/>
          <p:cNvSpPr/>
          <p:nvPr/>
        </p:nvSpPr>
        <p:spPr>
          <a:xfrm>
            <a:off x="256032" y="1353312"/>
            <a:ext cx="4169664" cy="329184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9" name="Google Shape;939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1408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33"/>
          <p:cNvSpPr/>
          <p:nvPr/>
        </p:nvSpPr>
        <p:spPr>
          <a:xfrm>
            <a:off x="640080" y="141732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Puntos de Verificación del Correo de Prueba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3"/>
          <p:cNvSpPr/>
          <p:nvPr/>
        </p:nvSpPr>
        <p:spPr>
          <a:xfrm>
            <a:off x="384048" y="1801368"/>
            <a:ext cx="3913632" cy="274320"/>
          </a:xfrm>
          <a:prstGeom prst="rect">
            <a:avLst/>
          </a:prstGeom>
          <a:solidFill>
            <a:srgbClr val="E6F8FA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3"/>
          <p:cNvSpPr/>
          <p:nvPr/>
        </p:nvSpPr>
        <p:spPr>
          <a:xfrm>
            <a:off x="384048" y="1801368"/>
            <a:ext cx="274320" cy="274320"/>
          </a:xfrm>
          <a:prstGeom prst="rect">
            <a:avLst/>
          </a:pr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3"/>
          <p:cNvSpPr/>
          <p:nvPr/>
        </p:nvSpPr>
        <p:spPr>
          <a:xfrm>
            <a:off x="384048" y="18013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3"/>
          <p:cNvSpPr/>
          <p:nvPr/>
        </p:nvSpPr>
        <p:spPr>
          <a:xfrm>
            <a:off x="713232" y="1828800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¿El asunto aparece correctamente en la bandeja de entrada?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3"/>
          <p:cNvSpPr/>
          <p:nvPr/>
        </p:nvSpPr>
        <p:spPr>
          <a:xfrm>
            <a:off x="384048" y="2130552"/>
            <a:ext cx="3913632" cy="274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3"/>
          <p:cNvSpPr/>
          <p:nvPr/>
        </p:nvSpPr>
        <p:spPr>
          <a:xfrm>
            <a:off x="384048" y="2130552"/>
            <a:ext cx="274320" cy="274320"/>
          </a:xfrm>
          <a:prstGeom prst="rect">
            <a:avLst/>
          </a:pr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3"/>
          <p:cNvSpPr/>
          <p:nvPr/>
        </p:nvSpPr>
        <p:spPr>
          <a:xfrm>
            <a:off x="384048" y="21305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3"/>
          <p:cNvSpPr/>
          <p:nvPr/>
        </p:nvSpPr>
        <p:spPr>
          <a:xfrm>
            <a:off x="713232" y="2157984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¿El pre-header complementa el asunto de manera coherente?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3"/>
          <p:cNvSpPr/>
          <p:nvPr/>
        </p:nvSpPr>
        <p:spPr>
          <a:xfrm>
            <a:off x="384048" y="2459736"/>
            <a:ext cx="3913632" cy="274320"/>
          </a:xfrm>
          <a:prstGeom prst="rect">
            <a:avLst/>
          </a:prstGeom>
          <a:solidFill>
            <a:srgbClr val="E6F8FA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3"/>
          <p:cNvSpPr/>
          <p:nvPr/>
        </p:nvSpPr>
        <p:spPr>
          <a:xfrm>
            <a:off x="384048" y="2459736"/>
            <a:ext cx="274320" cy="274320"/>
          </a:xfrm>
          <a:prstGeom prst="rect">
            <a:avLst/>
          </a:pr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3"/>
          <p:cNvSpPr/>
          <p:nvPr/>
        </p:nvSpPr>
        <p:spPr>
          <a:xfrm>
            <a:off x="384048" y="24597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3"/>
          <p:cNvSpPr/>
          <p:nvPr/>
        </p:nvSpPr>
        <p:spPr>
          <a:xfrm>
            <a:off x="713232" y="2487168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¿Todas las imágenes cargan correctamente?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3"/>
          <p:cNvSpPr/>
          <p:nvPr/>
        </p:nvSpPr>
        <p:spPr>
          <a:xfrm>
            <a:off x="384048" y="2788920"/>
            <a:ext cx="3913632" cy="274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3"/>
          <p:cNvSpPr/>
          <p:nvPr/>
        </p:nvSpPr>
        <p:spPr>
          <a:xfrm>
            <a:off x="384048" y="2788920"/>
            <a:ext cx="274320" cy="274320"/>
          </a:xfrm>
          <a:prstGeom prst="rect">
            <a:avLst/>
          </a:pr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3"/>
          <p:cNvSpPr/>
          <p:nvPr/>
        </p:nvSpPr>
        <p:spPr>
          <a:xfrm>
            <a:off x="384048" y="2788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3"/>
          <p:cNvSpPr/>
          <p:nvPr/>
        </p:nvSpPr>
        <p:spPr>
          <a:xfrm>
            <a:off x="713232" y="2816352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¿Todos los botones y enlaces funcionan y llevan al URL correcto?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384048" y="3118104"/>
            <a:ext cx="3913632" cy="274320"/>
          </a:xfrm>
          <a:prstGeom prst="rect">
            <a:avLst/>
          </a:prstGeom>
          <a:solidFill>
            <a:srgbClr val="E6F8FA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33"/>
          <p:cNvSpPr/>
          <p:nvPr/>
        </p:nvSpPr>
        <p:spPr>
          <a:xfrm>
            <a:off x="384048" y="3118104"/>
            <a:ext cx="274320" cy="274320"/>
          </a:xfrm>
          <a:prstGeom prst="rect">
            <a:avLst/>
          </a:pr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3"/>
          <p:cNvSpPr/>
          <p:nvPr/>
        </p:nvSpPr>
        <p:spPr>
          <a:xfrm>
            <a:off x="384048" y="31181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3"/>
          <p:cNvSpPr/>
          <p:nvPr/>
        </p:nvSpPr>
        <p:spPr>
          <a:xfrm>
            <a:off x="713232" y="3145536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¿El correo se ve bien en móvil?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3"/>
          <p:cNvSpPr/>
          <p:nvPr/>
        </p:nvSpPr>
        <p:spPr>
          <a:xfrm>
            <a:off x="384048" y="3447288"/>
            <a:ext cx="3913632" cy="274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8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3"/>
          <p:cNvSpPr/>
          <p:nvPr/>
        </p:nvSpPr>
        <p:spPr>
          <a:xfrm>
            <a:off x="384048" y="3447288"/>
            <a:ext cx="274320" cy="274320"/>
          </a:xfrm>
          <a:prstGeom prst="rect">
            <a:avLst/>
          </a:prstGeom>
          <a:solidFill>
            <a:srgbClr val="46C2CE">
              <a:alpha val="83921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3"/>
          <p:cNvSpPr/>
          <p:nvPr/>
        </p:nvSpPr>
        <p:spPr>
          <a:xfrm>
            <a:off x="384048" y="34472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3"/>
          <p:cNvSpPr/>
          <p:nvPr/>
        </p:nvSpPr>
        <p:spPr>
          <a:xfrm>
            <a:off x="713232" y="3474720"/>
            <a:ext cx="351129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¿El nombre del remitente es correcto: 'Mi Bebé y Yo'?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3"/>
          <p:cNvSpPr/>
          <p:nvPr/>
        </p:nvSpPr>
        <p:spPr>
          <a:xfrm>
            <a:off x="256032" y="3931920"/>
            <a:ext cx="4169664" cy="530352"/>
          </a:xfrm>
          <a:prstGeom prst="rect">
            <a:avLst/>
          </a:prstGeom>
          <a:solidFill>
            <a:srgbClr val="E5334E">
              <a:alpha val="87843"/>
            </a:srgbClr>
          </a:solidFill>
          <a:ln w="12700" cap="flat" cmpd="sng">
            <a:solidFill>
              <a:srgbClr val="E533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6" name="Google Shape;966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4041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33"/>
          <p:cNvSpPr/>
          <p:nvPr/>
        </p:nvSpPr>
        <p:spPr>
          <a:xfrm>
            <a:off x="658368" y="39776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34E"/>
              </a:buClr>
              <a:buSzPts val="1100"/>
              <a:buFont typeface="Calibri"/>
              <a:buNone/>
            </a:pPr>
            <a:r>
              <a:rPr lang="es" sz="1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Error 404 — CRÍTICO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3"/>
          <p:cNvSpPr/>
          <p:nvPr/>
        </p:nvSpPr>
        <p:spPr>
          <a:xfrm>
            <a:off x="658368" y="4178808"/>
            <a:ext cx="36393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34E"/>
              </a:buClr>
              <a:buSzPts val="800"/>
              <a:buFont typeface="Calibri"/>
              <a:buNone/>
            </a:pPr>
            <a:r>
              <a:rPr lang="es" sz="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Haz clic en CADA botón y enlace. Un 404 = enlace a página inexistente. Enviarlo a toda la base es uno de los errores más graves.</a:t>
            </a:r>
            <a:endParaRPr sz="8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3"/>
          <p:cNvSpPr/>
          <p:nvPr/>
        </p:nvSpPr>
        <p:spPr>
          <a:xfrm>
            <a:off x="4718304" y="1353312"/>
            <a:ext cx="4169664" cy="3108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3"/>
          <p:cNvSpPr/>
          <p:nvPr/>
        </p:nvSpPr>
        <p:spPr>
          <a:xfrm>
            <a:off x="4718304" y="1353312"/>
            <a:ext cx="4169664" cy="329184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1" name="Google Shape;971;p3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8032" y="1408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33"/>
          <p:cNvSpPr/>
          <p:nvPr/>
        </p:nvSpPr>
        <p:spPr>
          <a:xfrm>
            <a:off x="5102352" y="141732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Mejores Horarios de Envío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/>
          <p:nvPr/>
        </p:nvSpPr>
        <p:spPr>
          <a:xfrm>
            <a:off x="4846320" y="1810512"/>
            <a:ext cx="3913632" cy="566928"/>
          </a:xfrm>
          <a:prstGeom prst="rect">
            <a:avLst/>
          </a:prstGeom>
          <a:solidFill>
            <a:srgbClr val="46C2CE">
              <a:alpha val="12156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3"/>
          <p:cNvSpPr/>
          <p:nvPr/>
        </p:nvSpPr>
        <p:spPr>
          <a:xfrm>
            <a:off x="4846320" y="1810512"/>
            <a:ext cx="1115568" cy="566928"/>
          </a:xfrm>
          <a:prstGeom prst="rect">
            <a:avLst/>
          </a:prstGeom>
          <a:solidFill>
            <a:srgbClr val="46C2CE">
              <a:alpha val="87843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3"/>
          <p:cNvSpPr/>
          <p:nvPr/>
        </p:nvSpPr>
        <p:spPr>
          <a:xfrm>
            <a:off x="4892040" y="184708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 – Jue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3"/>
          <p:cNvSpPr/>
          <p:nvPr/>
        </p:nvSpPr>
        <p:spPr>
          <a:xfrm>
            <a:off x="4892040" y="2084832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8:00 – 9:00 AM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6016752" y="19019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Las mamás revisan correo antes de empezar el día, mientras el bebé duerme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3"/>
          <p:cNvSpPr/>
          <p:nvPr/>
        </p:nvSpPr>
        <p:spPr>
          <a:xfrm>
            <a:off x="4846320" y="2468880"/>
            <a:ext cx="3913632" cy="566928"/>
          </a:xfrm>
          <a:prstGeom prst="rect">
            <a:avLst/>
          </a:prstGeom>
          <a:solidFill>
            <a:srgbClr val="7F52A0">
              <a:alpha val="12156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3"/>
          <p:cNvSpPr/>
          <p:nvPr/>
        </p:nvSpPr>
        <p:spPr>
          <a:xfrm>
            <a:off x="4846320" y="2468880"/>
            <a:ext cx="1115568" cy="566928"/>
          </a:xfrm>
          <a:prstGeom prst="rect">
            <a:avLst/>
          </a:prstGeom>
          <a:solidFill>
            <a:srgbClr val="7F52A0">
              <a:alpha val="87843"/>
            </a:srgbClr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33"/>
          <p:cNvSpPr/>
          <p:nvPr/>
        </p:nvSpPr>
        <p:spPr>
          <a:xfrm>
            <a:off x="4892040" y="2505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 – Jue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3"/>
          <p:cNvSpPr/>
          <p:nvPr/>
        </p:nvSpPr>
        <p:spPr>
          <a:xfrm>
            <a:off x="4892040" y="2743200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12:00 – 2:00 PM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3"/>
          <p:cNvSpPr/>
          <p:nvPr/>
        </p:nvSpPr>
        <p:spPr>
          <a:xfrm>
            <a:off x="6016752" y="25603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Pausa del almuerzo. Buen momento para leer desde el celular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3"/>
          <p:cNvSpPr/>
          <p:nvPr/>
        </p:nvSpPr>
        <p:spPr>
          <a:xfrm>
            <a:off x="4846320" y="3127248"/>
            <a:ext cx="3913632" cy="566928"/>
          </a:xfrm>
          <a:prstGeom prst="rect">
            <a:avLst/>
          </a:prstGeom>
          <a:solidFill>
            <a:srgbClr val="263980">
              <a:alpha val="12156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33"/>
          <p:cNvSpPr/>
          <p:nvPr/>
        </p:nvSpPr>
        <p:spPr>
          <a:xfrm>
            <a:off x="4846320" y="3127248"/>
            <a:ext cx="1115568" cy="566928"/>
          </a:xfrm>
          <a:prstGeom prst="rect">
            <a:avLst/>
          </a:prstGeom>
          <a:solidFill>
            <a:srgbClr val="263980">
              <a:alpha val="87843"/>
            </a:srgbClr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3"/>
          <p:cNvSpPr/>
          <p:nvPr/>
        </p:nvSpPr>
        <p:spPr>
          <a:xfrm>
            <a:off x="4892040" y="3163824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Lunes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3"/>
          <p:cNvSpPr/>
          <p:nvPr/>
        </p:nvSpPr>
        <p:spPr>
          <a:xfrm>
            <a:off x="4892040" y="3401568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9:00 – 10:00 AM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3"/>
          <p:cNvSpPr/>
          <p:nvPr/>
        </p:nvSpPr>
        <p:spPr>
          <a:xfrm>
            <a:off x="6016752" y="321868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Inicio de semana. Las personas están más receptivas a nuevo contenido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3"/>
          <p:cNvSpPr/>
          <p:nvPr/>
        </p:nvSpPr>
        <p:spPr>
          <a:xfrm>
            <a:off x="4846320" y="3785616"/>
            <a:ext cx="3913632" cy="566928"/>
          </a:xfrm>
          <a:prstGeom prst="rect">
            <a:avLst/>
          </a:prstGeom>
          <a:solidFill>
            <a:srgbClr val="2C1A56">
              <a:alpha val="12156"/>
            </a:srgbClr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3"/>
          <p:cNvSpPr/>
          <p:nvPr/>
        </p:nvSpPr>
        <p:spPr>
          <a:xfrm>
            <a:off x="4846320" y="3785616"/>
            <a:ext cx="1115568" cy="566928"/>
          </a:xfrm>
          <a:prstGeom prst="rect">
            <a:avLst/>
          </a:prstGeom>
          <a:solidFill>
            <a:srgbClr val="2C1A56">
              <a:alpha val="87843"/>
            </a:srgbClr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3"/>
          <p:cNvSpPr/>
          <p:nvPr/>
        </p:nvSpPr>
        <p:spPr>
          <a:xfrm>
            <a:off x="4892040" y="3822192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 semana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3"/>
          <p:cNvSpPr/>
          <p:nvPr/>
        </p:nvSpPr>
        <p:spPr>
          <a:xfrm>
            <a:off x="4892040" y="4059936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10:00 AM – 12:00 PM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3"/>
          <p:cNvSpPr/>
          <p:nvPr/>
        </p:nvSpPr>
        <p:spPr>
          <a:xfrm>
            <a:off x="6016752" y="3877056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B52"/>
              </a:buClr>
              <a:buSzPts val="800"/>
              <a:buFont typeface="Calibri"/>
              <a:buNone/>
            </a:pPr>
            <a:r>
              <a:rPr lang="es" sz="800" b="0" i="0" u="none" strike="noStrike" cap="none">
                <a:solidFill>
                  <a:srgbClr val="1C2B52"/>
                </a:solidFill>
                <a:latin typeface="Calibri"/>
                <a:ea typeface="Calibri"/>
                <a:cs typeface="Calibri"/>
                <a:sym typeface="Calibri"/>
              </a:rPr>
              <a:t>Para sorteos o entretenimiento. Menor competencia en la bandeja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3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4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34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Glosario de Términos Clave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4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34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REFERENCIA RÁPIDA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12653B2-30AB-16BF-98BD-57C2090CD178}"/>
              </a:ext>
            </a:extLst>
          </p:cNvPr>
          <p:cNvGrpSpPr/>
          <p:nvPr/>
        </p:nvGrpSpPr>
        <p:grpSpPr>
          <a:xfrm>
            <a:off x="256032" y="804672"/>
            <a:ext cx="4169664" cy="237744"/>
            <a:chOff x="256032" y="804672"/>
            <a:chExt cx="4169664" cy="237744"/>
          </a:xfrm>
        </p:grpSpPr>
        <p:sp>
          <p:nvSpPr>
            <p:cNvPr id="1005" name="Google Shape;1005;p34"/>
            <p:cNvSpPr/>
            <p:nvPr/>
          </p:nvSpPr>
          <p:spPr>
            <a:xfrm>
              <a:off x="256032" y="80467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256032" y="804672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402336" y="83210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Alt Text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1517904" y="83210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Texto que describe una imagen. Aparece si la imagen no carga; vital para accesibilidad.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2107EF8A-A4C1-0040-7427-CD1073E3AED3}"/>
              </a:ext>
            </a:extLst>
          </p:cNvPr>
          <p:cNvGrpSpPr/>
          <p:nvPr/>
        </p:nvGrpSpPr>
        <p:grpSpPr>
          <a:xfrm>
            <a:off x="256032" y="1314713"/>
            <a:ext cx="4169664" cy="237744"/>
            <a:chOff x="256032" y="1078992"/>
            <a:chExt cx="4169664" cy="237744"/>
          </a:xfrm>
        </p:grpSpPr>
        <p:sp>
          <p:nvSpPr>
            <p:cNvPr id="1009" name="Google Shape;1009;p34"/>
            <p:cNvSpPr/>
            <p:nvPr/>
          </p:nvSpPr>
          <p:spPr>
            <a:xfrm>
              <a:off x="256032" y="1078992"/>
              <a:ext cx="4169664" cy="237744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256032" y="1078992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402336" y="110642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Banner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1517904" y="110642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Imagen grande en la parte superior del correo. Muestra el tema central o una promoción.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B8083A55-3DF6-A115-A5EE-207A64A6C47D}"/>
              </a:ext>
            </a:extLst>
          </p:cNvPr>
          <p:cNvGrpSpPr/>
          <p:nvPr/>
        </p:nvGrpSpPr>
        <p:grpSpPr>
          <a:xfrm>
            <a:off x="256032" y="1824754"/>
            <a:ext cx="4169664" cy="237744"/>
            <a:chOff x="256032" y="1353312"/>
            <a:chExt cx="4169664" cy="237744"/>
          </a:xfrm>
        </p:grpSpPr>
        <p:sp>
          <p:nvSpPr>
            <p:cNvPr id="1013" name="Google Shape;1013;p34"/>
            <p:cNvSpPr/>
            <p:nvPr/>
          </p:nvSpPr>
          <p:spPr>
            <a:xfrm>
              <a:off x="256032" y="135331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256032" y="1353312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402336" y="138074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Bounce Rate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1517904" y="138074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% de correos no entregados. Hard = dirección inválida · Soft = bandeja llena.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13BE6676-100D-2227-8474-B9CFF8152F37}"/>
              </a:ext>
            </a:extLst>
          </p:cNvPr>
          <p:cNvGrpSpPr/>
          <p:nvPr/>
        </p:nvGrpSpPr>
        <p:grpSpPr>
          <a:xfrm>
            <a:off x="256032" y="2334795"/>
            <a:ext cx="4169664" cy="237744"/>
            <a:chOff x="256032" y="1627632"/>
            <a:chExt cx="4169664" cy="237744"/>
          </a:xfrm>
        </p:grpSpPr>
        <p:sp>
          <p:nvSpPr>
            <p:cNvPr id="1017" name="Google Shape;1017;p34"/>
            <p:cNvSpPr/>
            <p:nvPr/>
          </p:nvSpPr>
          <p:spPr>
            <a:xfrm>
              <a:off x="256032" y="1627632"/>
              <a:ext cx="4169664" cy="237744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256032" y="1627632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402336" y="165506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CTA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1517904" y="165506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Call to Action — Botón que invita a una acción: 'Lee el artículo', 'Participa aquí'.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9BAC2915-26BA-24DC-C6B0-A78FAD38E66F}"/>
              </a:ext>
            </a:extLst>
          </p:cNvPr>
          <p:cNvGrpSpPr/>
          <p:nvPr/>
        </p:nvGrpSpPr>
        <p:grpSpPr>
          <a:xfrm>
            <a:off x="256032" y="2844836"/>
            <a:ext cx="4169664" cy="237744"/>
            <a:chOff x="256032" y="1901952"/>
            <a:chExt cx="4169664" cy="237744"/>
          </a:xfrm>
        </p:grpSpPr>
        <p:sp>
          <p:nvSpPr>
            <p:cNvPr id="1021" name="Google Shape;1021;p34"/>
            <p:cNvSpPr/>
            <p:nvPr/>
          </p:nvSpPr>
          <p:spPr>
            <a:xfrm>
              <a:off x="256032" y="190195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256032" y="1901952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402336" y="192938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CSS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1517904" y="192938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Lenguaje que define el aspecto visual: colores, tipografía, tamaños. La 'ropa' del HTML.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91E0DD2-2C3D-7E59-CE47-C057CF34DFF6}"/>
              </a:ext>
            </a:extLst>
          </p:cNvPr>
          <p:cNvGrpSpPr/>
          <p:nvPr/>
        </p:nvGrpSpPr>
        <p:grpSpPr>
          <a:xfrm>
            <a:off x="256032" y="3354877"/>
            <a:ext cx="4169664" cy="237744"/>
            <a:chOff x="256032" y="2176272"/>
            <a:chExt cx="4169664" cy="237744"/>
          </a:xfrm>
        </p:grpSpPr>
        <p:sp>
          <p:nvSpPr>
            <p:cNvPr id="1025" name="Google Shape;1025;p34"/>
            <p:cNvSpPr/>
            <p:nvPr/>
          </p:nvSpPr>
          <p:spPr>
            <a:xfrm>
              <a:off x="256032" y="2176272"/>
              <a:ext cx="4169664" cy="237744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256032" y="2176272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402336" y="220370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Error 404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1517904" y="220370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Enlace que lleva a una página inexistente. CRÍTICO: verifica TODOS los enlaces antes de enviar.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0481CCF-52FD-5057-7B48-434838C06EE2}"/>
              </a:ext>
            </a:extLst>
          </p:cNvPr>
          <p:cNvGrpSpPr/>
          <p:nvPr/>
        </p:nvGrpSpPr>
        <p:grpSpPr>
          <a:xfrm>
            <a:off x="256032" y="3864918"/>
            <a:ext cx="4169664" cy="237744"/>
            <a:chOff x="256032" y="2450592"/>
            <a:chExt cx="4169664" cy="237744"/>
          </a:xfrm>
        </p:grpSpPr>
        <p:sp>
          <p:nvSpPr>
            <p:cNvPr id="1029" name="Google Shape;1029;p34"/>
            <p:cNvSpPr/>
            <p:nvPr/>
          </p:nvSpPr>
          <p:spPr>
            <a:xfrm>
              <a:off x="256032" y="245059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256032" y="2450592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402336" y="247802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Footer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1517904" y="247802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Pie del correo. Contiene logo, redes sociales y el enlace obligatorio de desuscripción.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EF6A2CFF-5DB4-92BE-8092-A9253818CAA6}"/>
              </a:ext>
            </a:extLst>
          </p:cNvPr>
          <p:cNvGrpSpPr/>
          <p:nvPr/>
        </p:nvGrpSpPr>
        <p:grpSpPr>
          <a:xfrm>
            <a:off x="256032" y="4374958"/>
            <a:ext cx="4169664" cy="237744"/>
            <a:chOff x="256032" y="4374958"/>
            <a:chExt cx="4169664" cy="237744"/>
          </a:xfrm>
        </p:grpSpPr>
        <p:sp>
          <p:nvSpPr>
            <p:cNvPr id="1033" name="Google Shape;1033;p34"/>
            <p:cNvSpPr/>
            <p:nvPr/>
          </p:nvSpPr>
          <p:spPr>
            <a:xfrm>
              <a:off x="256032" y="4374958"/>
              <a:ext cx="4169664" cy="237744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256032" y="4374958"/>
              <a:ext cx="73152" cy="237744"/>
            </a:xfrm>
            <a:prstGeom prst="rect">
              <a:avLst/>
            </a:prstGeom>
            <a:solidFill>
              <a:srgbClr val="46C2CE"/>
            </a:solidFill>
            <a:ln w="127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402336" y="4402390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46C2CE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46C2CE"/>
                  </a:solidFill>
                  <a:latin typeface="Calibri"/>
                  <a:ea typeface="Calibri"/>
                  <a:cs typeface="Calibri"/>
                  <a:sym typeface="Calibri"/>
                </a:rPr>
                <a:t>HTML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1517904" y="4402390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Lenguaje que define la estructura del correo: dónde va texto, imagen, botón. El 'esqueleto'.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3E9B64D-31B6-5414-2BEE-251EC4F09E9C}"/>
              </a:ext>
            </a:extLst>
          </p:cNvPr>
          <p:cNvGrpSpPr/>
          <p:nvPr/>
        </p:nvGrpSpPr>
        <p:grpSpPr>
          <a:xfrm>
            <a:off x="4700016" y="804672"/>
            <a:ext cx="4169664" cy="237744"/>
            <a:chOff x="4700016" y="804672"/>
            <a:chExt cx="4169664" cy="237744"/>
          </a:xfrm>
        </p:grpSpPr>
        <p:sp>
          <p:nvSpPr>
            <p:cNvPr id="1037" name="Google Shape;1037;p34"/>
            <p:cNvSpPr/>
            <p:nvPr/>
          </p:nvSpPr>
          <p:spPr>
            <a:xfrm>
              <a:off x="4700016" y="80467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4700016" y="804672"/>
              <a:ext cx="73152" cy="237744"/>
            </a:xfrm>
            <a:prstGeom prst="rect">
              <a:avLst/>
            </a:prstGeom>
            <a:solidFill>
              <a:srgbClr val="7F52A0"/>
            </a:solidFill>
            <a:ln w="12700" cap="flat" cmpd="sng">
              <a:solidFill>
                <a:srgbClr val="7F52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4846320" y="83210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F52A0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7F52A0"/>
                  </a:solidFill>
                  <a:latin typeface="Calibri"/>
                  <a:ea typeface="Calibri"/>
                  <a:cs typeface="Calibri"/>
                  <a:sym typeface="Calibri"/>
                </a:rPr>
                <a:t>Open Rate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5961888" y="83210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% de destinatarios que abrieron el correo. 20-35% es buena referencia en nuestro sector.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49B97F0-5538-9C47-054C-D820A5AA6E8A}"/>
              </a:ext>
            </a:extLst>
          </p:cNvPr>
          <p:cNvGrpSpPr/>
          <p:nvPr/>
        </p:nvGrpSpPr>
        <p:grpSpPr>
          <a:xfrm>
            <a:off x="4700016" y="1369901"/>
            <a:ext cx="4169664" cy="237744"/>
            <a:chOff x="4700016" y="1540327"/>
            <a:chExt cx="4169664" cy="237744"/>
          </a:xfrm>
        </p:grpSpPr>
        <p:sp>
          <p:nvSpPr>
            <p:cNvPr id="1041" name="Google Shape;1041;p34"/>
            <p:cNvSpPr/>
            <p:nvPr/>
          </p:nvSpPr>
          <p:spPr>
            <a:xfrm>
              <a:off x="4700016" y="1540327"/>
              <a:ext cx="4169664" cy="237744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4700016" y="1540327"/>
              <a:ext cx="73152" cy="237744"/>
            </a:xfrm>
            <a:prstGeom prst="rect">
              <a:avLst/>
            </a:prstGeom>
            <a:solidFill>
              <a:srgbClr val="7F52A0"/>
            </a:solidFill>
            <a:ln w="12700" cap="flat" cmpd="sng">
              <a:solidFill>
                <a:srgbClr val="7F52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4846320" y="1567759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F52A0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7F52A0"/>
                  </a:solidFill>
                  <a:latin typeface="Calibri"/>
                  <a:ea typeface="Calibri"/>
                  <a:cs typeface="Calibri"/>
                  <a:sym typeface="Calibri"/>
                </a:rPr>
                <a:t>Pre-header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5961888" y="1567759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Texto corto visible en bandeja de entrada antes de abrir. Complementa el asunto.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9BCFB75-CB13-9293-335A-942B70B24A80}"/>
              </a:ext>
            </a:extLst>
          </p:cNvPr>
          <p:cNvGrpSpPr/>
          <p:nvPr/>
        </p:nvGrpSpPr>
        <p:grpSpPr>
          <a:xfrm>
            <a:off x="4700016" y="1935130"/>
            <a:ext cx="4169664" cy="237744"/>
            <a:chOff x="4700016" y="1353312"/>
            <a:chExt cx="4169664" cy="237744"/>
          </a:xfrm>
        </p:grpSpPr>
        <p:sp>
          <p:nvSpPr>
            <p:cNvPr id="1045" name="Google Shape;1045;p34"/>
            <p:cNvSpPr/>
            <p:nvPr/>
          </p:nvSpPr>
          <p:spPr>
            <a:xfrm>
              <a:off x="4700016" y="135331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4700016" y="1353312"/>
              <a:ext cx="73152" cy="237744"/>
            </a:xfrm>
            <a:prstGeom prst="rect">
              <a:avLst/>
            </a:prstGeom>
            <a:solidFill>
              <a:srgbClr val="7F52A0"/>
            </a:solidFill>
            <a:ln w="12700" cap="flat" cmpd="sng">
              <a:solidFill>
                <a:srgbClr val="7F52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4846320" y="138074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F52A0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7F52A0"/>
                  </a:solidFill>
                  <a:latin typeface="Calibri"/>
                  <a:ea typeface="Calibri"/>
                  <a:cs typeface="Calibri"/>
                  <a:sym typeface="Calibri"/>
                </a:rPr>
                <a:t>Responsive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5961888" y="138074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Correo que se adapta a cualquier pantalla: computadora, tablet o celular.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3C50065-FECE-DAD8-4C2B-58A44A366DAA}"/>
              </a:ext>
            </a:extLst>
          </p:cNvPr>
          <p:cNvGrpSpPr/>
          <p:nvPr/>
        </p:nvGrpSpPr>
        <p:grpSpPr>
          <a:xfrm>
            <a:off x="4700016" y="2500359"/>
            <a:ext cx="4169664" cy="237744"/>
            <a:chOff x="4700016" y="1627632"/>
            <a:chExt cx="4169664" cy="237744"/>
          </a:xfrm>
        </p:grpSpPr>
        <p:sp>
          <p:nvSpPr>
            <p:cNvPr id="1049" name="Google Shape;1049;p34"/>
            <p:cNvSpPr/>
            <p:nvPr/>
          </p:nvSpPr>
          <p:spPr>
            <a:xfrm>
              <a:off x="4700016" y="1627632"/>
              <a:ext cx="4169664" cy="237744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4700016" y="1627632"/>
              <a:ext cx="73152" cy="237744"/>
            </a:xfrm>
            <a:prstGeom prst="rect">
              <a:avLst/>
            </a:prstGeom>
            <a:solidFill>
              <a:srgbClr val="7F52A0"/>
            </a:solidFill>
            <a:ln w="12700" cap="flat" cmpd="sng">
              <a:solidFill>
                <a:srgbClr val="7F52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4846320" y="165506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F52A0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7F52A0"/>
                  </a:solidFill>
                  <a:latin typeface="Calibri"/>
                  <a:ea typeface="Calibri"/>
                  <a:cs typeface="Calibri"/>
                  <a:sym typeface="Calibri"/>
                </a:rPr>
                <a:t>Segmentación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5961888" y="165506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Dividir la base de datos en grupos según perfil (etapa del embarazo, edad del bebé).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8E1E07A-2CA2-4B63-6C87-2A19B710D29A}"/>
              </a:ext>
            </a:extLst>
          </p:cNvPr>
          <p:cNvGrpSpPr/>
          <p:nvPr/>
        </p:nvGrpSpPr>
        <p:grpSpPr>
          <a:xfrm>
            <a:off x="4700016" y="3065588"/>
            <a:ext cx="4169664" cy="237744"/>
            <a:chOff x="4700016" y="1901952"/>
            <a:chExt cx="4169664" cy="237744"/>
          </a:xfrm>
        </p:grpSpPr>
        <p:sp>
          <p:nvSpPr>
            <p:cNvPr id="1053" name="Google Shape;1053;p34"/>
            <p:cNvSpPr/>
            <p:nvPr/>
          </p:nvSpPr>
          <p:spPr>
            <a:xfrm>
              <a:off x="4700016" y="190195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4700016" y="1901952"/>
              <a:ext cx="73152" cy="237744"/>
            </a:xfrm>
            <a:prstGeom prst="rect">
              <a:avLst/>
            </a:prstGeom>
            <a:solidFill>
              <a:srgbClr val="7F52A0"/>
            </a:solidFill>
            <a:ln w="12700" cap="flat" cmpd="sng">
              <a:solidFill>
                <a:srgbClr val="7F52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4846320" y="192938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F52A0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7F52A0"/>
                  </a:solidFill>
                  <a:latin typeface="Calibri"/>
                  <a:ea typeface="Calibri"/>
                  <a:cs typeface="Calibri"/>
                  <a:sym typeface="Calibri"/>
                </a:rPr>
                <a:t>Spam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5961888" y="192938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Correo no deseado. Evita palabras alarmistas, relación imagen/texto desequilibrada y listas compradas.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E08D263-6DE8-D22C-9DA7-CE42EE460331}"/>
              </a:ext>
            </a:extLst>
          </p:cNvPr>
          <p:cNvGrpSpPr/>
          <p:nvPr/>
        </p:nvGrpSpPr>
        <p:grpSpPr>
          <a:xfrm>
            <a:off x="4700016" y="3630817"/>
            <a:ext cx="4169664" cy="237744"/>
            <a:chOff x="4700016" y="2176272"/>
            <a:chExt cx="4169664" cy="237744"/>
          </a:xfrm>
        </p:grpSpPr>
        <p:sp>
          <p:nvSpPr>
            <p:cNvPr id="1057" name="Google Shape;1057;p34"/>
            <p:cNvSpPr/>
            <p:nvPr/>
          </p:nvSpPr>
          <p:spPr>
            <a:xfrm>
              <a:off x="4700016" y="2176272"/>
              <a:ext cx="4169664" cy="237744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4700016" y="2176272"/>
              <a:ext cx="73152" cy="237744"/>
            </a:xfrm>
            <a:prstGeom prst="rect">
              <a:avLst/>
            </a:prstGeom>
            <a:solidFill>
              <a:srgbClr val="7F52A0"/>
            </a:solidFill>
            <a:ln w="12700" cap="flat" cmpd="sng">
              <a:solidFill>
                <a:srgbClr val="7F52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4846320" y="220370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F52A0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7F52A0"/>
                  </a:solidFill>
                  <a:latin typeface="Calibri"/>
                  <a:ea typeface="Calibri"/>
                  <a:cs typeface="Calibri"/>
                  <a:sym typeface="Calibri"/>
                </a:rPr>
                <a:t>Splio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5961888" y="220370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Plataforma de email marketing de Mi Bebé y Yo para gestionar, enviar y medir campañas.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5321342D-38B3-A0B1-1C14-5DF400B9DA2E}"/>
              </a:ext>
            </a:extLst>
          </p:cNvPr>
          <p:cNvGrpSpPr/>
          <p:nvPr/>
        </p:nvGrpSpPr>
        <p:grpSpPr>
          <a:xfrm>
            <a:off x="4700016" y="4196044"/>
            <a:ext cx="4169664" cy="237744"/>
            <a:chOff x="4700016" y="2450592"/>
            <a:chExt cx="4169664" cy="237744"/>
          </a:xfrm>
        </p:grpSpPr>
        <p:sp>
          <p:nvSpPr>
            <p:cNvPr id="1061" name="Google Shape;1061;p34"/>
            <p:cNvSpPr/>
            <p:nvPr/>
          </p:nvSpPr>
          <p:spPr>
            <a:xfrm>
              <a:off x="4700016" y="2450592"/>
              <a:ext cx="4169664" cy="237744"/>
            </a:xfrm>
            <a:prstGeom prst="rect">
              <a:avLst/>
            </a:prstGeom>
            <a:solidFill>
              <a:srgbClr val="EFF3FF"/>
            </a:solidFill>
            <a:ln w="12700" cap="flat" cmpd="sng">
              <a:solidFill>
                <a:srgbClr val="D5DE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4700016" y="2450592"/>
              <a:ext cx="73152" cy="237744"/>
            </a:xfrm>
            <a:prstGeom prst="rect">
              <a:avLst/>
            </a:prstGeom>
            <a:solidFill>
              <a:srgbClr val="7F52A0"/>
            </a:solidFill>
            <a:ln w="12700" cap="flat" cmpd="sng">
              <a:solidFill>
                <a:srgbClr val="7F52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4846320" y="2478024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F52A0"/>
                </a:buClr>
                <a:buSzPts val="800"/>
                <a:buFont typeface="Calibri"/>
                <a:buNone/>
              </a:pPr>
              <a:r>
                <a:rPr lang="es" sz="800" b="1" i="0" u="none" strike="noStrike" cap="none">
                  <a:solidFill>
                    <a:srgbClr val="7F52A0"/>
                  </a:solidFill>
                  <a:latin typeface="Calibri"/>
                  <a:ea typeface="Calibri"/>
                  <a:cs typeface="Calibri"/>
                  <a:sym typeface="Calibri"/>
                </a:rPr>
                <a:t>VSC</a:t>
              </a: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961888" y="2478024"/>
              <a:ext cx="2834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2B52"/>
                </a:buClr>
                <a:buSzPts val="750"/>
                <a:buFont typeface="Calibri"/>
                <a:buNone/>
              </a:pPr>
              <a:r>
                <a:rPr lang="es" sz="750" b="0" i="0" u="none" strike="noStrike" cap="none">
                  <a:solidFill>
                    <a:srgbClr val="1C2B52"/>
                  </a:solidFill>
                  <a:latin typeface="Calibri"/>
                  <a:ea typeface="Calibri"/>
                  <a:cs typeface="Calibri"/>
                  <a:sym typeface="Calibri"/>
                </a:rPr>
                <a:t>Visual Studio Code — editor gratuito de Microsoft para editar las plantillas HTML.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5" name="Google Shape;1065;p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3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3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35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35"/>
          <p:cNvSpPr/>
          <p:nvPr/>
        </p:nvSpPr>
        <p:spPr>
          <a:xfrm>
            <a:off x="320040" y="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 del Curso — Lo Que Debes Recordar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5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35"/>
          <p:cNvSpPr/>
          <p:nvPr/>
        </p:nvSpPr>
        <p:spPr>
          <a:xfrm>
            <a:off x="7040880" y="12801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50"/>
              <a:buFont typeface="Calibri"/>
              <a:buNone/>
            </a:pPr>
            <a:r>
              <a:rPr lang="es" sz="7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RESUMEN FINAL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5"/>
          <p:cNvSpPr/>
          <p:nvPr/>
        </p:nvSpPr>
        <p:spPr>
          <a:xfrm>
            <a:off x="256032" y="758952"/>
            <a:ext cx="4169664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35"/>
          <p:cNvSpPr/>
          <p:nvPr/>
        </p:nvSpPr>
        <p:spPr>
          <a:xfrm>
            <a:off x="256032" y="758952"/>
            <a:ext cx="4169664" cy="36576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9" name="Google Shape;1079;p3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8229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35"/>
          <p:cNvSpPr/>
          <p:nvPr/>
        </p:nvSpPr>
        <p:spPr>
          <a:xfrm>
            <a:off x="676656" y="822960"/>
            <a:ext cx="363931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Email Marketing y Estrategia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5"/>
          <p:cNvSpPr/>
          <p:nvPr/>
        </p:nvSpPr>
        <p:spPr>
          <a:xfrm>
            <a:off x="393192" y="1261872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5"/>
          <p:cNvSpPr/>
          <p:nvPr/>
        </p:nvSpPr>
        <p:spPr>
          <a:xfrm>
            <a:off x="512064" y="1234440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Cada correo tiene objetivo claro: tráfico, sorteos o patrocinadores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5"/>
          <p:cNvSpPr/>
          <p:nvPr/>
        </p:nvSpPr>
        <p:spPr>
          <a:xfrm>
            <a:off x="393192" y="1627632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35"/>
          <p:cNvSpPr/>
          <p:nvPr/>
        </p:nvSpPr>
        <p:spPr>
          <a:xfrm>
            <a:off x="512064" y="1600200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El asunto lo es todo: empatía, emojis y curiosidad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5"/>
          <p:cNvSpPr/>
          <p:nvPr/>
        </p:nvSpPr>
        <p:spPr>
          <a:xfrm>
            <a:off x="393192" y="1993392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35"/>
          <p:cNvSpPr/>
          <p:nvPr/>
        </p:nvSpPr>
        <p:spPr>
          <a:xfrm>
            <a:off x="512064" y="1965960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Conoce Open Rate, Click Rate y Bounce Rate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5"/>
          <p:cNvSpPr/>
          <p:nvPr/>
        </p:nvSpPr>
        <p:spPr>
          <a:xfrm>
            <a:off x="393192" y="2359152"/>
            <a:ext cx="54864" cy="201168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35"/>
          <p:cNvSpPr/>
          <p:nvPr/>
        </p:nvSpPr>
        <p:spPr>
          <a:xfrm>
            <a:off x="512064" y="2331720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Evita palabras spam · incluye siempre el enlace de desuscripción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5"/>
          <p:cNvSpPr/>
          <p:nvPr/>
        </p:nvSpPr>
        <p:spPr>
          <a:xfrm>
            <a:off x="4700016" y="758952"/>
            <a:ext cx="4169664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5"/>
          <p:cNvSpPr/>
          <p:nvPr/>
        </p:nvSpPr>
        <p:spPr>
          <a:xfrm>
            <a:off x="4700016" y="758952"/>
            <a:ext cx="4169664" cy="36576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1" name="Google Shape;1091;p3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9744" y="8229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/>
          <p:cNvSpPr/>
          <p:nvPr/>
        </p:nvSpPr>
        <p:spPr>
          <a:xfrm>
            <a:off x="5120640" y="822960"/>
            <a:ext cx="363931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Herramientas Técnicas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5"/>
          <p:cNvSpPr/>
          <p:nvPr/>
        </p:nvSpPr>
        <p:spPr>
          <a:xfrm>
            <a:off x="4837176" y="1261872"/>
            <a:ext cx="54864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35"/>
          <p:cNvSpPr/>
          <p:nvPr/>
        </p:nvSpPr>
        <p:spPr>
          <a:xfrm>
            <a:off x="4956048" y="1234440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VSC es tu espacio de trabajo para editar HTML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5"/>
          <p:cNvSpPr/>
          <p:nvPr/>
        </p:nvSpPr>
        <p:spPr>
          <a:xfrm>
            <a:off x="4837176" y="1627632"/>
            <a:ext cx="54864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35"/>
          <p:cNvSpPr/>
          <p:nvPr/>
        </p:nvSpPr>
        <p:spPr>
          <a:xfrm>
            <a:off x="4956048" y="1600200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HTML = estructura · CSS = diseño (no toques el CSS)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5"/>
          <p:cNvSpPr/>
          <p:nvPr/>
        </p:nvSpPr>
        <p:spPr>
          <a:xfrm>
            <a:off x="4837176" y="1993392"/>
            <a:ext cx="54864" cy="201168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35"/>
          <p:cNvSpPr/>
          <p:nvPr/>
        </p:nvSpPr>
        <p:spPr>
          <a:xfrm>
            <a:off x="4956048" y="1965960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80-90% de lectoras abre en celular — verifica siempre en móvil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5"/>
          <p:cNvSpPr/>
          <p:nvPr/>
        </p:nvSpPr>
        <p:spPr>
          <a:xfrm>
            <a:off x="256032" y="2880360"/>
            <a:ext cx="4169664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35"/>
          <p:cNvSpPr/>
          <p:nvPr/>
        </p:nvSpPr>
        <p:spPr>
          <a:xfrm>
            <a:off x="256032" y="2880360"/>
            <a:ext cx="4169664" cy="365760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1" name="Google Shape;1101;p3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" y="294436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35"/>
          <p:cNvSpPr/>
          <p:nvPr/>
        </p:nvSpPr>
        <p:spPr>
          <a:xfrm>
            <a:off x="676656" y="2944368"/>
            <a:ext cx="363931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Edición Práctica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5"/>
          <p:cNvSpPr/>
          <p:nvPr/>
        </p:nvSpPr>
        <p:spPr>
          <a:xfrm>
            <a:off x="393192" y="338328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35"/>
          <p:cNvSpPr/>
          <p:nvPr/>
        </p:nvSpPr>
        <p:spPr>
          <a:xfrm>
            <a:off x="512064" y="335584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Siempre trabaja en una copia — nunca el original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5"/>
          <p:cNvSpPr/>
          <p:nvPr/>
        </p:nvSpPr>
        <p:spPr>
          <a:xfrm>
            <a:off x="393192" y="374904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5"/>
          <p:cNvSpPr/>
          <p:nvPr/>
        </p:nvSpPr>
        <p:spPr>
          <a:xfrm>
            <a:off x="512064" y="372160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Ctrl+H es tu mejor amigo para cambiar URLs masivamente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5"/>
          <p:cNvSpPr/>
          <p:nvPr/>
        </p:nvSpPr>
        <p:spPr>
          <a:xfrm>
            <a:off x="393192" y="411480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5"/>
          <p:cNvSpPr/>
          <p:nvPr/>
        </p:nvSpPr>
        <p:spPr>
          <a:xfrm>
            <a:off x="512064" y="408736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Edita solo entre las etiquetas — no borres el HTML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5"/>
          <p:cNvSpPr/>
          <p:nvPr/>
        </p:nvSpPr>
        <p:spPr>
          <a:xfrm>
            <a:off x="393192" y="4480560"/>
            <a:ext cx="54864" cy="201168"/>
          </a:xfrm>
          <a:prstGeom prst="rect">
            <a:avLst/>
          </a:prstGeom>
          <a:solidFill>
            <a:srgbClr val="263980"/>
          </a:solidFill>
          <a:ln w="12700" cap="flat" cmpd="sng">
            <a:solidFill>
              <a:srgbClr val="2639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35"/>
          <p:cNvSpPr/>
          <p:nvPr/>
        </p:nvSpPr>
        <p:spPr>
          <a:xfrm>
            <a:off x="512064" y="445312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Actualiza el alt text · previsualiza desktop y móvil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5"/>
          <p:cNvSpPr/>
          <p:nvPr/>
        </p:nvSpPr>
        <p:spPr>
          <a:xfrm>
            <a:off x="4700016" y="2880360"/>
            <a:ext cx="4169664" cy="1965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DE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35"/>
          <p:cNvSpPr/>
          <p:nvPr/>
        </p:nvSpPr>
        <p:spPr>
          <a:xfrm>
            <a:off x="4700016" y="2880360"/>
            <a:ext cx="4169664" cy="3657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3" name="Google Shape;1113;p3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9744" y="294436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35"/>
          <p:cNvSpPr/>
          <p:nvPr/>
        </p:nvSpPr>
        <p:spPr>
          <a:xfrm>
            <a:off x="5120640" y="2944368"/>
            <a:ext cx="363931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Splio y Envíos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5"/>
          <p:cNvSpPr/>
          <p:nvPr/>
        </p:nvSpPr>
        <p:spPr>
          <a:xfrm>
            <a:off x="4837176" y="338328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35"/>
          <p:cNvSpPr/>
          <p:nvPr/>
        </p:nvSpPr>
        <p:spPr>
          <a:xfrm>
            <a:off x="4956048" y="335584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Pega el HTML limpio de VSC en el editor de Splio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5"/>
          <p:cNvSpPr/>
          <p:nvPr/>
        </p:nvSpPr>
        <p:spPr>
          <a:xfrm>
            <a:off x="4837176" y="374904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35"/>
          <p:cNvSpPr/>
          <p:nvPr/>
        </p:nvSpPr>
        <p:spPr>
          <a:xfrm>
            <a:off x="4956048" y="372160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Remitente: 'Mi Bebé y Yo' con dirección oficial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5"/>
          <p:cNvSpPr/>
          <p:nvPr/>
        </p:nvSpPr>
        <p:spPr>
          <a:xfrm>
            <a:off x="4837176" y="411480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35"/>
          <p:cNvSpPr/>
          <p:nvPr/>
        </p:nvSpPr>
        <p:spPr>
          <a:xfrm>
            <a:off x="4956048" y="408736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Segmenta correctamente — contenido para el grupo correcto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5"/>
          <p:cNvSpPr/>
          <p:nvPr/>
        </p:nvSpPr>
        <p:spPr>
          <a:xfrm>
            <a:off x="4837176" y="4480560"/>
            <a:ext cx="54864" cy="201168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35"/>
          <p:cNvSpPr/>
          <p:nvPr/>
        </p:nvSpPr>
        <p:spPr>
          <a:xfrm>
            <a:off x="4956048" y="4453128"/>
            <a:ext cx="38039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F80"/>
              </a:buClr>
              <a:buSzPts val="850"/>
              <a:buFont typeface="Calibri"/>
              <a:buNone/>
            </a:pPr>
            <a:r>
              <a:rPr lang="es" sz="850" b="0" i="0" u="none" strike="noStrike" cap="none">
                <a:solidFill>
                  <a:srgbClr val="4A5F80"/>
                </a:solidFill>
                <a:latin typeface="Calibri"/>
                <a:ea typeface="Calibri"/>
                <a:cs typeface="Calibri"/>
                <a:sym typeface="Calibri"/>
              </a:rPr>
              <a:t>Prueba SIEMPRE · verifica todos los enlaces · programa Mar-Jue 8-9 AM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3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Mi Bebé y Yo  ·  Curso Email Marketing  ·  Eduardo Acevedo  ·  Sunname Technologies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03A"/>
        </a:solidFill>
        <a:effectLst/>
      </p:bgPr>
    </p:bg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6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6C2CE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6"/>
          <p:cNvSpPr/>
          <p:nvPr/>
        </p:nvSpPr>
        <p:spPr>
          <a:xfrm>
            <a:off x="201168" y="0"/>
            <a:ext cx="8942832" cy="45720"/>
          </a:xfrm>
          <a:prstGeom prst="rect">
            <a:avLst/>
          </a:prstGeom>
          <a:solidFill>
            <a:srgbClr val="7F52A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36"/>
          <p:cNvSpPr/>
          <p:nvPr/>
        </p:nvSpPr>
        <p:spPr>
          <a:xfrm>
            <a:off x="6400800" y="73152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F52A0">
              <a:alpha val="14901"/>
            </a:srgbClr>
          </a:solidFill>
          <a:ln w="12700" cap="flat" cmpd="sng">
            <a:solidFill>
              <a:srgbClr val="7F52A0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6"/>
          <p:cNvSpPr/>
          <p:nvPr/>
        </p:nvSpPr>
        <p:spPr>
          <a:xfrm>
            <a:off x="5943600" y="2946017"/>
            <a:ext cx="118872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63980">
              <a:alpha val="40000"/>
            </a:srgbClr>
          </a:solidFill>
          <a:ln w="12700" cap="flat" cmpd="sng">
            <a:solidFill>
              <a:srgbClr val="26398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6"/>
          <p:cNvSpPr/>
          <p:nvPr/>
        </p:nvSpPr>
        <p:spPr>
          <a:xfrm>
            <a:off x="457200" y="339977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¡Listo para enviar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campañas exitosas!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6"/>
          <p:cNvSpPr/>
          <p:nvPr/>
        </p:nvSpPr>
        <p:spPr>
          <a:xfrm>
            <a:off x="457200" y="1894457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El email marketing para Mi Bebé y Yo no es solo mandar correos.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6"/>
          <p:cNvSpPr/>
          <p:nvPr/>
        </p:nvSpPr>
        <p:spPr>
          <a:xfrm>
            <a:off x="457200" y="2232785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1200"/>
              <a:buFont typeface="Calibri"/>
              <a:buNone/>
            </a:pPr>
            <a:r>
              <a:rPr lang="es" sz="12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Es llegar a mamás y papás en un momento muy especial de sus vidas,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1200"/>
              <a:buFont typeface="Calibri"/>
              <a:buNone/>
            </a:pPr>
            <a:r>
              <a:rPr lang="es" sz="120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con información útil y contenido que realmente les importa.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6"/>
          <p:cNvSpPr/>
          <p:nvPr/>
        </p:nvSpPr>
        <p:spPr>
          <a:xfrm>
            <a:off x="457200" y="2872865"/>
            <a:ext cx="347472" cy="329184"/>
          </a:xfrm>
          <a:prstGeom prst="rect">
            <a:avLst/>
          </a:prstGeom>
          <a:solidFill>
            <a:srgbClr val="46C2CE">
              <a:alpha val="85882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36"/>
          <p:cNvSpPr/>
          <p:nvPr/>
        </p:nvSpPr>
        <p:spPr>
          <a:xfrm>
            <a:off x="457200" y="2872865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6"/>
          <p:cNvSpPr/>
          <p:nvPr/>
        </p:nvSpPr>
        <p:spPr>
          <a:xfrm>
            <a:off x="859536" y="2900297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Siempre trabaja sobre una copia — nunca el archivo original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6"/>
          <p:cNvSpPr/>
          <p:nvPr/>
        </p:nvSpPr>
        <p:spPr>
          <a:xfrm>
            <a:off x="457200" y="3330065"/>
            <a:ext cx="347472" cy="329184"/>
          </a:xfrm>
          <a:prstGeom prst="rect">
            <a:avLst/>
          </a:prstGeom>
          <a:solidFill>
            <a:srgbClr val="46C2CE">
              <a:alpha val="85882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36"/>
          <p:cNvSpPr/>
          <p:nvPr/>
        </p:nvSpPr>
        <p:spPr>
          <a:xfrm>
            <a:off x="457200" y="3330065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6"/>
          <p:cNvSpPr/>
          <p:nvPr/>
        </p:nvSpPr>
        <p:spPr>
          <a:xfrm>
            <a:off x="859536" y="3357497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Ctrl+H para URLs · Alt text en cada imagen · Previsualiza en móvil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6"/>
          <p:cNvSpPr/>
          <p:nvPr/>
        </p:nvSpPr>
        <p:spPr>
          <a:xfrm>
            <a:off x="457200" y="3787265"/>
            <a:ext cx="347472" cy="329184"/>
          </a:xfrm>
          <a:prstGeom prst="rect">
            <a:avLst/>
          </a:prstGeom>
          <a:solidFill>
            <a:srgbClr val="46C2CE">
              <a:alpha val="85882"/>
            </a:srgbClr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6"/>
          <p:cNvSpPr/>
          <p:nvPr/>
        </p:nvSpPr>
        <p:spPr>
          <a:xfrm>
            <a:off x="457200" y="3787265"/>
            <a:ext cx="3474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6"/>
          <p:cNvSpPr/>
          <p:nvPr/>
        </p:nvSpPr>
        <p:spPr>
          <a:xfrm>
            <a:off x="859536" y="3814697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 antes de enviar — clic en CADA enlace · Segmenta correctamente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6"/>
          <p:cNvSpPr/>
          <p:nvPr/>
        </p:nvSpPr>
        <p:spPr>
          <a:xfrm>
            <a:off x="457200" y="4226177"/>
            <a:ext cx="1371600" cy="411480"/>
          </a:xfrm>
          <a:prstGeom prst="rect">
            <a:avLst/>
          </a:prstGeom>
          <a:solidFill>
            <a:srgbClr val="0A0820"/>
          </a:solidFill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6"/>
          <p:cNvSpPr/>
          <p:nvPr/>
        </p:nvSpPr>
        <p:spPr>
          <a:xfrm>
            <a:off x="457200" y="4226177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650"/>
              <a:buFont typeface="Calibri"/>
              <a:buNone/>
            </a:pPr>
            <a:r>
              <a:rPr lang="es" sz="6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SUNNAME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650"/>
              <a:buFont typeface="Calibri"/>
              <a:buNone/>
            </a:pPr>
            <a:r>
              <a:rPr lang="es" sz="6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6"/>
          <p:cNvSpPr/>
          <p:nvPr/>
        </p:nvSpPr>
        <p:spPr>
          <a:xfrm>
            <a:off x="1920240" y="4226177"/>
            <a:ext cx="1737360" cy="411480"/>
          </a:xfrm>
          <a:prstGeom prst="rect">
            <a:avLst/>
          </a:prstGeom>
          <a:solidFill>
            <a:srgbClr val="0A0820"/>
          </a:solidFill>
          <a:ln w="12700" cap="flat" cmpd="sng">
            <a:solidFill>
              <a:srgbClr val="7F52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36"/>
          <p:cNvSpPr/>
          <p:nvPr/>
        </p:nvSpPr>
        <p:spPr>
          <a:xfrm>
            <a:off x="1920240" y="4226177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650"/>
              <a:buFont typeface="Calibri"/>
              <a:buNone/>
            </a:pPr>
            <a:r>
              <a:rPr lang="es" sz="65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MI BEBÉ Y YO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650"/>
              <a:buFont typeface="Calibri"/>
              <a:buNone/>
            </a:pPr>
            <a:r>
              <a:rPr lang="es" sz="65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mibebeyyo.mx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6"/>
          <p:cNvSpPr/>
          <p:nvPr/>
        </p:nvSpPr>
        <p:spPr>
          <a:xfrm>
            <a:off x="3840480" y="4281041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850"/>
              <a:buFont typeface="Calibri"/>
              <a:buNone/>
            </a:pPr>
            <a:r>
              <a:rPr lang="es" sz="850" b="0" i="1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💕  Cada correo que envías bien significa que una mamá encontró el artículo que necesitaba leer hoy.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1A56"/>
          </a:solidFill>
          <a:ln w="12700" cap="flat" cmpd="sng">
            <a:solidFill>
              <a:srgbClr val="2C1A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3CC"/>
              </a:buClr>
              <a:buSzPts val="750"/>
              <a:buFont typeface="Calibri"/>
              <a:buNone/>
            </a:pPr>
            <a:r>
              <a:rPr lang="es" sz="750" b="0" i="0" u="none" strike="noStrike" cap="none">
                <a:solidFill>
                  <a:srgbClr val="8EA3CC"/>
                </a:solidFill>
                <a:latin typeface="Calibri"/>
                <a:ea typeface="Calibri"/>
                <a:cs typeface="Calibri"/>
                <a:sym typeface="Calibri"/>
              </a:rPr>
              <a:t>Eduardo Acevedo · Consultor Digital · Sunname Technologies · Mi Bebé y Yo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6"/>
          <p:cNvSpPr/>
          <p:nvPr/>
        </p:nvSpPr>
        <p:spPr>
          <a:xfrm>
            <a:off x="7269480" y="202817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chemeClr val="bg2">
              <a:alpha val="20000"/>
            </a:schemeClr>
          </a:solidFill>
          <a:ln w="12700" cap="flat" cmpd="sng">
            <a:solidFill>
              <a:schemeClr val="accent1">
                <a:alpha val="2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3492</Words>
  <Application>Microsoft Office PowerPoint</Application>
  <PresentationFormat>Presentación en pantalla (16:9)</PresentationFormat>
  <Paragraphs>508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Simple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Eduardo Acevedo Garcia</cp:lastModifiedBy>
  <cp:revision>2</cp:revision>
  <dcterms:modified xsi:type="dcterms:W3CDTF">2026-03-17T20:22:18Z</dcterms:modified>
</cp:coreProperties>
</file>