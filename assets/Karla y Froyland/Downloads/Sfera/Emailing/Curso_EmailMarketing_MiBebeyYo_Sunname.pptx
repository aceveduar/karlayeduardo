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Arial Black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ArialBlack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566141544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c566141544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c566141544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566141544_2_3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c566141544_2_3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c566141544_2_3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566141544_2_6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c566141544_2_6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c566141544_2_6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566141544_2_9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c566141544_2_9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c566141544_2_9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566141544_2_11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c566141544_2_11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c566141544_2_11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566141544_2_13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c566141544_2_13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c566141544_2_13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c566141544_2_19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c566141544_2_19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c566141544_2_19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c566141544_2_24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c566141544_2_24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c566141544_2_24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c566141544_2_29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g3c566141544_2_29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c566141544_2_29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c566141544_2_30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g3c566141544_2_30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c566141544_2_30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c566141544_2_35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g3c566141544_2_35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3c566141544_2_35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c566141544_2_39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g3c566141544_2_39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3c566141544_2_39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c566141544_2_43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g3c566141544_2_43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g3c566141544_2_43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c566141544_2_44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g3c566141544_2_44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3c566141544_2_44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c566141544_2_50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g3c566141544_2_50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g3c566141544_2_50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c566141544_2_54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g3c566141544_2_54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g3c566141544_2_54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c566141544_2_59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1" name="Google Shape;661;g3c566141544_2_59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g3c566141544_2_59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c566141544_2_60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g3c566141544_2_60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g3c566141544_2_60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c566141544_2_67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2" name="Google Shape;742;g3c566141544_2_67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g3c566141544_2_67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c566141544_2_71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7" name="Google Shape;787;g3c566141544_2_71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g3c566141544_2_71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c566141544_2_77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9" name="Google Shape;849;g3c566141544_2_77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g3c566141544_2_77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c566141544_2_84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3" name="Google Shape;913;g3c566141544_2_84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g3c566141544_2_84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c566141544_2_88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5" name="Google Shape;955;g3c566141544_2_88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g3c566141544_2_88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1A56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548640" y="0"/>
            <a:ext cx="137160" cy="514350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63980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 rot="-2100000">
            <a:off x="6766560" y="3200400"/>
            <a:ext cx="2743200" cy="109728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6949440" y="274320"/>
            <a:ext cx="1920240" cy="777240"/>
          </a:xfrm>
          <a:prstGeom prst="rect">
            <a:avLst/>
          </a:prstGeom>
          <a:solidFill>
            <a:srgbClr val="263980"/>
          </a:solidFill>
          <a:ln cap="flat" cmpd="sng" w="12700">
            <a:solidFill>
              <a:srgbClr val="46C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6949440" y="390906"/>
            <a:ext cx="192024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Sunname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6949440" y="701802"/>
            <a:ext cx="192024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700"/>
              <a:buFont typeface="Calibri"/>
              <a:buNone/>
            </a:pPr>
            <a:r>
              <a:rPr b="0" i="0" lang="es" sz="70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TECHNOLOGIES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6949440" y="1143000"/>
            <a:ext cx="1920240" cy="36576"/>
          </a:xfrm>
          <a:prstGeom prst="rect">
            <a:avLst/>
          </a:prstGeom>
          <a:solidFill>
            <a:srgbClr val="46C2C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6949440" y="1234440"/>
            <a:ext cx="192024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6949440" y="1351026"/>
            <a:ext cx="1920240" cy="4274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B2E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1A6B2E"/>
                </a:solidFill>
                <a:latin typeface="Calibri"/>
                <a:ea typeface="Calibri"/>
                <a:cs typeface="Calibri"/>
                <a:sym typeface="Calibri"/>
              </a:rPr>
              <a:t>Mibebé y yo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6949440" y="1739646"/>
            <a:ext cx="1920240" cy="194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33"/>
              </a:buClr>
              <a:buSzPts val="600"/>
              <a:buFont typeface="Calibri"/>
              <a:buNone/>
            </a:pPr>
            <a:r>
              <a:rPr b="0" i="0" lang="es" sz="600" u="none" cap="none" strike="noStrike">
                <a:solidFill>
                  <a:srgbClr val="CC0033"/>
                </a:solidFill>
                <a:latin typeface="Calibri"/>
                <a:ea typeface="Calibri"/>
                <a:cs typeface="Calibri"/>
                <a:sym typeface="Calibri"/>
              </a:rPr>
              <a:t>MÉXICO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822960" y="365760"/>
            <a:ext cx="2286000" cy="292608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822960" y="36576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1A56"/>
              </a:buClr>
              <a:buSzPts val="850"/>
              <a:buFont typeface="Calibri"/>
              <a:buNone/>
            </a:pPr>
            <a:r>
              <a:rPr b="1" i="0" lang="es" sz="850" u="none" cap="none" strike="noStrike">
                <a:solidFill>
                  <a:srgbClr val="2C1A56"/>
                </a:solidFill>
                <a:latin typeface="Calibri"/>
                <a:ea typeface="Calibri"/>
                <a:cs typeface="Calibri"/>
                <a:sym typeface="Calibri"/>
              </a:rPr>
              <a:t>CAPACITACIÓN PROFESIONAL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822960" y="868680"/>
            <a:ext cx="5760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2000"/>
              <a:buFont typeface="Trebuchet MS"/>
              <a:buNone/>
            </a:pPr>
            <a:r>
              <a:rPr b="0" i="1" lang="es" sz="2000" u="none" cap="none" strike="noStrike">
                <a:solidFill>
                  <a:srgbClr val="46C2CE"/>
                </a:solidFill>
                <a:latin typeface="Trebuchet MS"/>
                <a:ea typeface="Trebuchet MS"/>
                <a:cs typeface="Trebuchet MS"/>
                <a:sym typeface="Trebuchet MS"/>
              </a:rPr>
              <a:t>Manual Completo de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822960" y="1325880"/>
            <a:ext cx="5760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 Black"/>
              <a:buNone/>
            </a:pPr>
            <a:r>
              <a:rPr b="1" i="0" lang="es" sz="5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EMAIL MARKETING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822960" y="2194560"/>
            <a:ext cx="5760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2200"/>
              <a:buFont typeface="Trebuchet MS"/>
              <a:buNone/>
            </a:pPr>
            <a:r>
              <a:rPr b="0" i="0" lang="es" sz="2200" u="none" cap="none" strike="noStrike">
                <a:solidFill>
                  <a:srgbClr val="46C2CE"/>
                </a:solidFill>
                <a:latin typeface="Trebuchet MS"/>
                <a:ea typeface="Trebuchet MS"/>
                <a:cs typeface="Trebuchet MS"/>
                <a:sym typeface="Trebuchet MS"/>
              </a:rPr>
              <a:t>para Mi Bebé y Yo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822960" y="2788920"/>
            <a:ext cx="5029200" cy="457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822960" y="2926080"/>
            <a:ext cx="5669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Guía didáctica completa: desde la teoría hasta el envío exitoso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 miles de mamás y papás en mibebeyyo.mx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822960" y="3749040"/>
            <a:ext cx="1554480" cy="68580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822960" y="3767328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600"/>
              <a:buFont typeface="Arial Black"/>
              <a:buNone/>
            </a:pPr>
            <a:r>
              <a:rPr b="1" i="0" lang="es" sz="1600" u="none" cap="none" strike="noStrike">
                <a:solidFill>
                  <a:srgbClr val="46C2CE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822960" y="40690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Módulos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2651760" y="3749040"/>
            <a:ext cx="1554480" cy="68580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2651760" y="3767328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600"/>
              <a:buFont typeface="Arial Black"/>
              <a:buNone/>
            </a:pPr>
            <a:r>
              <a:rPr b="1" i="0" lang="es" sz="1600" u="none" cap="none" strike="noStrike">
                <a:solidFill>
                  <a:srgbClr val="46C2CE"/>
                </a:solidFill>
                <a:latin typeface="Arial Black"/>
                <a:ea typeface="Arial Black"/>
                <a:cs typeface="Arial Black"/>
                <a:sym typeface="Arial Black"/>
              </a:rPr>
              <a:t>Talleres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2651760" y="40690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Prácticos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4480560" y="3749040"/>
            <a:ext cx="1554480" cy="68580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4480560" y="3767328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600"/>
              <a:buFont typeface="Arial Black"/>
              <a:buNone/>
            </a:pPr>
            <a:r>
              <a:rPr b="1" i="0" lang="es" sz="1600" u="none" cap="none" strike="noStrike">
                <a:solidFill>
                  <a:srgbClr val="46C2CE"/>
                </a:solidFill>
                <a:latin typeface="Arial Black"/>
                <a:ea typeface="Arial Black"/>
                <a:cs typeface="Arial Black"/>
                <a:sym typeface="Arial Black"/>
              </a:rPr>
              <a:t>VSC · HTML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4480560" y="40690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Splio · CSS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822960" y="4572000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1" lang="e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Instructor: Eduardo Acevedo  ·  Consultor Sunname Technologies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i="0" lang="e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CONTENIDO DEL CURSO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365760" y="1143000"/>
            <a:ext cx="393192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365760" y="1143000"/>
            <a:ext cx="640080" cy="14173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365760" y="15087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1097280" y="128016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Trebuchet MS"/>
              <a:buNone/>
            </a:pPr>
            <a:r>
              <a:rPr b="1" i="0" lang="es" sz="1300" u="none" cap="none" strike="noStrike">
                <a:solidFill>
                  <a:srgbClr val="263980"/>
                </a:solidFill>
                <a:latin typeface="Trebuchet MS"/>
                <a:ea typeface="Trebuchet MS"/>
                <a:cs typeface="Trebuchet MS"/>
                <a:sym typeface="Trebuchet MS"/>
              </a:rPr>
              <a:t>Ecosistema del Email Marketing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1097280" y="1801368"/>
            <a:ext cx="2926080" cy="27432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1097280" y="1892808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Estrategia, objetivos, métricas y anti-spam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4754880" y="1143000"/>
            <a:ext cx="393192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4754880" y="1143000"/>
            <a:ext cx="640080" cy="141732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4754880" y="15087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5486400" y="128016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Trebuchet MS"/>
              <a:buNone/>
            </a:pPr>
            <a:r>
              <a:rPr b="1" i="0" lang="es" sz="1300" u="none" cap="none" strike="noStrike">
                <a:solidFill>
                  <a:srgbClr val="263980"/>
                </a:solidFill>
                <a:latin typeface="Trebuchet MS"/>
                <a:ea typeface="Trebuchet MS"/>
                <a:cs typeface="Trebuchet MS"/>
                <a:sym typeface="Trebuchet MS"/>
              </a:rPr>
              <a:t>Herramientas y Fundamentos Web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5486400" y="1801368"/>
            <a:ext cx="2926080" cy="27432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5486400" y="1892808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VSC, HTML, CSS y diseño responsive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365760" y="2880360"/>
            <a:ext cx="393192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/>
          <p:nvPr/>
        </p:nvSpPr>
        <p:spPr>
          <a:xfrm>
            <a:off x="365760" y="2880360"/>
            <a:ext cx="640080" cy="14173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365760" y="32461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1097280" y="301752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Trebuchet MS"/>
              <a:buNone/>
            </a:pPr>
            <a:r>
              <a:rPr b="1" i="0" lang="es" sz="1300" u="none" cap="none" strike="noStrike">
                <a:solidFill>
                  <a:srgbClr val="263980"/>
                </a:solidFill>
                <a:latin typeface="Trebuchet MS"/>
                <a:ea typeface="Trebuchet MS"/>
                <a:cs typeface="Trebuchet MS"/>
                <a:sym typeface="Trebuchet MS"/>
              </a:rPr>
              <a:t>Edición Práctica de Plantillas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1097280" y="3538728"/>
            <a:ext cx="2926080" cy="27432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1097280" y="3630168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Taller: editar textos, imágenes y enlaces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4754880" y="2880360"/>
            <a:ext cx="393192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4754880" y="2880360"/>
            <a:ext cx="640080" cy="141732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4754880" y="32461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5486400" y="301752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Trebuchet MS"/>
              <a:buNone/>
            </a:pPr>
            <a:r>
              <a:rPr b="1" i="0" lang="es" sz="1300" u="none" cap="none" strike="noStrike">
                <a:solidFill>
                  <a:srgbClr val="263980"/>
                </a:solidFill>
                <a:latin typeface="Trebuchet MS"/>
                <a:ea typeface="Trebuchet MS"/>
                <a:cs typeface="Trebuchet MS"/>
                <a:sym typeface="Trebuchet MS"/>
              </a:rPr>
              <a:t>Ejecución y Gestión en Splio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5486400" y="3538728"/>
            <a:ext cx="2926080" cy="27432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5486400" y="3630168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Subir HTML, segmentar y programar envíos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Eduardo Acevedo · Sunname Technologies · Curso Email Marketing MiBebéyYo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980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5486400" y="0"/>
            <a:ext cx="228600" cy="514350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457200" y="365760"/>
            <a:ext cx="2286000" cy="292608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457200" y="36576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850"/>
              <a:buFont typeface="Calibri"/>
              <a:buNone/>
            </a:pPr>
            <a:r>
              <a:rPr b="1" i="0" lang="es" sz="850" u="none" cap="none" strike="noStrik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QUIÉN TE ENSEÑARÁ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457200" y="822960"/>
            <a:ext cx="4846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1" i="0" lang="es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Eduardo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1" i="0" lang="es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Acevedo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457200" y="20574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400"/>
              <a:buFont typeface="Trebuchet MS"/>
              <a:buNone/>
            </a:pPr>
            <a:r>
              <a:rPr b="0" i="1" lang="es" sz="1400" u="none" cap="none" strike="noStrike">
                <a:solidFill>
                  <a:srgbClr val="46C2CE"/>
                </a:solidFill>
                <a:latin typeface="Trebuchet MS"/>
                <a:ea typeface="Trebuchet MS"/>
                <a:cs typeface="Trebuchet MS"/>
                <a:sym typeface="Trebuchet MS"/>
              </a:rPr>
              <a:t>Consultor Digital · Sunname Technologies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457200" y="2514600"/>
            <a:ext cx="4846320" cy="36576"/>
          </a:xfrm>
          <a:prstGeom prst="rect">
            <a:avLst/>
          </a:prstGeom>
          <a:solidFill>
            <a:srgbClr val="46C2CE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457200" y="2724912"/>
            <a:ext cx="201168" cy="2011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777240" y="2715768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Especialista en Email Marketing y Automatización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457200" y="3182112"/>
            <a:ext cx="201168" cy="2011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777240" y="3172968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Consultor en transformación digital para medios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457200" y="3639312"/>
            <a:ext cx="201168" cy="2011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777240" y="3630168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Experto en plataformas: Splio, Mailchimp, HubSpot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457200" y="4096512"/>
            <a:ext cx="201168" cy="2011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777240" y="4087368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Capacitador certificado en herramientas web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5943600" y="1097280"/>
            <a:ext cx="2560320" cy="1005840"/>
          </a:xfrm>
          <a:prstGeom prst="rect">
            <a:avLst/>
          </a:prstGeom>
          <a:solidFill>
            <a:srgbClr val="263980"/>
          </a:solidFill>
          <a:ln cap="flat" cmpd="sng" w="12700">
            <a:solidFill>
              <a:srgbClr val="46C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5943600" y="1248156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Sunname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5943600" y="1650492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TECHNOLOGIES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5760720" y="23317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Sunname Technologies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5760720" y="26517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000"/>
              <a:buFont typeface="Calibri"/>
              <a:buNone/>
            </a:pPr>
            <a:r>
              <a:rPr b="0" i="1" lang="es" sz="100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Impulsa tu Negocio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5852160" y="3108960"/>
            <a:ext cx="2743200" cy="36576"/>
          </a:xfrm>
          <a:prstGeom prst="rect">
            <a:avLst/>
          </a:prstGeom>
          <a:solidFill>
            <a:srgbClr val="46C2C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760720" y="324612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Cliente: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5943600" y="3566160"/>
            <a:ext cx="256032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943600" y="3717036"/>
            <a:ext cx="2560320" cy="55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B2E"/>
              </a:buClr>
              <a:buSzPts val="1500"/>
              <a:buFont typeface="Calibri"/>
              <a:buNone/>
            </a:pPr>
            <a:r>
              <a:rPr b="1" i="0" lang="es" sz="1500" u="none" cap="none" strike="noStrike">
                <a:solidFill>
                  <a:srgbClr val="1A6B2E"/>
                </a:solidFill>
                <a:latin typeface="Calibri"/>
                <a:ea typeface="Calibri"/>
                <a:cs typeface="Calibri"/>
                <a:sym typeface="Calibri"/>
              </a:rPr>
              <a:t>Mibebé y yo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943600" y="4219956"/>
            <a:ext cx="256032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33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CC0033"/>
                </a:solidFill>
                <a:latin typeface="Calibri"/>
                <a:ea typeface="Calibri"/>
                <a:cs typeface="Calibri"/>
                <a:sym typeface="Calibri"/>
              </a:rPr>
              <a:t>MÉXICO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Eduardo Acevedo · Sunname Technologies · Curso Email Marketing MiBebéyYo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980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0" y="3429000"/>
            <a:ext cx="9144000" cy="9144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5943600" y="274320"/>
            <a:ext cx="29260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E5C"/>
              </a:buClr>
              <a:buSzPts val="18000"/>
              <a:buFont typeface="Arial Black"/>
              <a:buNone/>
            </a:pPr>
            <a:r>
              <a:rPr b="1" i="0" lang="es" sz="18000" u="none" cap="none" strike="noStrike">
                <a:solidFill>
                  <a:srgbClr val="1D2E5C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548640" y="457200"/>
            <a:ext cx="2560320" cy="292608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548640" y="457200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MÓDULO 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548640" y="960120"/>
            <a:ext cx="56692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1" i="0" lang="es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El Ecosistema del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1" i="0" lang="es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Email Marketing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548640" y="2697480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2200"/>
              <a:buFont typeface="Trebuchet MS"/>
              <a:buNone/>
            </a:pPr>
            <a:r>
              <a:rPr b="0" i="1" lang="es" sz="2200" u="none" cap="none" strike="noStrike">
                <a:solidFill>
                  <a:srgbClr val="46C2CE"/>
                </a:solidFill>
                <a:latin typeface="Trebuchet MS"/>
                <a:ea typeface="Trebuchet MS"/>
                <a:cs typeface="Trebuchet MS"/>
                <a:sym typeface="Trebuchet MS"/>
              </a:rPr>
              <a:t>en Mi Bebé y Yo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548640" y="37033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Objetivos · Anatomía del correo · Métricas · Anti-Spam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548640" y="41605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⏱  Duración estimada: 2 horas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 Black"/>
              <a:buNone/>
            </a:pPr>
            <a:r>
              <a:rPr b="1" i="0" lang="es" sz="2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¿Para qué enviamos correos?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6858000" y="45720"/>
            <a:ext cx="2011680" cy="2743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6858000" y="457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1A56"/>
              </a:buClr>
              <a:buSzPts val="900"/>
              <a:buFont typeface="Calibri"/>
              <a:buNone/>
            </a:pPr>
            <a:r>
              <a:rPr b="1" i="0" lang="es" sz="900" u="none" cap="none" strike="noStrike">
                <a:solidFill>
                  <a:srgbClr val="2C1A56"/>
                </a:solidFill>
                <a:latin typeface="Calibri"/>
                <a:ea typeface="Calibri"/>
                <a:cs typeface="Calibri"/>
                <a:sym typeface="Calibri"/>
              </a:rPr>
              <a:t>MÓDULO 01 · ESTRATEGIA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320040" y="1051560"/>
            <a:ext cx="2651760" cy="3520440"/>
          </a:xfrm>
          <a:prstGeom prst="rect">
            <a:avLst/>
          </a:prstGeom>
          <a:solidFill>
            <a:srgbClr val="263980"/>
          </a:solidFill>
          <a:ln>
            <a:noFill/>
          </a:ln>
          <a:effectLst>
            <a:outerShdw blurRad="1270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320040" y="1143000"/>
            <a:ext cx="2651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b="1" i="0" lang="es" sz="6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502920" y="2148840"/>
            <a:ext cx="2286000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457200" y="22860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Llevar Tráfico a Artículos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457200" y="2971800"/>
            <a:ext cx="2377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7FF"/>
              </a:buClr>
              <a:buSzPts val="1050"/>
              <a:buFont typeface="Calibri"/>
              <a:buNone/>
            </a:pPr>
            <a:r>
              <a:rPr b="0" i="0" lang="es" sz="1050" u="none" cap="none" strike="noStrike">
                <a:solidFill>
                  <a:srgbClr val="E0E7FF"/>
                </a:solidFill>
                <a:latin typeface="Calibri"/>
                <a:ea typeface="Calibri"/>
                <a:cs typeface="Calibri"/>
                <a:sym typeface="Calibri"/>
              </a:rPr>
              <a:t>Correos con titulares atractivos que dirigen clics directos a mibebeyyo.mx. Más visitas = mayor ingreso publicitario para la revista.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3200400" y="1051560"/>
            <a:ext cx="2651760" cy="3520440"/>
          </a:xfrm>
          <a:prstGeom prst="rect">
            <a:avLst/>
          </a:prstGeom>
          <a:solidFill>
            <a:srgbClr val="7F52A0"/>
          </a:solidFill>
          <a:ln>
            <a:noFill/>
          </a:ln>
          <a:effectLst>
            <a:outerShdw blurRad="1270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3200400" y="1143000"/>
            <a:ext cx="2651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b="1" i="0" lang="es" sz="6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3383280" y="2148840"/>
            <a:ext cx="2286000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3337560" y="22860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Promover Sorteos y Canastillas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3337560" y="2971800"/>
            <a:ext cx="2377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7FF"/>
              </a:buClr>
              <a:buSzPts val="1050"/>
              <a:buFont typeface="Calibri"/>
              <a:buNone/>
            </a:pPr>
            <a:r>
              <a:rPr b="0" i="0" lang="es" sz="1050" u="none" cap="none" strike="noStrike">
                <a:solidFill>
                  <a:srgbClr val="E0E7FF"/>
                </a:solidFill>
                <a:latin typeface="Calibri"/>
                <a:ea typeface="Calibri"/>
                <a:cs typeface="Calibri"/>
                <a:sym typeface="Calibri"/>
              </a:rPr>
              <a:t>Exclusivos para suscriptoras de la newsletter. Fideliza a las lectoras y hace crecer orgánicamente la base de datos.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6080760" y="1051560"/>
            <a:ext cx="2651760" cy="3520440"/>
          </a:xfrm>
          <a:prstGeom prst="rect">
            <a:avLst/>
          </a:prstGeom>
          <a:solidFill>
            <a:srgbClr val="46C2CE"/>
          </a:solidFill>
          <a:ln>
            <a:noFill/>
          </a:ln>
          <a:effectLst>
            <a:outerShdw blurRad="1270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6080760" y="1143000"/>
            <a:ext cx="2651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b="1" i="0" lang="es" sz="6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6263640" y="2148840"/>
            <a:ext cx="2286000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6217920" y="22860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Trebuchet MS"/>
              <a:buNone/>
            </a:pPr>
            <a:r>
              <a:rPr b="1" i="0" lang="es" sz="1300" u="none" cap="none" strike="noStrike">
                <a:solidFill>
                  <a:srgbClr val="263980"/>
                </a:solidFill>
                <a:latin typeface="Trebuchet MS"/>
                <a:ea typeface="Trebuchet MS"/>
                <a:cs typeface="Trebuchet MS"/>
                <a:sym typeface="Trebuchet MS"/>
              </a:rPr>
              <a:t>Campañas de Patrocinadores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6217920" y="2971800"/>
            <a:ext cx="2377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050"/>
              <a:buFont typeface="Calibri"/>
              <a:buNone/>
            </a:pPr>
            <a:r>
              <a:rPr b="0" i="0" lang="es" sz="1050" u="none" cap="none" strike="noStrik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Marcas pagan a Mi Bebé y Yo para enviar correos dedicados. La edición correcta del HTML es un acuerdo comercial.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Eduardo Acevedo · Sunname Technologies · Curso Email Marketing MiBebéyYo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 Black"/>
              <a:buNone/>
            </a:pPr>
            <a:r>
              <a:rPr b="1" i="0" lang="es" sz="2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Anatomía de un Correo Atractivo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6858000" y="45720"/>
            <a:ext cx="2011680" cy="2743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6858000" y="457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1A56"/>
              </a:buClr>
              <a:buSzPts val="900"/>
              <a:buFont typeface="Calibri"/>
              <a:buNone/>
            </a:pPr>
            <a:r>
              <a:rPr b="1" i="0" lang="es" sz="900" u="none" cap="none" strike="noStrike">
                <a:solidFill>
                  <a:srgbClr val="2C1A56"/>
                </a:solidFill>
                <a:latin typeface="Calibri"/>
                <a:ea typeface="Calibri"/>
                <a:cs typeface="Calibri"/>
                <a:sym typeface="Calibri"/>
              </a:rPr>
              <a:t>MÓDULO 01 · CONTENIDO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365760" y="960120"/>
            <a:ext cx="3840480" cy="3840480"/>
          </a:xfrm>
          <a:prstGeom prst="rect">
            <a:avLst/>
          </a:prstGeom>
          <a:solidFill>
            <a:srgbClr val="F4F6FB"/>
          </a:solidFill>
          <a:ln>
            <a:noFill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365760" y="960120"/>
            <a:ext cx="3840480" cy="36576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457200" y="97840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📬 Mi Bebé y Yo  &lt;hola@mibebeyyo.mx&gt;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457200" y="1161288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750"/>
              <a:buFont typeface="Calibri"/>
              <a:buNone/>
            </a:pPr>
            <a:r>
              <a:rPr b="0" i="0" lang="es" sz="75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Asunto: Los 5 nombres de bebé más bonitos de 2025 ✨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365760" y="1325880"/>
            <a:ext cx="3840480" cy="82296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365760" y="132588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🖼  BANNER PRINCIPAL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457200" y="224028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502920" y="22860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800"/>
              <a:buFont typeface="Calibri"/>
              <a:buNone/>
            </a:pPr>
            <a:r>
              <a:rPr b="1" i="0" lang="es" sz="800" u="none" cap="none" strike="noStrik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Titular Principal + Extracto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502920" y="249631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0" i="0" lang="e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Párrafo corto que resume el artículo...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2743200" y="2286000"/>
            <a:ext cx="1234440" cy="45720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2743200" y="228600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 LEE MÁS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457200" y="2926080"/>
            <a:ext cx="1691640" cy="548640"/>
          </a:xfrm>
          <a:prstGeom prst="rect">
            <a:avLst/>
          </a:prstGeom>
          <a:solidFill>
            <a:srgbClr val="EA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502920" y="2971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750"/>
              <a:buFont typeface="Calibri"/>
              <a:buNone/>
            </a:pPr>
            <a:r>
              <a:rPr b="0" i="0" lang="es" sz="750" u="none" cap="none" strike="noStrik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Artículo 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2286000" y="2926080"/>
            <a:ext cx="1691640" cy="548640"/>
          </a:xfrm>
          <a:prstGeom prst="rect">
            <a:avLst/>
          </a:prstGeom>
          <a:solidFill>
            <a:srgbClr val="EA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2331720" y="2971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750"/>
              <a:buFont typeface="Calibri"/>
              <a:buNone/>
            </a:pPr>
            <a:r>
              <a:rPr b="0" i="0" lang="es" sz="750" u="none" cap="none" strike="noStrik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Artículo 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365760" y="3611880"/>
            <a:ext cx="3840480" cy="5029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365760" y="361188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🌐  Redes · Desuscribir · Logo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365760" y="4114800"/>
            <a:ext cx="3840480" cy="5029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411480" y="416052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0" i="1" lang="e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Pre-header: ¡Descubre si el nombre que elegiste está en la lista!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4480560" y="987552"/>
            <a:ext cx="320040" cy="320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4480560" y="98755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4892040" y="987552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00"/>
              <a:buFont typeface="Trebuchet MS"/>
              <a:buNone/>
            </a:pPr>
            <a:r>
              <a:rPr b="1" i="0" lang="es" sz="1100" u="none" cap="none" strike="noStrike">
                <a:solidFill>
                  <a:srgbClr val="263980"/>
                </a:solidFill>
                <a:latin typeface="Trebuchet MS"/>
                <a:ea typeface="Trebuchet MS"/>
                <a:cs typeface="Trebuchet MS"/>
                <a:sym typeface="Trebuchet MS"/>
              </a:rPr>
              <a:t>Asunto (Subject Line)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4892040" y="117043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Primera impresión. Usa empatía, emojis y curiosidad.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4480560" y="1655064"/>
            <a:ext cx="320040" cy="320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4480560" y="165506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4892040" y="1655064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00"/>
              <a:buFont typeface="Trebuchet MS"/>
              <a:buNone/>
            </a:pPr>
            <a:r>
              <a:rPr b="1" i="0" lang="es" sz="1100" u="none" cap="none" strike="noStrike">
                <a:solidFill>
                  <a:srgbClr val="263980"/>
                </a:solidFill>
                <a:latin typeface="Trebuchet MS"/>
                <a:ea typeface="Trebuchet MS"/>
                <a:cs typeface="Trebuchet MS"/>
                <a:sym typeface="Trebuchet MS"/>
              </a:rPr>
              <a:t>Pre-header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4892040" y="183794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Complementa el asunto en la bandeja. Añade contexto.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4480560" y="2322576"/>
            <a:ext cx="320040" cy="320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4480560" y="232257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4892040" y="2322576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00"/>
              <a:buFont typeface="Trebuchet MS"/>
              <a:buNone/>
            </a:pPr>
            <a:r>
              <a:rPr b="1" i="0" lang="es" sz="1100" u="none" cap="none" strike="noStrike">
                <a:solidFill>
                  <a:srgbClr val="263980"/>
                </a:solidFill>
                <a:latin typeface="Trebuchet MS"/>
                <a:ea typeface="Trebuchet MS"/>
                <a:cs typeface="Trebuchet MS"/>
                <a:sym typeface="Trebuchet MS"/>
              </a:rPr>
              <a:t>Banner Principal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4892040" y="250545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Imagen grande con el tema central de la semana.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4480560" y="2990088"/>
            <a:ext cx="320040" cy="320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4480560" y="299008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4892040" y="2990088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00"/>
              <a:buFont typeface="Trebuchet MS"/>
              <a:buNone/>
            </a:pPr>
            <a:r>
              <a:rPr b="1" i="0" lang="es" sz="1100" u="none" cap="none" strike="noStrike">
                <a:solidFill>
                  <a:srgbClr val="263980"/>
                </a:solidFill>
                <a:latin typeface="Trebuchet MS"/>
                <a:ea typeface="Trebuchet MS"/>
                <a:cs typeface="Trebuchet MS"/>
                <a:sym typeface="Trebuchet MS"/>
              </a:rPr>
              <a:t>Titular + CTA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4892040" y="317296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Resumen del artículo y botón de acción claro.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4480560" y="3657600"/>
            <a:ext cx="320040" cy="320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4480560" y="36576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4892040" y="3657600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00"/>
              <a:buFont typeface="Trebuchet MS"/>
              <a:buNone/>
            </a:pPr>
            <a:r>
              <a:rPr b="1" i="0" lang="es" sz="1100" u="none" cap="none" strike="noStrike">
                <a:solidFill>
                  <a:srgbClr val="263980"/>
                </a:solidFill>
                <a:latin typeface="Trebuchet MS"/>
                <a:ea typeface="Trebuchet MS"/>
                <a:cs typeface="Trebuchet MS"/>
                <a:sym typeface="Trebuchet MS"/>
              </a:rPr>
              <a:t>Artículos Secundarios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4892040" y="38404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2-4 artículos adicionales con imagen y enlace.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4480560" y="4325112"/>
            <a:ext cx="320040" cy="320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0"/>
          <p:cNvSpPr/>
          <p:nvPr/>
        </p:nvSpPr>
        <p:spPr>
          <a:xfrm>
            <a:off x="4480560" y="432511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4892040" y="4325112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00"/>
              <a:buFont typeface="Trebuchet MS"/>
              <a:buNone/>
            </a:pPr>
            <a:r>
              <a:rPr b="1" i="0" lang="es" sz="1100" u="none" cap="none" strike="noStrike">
                <a:solidFill>
                  <a:srgbClr val="263980"/>
                </a:solidFill>
                <a:latin typeface="Trebuchet MS"/>
                <a:ea typeface="Trebuchet MS"/>
                <a:cs typeface="Trebuchet MS"/>
                <a:sym typeface="Trebuchet MS"/>
              </a:rPr>
              <a:t>Footer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4892040" y="450799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Logo, redes sociales y enlace de desuscripción (¡obligatorio!).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Eduardo Acevedo · Sunname Technologies · Curso Email Marketing MiBebéyYo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980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Métricas Clave: Los Números que Importan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1"/>
          <p:cNvSpPr/>
          <p:nvPr/>
        </p:nvSpPr>
        <p:spPr>
          <a:xfrm>
            <a:off x="6858000" y="45720"/>
            <a:ext cx="2011680" cy="2743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1"/>
          <p:cNvSpPr/>
          <p:nvPr/>
        </p:nvSpPr>
        <p:spPr>
          <a:xfrm>
            <a:off x="6858000" y="457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1A56"/>
              </a:buClr>
              <a:buSzPts val="900"/>
              <a:buFont typeface="Calibri"/>
              <a:buNone/>
            </a:pPr>
            <a:r>
              <a:rPr b="1" i="0" lang="es" sz="900" u="none" cap="none" strike="noStrike">
                <a:solidFill>
                  <a:srgbClr val="2C1A56"/>
                </a:solidFill>
                <a:latin typeface="Calibri"/>
                <a:ea typeface="Calibri"/>
                <a:cs typeface="Calibri"/>
                <a:sym typeface="Calibri"/>
              </a:rPr>
              <a:t>MÓDULO 01 · MÉTRICAS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274320" y="1005840"/>
            <a:ext cx="1508760" cy="3566160"/>
          </a:xfrm>
          <a:prstGeom prst="rect">
            <a:avLst/>
          </a:prstGeom>
          <a:solidFill>
            <a:srgbClr val="1D2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1"/>
          <p:cNvSpPr/>
          <p:nvPr/>
        </p:nvSpPr>
        <p:spPr>
          <a:xfrm>
            <a:off x="274320" y="1005840"/>
            <a:ext cx="1508760" cy="32004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1"/>
          <p:cNvSpPr/>
          <p:nvPr/>
        </p:nvSpPr>
        <p:spPr>
          <a:xfrm>
            <a:off x="320040" y="100584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900"/>
              <a:buFont typeface="Calibri"/>
              <a:buNone/>
            </a:pPr>
            <a:r>
              <a:rPr b="1" i="0" lang="es" sz="900" u="none" cap="none" strike="noStrik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Open 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320040" y="141732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Tasa de Apertura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320040" y="2057400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2600"/>
              <a:buFont typeface="Arial Black"/>
              <a:buNone/>
            </a:pPr>
            <a:r>
              <a:rPr b="1" i="0" lang="es" sz="2600" u="none" cap="none" strike="noStrike">
                <a:solidFill>
                  <a:srgbClr val="46C2CE"/>
                </a:solidFill>
                <a:latin typeface="Arial Black"/>
                <a:ea typeface="Arial Black"/>
                <a:cs typeface="Arial Black"/>
                <a:sym typeface="Arial Black"/>
              </a:rPr>
              <a:t>20-35%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457200" y="2834640"/>
            <a:ext cx="1143000" cy="27432"/>
          </a:xfrm>
          <a:prstGeom prst="rect">
            <a:avLst/>
          </a:prstGeom>
          <a:solidFill>
            <a:srgbClr val="46C2C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1"/>
          <p:cNvSpPr/>
          <p:nvPr/>
        </p:nvSpPr>
        <p:spPr>
          <a:xfrm>
            <a:off x="365760" y="292608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Nombres de bebé: +40%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1993392" y="1005840"/>
            <a:ext cx="1508760" cy="3566160"/>
          </a:xfrm>
          <a:prstGeom prst="rect">
            <a:avLst/>
          </a:prstGeom>
          <a:solidFill>
            <a:srgbClr val="1D2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1"/>
          <p:cNvSpPr/>
          <p:nvPr/>
        </p:nvSpPr>
        <p:spPr>
          <a:xfrm>
            <a:off x="1993392" y="1005840"/>
            <a:ext cx="1508760" cy="32004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1"/>
          <p:cNvSpPr/>
          <p:nvPr/>
        </p:nvSpPr>
        <p:spPr>
          <a:xfrm>
            <a:off x="2039112" y="100584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900"/>
              <a:buFont typeface="Calibri"/>
              <a:buNone/>
            </a:pPr>
            <a:r>
              <a:rPr b="1" i="0" lang="es" sz="900" u="none" cap="none" strike="noStrik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Click 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2039112" y="141732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Tasa de Clics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2039112" y="2057400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52A0"/>
              </a:buClr>
              <a:buSzPts val="2600"/>
              <a:buFont typeface="Arial Black"/>
              <a:buNone/>
            </a:pPr>
            <a:r>
              <a:rPr b="1" i="0" lang="es" sz="2600" u="none" cap="none" strike="noStrike">
                <a:solidFill>
                  <a:srgbClr val="7F52A0"/>
                </a:solidFill>
                <a:latin typeface="Arial Black"/>
                <a:ea typeface="Arial Black"/>
                <a:cs typeface="Arial Black"/>
                <a:sym typeface="Arial Black"/>
              </a:rPr>
              <a:t>2-5%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2176272" y="2834640"/>
            <a:ext cx="1143000" cy="27432"/>
          </a:xfrm>
          <a:prstGeom prst="rect">
            <a:avLst/>
          </a:prstGeom>
          <a:solidFill>
            <a:srgbClr val="7F52A0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1"/>
          <p:cNvSpPr/>
          <p:nvPr/>
        </p:nvSpPr>
        <p:spPr>
          <a:xfrm>
            <a:off x="2084832" y="292608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CTAs claros mejoran el %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3712464" y="1005840"/>
            <a:ext cx="1508760" cy="3566160"/>
          </a:xfrm>
          <a:prstGeom prst="rect">
            <a:avLst/>
          </a:prstGeom>
          <a:solidFill>
            <a:srgbClr val="1D2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1"/>
          <p:cNvSpPr/>
          <p:nvPr/>
        </p:nvSpPr>
        <p:spPr>
          <a:xfrm>
            <a:off x="3712464" y="1005840"/>
            <a:ext cx="1508760" cy="320040"/>
          </a:xfrm>
          <a:prstGeom prst="rect">
            <a:avLst/>
          </a:prstGeom>
          <a:solidFill>
            <a:srgbClr val="46A8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1"/>
          <p:cNvSpPr/>
          <p:nvPr/>
        </p:nvSpPr>
        <p:spPr>
          <a:xfrm>
            <a:off x="3758184" y="100584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900"/>
              <a:buFont typeface="Calibri"/>
              <a:buNone/>
            </a:pPr>
            <a:r>
              <a:rPr b="1" i="0" lang="es" sz="900" u="none" cap="none" strike="noStrik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Bounce 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3758184" y="141732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Tasa de Rebote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3758184" y="2057400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A878"/>
              </a:buClr>
              <a:buSzPts val="2600"/>
              <a:buFont typeface="Arial Black"/>
              <a:buNone/>
            </a:pPr>
            <a:r>
              <a:rPr b="1" i="0" lang="es" sz="2600" u="none" cap="none" strike="noStrike">
                <a:solidFill>
                  <a:srgbClr val="46A878"/>
                </a:solidFill>
                <a:latin typeface="Arial Black"/>
                <a:ea typeface="Arial Black"/>
                <a:cs typeface="Arial Black"/>
                <a:sym typeface="Arial Black"/>
              </a:rPr>
              <a:t>&lt; 2%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3895344" y="2834640"/>
            <a:ext cx="1143000" cy="27432"/>
          </a:xfrm>
          <a:prstGeom prst="rect">
            <a:avLst/>
          </a:prstGeom>
          <a:solidFill>
            <a:srgbClr val="46A878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1"/>
          <p:cNvSpPr/>
          <p:nvPr/>
        </p:nvSpPr>
        <p:spPr>
          <a:xfrm>
            <a:off x="3803904" y="292608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Mantener base limpia en Splio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5431536" y="1005840"/>
            <a:ext cx="1508760" cy="3566160"/>
          </a:xfrm>
          <a:prstGeom prst="rect">
            <a:avLst/>
          </a:prstGeom>
          <a:solidFill>
            <a:srgbClr val="1D2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1"/>
          <p:cNvSpPr/>
          <p:nvPr/>
        </p:nvSpPr>
        <p:spPr>
          <a:xfrm>
            <a:off x="5431536" y="1005840"/>
            <a:ext cx="1508760" cy="320040"/>
          </a:xfrm>
          <a:prstGeom prst="rect">
            <a:avLst/>
          </a:prstGeom>
          <a:solidFill>
            <a:srgbClr val="E08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1"/>
          <p:cNvSpPr/>
          <p:nvPr/>
        </p:nvSpPr>
        <p:spPr>
          <a:xfrm>
            <a:off x="5477256" y="100584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900"/>
              <a:buFont typeface="Calibri"/>
              <a:buNone/>
            </a:pPr>
            <a:r>
              <a:rPr b="1" i="0" lang="es" sz="900" u="none" cap="none" strike="noStrik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Unsub 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5477256" y="141732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Desuscripción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5477256" y="2057400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8B30"/>
              </a:buClr>
              <a:buSzPts val="2600"/>
              <a:buFont typeface="Arial Black"/>
              <a:buNone/>
            </a:pPr>
            <a:r>
              <a:rPr b="1" i="0" lang="es" sz="2600" u="none" cap="none" strike="noStrike">
                <a:solidFill>
                  <a:srgbClr val="E08B30"/>
                </a:solidFill>
                <a:latin typeface="Arial Black"/>
                <a:ea typeface="Arial Black"/>
                <a:cs typeface="Arial Black"/>
                <a:sym typeface="Arial Black"/>
              </a:rPr>
              <a:t>&lt; 0.5%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5614416" y="2834640"/>
            <a:ext cx="1143000" cy="27432"/>
          </a:xfrm>
          <a:prstGeom prst="rect">
            <a:avLst/>
          </a:prstGeom>
          <a:solidFill>
            <a:srgbClr val="E08B30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1"/>
          <p:cNvSpPr/>
          <p:nvPr/>
        </p:nvSpPr>
        <p:spPr>
          <a:xfrm>
            <a:off x="5522976" y="292608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Segmenta bien el contenido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7150608" y="1005840"/>
            <a:ext cx="1508760" cy="3566160"/>
          </a:xfrm>
          <a:prstGeom prst="rect">
            <a:avLst/>
          </a:prstGeom>
          <a:solidFill>
            <a:srgbClr val="1D2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1"/>
          <p:cNvSpPr/>
          <p:nvPr/>
        </p:nvSpPr>
        <p:spPr>
          <a:xfrm>
            <a:off x="7150608" y="1005840"/>
            <a:ext cx="1508760" cy="320040"/>
          </a:xfrm>
          <a:prstGeom prst="rect">
            <a:avLst/>
          </a:prstGeom>
          <a:solidFill>
            <a:srgbClr val="D640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1"/>
          <p:cNvSpPr/>
          <p:nvPr/>
        </p:nvSpPr>
        <p:spPr>
          <a:xfrm>
            <a:off x="7196328" y="100584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900"/>
              <a:buFont typeface="Calibri"/>
              <a:buNone/>
            </a:pPr>
            <a:r>
              <a:rPr b="1" i="0" lang="es" sz="900" u="none" cap="none" strike="noStrik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Spam 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7196328" y="141732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Marcados como Spam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7196328" y="2057400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4045"/>
              </a:buClr>
              <a:buSzPts val="2600"/>
              <a:buFont typeface="Arial Black"/>
              <a:buNone/>
            </a:pPr>
            <a:r>
              <a:rPr b="1" i="0" lang="es" sz="2600" u="none" cap="none" strike="noStrike">
                <a:solidFill>
                  <a:srgbClr val="D64045"/>
                </a:solidFill>
                <a:latin typeface="Arial Black"/>
                <a:ea typeface="Arial Black"/>
                <a:cs typeface="Arial Black"/>
                <a:sym typeface="Arial Black"/>
              </a:rPr>
              <a:t>&lt; 0.1%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7333488" y="2834640"/>
            <a:ext cx="1143000" cy="27432"/>
          </a:xfrm>
          <a:prstGeom prst="rect">
            <a:avLst/>
          </a:prstGeom>
          <a:solidFill>
            <a:srgbClr val="D64045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1"/>
          <p:cNvSpPr/>
          <p:nvPr/>
        </p:nvSpPr>
        <p:spPr>
          <a:xfrm>
            <a:off x="7242048" y="292608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Nunca superar este umbral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050"/>
              <a:buFont typeface="Calibri"/>
              <a:buNone/>
            </a:pPr>
            <a:r>
              <a:rPr b="0" i="1" lang="es" sz="105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★  El contenido más emocional y personalizado SIEMPRE supera al genérico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Eduardo Acevedo · Sunname Technologies · Curso Email Marketing MiBebéyYo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 Black"/>
              <a:buNone/>
            </a:pPr>
            <a:r>
              <a:rPr b="1" i="0" lang="es" sz="2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Cómo Evitar la Carpeta de Spam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2"/>
          <p:cNvSpPr/>
          <p:nvPr/>
        </p:nvSpPr>
        <p:spPr>
          <a:xfrm>
            <a:off x="6858000" y="45720"/>
            <a:ext cx="2011680" cy="2743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2"/>
          <p:cNvSpPr/>
          <p:nvPr/>
        </p:nvSpPr>
        <p:spPr>
          <a:xfrm>
            <a:off x="6858000" y="457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1A56"/>
              </a:buClr>
              <a:buSzPts val="900"/>
              <a:buFont typeface="Calibri"/>
              <a:buNone/>
            </a:pPr>
            <a:r>
              <a:rPr b="1" i="0" lang="es" sz="900" u="none" cap="none" strike="noStrike">
                <a:solidFill>
                  <a:srgbClr val="2C1A56"/>
                </a:solidFill>
                <a:latin typeface="Calibri"/>
                <a:ea typeface="Calibri"/>
                <a:cs typeface="Calibri"/>
                <a:sym typeface="Calibri"/>
              </a:rPr>
              <a:t>MÓDULO 01 · SPAM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274320" y="1005840"/>
            <a:ext cx="3931920" cy="365760"/>
          </a:xfrm>
          <a:prstGeom prst="rect">
            <a:avLst/>
          </a:prstGeom>
          <a:solidFill>
            <a:srgbClr val="D640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2"/>
          <p:cNvSpPr/>
          <p:nvPr/>
        </p:nvSpPr>
        <p:spPr>
          <a:xfrm>
            <a:off x="274320" y="10058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NUNCA HAGAS ESTO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/>
          <p:nvPr/>
        </p:nvSpPr>
        <p:spPr>
          <a:xfrm>
            <a:off x="274320" y="1463040"/>
            <a:ext cx="3931920" cy="402336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2"/>
          <p:cNvSpPr/>
          <p:nvPr/>
        </p:nvSpPr>
        <p:spPr>
          <a:xfrm>
            <a:off x="320040" y="1490472"/>
            <a:ext cx="320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4045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D64045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/>
          <p:nvPr/>
        </p:nvSpPr>
        <p:spPr>
          <a:xfrm>
            <a:off x="685800" y="1490472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Usar palabras: "GRATIS", "URGENTE", "GANA DINERO"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274320" y="1938528"/>
            <a:ext cx="3931920" cy="402336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2"/>
          <p:cNvSpPr/>
          <p:nvPr/>
        </p:nvSpPr>
        <p:spPr>
          <a:xfrm>
            <a:off x="320040" y="1965960"/>
            <a:ext cx="320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4045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D64045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685800" y="196596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Escribir el asunto en MAYÚSCULAS COMPLETAS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274320" y="2414016"/>
            <a:ext cx="3931920" cy="402336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2"/>
          <p:cNvSpPr/>
          <p:nvPr/>
        </p:nvSpPr>
        <p:spPr>
          <a:xfrm>
            <a:off x="320040" y="2441448"/>
            <a:ext cx="320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4045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D64045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685800" y="2441448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Demasiadas imágenes, poco texto (ideal: 60% texto)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274320" y="2889504"/>
            <a:ext cx="3931920" cy="402336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2"/>
          <p:cNvSpPr/>
          <p:nvPr/>
        </p:nvSpPr>
        <p:spPr>
          <a:xfrm>
            <a:off x="320040" y="2916936"/>
            <a:ext cx="320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4045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D64045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685800" y="2916936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Enviar a listas compradas o no verificadas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274320" y="3364992"/>
            <a:ext cx="3931920" cy="402336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2"/>
          <p:cNvSpPr/>
          <p:nvPr/>
        </p:nvSpPr>
        <p:spPr>
          <a:xfrm>
            <a:off x="320040" y="3392424"/>
            <a:ext cx="320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4045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D64045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685800" y="3392424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Omitir el enlace de desuscripción en el footer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274320" y="3840480"/>
            <a:ext cx="3931920" cy="402336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2"/>
          <p:cNvSpPr/>
          <p:nvPr/>
        </p:nvSpPr>
        <p:spPr>
          <a:xfrm>
            <a:off x="320040" y="3867912"/>
            <a:ext cx="320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4045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D64045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685800" y="3867912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Usar muchos signos de exclamación !!!!!!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4937760" y="1005840"/>
            <a:ext cx="3931920" cy="36576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2"/>
          <p:cNvSpPr/>
          <p:nvPr/>
        </p:nvSpPr>
        <p:spPr>
          <a:xfrm>
            <a:off x="4937760" y="10058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BUENAS PRÁCTICAS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2"/>
          <p:cNvSpPr/>
          <p:nvPr/>
        </p:nvSpPr>
        <p:spPr>
          <a:xfrm>
            <a:off x="4937760" y="1463040"/>
            <a:ext cx="3931920" cy="40233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2"/>
          <p:cNvSpPr/>
          <p:nvPr/>
        </p:nvSpPr>
        <p:spPr>
          <a:xfrm>
            <a:off x="4983480" y="1490472"/>
            <a:ext cx="320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2"/>
          <p:cNvSpPr/>
          <p:nvPr/>
        </p:nvSpPr>
        <p:spPr>
          <a:xfrm>
            <a:off x="5349240" y="1490472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Remitente reconocible: «Mi Bebé y Yo»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2"/>
          <p:cNvSpPr/>
          <p:nvPr/>
        </p:nvSpPr>
        <p:spPr>
          <a:xfrm>
            <a:off x="4937760" y="1938528"/>
            <a:ext cx="3931920" cy="402336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2"/>
          <p:cNvSpPr/>
          <p:nvPr/>
        </p:nvSpPr>
        <p:spPr>
          <a:xfrm>
            <a:off x="4983480" y="1965960"/>
            <a:ext cx="320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2"/>
          <p:cNvSpPr/>
          <p:nvPr/>
        </p:nvSpPr>
        <p:spPr>
          <a:xfrm>
            <a:off x="5349240" y="196596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Asuntos naturales y conversacionales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2"/>
          <p:cNvSpPr/>
          <p:nvPr/>
        </p:nvSpPr>
        <p:spPr>
          <a:xfrm>
            <a:off x="4937760" y="2414016"/>
            <a:ext cx="3931920" cy="40233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2"/>
          <p:cNvSpPr/>
          <p:nvPr/>
        </p:nvSpPr>
        <p:spPr>
          <a:xfrm>
            <a:off x="4983480" y="2441448"/>
            <a:ext cx="320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2"/>
          <p:cNvSpPr/>
          <p:nvPr/>
        </p:nvSpPr>
        <p:spPr>
          <a:xfrm>
            <a:off x="5349240" y="2441448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Siempre incluir enlace de desuscripción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2"/>
          <p:cNvSpPr/>
          <p:nvPr/>
        </p:nvSpPr>
        <p:spPr>
          <a:xfrm>
            <a:off x="4937760" y="2889504"/>
            <a:ext cx="3931920" cy="402336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2"/>
          <p:cNvSpPr/>
          <p:nvPr/>
        </p:nvSpPr>
        <p:spPr>
          <a:xfrm>
            <a:off x="4983480" y="2916936"/>
            <a:ext cx="320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2"/>
          <p:cNvSpPr/>
          <p:nvPr/>
        </p:nvSpPr>
        <p:spPr>
          <a:xfrm>
            <a:off x="5349240" y="2916936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Mantener base de datos limpia en Splio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2"/>
          <p:cNvSpPr/>
          <p:nvPr/>
        </p:nvSpPr>
        <p:spPr>
          <a:xfrm>
            <a:off x="4937760" y="3364992"/>
            <a:ext cx="3931920" cy="40233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2"/>
          <p:cNvSpPr/>
          <p:nvPr/>
        </p:nvSpPr>
        <p:spPr>
          <a:xfrm>
            <a:off x="4983480" y="3392424"/>
            <a:ext cx="320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2"/>
          <p:cNvSpPr/>
          <p:nvPr/>
        </p:nvSpPr>
        <p:spPr>
          <a:xfrm>
            <a:off x="5349240" y="3392424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Enviar desde dominio autenticado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2"/>
          <p:cNvSpPr/>
          <p:nvPr/>
        </p:nvSpPr>
        <p:spPr>
          <a:xfrm>
            <a:off x="4937760" y="3840480"/>
            <a:ext cx="3931920" cy="402336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2"/>
          <p:cNvSpPr/>
          <p:nvPr/>
        </p:nvSpPr>
        <p:spPr>
          <a:xfrm>
            <a:off x="4983480" y="3867912"/>
            <a:ext cx="320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2"/>
          <p:cNvSpPr/>
          <p:nvPr/>
        </p:nvSpPr>
        <p:spPr>
          <a:xfrm>
            <a:off x="5349240" y="3867912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Relación equilibrada texto/imagen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2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Eduardo Acevedo · Sunname Technologies · Curso Email Marketing MiBebéyYo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1A56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3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3"/>
          <p:cNvSpPr/>
          <p:nvPr/>
        </p:nvSpPr>
        <p:spPr>
          <a:xfrm>
            <a:off x="0" y="3794760"/>
            <a:ext cx="9144000" cy="9144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3"/>
          <p:cNvSpPr/>
          <p:nvPr/>
        </p:nvSpPr>
        <p:spPr>
          <a:xfrm>
            <a:off x="5486400" y="91440"/>
            <a:ext cx="3474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870"/>
              </a:buClr>
              <a:buSzPts val="18500"/>
              <a:buFont typeface="Arial Black"/>
              <a:buNone/>
            </a:pPr>
            <a:r>
              <a:rPr b="1" i="0" lang="es" sz="18500" u="none" cap="none" strike="noStrike">
                <a:solidFill>
                  <a:srgbClr val="3D2870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18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3"/>
          <p:cNvSpPr/>
          <p:nvPr/>
        </p:nvSpPr>
        <p:spPr>
          <a:xfrm>
            <a:off x="548640" y="457200"/>
            <a:ext cx="2926080" cy="292608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3"/>
          <p:cNvSpPr/>
          <p:nvPr/>
        </p:nvSpPr>
        <p:spPr>
          <a:xfrm>
            <a:off x="548640" y="45720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1A56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2C1A56"/>
                </a:solidFill>
                <a:latin typeface="Calibri"/>
                <a:ea typeface="Calibri"/>
                <a:cs typeface="Calibri"/>
                <a:sym typeface="Calibri"/>
              </a:rPr>
              <a:t>MÓDULO 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3"/>
          <p:cNvSpPr/>
          <p:nvPr/>
        </p:nvSpPr>
        <p:spPr>
          <a:xfrm>
            <a:off x="548640" y="96012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Herramientas 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Fundamentos Web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548640" y="2743200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600"/>
              <a:buFont typeface="Trebuchet MS"/>
              <a:buNone/>
            </a:pPr>
            <a:r>
              <a:rPr b="0" i="1" lang="es" sz="1600" u="none" cap="none" strike="noStrike">
                <a:solidFill>
                  <a:srgbClr val="46C2CE"/>
                </a:solidFill>
                <a:latin typeface="Trebuchet MS"/>
                <a:ea typeface="Trebuchet MS"/>
                <a:cs typeface="Trebuchet MS"/>
                <a:sym typeface="Trebuchet MS"/>
              </a:rPr>
              <a:t>VSC · HTML · CSS · Diseño Responsive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3"/>
          <p:cNvSpPr/>
          <p:nvPr/>
        </p:nvSpPr>
        <p:spPr>
          <a:xfrm>
            <a:off x="548640" y="39776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 horas de lectura y práctica inicial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4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Visual Studio Code: Tu Espacio de Trabajo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4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4"/>
          <p:cNvSpPr/>
          <p:nvPr/>
        </p:nvSpPr>
        <p:spPr>
          <a:xfrm>
            <a:off x="6858000" y="45720"/>
            <a:ext cx="2011680" cy="2743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4"/>
          <p:cNvSpPr/>
          <p:nvPr/>
        </p:nvSpPr>
        <p:spPr>
          <a:xfrm>
            <a:off x="6858000" y="457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1A56"/>
              </a:buClr>
              <a:buSzPts val="900"/>
              <a:buFont typeface="Calibri"/>
              <a:buNone/>
            </a:pPr>
            <a:r>
              <a:rPr b="1" i="0" lang="es" sz="900" u="none" cap="none" strike="noStrike">
                <a:solidFill>
                  <a:srgbClr val="2C1A56"/>
                </a:solidFill>
                <a:latin typeface="Calibri"/>
                <a:ea typeface="Calibri"/>
                <a:cs typeface="Calibri"/>
                <a:sym typeface="Calibri"/>
              </a:rPr>
              <a:t>MÓDULO 02 · VSC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4"/>
          <p:cNvSpPr/>
          <p:nvPr/>
        </p:nvSpPr>
        <p:spPr>
          <a:xfrm>
            <a:off x="274320" y="1005840"/>
            <a:ext cx="4572000" cy="374904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1524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4"/>
          <p:cNvSpPr/>
          <p:nvPr/>
        </p:nvSpPr>
        <p:spPr>
          <a:xfrm>
            <a:off x="274320" y="1005840"/>
            <a:ext cx="4572000" cy="32004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4"/>
          <p:cNvSpPr/>
          <p:nvPr/>
        </p:nvSpPr>
        <p:spPr>
          <a:xfrm>
            <a:off x="365760" y="102412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00"/>
              <a:buFont typeface="Consolas"/>
              <a:buNone/>
            </a:pPr>
            <a:r>
              <a:rPr b="0" i="0" lang="es" sz="8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● ● ●   newsletter-semana-12.html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4"/>
          <p:cNvSpPr/>
          <p:nvPr/>
        </p:nvSpPr>
        <p:spPr>
          <a:xfrm>
            <a:off x="320040" y="1389888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850"/>
              <a:buFont typeface="Consolas"/>
              <a:buNone/>
            </a:pPr>
            <a:r>
              <a:rPr b="0" i="0" lang="es" sz="85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&lt;html&gt;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4"/>
          <p:cNvSpPr/>
          <p:nvPr/>
        </p:nvSpPr>
        <p:spPr>
          <a:xfrm>
            <a:off x="320040" y="1636776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850"/>
              <a:buFont typeface="Consolas"/>
              <a:buNone/>
            </a:pPr>
            <a:r>
              <a:rPr b="0" i="0" lang="es" sz="85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 &lt;body style="margin:0"&gt;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4"/>
          <p:cNvSpPr/>
          <p:nvPr/>
        </p:nvSpPr>
        <p:spPr>
          <a:xfrm>
            <a:off x="320040" y="1883664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850"/>
              <a:buFont typeface="Consolas"/>
              <a:buNone/>
            </a:pPr>
            <a:r>
              <a:rPr b="0" i="0" lang="es" sz="85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    &lt;!-- Banner principal --&gt;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4"/>
          <p:cNvSpPr/>
          <p:nvPr/>
        </p:nvSpPr>
        <p:spPr>
          <a:xfrm>
            <a:off x="320040" y="2130552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850"/>
              <a:buFont typeface="Consolas"/>
              <a:buNone/>
            </a:pPr>
            <a:r>
              <a:rPr b="0" i="0" lang="es" sz="85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   &lt;img src="banner.jpg"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4"/>
          <p:cNvSpPr/>
          <p:nvPr/>
        </p:nvSpPr>
        <p:spPr>
          <a:xfrm>
            <a:off x="320040" y="2377440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850"/>
              <a:buFont typeface="Consolas"/>
              <a:buNone/>
            </a:pPr>
            <a:r>
              <a:rPr b="0" i="0" lang="es" sz="85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       alt="bebé durmiendo"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4"/>
          <p:cNvSpPr/>
          <p:nvPr/>
        </p:nvSpPr>
        <p:spPr>
          <a:xfrm>
            <a:off x="320040" y="2624328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850"/>
              <a:buFont typeface="Consolas"/>
              <a:buNone/>
            </a:pPr>
            <a:r>
              <a:rPr b="0" i="0" lang="es" sz="85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        width="600"&gt;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4"/>
          <p:cNvSpPr/>
          <p:nvPr/>
        </p:nvSpPr>
        <p:spPr>
          <a:xfrm>
            <a:off x="320040" y="2871216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850"/>
              <a:buFont typeface="Consolas"/>
              <a:buNone/>
            </a:pPr>
            <a:r>
              <a:rPr b="0" i="0" lang="es" sz="85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   &lt;p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4"/>
          <p:cNvSpPr/>
          <p:nvPr/>
        </p:nvSpPr>
        <p:spPr>
          <a:xfrm>
            <a:off x="320040" y="3118104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850"/>
              <a:buFont typeface="Consolas"/>
              <a:buNone/>
            </a:pPr>
            <a:r>
              <a:rPr b="0" i="0" lang="es" sz="85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      class="titular"&gt;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4"/>
          <p:cNvSpPr/>
          <p:nvPr/>
        </p:nvSpPr>
        <p:spPr>
          <a:xfrm>
            <a:off x="320040" y="3364992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50"/>
              <a:buFont typeface="Consolas"/>
              <a:buNone/>
            </a:pPr>
            <a:r>
              <a:rPr b="0" i="0" lang="es" sz="85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Los mejores purés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4"/>
          <p:cNvSpPr/>
          <p:nvPr/>
        </p:nvSpPr>
        <p:spPr>
          <a:xfrm>
            <a:off x="320040" y="3611880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850"/>
              <a:buFont typeface="Consolas"/>
              <a:buNone/>
            </a:pPr>
            <a:r>
              <a:rPr b="0" i="0" lang="es" sz="85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   &lt;/p&gt;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4"/>
          <p:cNvSpPr/>
          <p:nvPr/>
        </p:nvSpPr>
        <p:spPr>
          <a:xfrm>
            <a:off x="320040" y="3858768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850"/>
              <a:buFont typeface="Consolas"/>
              <a:buNone/>
            </a:pPr>
            <a:r>
              <a:rPr b="0" i="0" lang="es" sz="85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   &lt;a href="https://mibebe"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4"/>
          <p:cNvSpPr/>
          <p:nvPr/>
        </p:nvSpPr>
        <p:spPr>
          <a:xfrm>
            <a:off x="320040" y="4105656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850"/>
              <a:buFont typeface="Consolas"/>
              <a:buNone/>
            </a:pPr>
            <a:r>
              <a:rPr b="0" i="0" lang="es" sz="85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    yyo.mx/articulo"&gt;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4"/>
          <p:cNvSpPr/>
          <p:nvPr/>
        </p:nvSpPr>
        <p:spPr>
          <a:xfrm>
            <a:off x="5120640" y="1005840"/>
            <a:ext cx="3657600" cy="74980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4"/>
          <p:cNvSpPr/>
          <p:nvPr/>
        </p:nvSpPr>
        <p:spPr>
          <a:xfrm>
            <a:off x="5120640" y="1005840"/>
            <a:ext cx="73152" cy="749808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4"/>
          <p:cNvSpPr/>
          <p:nvPr/>
        </p:nvSpPr>
        <p:spPr>
          <a:xfrm>
            <a:off x="5257800" y="10789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4"/>
          <p:cNvSpPr/>
          <p:nvPr/>
        </p:nvSpPr>
        <p:spPr>
          <a:xfrm>
            <a:off x="5760720" y="106070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00"/>
              <a:buFont typeface="Trebuchet MS"/>
              <a:buNone/>
            </a:pPr>
            <a:r>
              <a:rPr b="1" i="0" lang="es" sz="1100" u="none" cap="none" strike="noStrike">
                <a:solidFill>
                  <a:srgbClr val="263980"/>
                </a:solidFill>
                <a:latin typeface="Trebuchet MS"/>
                <a:ea typeface="Trebuchet MS"/>
                <a:cs typeface="Trebuchet MS"/>
                <a:sym typeface="Trebuchet MS"/>
              </a:rPr>
              <a:t>Editor Gratuito de Microsoft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4"/>
          <p:cNvSpPr/>
          <p:nvPr/>
        </p:nvSpPr>
        <p:spPr>
          <a:xfrm>
            <a:off x="5760720" y="1353312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Abre y edita archivos HTML de manera visual y organizada.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4"/>
          <p:cNvSpPr/>
          <p:nvPr/>
        </p:nvSpPr>
        <p:spPr>
          <a:xfrm>
            <a:off x="5120640" y="1920240"/>
            <a:ext cx="3657600" cy="74980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4"/>
          <p:cNvSpPr/>
          <p:nvPr/>
        </p:nvSpPr>
        <p:spPr>
          <a:xfrm>
            <a:off x="5120640" y="1920240"/>
            <a:ext cx="73152" cy="749808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4"/>
          <p:cNvSpPr/>
          <p:nvPr/>
        </p:nvSpPr>
        <p:spPr>
          <a:xfrm>
            <a:off x="5257800" y="1993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🎨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4"/>
          <p:cNvSpPr/>
          <p:nvPr/>
        </p:nvSpPr>
        <p:spPr>
          <a:xfrm>
            <a:off x="5760720" y="197510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00"/>
              <a:buFont typeface="Trebuchet MS"/>
              <a:buNone/>
            </a:pPr>
            <a:r>
              <a:rPr b="1" i="0" lang="es" sz="1100" u="none" cap="none" strike="noStrike">
                <a:solidFill>
                  <a:srgbClr val="263980"/>
                </a:solidFill>
                <a:latin typeface="Trebuchet MS"/>
                <a:ea typeface="Trebuchet MS"/>
                <a:cs typeface="Trebuchet MS"/>
                <a:sym typeface="Trebuchet MS"/>
              </a:rPr>
              <a:t>Syntax Highlighting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4"/>
          <p:cNvSpPr/>
          <p:nvPr/>
        </p:nvSpPr>
        <p:spPr>
          <a:xfrm>
            <a:off x="5760720" y="2267712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Colorea el código según su función para identificar rápidamente etiquetas, textos y enlaces.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4"/>
          <p:cNvSpPr/>
          <p:nvPr/>
        </p:nvSpPr>
        <p:spPr>
          <a:xfrm>
            <a:off x="5120640" y="2834640"/>
            <a:ext cx="3657600" cy="74980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4"/>
          <p:cNvSpPr/>
          <p:nvPr/>
        </p:nvSpPr>
        <p:spPr>
          <a:xfrm>
            <a:off x="5120640" y="2834640"/>
            <a:ext cx="73152" cy="749808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4"/>
          <p:cNvSpPr/>
          <p:nvPr/>
        </p:nvSpPr>
        <p:spPr>
          <a:xfrm>
            <a:off x="5257800" y="29077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4"/>
          <p:cNvSpPr/>
          <p:nvPr/>
        </p:nvSpPr>
        <p:spPr>
          <a:xfrm>
            <a:off x="5760720" y="288950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00"/>
              <a:buFont typeface="Trebuchet MS"/>
              <a:buNone/>
            </a:pPr>
            <a:r>
              <a:rPr b="1" i="0" lang="es" sz="1100" u="none" cap="none" strike="noStrike">
                <a:solidFill>
                  <a:srgbClr val="263980"/>
                </a:solidFill>
                <a:latin typeface="Trebuchet MS"/>
                <a:ea typeface="Trebuchet MS"/>
                <a:cs typeface="Trebuchet MS"/>
                <a:sym typeface="Trebuchet MS"/>
              </a:rPr>
              <a:t>Buscar y Reemplazar (Ctrl+H)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4"/>
          <p:cNvSpPr/>
          <p:nvPr/>
        </p:nvSpPr>
        <p:spPr>
          <a:xfrm>
            <a:off x="5760720" y="3182112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Cambia múltiples URLs o textos en segundos sin riesgo de omitir ninguno.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4"/>
          <p:cNvSpPr/>
          <p:nvPr/>
        </p:nvSpPr>
        <p:spPr>
          <a:xfrm>
            <a:off x="5120640" y="3749040"/>
            <a:ext cx="3657600" cy="74980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4"/>
          <p:cNvSpPr/>
          <p:nvPr/>
        </p:nvSpPr>
        <p:spPr>
          <a:xfrm>
            <a:off x="5120640" y="3749040"/>
            <a:ext cx="73152" cy="749808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4"/>
          <p:cNvSpPr/>
          <p:nvPr/>
        </p:nvSpPr>
        <p:spPr>
          <a:xfrm>
            <a:off x="5257800" y="38221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👁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4"/>
          <p:cNvSpPr/>
          <p:nvPr/>
        </p:nvSpPr>
        <p:spPr>
          <a:xfrm>
            <a:off x="5760720" y="380390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00"/>
              <a:buFont typeface="Trebuchet MS"/>
              <a:buNone/>
            </a:pPr>
            <a:r>
              <a:rPr b="1" i="0" lang="es" sz="1100" u="none" cap="none" strike="noStrike">
                <a:solidFill>
                  <a:srgbClr val="263980"/>
                </a:solidFill>
                <a:latin typeface="Trebuchet MS"/>
                <a:ea typeface="Trebuchet MS"/>
                <a:cs typeface="Trebuchet MS"/>
                <a:sym typeface="Trebuchet MS"/>
              </a:rPr>
              <a:t>Live Server (extensión)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4"/>
          <p:cNvSpPr/>
          <p:nvPr/>
        </p:nvSpPr>
        <p:spPr>
          <a:xfrm>
            <a:off x="5760720" y="4096512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Previsualiza el HTML en el navegador en tiempo real mientras editas.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Eduardo Acevedo · Sunname Technologies · Curso Email Marketing MiBebéyYo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5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 Black"/>
              <a:buNone/>
            </a:pPr>
            <a:r>
              <a:rPr b="1" i="0" lang="es" sz="2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HTML y CSS: El Esqueleto y la Ropa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5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5"/>
          <p:cNvSpPr/>
          <p:nvPr/>
        </p:nvSpPr>
        <p:spPr>
          <a:xfrm>
            <a:off x="6858000" y="45720"/>
            <a:ext cx="2011680" cy="2743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5"/>
          <p:cNvSpPr/>
          <p:nvPr/>
        </p:nvSpPr>
        <p:spPr>
          <a:xfrm>
            <a:off x="6858000" y="457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1A56"/>
              </a:buClr>
              <a:buSzPts val="900"/>
              <a:buFont typeface="Calibri"/>
              <a:buNone/>
            </a:pPr>
            <a:r>
              <a:rPr b="1" i="0" lang="es" sz="900" u="none" cap="none" strike="noStrike">
                <a:solidFill>
                  <a:srgbClr val="2C1A56"/>
                </a:solidFill>
                <a:latin typeface="Calibri"/>
                <a:ea typeface="Calibri"/>
                <a:cs typeface="Calibri"/>
                <a:sym typeface="Calibri"/>
              </a:rPr>
              <a:t>MÓDULO 02 · HTML &amp; CSS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5"/>
          <p:cNvSpPr/>
          <p:nvPr/>
        </p:nvSpPr>
        <p:spPr>
          <a:xfrm>
            <a:off x="274320" y="1005840"/>
            <a:ext cx="4114800" cy="379476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5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5"/>
          <p:cNvSpPr/>
          <p:nvPr/>
        </p:nvSpPr>
        <p:spPr>
          <a:xfrm>
            <a:off x="365760" y="100584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Trebuchet MS"/>
              <a:buNone/>
            </a:pPr>
            <a:r>
              <a:rPr b="1" i="0" lang="es" sz="1300" u="none" cap="none" strike="noStrike">
                <a:solidFill>
                  <a:srgbClr val="263980"/>
                </a:solidFill>
                <a:latin typeface="Trebuchet MS"/>
                <a:ea typeface="Trebuchet MS"/>
                <a:cs typeface="Trebuchet MS"/>
                <a:sym typeface="Trebuchet MS"/>
              </a:rPr>
              <a:t>🦴  HTML — El Esqueleto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5"/>
          <p:cNvSpPr/>
          <p:nvPr/>
        </p:nvSpPr>
        <p:spPr>
          <a:xfrm>
            <a:off x="411480" y="1508760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Define la ESTRUCTURA del correo: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dónde va el título, la imagen y el botón.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5"/>
          <p:cNvSpPr/>
          <p:nvPr/>
        </p:nvSpPr>
        <p:spPr>
          <a:xfrm>
            <a:off x="365760" y="2212848"/>
            <a:ext cx="3749040" cy="502920"/>
          </a:xfrm>
          <a:prstGeom prst="rect">
            <a:avLst/>
          </a:prstGeom>
          <a:solidFill>
            <a:srgbClr val="1D2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5"/>
          <p:cNvSpPr/>
          <p:nvPr/>
        </p:nvSpPr>
        <p:spPr>
          <a:xfrm>
            <a:off x="457200" y="2249424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850"/>
              <a:buFont typeface="Consolas"/>
              <a:buNone/>
            </a:pPr>
            <a:r>
              <a:rPr b="0" i="0" lang="es" sz="85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&lt;p&gt;...&lt;/p&gt;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5"/>
          <p:cNvSpPr/>
          <p:nvPr/>
        </p:nvSpPr>
        <p:spPr>
          <a:xfrm>
            <a:off x="2331720" y="2249424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Párrafos de texto y titulares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5"/>
          <p:cNvSpPr/>
          <p:nvPr/>
        </p:nvSpPr>
        <p:spPr>
          <a:xfrm>
            <a:off x="365760" y="2807208"/>
            <a:ext cx="3749040" cy="502920"/>
          </a:xfrm>
          <a:prstGeom prst="rect">
            <a:avLst/>
          </a:prstGeom>
          <a:solidFill>
            <a:srgbClr val="243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5"/>
          <p:cNvSpPr/>
          <p:nvPr/>
        </p:nvSpPr>
        <p:spPr>
          <a:xfrm>
            <a:off x="457200" y="2843784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850"/>
              <a:buFont typeface="Consolas"/>
              <a:buNone/>
            </a:pPr>
            <a:r>
              <a:rPr b="0" i="0" lang="es" sz="85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&lt;a href="..."&gt;...&lt;/a&gt;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5"/>
          <p:cNvSpPr/>
          <p:nvPr/>
        </p:nvSpPr>
        <p:spPr>
          <a:xfrm>
            <a:off x="2331720" y="2843784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Botones y enlaces a artículos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5"/>
          <p:cNvSpPr/>
          <p:nvPr/>
        </p:nvSpPr>
        <p:spPr>
          <a:xfrm>
            <a:off x="365760" y="3401568"/>
            <a:ext cx="3749040" cy="502920"/>
          </a:xfrm>
          <a:prstGeom prst="rect">
            <a:avLst/>
          </a:prstGeom>
          <a:solidFill>
            <a:srgbClr val="1D2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5"/>
          <p:cNvSpPr/>
          <p:nvPr/>
        </p:nvSpPr>
        <p:spPr>
          <a:xfrm>
            <a:off x="457200" y="3438144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850"/>
              <a:buFont typeface="Consolas"/>
              <a:buNone/>
            </a:pPr>
            <a:r>
              <a:rPr b="0" i="0" lang="es" sz="85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&lt;img src="..." alt="..."&gt;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5"/>
          <p:cNvSpPr/>
          <p:nvPr/>
        </p:nvSpPr>
        <p:spPr>
          <a:xfrm>
            <a:off x="2331720" y="3438144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Banners y fotos del contenido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5"/>
          <p:cNvSpPr/>
          <p:nvPr/>
        </p:nvSpPr>
        <p:spPr>
          <a:xfrm>
            <a:off x="365760" y="3995928"/>
            <a:ext cx="3749040" cy="502920"/>
          </a:xfrm>
          <a:prstGeom prst="rect">
            <a:avLst/>
          </a:prstGeom>
          <a:solidFill>
            <a:srgbClr val="243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5"/>
          <p:cNvSpPr/>
          <p:nvPr/>
        </p:nvSpPr>
        <p:spPr>
          <a:xfrm>
            <a:off x="457200" y="4032504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850"/>
              <a:buFont typeface="Consolas"/>
              <a:buNone/>
            </a:pPr>
            <a:r>
              <a:rPr b="0" i="0" lang="es" sz="85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&lt;td&gt;...&lt;/td&gt;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5"/>
          <p:cNvSpPr/>
          <p:nvPr/>
        </p:nvSpPr>
        <p:spPr>
          <a:xfrm>
            <a:off x="2331720" y="4032504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Celdas de la tabla del correo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5"/>
          <p:cNvSpPr/>
          <p:nvPr/>
        </p:nvSpPr>
        <p:spPr>
          <a:xfrm>
            <a:off x="4754880" y="1005840"/>
            <a:ext cx="4114800" cy="379476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5"/>
          <p:cNvSpPr/>
          <p:nvPr/>
        </p:nvSpPr>
        <p:spPr>
          <a:xfrm>
            <a:off x="4754880" y="1005840"/>
            <a:ext cx="4114800" cy="41148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5"/>
          <p:cNvSpPr/>
          <p:nvPr/>
        </p:nvSpPr>
        <p:spPr>
          <a:xfrm>
            <a:off x="4846320" y="100584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👗  CSS — La Ropa y el Maquillaje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5"/>
          <p:cNvSpPr/>
          <p:nvPr/>
        </p:nvSpPr>
        <p:spPr>
          <a:xfrm>
            <a:off x="4846320" y="1508760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D0F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E0D0F0"/>
                </a:solidFill>
                <a:latin typeface="Calibri"/>
                <a:ea typeface="Calibri"/>
                <a:cs typeface="Calibri"/>
                <a:sym typeface="Calibri"/>
              </a:rPr>
              <a:t>Define el ASPECTO VISUAL: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D0F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E0D0F0"/>
                </a:solidFill>
                <a:latin typeface="Calibri"/>
                <a:ea typeface="Calibri"/>
                <a:cs typeface="Calibri"/>
                <a:sym typeface="Calibri"/>
              </a:rPr>
              <a:t>colores, tipografías, tamaños y espaciados.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5"/>
          <p:cNvSpPr/>
          <p:nvPr/>
        </p:nvSpPr>
        <p:spPr>
          <a:xfrm>
            <a:off x="4846320" y="2212848"/>
            <a:ext cx="3749040" cy="502920"/>
          </a:xfrm>
          <a:prstGeom prst="rect">
            <a:avLst/>
          </a:prstGeom>
          <a:solidFill>
            <a:srgbClr val="6A44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5"/>
          <p:cNvSpPr/>
          <p:nvPr/>
        </p:nvSpPr>
        <p:spPr>
          <a:xfrm>
            <a:off x="4892040" y="2249424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5"/>
          <p:cNvSpPr/>
          <p:nvPr/>
        </p:nvSpPr>
        <p:spPr>
          <a:xfrm>
            <a:off x="5303520" y="2249424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Define los tonos rosas, azules y pasteles de la marca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5"/>
          <p:cNvSpPr/>
          <p:nvPr/>
        </p:nvSpPr>
        <p:spPr>
          <a:xfrm>
            <a:off x="4846320" y="2807208"/>
            <a:ext cx="3749040" cy="502920"/>
          </a:xfrm>
          <a:prstGeom prst="rect">
            <a:avLst/>
          </a:prstGeom>
          <a:solidFill>
            <a:srgbClr val="7252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5"/>
          <p:cNvSpPr/>
          <p:nvPr/>
        </p:nvSpPr>
        <p:spPr>
          <a:xfrm>
            <a:off x="4892040" y="2843784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5"/>
          <p:cNvSpPr/>
          <p:nvPr/>
        </p:nvSpPr>
        <p:spPr>
          <a:xfrm>
            <a:off x="5303520" y="2843784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Controla la tipografía y tamaño de botones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5"/>
          <p:cNvSpPr/>
          <p:nvPr/>
        </p:nvSpPr>
        <p:spPr>
          <a:xfrm>
            <a:off x="4846320" y="3401568"/>
            <a:ext cx="3749040" cy="502920"/>
          </a:xfrm>
          <a:prstGeom prst="rect">
            <a:avLst/>
          </a:prstGeom>
          <a:solidFill>
            <a:srgbClr val="6A44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5"/>
          <p:cNvSpPr/>
          <p:nvPr/>
        </p:nvSpPr>
        <p:spPr>
          <a:xfrm>
            <a:off x="4892040" y="3438144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5"/>
          <p:cNvSpPr/>
          <p:nvPr/>
        </p:nvSpPr>
        <p:spPr>
          <a:xfrm>
            <a:off x="5303520" y="3438144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Maneja los espaciados entre secciones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5"/>
          <p:cNvSpPr/>
          <p:nvPr/>
        </p:nvSpPr>
        <p:spPr>
          <a:xfrm>
            <a:off x="4846320" y="3995928"/>
            <a:ext cx="3749040" cy="502920"/>
          </a:xfrm>
          <a:prstGeom prst="rect">
            <a:avLst/>
          </a:prstGeom>
          <a:solidFill>
            <a:srgbClr val="5C2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5"/>
          <p:cNvSpPr/>
          <p:nvPr/>
        </p:nvSpPr>
        <p:spPr>
          <a:xfrm>
            <a:off x="4892040" y="4032504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5"/>
          <p:cNvSpPr/>
          <p:nvPr/>
        </p:nvSpPr>
        <p:spPr>
          <a:xfrm>
            <a:off x="5303520" y="4032504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950"/>
              <a:buFont typeface="Calibri"/>
              <a:buNone/>
            </a:pPr>
            <a:r>
              <a:rPr b="1" i="0" lang="es" sz="950" u="none" cap="none" strike="noStrik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⚠️ NO modificar sin instrucción específica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Eduardo Acevedo · Sunname Technologies · Curso Email Marketing MiBebéyYo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6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400"/>
              <a:buFont typeface="Arial Black"/>
              <a:buNone/>
            </a:pPr>
            <a:r>
              <a:rPr b="1" i="0" lang="es" sz="2400" u="none" cap="none" strike="noStrike">
                <a:solidFill>
                  <a:srgbClr val="263980"/>
                </a:solidFill>
                <a:latin typeface="Arial Black"/>
                <a:ea typeface="Arial Black"/>
                <a:cs typeface="Arial Black"/>
                <a:sym typeface="Arial Black"/>
              </a:rPr>
              <a:t>📱  Diseño Responsive: Primero el Móvil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6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6"/>
          <p:cNvSpPr/>
          <p:nvPr/>
        </p:nvSpPr>
        <p:spPr>
          <a:xfrm>
            <a:off x="6858000" y="45720"/>
            <a:ext cx="2011680" cy="2743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6"/>
          <p:cNvSpPr/>
          <p:nvPr/>
        </p:nvSpPr>
        <p:spPr>
          <a:xfrm>
            <a:off x="6858000" y="457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1A56"/>
              </a:buClr>
              <a:buSzPts val="900"/>
              <a:buFont typeface="Calibri"/>
              <a:buNone/>
            </a:pPr>
            <a:r>
              <a:rPr b="1" i="0" lang="es" sz="900" u="none" cap="none" strike="noStrike">
                <a:solidFill>
                  <a:srgbClr val="2C1A56"/>
                </a:solidFill>
                <a:latin typeface="Calibri"/>
                <a:ea typeface="Calibri"/>
                <a:cs typeface="Calibri"/>
                <a:sym typeface="Calibri"/>
              </a:rPr>
              <a:t>MÓDULO 02 · RESPONSIVE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6"/>
          <p:cNvSpPr/>
          <p:nvPr/>
        </p:nvSpPr>
        <p:spPr>
          <a:xfrm>
            <a:off x="274320" y="1005840"/>
            <a:ext cx="2743200" cy="228600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6"/>
          <p:cNvSpPr/>
          <p:nvPr/>
        </p:nvSpPr>
        <p:spPr>
          <a:xfrm>
            <a:off x="274320" y="1188720"/>
            <a:ext cx="2743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4600"/>
              <a:buFont typeface="Arial Black"/>
              <a:buNone/>
            </a:pPr>
            <a:r>
              <a:rPr b="1" i="0" lang="es" sz="4600" u="none" cap="none" strike="noStrike">
                <a:solidFill>
                  <a:srgbClr val="46C2CE"/>
                </a:solidFill>
                <a:latin typeface="Arial Black"/>
                <a:ea typeface="Arial Black"/>
                <a:cs typeface="Arial Black"/>
                <a:sym typeface="Arial Black"/>
              </a:rPr>
              <a:t>80-90%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6"/>
          <p:cNvSpPr/>
          <p:nvPr/>
        </p:nvSpPr>
        <p:spPr>
          <a:xfrm>
            <a:off x="274320" y="237744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nuestras lectoras abre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los correos en su celular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6"/>
          <p:cNvSpPr/>
          <p:nvPr/>
        </p:nvSpPr>
        <p:spPr>
          <a:xfrm>
            <a:off x="274320" y="3429000"/>
            <a:ext cx="2743200" cy="1097280"/>
          </a:xfrm>
          <a:prstGeom prst="rect">
            <a:avLst/>
          </a:prstGeom>
          <a:solidFill>
            <a:srgbClr val="EA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6"/>
          <p:cNvSpPr/>
          <p:nvPr/>
        </p:nvSpPr>
        <p:spPr>
          <a:xfrm>
            <a:off x="365760" y="35204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000"/>
              <a:buFont typeface="Calibri"/>
              <a:buNone/>
            </a:pPr>
            <a:r>
              <a:rPr b="0" i="0" lang="es" sz="1000" u="none" cap="none" strike="noStrik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🤱 Mientras dan pecho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6"/>
          <p:cNvSpPr/>
          <p:nvPr/>
        </p:nvSpPr>
        <p:spPr>
          <a:xfrm>
            <a:off x="365760" y="382219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000"/>
              <a:buFont typeface="Calibri"/>
              <a:buNone/>
            </a:pPr>
            <a:r>
              <a:rPr b="0" i="0" lang="es" sz="1000" u="none" cap="none" strike="noStrik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👩‍⚕️ En la sala del pediatra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6"/>
          <p:cNvSpPr/>
          <p:nvPr/>
        </p:nvSpPr>
        <p:spPr>
          <a:xfrm>
            <a:off x="365760" y="412394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000"/>
              <a:buFont typeface="Calibri"/>
              <a:buNone/>
            </a:pPr>
            <a:r>
              <a:rPr b="0" i="0" lang="es" sz="1000" u="none" cap="none" strike="noStrik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🌙 En las madrugadas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6"/>
          <p:cNvSpPr/>
          <p:nvPr/>
        </p:nvSpPr>
        <p:spPr>
          <a:xfrm>
            <a:off x="3291840" y="1005840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400"/>
              <a:buFont typeface="Trebuchet MS"/>
              <a:buNone/>
            </a:pPr>
            <a:r>
              <a:rPr b="1" i="0" lang="es" sz="1400" u="none" cap="none" strike="noStrike">
                <a:solidFill>
                  <a:srgbClr val="263980"/>
                </a:solidFill>
                <a:latin typeface="Trebuchet MS"/>
                <a:ea typeface="Trebuchet MS"/>
                <a:cs typeface="Trebuchet MS"/>
                <a:sym typeface="Trebuchet MS"/>
              </a:rPr>
              <a:t>Lista de Verificación Responsive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6"/>
          <p:cNvSpPr/>
          <p:nvPr/>
        </p:nvSpPr>
        <p:spPr>
          <a:xfrm>
            <a:off x="3291840" y="1463040"/>
            <a:ext cx="5486400" cy="40233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6"/>
          <p:cNvSpPr/>
          <p:nvPr/>
        </p:nvSpPr>
        <p:spPr>
          <a:xfrm>
            <a:off x="3337560" y="150876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6"/>
          <p:cNvSpPr/>
          <p:nvPr/>
        </p:nvSpPr>
        <p:spPr>
          <a:xfrm>
            <a:off x="3749040" y="150876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Banner principal no se corta en pantallas pequeñas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6"/>
          <p:cNvSpPr/>
          <p:nvPr/>
        </p:nvSpPr>
        <p:spPr>
          <a:xfrm>
            <a:off x="3291840" y="1938528"/>
            <a:ext cx="5486400" cy="402336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6"/>
          <p:cNvSpPr/>
          <p:nvPr/>
        </p:nvSpPr>
        <p:spPr>
          <a:xfrm>
            <a:off x="3337560" y="1984248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6"/>
          <p:cNvSpPr/>
          <p:nvPr/>
        </p:nvSpPr>
        <p:spPr>
          <a:xfrm>
            <a:off x="3749040" y="1984248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Botones CTA grandes y fáciles de tocar con el dedo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6"/>
          <p:cNvSpPr/>
          <p:nvPr/>
        </p:nvSpPr>
        <p:spPr>
          <a:xfrm>
            <a:off x="3291840" y="2414016"/>
            <a:ext cx="5486400" cy="40233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6"/>
          <p:cNvSpPr/>
          <p:nvPr/>
        </p:nvSpPr>
        <p:spPr>
          <a:xfrm>
            <a:off x="3337560" y="2459736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6"/>
          <p:cNvSpPr/>
          <p:nvPr/>
        </p:nvSpPr>
        <p:spPr>
          <a:xfrm>
            <a:off x="3749040" y="2459736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Imágenes configuradas como responsivas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6"/>
          <p:cNvSpPr/>
          <p:nvPr/>
        </p:nvSpPr>
        <p:spPr>
          <a:xfrm>
            <a:off x="3291840" y="2889504"/>
            <a:ext cx="5486400" cy="402336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6"/>
          <p:cNvSpPr/>
          <p:nvPr/>
        </p:nvSpPr>
        <p:spPr>
          <a:xfrm>
            <a:off x="3337560" y="2935224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6"/>
          <p:cNvSpPr/>
          <p:nvPr/>
        </p:nvSpPr>
        <p:spPr>
          <a:xfrm>
            <a:off x="3749040" y="2935224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Textos legibles en pantalla de 5 pulgadas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6"/>
          <p:cNvSpPr/>
          <p:nvPr/>
        </p:nvSpPr>
        <p:spPr>
          <a:xfrm>
            <a:off x="3291840" y="3364992"/>
            <a:ext cx="5486400" cy="402336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6"/>
          <p:cNvSpPr/>
          <p:nvPr/>
        </p:nvSpPr>
        <p:spPr>
          <a:xfrm>
            <a:off x="3337560" y="3410712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4045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D64045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6"/>
          <p:cNvSpPr/>
          <p:nvPr/>
        </p:nvSpPr>
        <p:spPr>
          <a:xfrm>
            <a:off x="3749040" y="3410712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Texto cortado en los costados de la pantalla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6"/>
          <p:cNvSpPr/>
          <p:nvPr/>
        </p:nvSpPr>
        <p:spPr>
          <a:xfrm>
            <a:off x="3291840" y="3840480"/>
            <a:ext cx="5486400" cy="402336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6"/>
          <p:cNvSpPr/>
          <p:nvPr/>
        </p:nvSpPr>
        <p:spPr>
          <a:xfrm>
            <a:off x="3337560" y="388620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4045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D64045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6"/>
          <p:cNvSpPr/>
          <p:nvPr/>
        </p:nvSpPr>
        <p:spPr>
          <a:xfrm>
            <a:off x="3749040" y="388620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Imágenes gigantes que rompen el layout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6"/>
          <p:cNvSpPr/>
          <p:nvPr/>
        </p:nvSpPr>
        <p:spPr>
          <a:xfrm>
            <a:off x="3291840" y="4315968"/>
            <a:ext cx="5486400" cy="402336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6"/>
          <p:cNvSpPr/>
          <p:nvPr/>
        </p:nvSpPr>
        <p:spPr>
          <a:xfrm>
            <a:off x="3337560" y="4361688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4045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D64045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6"/>
          <p:cNvSpPr/>
          <p:nvPr/>
        </p:nvSpPr>
        <p:spPr>
          <a:xfrm>
            <a:off x="3749040" y="4361688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Botones demasiado pequeños para tocar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6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Eduardo Acevedo · Sunname Technologies · Curso Email Marketing MiBebéyYo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6C2C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7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9E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7"/>
          <p:cNvSpPr/>
          <p:nvPr/>
        </p:nvSpPr>
        <p:spPr>
          <a:xfrm>
            <a:off x="0" y="3429000"/>
            <a:ext cx="9144000" cy="9144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7"/>
          <p:cNvSpPr/>
          <p:nvPr/>
        </p:nvSpPr>
        <p:spPr>
          <a:xfrm>
            <a:off x="5303520" y="91440"/>
            <a:ext cx="3657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B4C0"/>
              </a:buClr>
              <a:buSzPts val="18500"/>
              <a:buFont typeface="Arial Black"/>
              <a:buNone/>
            </a:pPr>
            <a:r>
              <a:rPr b="1" i="0" lang="es" sz="18500" u="none" cap="none" strike="noStrike">
                <a:solidFill>
                  <a:srgbClr val="3CB4C0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18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7"/>
          <p:cNvSpPr/>
          <p:nvPr/>
        </p:nvSpPr>
        <p:spPr>
          <a:xfrm>
            <a:off x="548640" y="457200"/>
            <a:ext cx="2560320" cy="292608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7"/>
          <p:cNvSpPr/>
          <p:nvPr/>
        </p:nvSpPr>
        <p:spPr>
          <a:xfrm>
            <a:off x="548640" y="457200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MÓDULO 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7"/>
          <p:cNvSpPr/>
          <p:nvPr/>
        </p:nvSpPr>
        <p:spPr>
          <a:xfrm>
            <a:off x="548640" y="960120"/>
            <a:ext cx="5303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3800"/>
              <a:buFont typeface="Arial Black"/>
              <a:buNone/>
            </a:pPr>
            <a:r>
              <a:rPr b="1" i="0" lang="es" sz="3800" u="none" cap="none" strike="noStrike">
                <a:solidFill>
                  <a:srgbClr val="263980"/>
                </a:solidFill>
                <a:latin typeface="Arial Black"/>
                <a:ea typeface="Arial Black"/>
                <a:cs typeface="Arial Black"/>
                <a:sym typeface="Arial Black"/>
              </a:rPr>
              <a:t>Edición Práctica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3800"/>
              <a:buFont typeface="Arial Black"/>
              <a:buNone/>
            </a:pPr>
            <a:r>
              <a:rPr b="1" i="0" lang="es" sz="3800" u="none" cap="none" strike="noStrike">
                <a:solidFill>
                  <a:srgbClr val="263980"/>
                </a:solidFill>
                <a:latin typeface="Arial Black"/>
                <a:ea typeface="Arial Black"/>
                <a:cs typeface="Arial Black"/>
                <a:sym typeface="Arial Black"/>
              </a:rPr>
              <a:t>de Plantillas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7"/>
          <p:cNvSpPr/>
          <p:nvPr/>
        </p:nvSpPr>
        <p:spPr>
          <a:xfrm>
            <a:off x="548640" y="274320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500"/>
              <a:buFont typeface="Trebuchet MS"/>
              <a:buNone/>
            </a:pPr>
            <a:r>
              <a:rPr b="0" i="1" lang="es" sz="1500" u="none" cap="none" strike="noStrike">
                <a:solidFill>
                  <a:srgbClr val="263980"/>
                </a:solidFill>
                <a:latin typeface="Trebuchet MS"/>
                <a:ea typeface="Trebuchet MS"/>
                <a:cs typeface="Trebuchet MS"/>
                <a:sym typeface="Trebuchet MS"/>
              </a:rPr>
              <a:t>Taller con computadora: textos, imágenes y enlaces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7"/>
          <p:cNvSpPr/>
          <p:nvPr/>
        </p:nvSpPr>
        <p:spPr>
          <a:xfrm>
            <a:off x="548640" y="3703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⏱  Duración: 4 horas · Módulo más importante del curso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8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400"/>
              <a:buFont typeface="Arial Black"/>
              <a:buNone/>
            </a:pPr>
            <a:r>
              <a:rPr b="1" i="0" lang="es" sz="2400" u="none" cap="none" strike="noStrike">
                <a:solidFill>
                  <a:srgbClr val="263980"/>
                </a:solidFill>
                <a:latin typeface="Arial Black"/>
                <a:ea typeface="Arial Black"/>
                <a:cs typeface="Arial Black"/>
                <a:sym typeface="Arial Black"/>
              </a:rPr>
              <a:t>Flujo de Trabajo Semanal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8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8"/>
          <p:cNvSpPr/>
          <p:nvPr/>
        </p:nvSpPr>
        <p:spPr>
          <a:xfrm>
            <a:off x="6675120" y="45720"/>
            <a:ext cx="2011680" cy="2743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8"/>
          <p:cNvSpPr/>
          <p:nvPr/>
        </p:nvSpPr>
        <p:spPr>
          <a:xfrm>
            <a:off x="6675120" y="457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1A56"/>
              </a:buClr>
              <a:buSzPts val="900"/>
              <a:buFont typeface="Calibri"/>
              <a:buNone/>
            </a:pPr>
            <a:r>
              <a:rPr b="1" i="0" lang="es" sz="900" u="none" cap="none" strike="noStrike">
                <a:solidFill>
                  <a:srgbClr val="2C1A56"/>
                </a:solidFill>
                <a:latin typeface="Calibri"/>
                <a:ea typeface="Calibri"/>
                <a:cs typeface="Calibri"/>
                <a:sym typeface="Calibri"/>
              </a:rPr>
              <a:t>MÓDULO 03 · WORKFLOW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8"/>
          <p:cNvSpPr/>
          <p:nvPr/>
        </p:nvSpPr>
        <p:spPr>
          <a:xfrm>
            <a:off x="822960" y="2633472"/>
            <a:ext cx="7498080" cy="54864"/>
          </a:xfrm>
          <a:prstGeom prst="rect">
            <a:avLst/>
          </a:prstGeom>
          <a:solidFill>
            <a:srgbClr val="46C2CE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8"/>
          <p:cNvSpPr/>
          <p:nvPr/>
        </p:nvSpPr>
        <p:spPr>
          <a:xfrm>
            <a:off x="274320" y="1005840"/>
            <a:ext cx="1234440" cy="1508760"/>
          </a:xfrm>
          <a:prstGeom prst="rect">
            <a:avLst/>
          </a:prstGeom>
          <a:solidFill>
            <a:srgbClr val="263980"/>
          </a:solidFill>
          <a:ln>
            <a:noFill/>
          </a:ln>
          <a:effectLst>
            <a:outerShdw blurRad="1016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8"/>
          <p:cNvSpPr/>
          <p:nvPr/>
        </p:nvSpPr>
        <p:spPr>
          <a:xfrm>
            <a:off x="274320" y="1051560"/>
            <a:ext cx="1234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8"/>
          <p:cNvSpPr/>
          <p:nvPr/>
        </p:nvSpPr>
        <p:spPr>
          <a:xfrm>
            <a:off x="731520" y="239572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8"/>
          <p:cNvSpPr/>
          <p:nvPr/>
        </p:nvSpPr>
        <p:spPr>
          <a:xfrm>
            <a:off x="731520" y="2377440"/>
            <a:ext cx="320040" cy="320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8"/>
          <p:cNvSpPr/>
          <p:nvPr/>
        </p:nvSpPr>
        <p:spPr>
          <a:xfrm>
            <a:off x="731520" y="23774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00"/>
              <a:buFont typeface="Arial Black"/>
              <a:buNone/>
            </a:pPr>
            <a:r>
              <a:rPr b="1" i="0" lang="es" sz="1100" u="none" cap="none" strike="noStrike">
                <a:solidFill>
                  <a:srgbClr val="263980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8"/>
          <p:cNvSpPr/>
          <p:nvPr/>
        </p:nvSpPr>
        <p:spPr>
          <a:xfrm>
            <a:off x="320040" y="160020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Recibir Brief Semanal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8"/>
          <p:cNvSpPr/>
          <p:nvPr/>
        </p:nvSpPr>
        <p:spPr>
          <a:xfrm>
            <a:off x="320040" y="2880360"/>
            <a:ext cx="1234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Artículos, URLs en mibebeyyo.mx e imágenes del equipo editorial.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8"/>
          <p:cNvSpPr/>
          <p:nvPr/>
        </p:nvSpPr>
        <p:spPr>
          <a:xfrm>
            <a:off x="1719072" y="1005840"/>
            <a:ext cx="1234440" cy="1508760"/>
          </a:xfrm>
          <a:prstGeom prst="rect">
            <a:avLst/>
          </a:prstGeom>
          <a:solidFill>
            <a:srgbClr val="263980"/>
          </a:solidFill>
          <a:ln>
            <a:noFill/>
          </a:ln>
          <a:effectLst>
            <a:outerShdw blurRad="1016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8"/>
          <p:cNvSpPr/>
          <p:nvPr/>
        </p:nvSpPr>
        <p:spPr>
          <a:xfrm>
            <a:off x="1719072" y="1051560"/>
            <a:ext cx="1234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📁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8"/>
          <p:cNvSpPr/>
          <p:nvPr/>
        </p:nvSpPr>
        <p:spPr>
          <a:xfrm>
            <a:off x="2176272" y="239572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8"/>
          <p:cNvSpPr/>
          <p:nvPr/>
        </p:nvSpPr>
        <p:spPr>
          <a:xfrm>
            <a:off x="2176272" y="2377440"/>
            <a:ext cx="320040" cy="320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8"/>
          <p:cNvSpPr/>
          <p:nvPr/>
        </p:nvSpPr>
        <p:spPr>
          <a:xfrm>
            <a:off x="2176272" y="23774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00"/>
              <a:buFont typeface="Arial Black"/>
              <a:buNone/>
            </a:pPr>
            <a:r>
              <a:rPr b="1" i="0" lang="es" sz="1100" u="none" cap="none" strike="noStrike">
                <a:solidFill>
                  <a:srgbClr val="263980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8"/>
          <p:cNvSpPr/>
          <p:nvPr/>
        </p:nvSpPr>
        <p:spPr>
          <a:xfrm>
            <a:off x="1764792" y="160020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Duplicar Plantilla Base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8"/>
          <p:cNvSpPr/>
          <p:nvPr/>
        </p:nvSpPr>
        <p:spPr>
          <a:xfrm>
            <a:off x="1764792" y="2880360"/>
            <a:ext cx="1234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NUNCA editar el original. Renombrar: newsletter-semana-12-2025.html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8"/>
          <p:cNvSpPr/>
          <p:nvPr/>
        </p:nvSpPr>
        <p:spPr>
          <a:xfrm>
            <a:off x="3163824" y="1005840"/>
            <a:ext cx="1234440" cy="1508760"/>
          </a:xfrm>
          <a:prstGeom prst="rect">
            <a:avLst/>
          </a:prstGeom>
          <a:solidFill>
            <a:srgbClr val="263980"/>
          </a:solidFill>
          <a:ln>
            <a:noFill/>
          </a:ln>
          <a:effectLst>
            <a:outerShdw blurRad="1016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8"/>
          <p:cNvSpPr/>
          <p:nvPr/>
        </p:nvSpPr>
        <p:spPr>
          <a:xfrm>
            <a:off x="3163824" y="1051560"/>
            <a:ext cx="1234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💻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8"/>
          <p:cNvSpPr/>
          <p:nvPr/>
        </p:nvSpPr>
        <p:spPr>
          <a:xfrm>
            <a:off x="3621024" y="239572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8"/>
          <p:cNvSpPr/>
          <p:nvPr/>
        </p:nvSpPr>
        <p:spPr>
          <a:xfrm>
            <a:off x="3621024" y="2377440"/>
            <a:ext cx="320040" cy="320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8"/>
          <p:cNvSpPr/>
          <p:nvPr/>
        </p:nvSpPr>
        <p:spPr>
          <a:xfrm>
            <a:off x="3621024" y="23774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00"/>
              <a:buFont typeface="Arial Black"/>
              <a:buNone/>
            </a:pPr>
            <a:r>
              <a:rPr b="1" i="0" lang="es" sz="1100" u="none" cap="none" strike="noStrike">
                <a:solidFill>
                  <a:srgbClr val="263980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8"/>
          <p:cNvSpPr/>
          <p:nvPr/>
        </p:nvSpPr>
        <p:spPr>
          <a:xfrm>
            <a:off x="3209544" y="160020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Abrir en VSC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8"/>
          <p:cNvSpPr/>
          <p:nvPr/>
        </p:nvSpPr>
        <p:spPr>
          <a:xfrm>
            <a:off x="3209544" y="2880360"/>
            <a:ext cx="1234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Abrir la copia en Visual Studio Code para ver el código.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8"/>
          <p:cNvSpPr/>
          <p:nvPr/>
        </p:nvSpPr>
        <p:spPr>
          <a:xfrm>
            <a:off x="4608576" y="1005840"/>
            <a:ext cx="1234440" cy="1508760"/>
          </a:xfrm>
          <a:prstGeom prst="rect">
            <a:avLst/>
          </a:prstGeom>
          <a:solidFill>
            <a:srgbClr val="2C1A56"/>
          </a:solidFill>
          <a:ln>
            <a:noFill/>
          </a:ln>
          <a:effectLst>
            <a:outerShdw blurRad="1016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8"/>
          <p:cNvSpPr/>
          <p:nvPr/>
        </p:nvSpPr>
        <p:spPr>
          <a:xfrm>
            <a:off x="4608576" y="1051560"/>
            <a:ext cx="1234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✏️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8"/>
          <p:cNvSpPr/>
          <p:nvPr/>
        </p:nvSpPr>
        <p:spPr>
          <a:xfrm>
            <a:off x="5065776" y="239572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8"/>
          <p:cNvSpPr/>
          <p:nvPr/>
        </p:nvSpPr>
        <p:spPr>
          <a:xfrm>
            <a:off x="5065776" y="2377440"/>
            <a:ext cx="320040" cy="320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8"/>
          <p:cNvSpPr/>
          <p:nvPr/>
        </p:nvSpPr>
        <p:spPr>
          <a:xfrm>
            <a:off x="5065776" y="23774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00"/>
              <a:buFont typeface="Arial Black"/>
              <a:buNone/>
            </a:pPr>
            <a:r>
              <a:rPr b="1" i="0" lang="es" sz="1100" u="none" cap="none" strike="noStrike">
                <a:solidFill>
                  <a:srgbClr val="263980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8"/>
          <p:cNvSpPr/>
          <p:nvPr/>
        </p:nvSpPr>
        <p:spPr>
          <a:xfrm>
            <a:off x="4654296" y="160020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Editar HTML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8"/>
          <p:cNvSpPr/>
          <p:nvPr/>
        </p:nvSpPr>
        <p:spPr>
          <a:xfrm>
            <a:off x="4654296" y="2880360"/>
            <a:ext cx="1234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Cambiar enlaces, textos e imágenes según este módulo.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8"/>
          <p:cNvSpPr/>
          <p:nvPr/>
        </p:nvSpPr>
        <p:spPr>
          <a:xfrm>
            <a:off x="6053328" y="1005840"/>
            <a:ext cx="1234440" cy="1508760"/>
          </a:xfrm>
          <a:prstGeom prst="rect">
            <a:avLst/>
          </a:prstGeom>
          <a:solidFill>
            <a:srgbClr val="2C1A56"/>
          </a:solidFill>
          <a:ln>
            <a:noFill/>
          </a:ln>
          <a:effectLst>
            <a:outerShdw blurRad="1016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8"/>
          <p:cNvSpPr/>
          <p:nvPr/>
        </p:nvSpPr>
        <p:spPr>
          <a:xfrm>
            <a:off x="6053328" y="1051560"/>
            <a:ext cx="1234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8"/>
          <p:cNvSpPr/>
          <p:nvPr/>
        </p:nvSpPr>
        <p:spPr>
          <a:xfrm>
            <a:off x="6510528" y="239572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8"/>
          <p:cNvSpPr/>
          <p:nvPr/>
        </p:nvSpPr>
        <p:spPr>
          <a:xfrm>
            <a:off x="6510528" y="2377440"/>
            <a:ext cx="320040" cy="320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8"/>
          <p:cNvSpPr/>
          <p:nvPr/>
        </p:nvSpPr>
        <p:spPr>
          <a:xfrm>
            <a:off x="6510528" y="23774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00"/>
              <a:buFont typeface="Arial Black"/>
              <a:buNone/>
            </a:pPr>
            <a:r>
              <a:rPr b="1" i="0" lang="es" sz="1100" u="none" cap="none" strike="noStrike">
                <a:solidFill>
                  <a:srgbClr val="263980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8"/>
          <p:cNvSpPr/>
          <p:nvPr/>
        </p:nvSpPr>
        <p:spPr>
          <a:xfrm>
            <a:off x="6099048" y="160020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Previsualizar en Chrome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8"/>
          <p:cNvSpPr/>
          <p:nvPr/>
        </p:nvSpPr>
        <p:spPr>
          <a:xfrm>
            <a:off x="6099048" y="2880360"/>
            <a:ext cx="1234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Guardar (Ctrl+S) y abrir en Chrome. Verificar desktop y móvil.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8"/>
          <p:cNvSpPr/>
          <p:nvPr/>
        </p:nvSpPr>
        <p:spPr>
          <a:xfrm>
            <a:off x="7498080" y="1005840"/>
            <a:ext cx="1234440" cy="1508760"/>
          </a:xfrm>
          <a:prstGeom prst="rect">
            <a:avLst/>
          </a:prstGeom>
          <a:solidFill>
            <a:srgbClr val="2C1A56"/>
          </a:solidFill>
          <a:ln>
            <a:noFill/>
          </a:ln>
          <a:effectLst>
            <a:outerShdw blurRad="1016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8"/>
          <p:cNvSpPr/>
          <p:nvPr/>
        </p:nvSpPr>
        <p:spPr>
          <a:xfrm>
            <a:off x="7498080" y="1051560"/>
            <a:ext cx="1234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8"/>
          <p:cNvSpPr/>
          <p:nvPr/>
        </p:nvSpPr>
        <p:spPr>
          <a:xfrm>
            <a:off x="7955280" y="239572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8"/>
          <p:cNvSpPr/>
          <p:nvPr/>
        </p:nvSpPr>
        <p:spPr>
          <a:xfrm>
            <a:off x="7955280" y="2377440"/>
            <a:ext cx="320040" cy="320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8"/>
          <p:cNvSpPr/>
          <p:nvPr/>
        </p:nvSpPr>
        <p:spPr>
          <a:xfrm>
            <a:off x="7955280" y="23774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00"/>
              <a:buFont typeface="Arial Black"/>
              <a:buNone/>
            </a:pPr>
            <a:r>
              <a:rPr b="1" i="0" lang="es" sz="1100" u="none" cap="none" strike="noStrike">
                <a:solidFill>
                  <a:srgbClr val="263980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8"/>
          <p:cNvSpPr/>
          <p:nvPr/>
        </p:nvSpPr>
        <p:spPr>
          <a:xfrm>
            <a:off x="7543800" y="160020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Subir a Splio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8"/>
          <p:cNvSpPr/>
          <p:nvPr/>
        </p:nvSpPr>
        <p:spPr>
          <a:xfrm>
            <a:off x="7543800" y="2880360"/>
            <a:ext cx="1234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Copiar el código HTML limpio y configurar la campaña.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8"/>
          <p:cNvSpPr/>
          <p:nvPr/>
        </p:nvSpPr>
        <p:spPr>
          <a:xfrm>
            <a:off x="274320" y="4069080"/>
            <a:ext cx="8595360" cy="41148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8"/>
          <p:cNvSpPr/>
          <p:nvPr/>
        </p:nvSpPr>
        <p:spPr>
          <a:xfrm>
            <a:off x="274320" y="4069080"/>
            <a:ext cx="54864" cy="411480"/>
          </a:xfrm>
          <a:prstGeom prst="rect">
            <a:avLst/>
          </a:prstGeom>
          <a:solidFill>
            <a:srgbClr val="E08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8"/>
          <p:cNvSpPr/>
          <p:nvPr/>
        </p:nvSpPr>
        <p:spPr>
          <a:xfrm>
            <a:off x="457200" y="406908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⚠️  Regla de oro: SIEMPRE trabaja sobre una copia del archivo, nunca sobre el original.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Eduardo Acevedo · Sunname Technologies · Curso Email Marketing MiBebéyYo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9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1" i="0" lang="e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El Superpoder: Buscar y Reemplazar (Ctrl+H)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9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9"/>
          <p:cNvSpPr/>
          <p:nvPr/>
        </p:nvSpPr>
        <p:spPr>
          <a:xfrm>
            <a:off x="6858000" y="45720"/>
            <a:ext cx="2011680" cy="2743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9"/>
          <p:cNvSpPr/>
          <p:nvPr/>
        </p:nvSpPr>
        <p:spPr>
          <a:xfrm>
            <a:off x="6858000" y="457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1A56"/>
              </a:buClr>
              <a:buSzPts val="900"/>
              <a:buFont typeface="Calibri"/>
              <a:buNone/>
            </a:pPr>
            <a:r>
              <a:rPr b="1" i="0" lang="es" sz="900" u="none" cap="none" strike="noStrike">
                <a:solidFill>
                  <a:srgbClr val="2C1A56"/>
                </a:solidFill>
                <a:latin typeface="Calibri"/>
                <a:ea typeface="Calibri"/>
                <a:cs typeface="Calibri"/>
                <a:sym typeface="Calibri"/>
              </a:rPr>
              <a:t>MÓDULO 03 · TALLER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9"/>
          <p:cNvSpPr/>
          <p:nvPr/>
        </p:nvSpPr>
        <p:spPr>
          <a:xfrm>
            <a:off x="274320" y="960120"/>
            <a:ext cx="5029200" cy="320040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1524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9"/>
          <p:cNvSpPr/>
          <p:nvPr/>
        </p:nvSpPr>
        <p:spPr>
          <a:xfrm>
            <a:off x="274320" y="960120"/>
            <a:ext cx="5029200" cy="292608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9"/>
          <p:cNvSpPr/>
          <p:nvPr/>
        </p:nvSpPr>
        <p:spPr>
          <a:xfrm>
            <a:off x="365760" y="97840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50"/>
              <a:buFont typeface="Consolas"/>
              <a:buNone/>
            </a:pPr>
            <a:r>
              <a:rPr b="0" i="0" lang="es" sz="75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Buscar y Reemplazar  —  newsletter.html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9"/>
          <p:cNvSpPr/>
          <p:nvPr/>
        </p:nvSpPr>
        <p:spPr>
          <a:xfrm>
            <a:off x="457200" y="1371600"/>
            <a:ext cx="4663440" cy="41148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9"/>
          <p:cNvSpPr/>
          <p:nvPr/>
        </p:nvSpPr>
        <p:spPr>
          <a:xfrm>
            <a:off x="548640" y="1389888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1000"/>
              <a:buFont typeface="Consolas"/>
              <a:buNone/>
            </a:pPr>
            <a:r>
              <a:rPr b="0" i="0" lang="es" sz="10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Buscar:    /embarazo/trimestre-1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9"/>
          <p:cNvSpPr/>
          <p:nvPr/>
        </p:nvSpPr>
        <p:spPr>
          <a:xfrm>
            <a:off x="457200" y="1874520"/>
            <a:ext cx="4663440" cy="41148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9"/>
          <p:cNvSpPr/>
          <p:nvPr/>
        </p:nvSpPr>
        <p:spPr>
          <a:xfrm>
            <a:off x="548640" y="1892808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9B0"/>
              </a:buClr>
              <a:buSzPts val="1000"/>
              <a:buFont typeface="Consolas"/>
              <a:buNone/>
            </a:pPr>
            <a:r>
              <a:rPr b="0" i="0" lang="es" sz="10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Reemplazar: /bebes/nutricion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9"/>
          <p:cNvSpPr/>
          <p:nvPr/>
        </p:nvSpPr>
        <p:spPr>
          <a:xfrm>
            <a:off x="3200400" y="2423160"/>
            <a:ext cx="1828800" cy="347472"/>
          </a:xfrm>
          <a:prstGeom prst="rect">
            <a:avLst/>
          </a:prstGeom>
          <a:solidFill>
            <a:srgbClr val="0E63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9"/>
          <p:cNvSpPr/>
          <p:nvPr/>
        </p:nvSpPr>
        <p:spPr>
          <a:xfrm>
            <a:off x="3200400" y="242316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Reemplazar todos 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9"/>
          <p:cNvSpPr/>
          <p:nvPr/>
        </p:nvSpPr>
        <p:spPr>
          <a:xfrm>
            <a:off x="457200" y="2423160"/>
            <a:ext cx="2468880" cy="347472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9"/>
          <p:cNvSpPr/>
          <p:nvPr/>
        </p:nvSpPr>
        <p:spPr>
          <a:xfrm>
            <a:off x="502920" y="242316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00"/>
              <a:buFont typeface="Consolas"/>
              <a:buNone/>
            </a:pPr>
            <a:r>
              <a:rPr b="0" i="0" lang="es" sz="9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Reemplazar  (1 de 15)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9"/>
          <p:cNvSpPr/>
          <p:nvPr/>
        </p:nvSpPr>
        <p:spPr>
          <a:xfrm>
            <a:off x="457200" y="28803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900"/>
              <a:buFont typeface="Consolas"/>
              <a:buNone/>
            </a:pPr>
            <a:r>
              <a:rPr b="0" i="0" lang="es" sz="9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✅  15 ocurrencias reemplazadas exitosamente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9"/>
          <p:cNvSpPr/>
          <p:nvPr/>
        </p:nvSpPr>
        <p:spPr>
          <a:xfrm>
            <a:off x="457200" y="32918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000"/>
              <a:buFont typeface="Consolas"/>
              <a:buNone/>
            </a:pPr>
            <a:r>
              <a:rPr b="1" i="0" lang="es" sz="1000" u="none" cap="none" strike="noStrike">
                <a:solidFill>
                  <a:srgbClr val="46C2CE"/>
                </a:solidFill>
                <a:latin typeface="Consolas"/>
                <a:ea typeface="Consolas"/>
                <a:cs typeface="Consolas"/>
                <a:sym typeface="Consolas"/>
              </a:rPr>
              <a:t>Ctrl+Z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9"/>
          <p:cNvSpPr/>
          <p:nvPr/>
        </p:nvSpPr>
        <p:spPr>
          <a:xfrm>
            <a:off x="1417320" y="329184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para deshacer si algo sale mal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9"/>
          <p:cNvSpPr/>
          <p:nvPr/>
        </p:nvSpPr>
        <p:spPr>
          <a:xfrm>
            <a:off x="5532120" y="1024128"/>
            <a:ext cx="274320" cy="2743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9"/>
          <p:cNvSpPr/>
          <p:nvPr/>
        </p:nvSpPr>
        <p:spPr>
          <a:xfrm>
            <a:off x="5532120" y="102412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900"/>
              <a:buFont typeface="Arial Black"/>
              <a:buNone/>
            </a:pPr>
            <a:r>
              <a:rPr b="1" i="0" lang="es" sz="900" u="none" cap="none" strike="noStrike">
                <a:solidFill>
                  <a:srgbClr val="263980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9"/>
          <p:cNvSpPr/>
          <p:nvPr/>
        </p:nvSpPr>
        <p:spPr>
          <a:xfrm>
            <a:off x="5897880" y="102412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Presiona Ctrl+H para abrir el panel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9"/>
          <p:cNvSpPr/>
          <p:nvPr/>
        </p:nvSpPr>
        <p:spPr>
          <a:xfrm>
            <a:off x="5532120" y="1499616"/>
            <a:ext cx="274320" cy="2743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9"/>
          <p:cNvSpPr/>
          <p:nvPr/>
        </p:nvSpPr>
        <p:spPr>
          <a:xfrm>
            <a:off x="5532120" y="149961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900"/>
              <a:buFont typeface="Arial Black"/>
              <a:buNone/>
            </a:pPr>
            <a:r>
              <a:rPr b="1" i="0" lang="es" sz="900" u="none" cap="none" strike="noStrike">
                <a:solidFill>
                  <a:srgbClr val="263980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9"/>
          <p:cNvSpPr/>
          <p:nvPr/>
        </p:nvSpPr>
        <p:spPr>
          <a:xfrm>
            <a:off x="5897880" y="1499616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Escribe el texto a buscar (URL viejo)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9"/>
          <p:cNvSpPr/>
          <p:nvPr/>
        </p:nvSpPr>
        <p:spPr>
          <a:xfrm>
            <a:off x="5532120" y="1975104"/>
            <a:ext cx="274320" cy="2743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9"/>
          <p:cNvSpPr/>
          <p:nvPr/>
        </p:nvSpPr>
        <p:spPr>
          <a:xfrm>
            <a:off x="5532120" y="197510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900"/>
              <a:buFont typeface="Arial Black"/>
              <a:buNone/>
            </a:pPr>
            <a:r>
              <a:rPr b="1" i="0" lang="es" sz="900" u="none" cap="none" strike="noStrike">
                <a:solidFill>
                  <a:srgbClr val="263980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9"/>
          <p:cNvSpPr/>
          <p:nvPr/>
        </p:nvSpPr>
        <p:spPr>
          <a:xfrm>
            <a:off x="5897880" y="197510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Escribe el texto nuevo (URL nuevo)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9"/>
          <p:cNvSpPr/>
          <p:nvPr/>
        </p:nvSpPr>
        <p:spPr>
          <a:xfrm>
            <a:off x="5532120" y="2450592"/>
            <a:ext cx="274320" cy="2743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9"/>
          <p:cNvSpPr/>
          <p:nvPr/>
        </p:nvSpPr>
        <p:spPr>
          <a:xfrm>
            <a:off x="5532120" y="245059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900"/>
              <a:buFont typeface="Arial Black"/>
              <a:buNone/>
            </a:pPr>
            <a:r>
              <a:rPr b="1" i="0" lang="es" sz="900" u="none" cap="none" strike="noStrike">
                <a:solidFill>
                  <a:srgbClr val="263980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9"/>
          <p:cNvSpPr/>
          <p:nvPr/>
        </p:nvSpPr>
        <p:spPr>
          <a:xfrm>
            <a:off x="5897880" y="245059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Clic en «Reemplazar todos»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9"/>
          <p:cNvSpPr/>
          <p:nvPr/>
        </p:nvSpPr>
        <p:spPr>
          <a:xfrm>
            <a:off x="5532120" y="2926080"/>
            <a:ext cx="274320" cy="2743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9"/>
          <p:cNvSpPr/>
          <p:nvPr/>
        </p:nvSpPr>
        <p:spPr>
          <a:xfrm>
            <a:off x="5532120" y="29260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900"/>
              <a:buFont typeface="Arial Black"/>
              <a:buNone/>
            </a:pPr>
            <a:r>
              <a:rPr b="1" i="0" lang="es" sz="900" u="none" cap="none" strike="noStrike">
                <a:solidFill>
                  <a:srgbClr val="263980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9"/>
          <p:cNvSpPr/>
          <p:nvPr/>
        </p:nvSpPr>
        <p:spPr>
          <a:xfrm>
            <a:off x="5897880" y="292608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Verifica el cambio en el código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9"/>
          <p:cNvSpPr/>
          <p:nvPr/>
        </p:nvSpPr>
        <p:spPr>
          <a:xfrm>
            <a:off x="5532120" y="3401568"/>
            <a:ext cx="274320" cy="2743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9"/>
          <p:cNvSpPr/>
          <p:nvPr/>
        </p:nvSpPr>
        <p:spPr>
          <a:xfrm>
            <a:off x="5532120" y="340156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900"/>
              <a:buFont typeface="Arial Black"/>
              <a:buNone/>
            </a:pPr>
            <a:r>
              <a:rPr b="1" i="0" lang="es" sz="900" u="none" cap="none" strike="noStrike">
                <a:solidFill>
                  <a:srgbClr val="263980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9"/>
          <p:cNvSpPr/>
          <p:nvPr/>
        </p:nvSpPr>
        <p:spPr>
          <a:xfrm>
            <a:off x="5897880" y="340156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Guarda con Ctrl+S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9"/>
          <p:cNvSpPr/>
          <p:nvPr/>
        </p:nvSpPr>
        <p:spPr>
          <a:xfrm>
            <a:off x="5394960" y="3931920"/>
            <a:ext cx="3474720" cy="6858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9"/>
          <p:cNvSpPr/>
          <p:nvPr/>
        </p:nvSpPr>
        <p:spPr>
          <a:xfrm>
            <a:off x="5394960" y="3931920"/>
            <a:ext cx="54864" cy="685800"/>
          </a:xfrm>
          <a:prstGeom prst="rect">
            <a:avLst/>
          </a:prstGeom>
          <a:solidFill>
            <a:srgbClr val="E08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9"/>
          <p:cNvSpPr/>
          <p:nvPr/>
        </p:nvSpPr>
        <p:spPr>
          <a:xfrm>
            <a:off x="5532120" y="3959352"/>
            <a:ext cx="3291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⚠️  Usa términos de búsqueda suficientemente específicos para no reemplazar cosas incorrectas por accidente.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9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Eduardo Acevedo · Sunname Technologies · Curso Email Marketing MiBebéyYo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30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Edición de Textos e Imágenes en HTML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0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30"/>
          <p:cNvSpPr/>
          <p:nvPr/>
        </p:nvSpPr>
        <p:spPr>
          <a:xfrm>
            <a:off x="6858000" y="45720"/>
            <a:ext cx="2011680" cy="2743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30"/>
          <p:cNvSpPr/>
          <p:nvPr/>
        </p:nvSpPr>
        <p:spPr>
          <a:xfrm>
            <a:off x="6858000" y="457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1A56"/>
              </a:buClr>
              <a:buSzPts val="900"/>
              <a:buFont typeface="Calibri"/>
              <a:buNone/>
            </a:pPr>
            <a:r>
              <a:rPr b="1" i="0" lang="es" sz="900" u="none" cap="none" strike="noStrike">
                <a:solidFill>
                  <a:srgbClr val="2C1A56"/>
                </a:solidFill>
                <a:latin typeface="Calibri"/>
                <a:ea typeface="Calibri"/>
                <a:cs typeface="Calibri"/>
                <a:sym typeface="Calibri"/>
              </a:rPr>
              <a:t>MÓDULO 03 · EDICIÓN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0"/>
          <p:cNvSpPr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0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✏️  Editar Titulares y Extractos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0"/>
          <p:cNvSpPr/>
          <p:nvPr/>
        </p:nvSpPr>
        <p:spPr>
          <a:xfrm>
            <a:off x="274320" y="1463040"/>
            <a:ext cx="4114800" cy="7315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30"/>
          <p:cNvSpPr/>
          <p:nvPr/>
        </p:nvSpPr>
        <p:spPr>
          <a:xfrm>
            <a:off x="365760" y="150876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900"/>
              <a:buFont typeface="Calibri"/>
              <a:buNone/>
            </a:pPr>
            <a:r>
              <a:rPr b="1" i="0" lang="es" sz="9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✓  CORRECTO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0"/>
          <p:cNvSpPr/>
          <p:nvPr/>
        </p:nvSpPr>
        <p:spPr>
          <a:xfrm>
            <a:off x="365760" y="171907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900"/>
              <a:buFont typeface="Consolas"/>
              <a:buNone/>
            </a:pPr>
            <a:r>
              <a:rPr b="0" i="0" lang="es" sz="900" u="none" cap="none" strike="noStrike">
                <a:solidFill>
                  <a:srgbClr val="1A7A4A"/>
                </a:solidFill>
                <a:latin typeface="Consolas"/>
                <a:ea typeface="Consolas"/>
                <a:cs typeface="Consolas"/>
                <a:sym typeface="Consolas"/>
              </a:rPr>
              <a:t>&lt;p class="titular"&gt;Los mejores purés para tu bebé&lt;/p&gt;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0"/>
          <p:cNvSpPr/>
          <p:nvPr/>
        </p:nvSpPr>
        <p:spPr>
          <a:xfrm>
            <a:off x="274320" y="2286000"/>
            <a:ext cx="4114800" cy="7315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30"/>
          <p:cNvSpPr/>
          <p:nvPr/>
        </p:nvSpPr>
        <p:spPr>
          <a:xfrm>
            <a:off x="365760" y="233172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045"/>
              </a:buClr>
              <a:buSzPts val="900"/>
              <a:buFont typeface="Calibri"/>
              <a:buNone/>
            </a:pPr>
            <a:r>
              <a:rPr b="1" i="0" lang="es" sz="900" u="none" cap="none" strike="noStrike">
                <a:solidFill>
                  <a:srgbClr val="D64045"/>
                </a:solidFill>
                <a:latin typeface="Calibri"/>
                <a:ea typeface="Calibri"/>
                <a:cs typeface="Calibri"/>
                <a:sym typeface="Calibri"/>
              </a:rPr>
              <a:t>✗  ERROR — borraste la clase CSS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0"/>
          <p:cNvSpPr/>
          <p:nvPr/>
        </p:nvSpPr>
        <p:spPr>
          <a:xfrm>
            <a:off x="365760" y="254203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045"/>
              </a:buClr>
              <a:buSzPts val="900"/>
              <a:buFont typeface="Consolas"/>
              <a:buNone/>
            </a:pPr>
            <a:r>
              <a:rPr b="0" i="0" lang="es" sz="900" u="none" cap="none" strike="noStrike">
                <a:solidFill>
                  <a:srgbClr val="D64045"/>
                </a:solidFill>
                <a:latin typeface="Consolas"/>
                <a:ea typeface="Consolas"/>
                <a:cs typeface="Consolas"/>
                <a:sym typeface="Consolas"/>
              </a:rPr>
              <a:t>&lt;p&gt;Los mejores purés para tu bebé&lt;/p&gt;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0"/>
          <p:cNvSpPr/>
          <p:nvPr/>
        </p:nvSpPr>
        <p:spPr>
          <a:xfrm>
            <a:off x="274320" y="3108960"/>
            <a:ext cx="4114800" cy="502920"/>
          </a:xfrm>
          <a:prstGeom prst="rect">
            <a:avLst/>
          </a:prstGeom>
          <a:solidFill>
            <a:srgbClr val="EA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0"/>
          <p:cNvSpPr/>
          <p:nvPr/>
        </p:nvSpPr>
        <p:spPr>
          <a:xfrm>
            <a:off x="274320" y="3108960"/>
            <a:ext cx="54864" cy="5029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0"/>
          <p:cNvSpPr/>
          <p:nvPr/>
        </p:nvSpPr>
        <p:spPr>
          <a:xfrm>
            <a:off x="411480" y="3136392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Regla de Oro: Solo edita LO QUE ESTÁ ENTRE las etiquetas. Nunca borres &lt;p class="..."&gt;, &lt;/p&gt; ni cualquier atributo.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0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30"/>
          <p:cNvSpPr/>
          <p:nvPr/>
        </p:nvSpPr>
        <p:spPr>
          <a:xfrm>
            <a:off x="4846320" y="10058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🖼  Cambiar Banners y Fotos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0"/>
          <p:cNvSpPr/>
          <p:nvPr/>
        </p:nvSpPr>
        <p:spPr>
          <a:xfrm>
            <a:off x="4754880" y="1463040"/>
            <a:ext cx="4114800" cy="1417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30"/>
          <p:cNvSpPr/>
          <p:nvPr/>
        </p:nvSpPr>
        <p:spPr>
          <a:xfrm>
            <a:off x="4846320" y="1536192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850"/>
              <a:buFont typeface="Consolas"/>
              <a:buNone/>
            </a:pPr>
            <a:r>
              <a:rPr b="0" i="0" lang="es" sz="85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&lt;img src="https://cdn.mibebeyyo.mx/banners/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0"/>
          <p:cNvSpPr/>
          <p:nvPr/>
        </p:nvSpPr>
        <p:spPr>
          <a:xfrm>
            <a:off x="4846320" y="1764792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850"/>
              <a:buFont typeface="Consolas"/>
              <a:buNone/>
            </a:pPr>
            <a:r>
              <a:rPr b="0" i="0" lang="es" sz="85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crema-antiestirias.jpg"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0"/>
          <p:cNvSpPr/>
          <p:nvPr/>
        </p:nvSpPr>
        <p:spPr>
          <a:xfrm>
            <a:off x="4846320" y="1993392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850"/>
              <a:buFont typeface="Consolas"/>
              <a:buNone/>
            </a:pPr>
            <a:r>
              <a:rPr b="0" i="0" lang="es" sz="85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alt="crema antiestrías embarazo"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0"/>
          <p:cNvSpPr/>
          <p:nvPr/>
        </p:nvSpPr>
        <p:spPr>
          <a:xfrm>
            <a:off x="4846320" y="2221992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850"/>
              <a:buFont typeface="Consolas"/>
              <a:buNone/>
            </a:pPr>
            <a:r>
              <a:rPr b="0" i="0" lang="es" sz="85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 width="600" border="0"&gt;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0"/>
          <p:cNvSpPr/>
          <p:nvPr/>
        </p:nvSpPr>
        <p:spPr>
          <a:xfrm>
            <a:off x="8138160" y="1737360"/>
            <a:ext cx="54864" cy="5029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0"/>
          <p:cNvSpPr/>
          <p:nvPr/>
        </p:nvSpPr>
        <p:spPr>
          <a:xfrm>
            <a:off x="8229600" y="1755648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750"/>
              <a:buFont typeface="Calibri"/>
              <a:buNone/>
            </a:pPr>
            <a:r>
              <a:rPr b="0" i="0" lang="es" sz="75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← cambiar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0"/>
          <p:cNvSpPr/>
          <p:nvPr/>
        </p:nvSpPr>
        <p:spPr>
          <a:xfrm>
            <a:off x="8229600" y="1938528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750"/>
              <a:buFont typeface="Calibri"/>
              <a:buNone/>
            </a:pPr>
            <a:r>
              <a:rPr b="0" i="0" lang="es" sz="75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nombre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30"/>
          <p:cNvSpPr/>
          <p:nvPr/>
        </p:nvSpPr>
        <p:spPr>
          <a:xfrm>
            <a:off x="4754880" y="2999232"/>
            <a:ext cx="4114800" cy="36576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30"/>
          <p:cNvSpPr/>
          <p:nvPr/>
        </p:nvSpPr>
        <p:spPr>
          <a:xfrm>
            <a:off x="4846320" y="2999232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qué el texto alt es vital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0"/>
          <p:cNvSpPr/>
          <p:nvPr/>
        </p:nvSpPr>
        <p:spPr>
          <a:xfrm>
            <a:off x="4754880" y="3456432"/>
            <a:ext cx="4114800" cy="329184"/>
          </a:xfrm>
          <a:prstGeom prst="rect">
            <a:avLst/>
          </a:prstGeom>
          <a:solidFill>
            <a:srgbClr val="EA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30"/>
          <p:cNvSpPr/>
          <p:nvPr/>
        </p:nvSpPr>
        <p:spPr>
          <a:xfrm>
            <a:off x="4846320" y="348386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Aparece cuando la imagen no carga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0"/>
          <p:cNvSpPr/>
          <p:nvPr/>
        </p:nvSpPr>
        <p:spPr>
          <a:xfrm>
            <a:off x="4754880" y="3822192"/>
            <a:ext cx="4114800" cy="329184"/>
          </a:xfrm>
          <a:prstGeom prst="rect">
            <a:avLst/>
          </a:prstGeom>
          <a:solidFill>
            <a:srgbClr val="E0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30"/>
          <p:cNvSpPr/>
          <p:nvPr/>
        </p:nvSpPr>
        <p:spPr>
          <a:xfrm>
            <a:off x="4846320" y="384962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Crítico en clientes que bloquean imágenes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0"/>
          <p:cNvSpPr/>
          <p:nvPr/>
        </p:nvSpPr>
        <p:spPr>
          <a:xfrm>
            <a:off x="4754880" y="4187952"/>
            <a:ext cx="4114800" cy="329184"/>
          </a:xfrm>
          <a:prstGeom prst="rect">
            <a:avLst/>
          </a:prstGeom>
          <a:solidFill>
            <a:srgbClr val="EA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30"/>
          <p:cNvSpPr/>
          <p:nvPr/>
        </p:nvSpPr>
        <p:spPr>
          <a:xfrm>
            <a:off x="4846320" y="421538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950"/>
              <a:buFont typeface="Calibri"/>
              <a:buNone/>
            </a:pPr>
            <a:r>
              <a:rPr b="1" i="0" lang="es" sz="9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✅ «bebé de 6 meses comiendo puré»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30"/>
          <p:cNvSpPr/>
          <p:nvPr/>
        </p:nvSpPr>
        <p:spPr>
          <a:xfrm>
            <a:off x="4754880" y="4553712"/>
            <a:ext cx="4114800" cy="329184"/>
          </a:xfrm>
          <a:prstGeom prst="rect">
            <a:avLst/>
          </a:prstGeom>
          <a:solidFill>
            <a:srgbClr val="E0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30"/>
          <p:cNvSpPr/>
          <p:nvPr/>
        </p:nvSpPr>
        <p:spPr>
          <a:xfrm>
            <a:off x="4846320" y="458114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045"/>
              </a:buClr>
              <a:buSzPts val="950"/>
              <a:buFont typeface="Calibri"/>
              <a:buNone/>
            </a:pPr>
            <a:r>
              <a:rPr b="1" i="0" lang="es" sz="950" u="none" cap="none" strike="noStrike">
                <a:solidFill>
                  <a:srgbClr val="D64045"/>
                </a:solidFill>
                <a:latin typeface="Calibri"/>
                <a:ea typeface="Calibri"/>
                <a:cs typeface="Calibri"/>
                <a:sym typeface="Calibri"/>
              </a:rPr>
              <a:t>❌ Nunca dejar vacío o escribir «foto»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0"/>
          <p:cNvSpPr/>
          <p:nvPr/>
        </p:nvSpPr>
        <p:spPr>
          <a:xfrm>
            <a:off x="274320" y="3730752"/>
            <a:ext cx="4114800" cy="7315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30"/>
          <p:cNvSpPr/>
          <p:nvPr/>
        </p:nvSpPr>
        <p:spPr>
          <a:xfrm>
            <a:off x="365760" y="376732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Pasos para editar un titular: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0"/>
          <p:cNvSpPr/>
          <p:nvPr/>
        </p:nvSpPr>
        <p:spPr>
          <a:xfrm>
            <a:off x="365760" y="4005072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1) Localiza &lt;p class="titular"&gt;  2) Haz clic ANTES del texto  3) Selecciona SOLO el texto  4) Escribe el nuevo titular  5) Guarda Ctrl+S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Eduardo Acevedo · Sunname Technologies · Curso Email Marketing MiBebéyYo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F52A0"/>
        </a:solidFill>
      </p:bgPr>
    </p:bg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6A3E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31"/>
          <p:cNvSpPr/>
          <p:nvPr/>
        </p:nvSpPr>
        <p:spPr>
          <a:xfrm>
            <a:off x="0" y="3429000"/>
            <a:ext cx="9144000" cy="9144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1"/>
          <p:cNvSpPr/>
          <p:nvPr/>
        </p:nvSpPr>
        <p:spPr>
          <a:xfrm>
            <a:off x="5303520" y="91440"/>
            <a:ext cx="3657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3E90"/>
              </a:buClr>
              <a:buSzPts val="18500"/>
              <a:buFont typeface="Arial Black"/>
              <a:buNone/>
            </a:pPr>
            <a:r>
              <a:rPr b="1" i="0" lang="es" sz="18500" u="none" cap="none" strike="noStrike">
                <a:solidFill>
                  <a:srgbClr val="6A3E90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18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1"/>
          <p:cNvSpPr/>
          <p:nvPr/>
        </p:nvSpPr>
        <p:spPr>
          <a:xfrm>
            <a:off x="548640" y="457200"/>
            <a:ext cx="2560320" cy="292608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31"/>
          <p:cNvSpPr/>
          <p:nvPr/>
        </p:nvSpPr>
        <p:spPr>
          <a:xfrm>
            <a:off x="548640" y="457200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52A0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7F52A0"/>
                </a:solidFill>
                <a:latin typeface="Calibri"/>
                <a:ea typeface="Calibri"/>
                <a:cs typeface="Calibri"/>
                <a:sym typeface="Calibri"/>
              </a:rPr>
              <a:t>MÓDULO 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1"/>
          <p:cNvSpPr/>
          <p:nvPr/>
        </p:nvSpPr>
        <p:spPr>
          <a:xfrm>
            <a:off x="548640" y="960120"/>
            <a:ext cx="5303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Ejecución 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Gestión en Splio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1"/>
          <p:cNvSpPr/>
          <p:nvPr/>
        </p:nvSpPr>
        <p:spPr>
          <a:xfrm>
            <a:off x="548640" y="2743200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500"/>
              <a:buFont typeface="Trebuchet MS"/>
              <a:buNone/>
            </a:pPr>
            <a:r>
              <a:rPr b="0" i="1" lang="es" sz="1500" u="none" cap="none" strike="noStrike">
                <a:solidFill>
                  <a:srgbClr val="46C2CE"/>
                </a:solidFill>
                <a:latin typeface="Trebuchet MS"/>
                <a:ea typeface="Trebuchet MS"/>
                <a:cs typeface="Trebuchet MS"/>
                <a:sym typeface="Trebuchet MS"/>
              </a:rPr>
              <a:t>Subir HTML · Configurar · Segmentar · Enviar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1"/>
          <p:cNvSpPr/>
          <p:nvPr/>
        </p:nvSpPr>
        <p:spPr>
          <a:xfrm>
            <a:off x="548640" y="3703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D0F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E0D0F0"/>
                </a:solidFill>
                <a:latin typeface="Calibri"/>
                <a:ea typeface="Calibri"/>
                <a:cs typeface="Calibri"/>
                <a:sym typeface="Calibri"/>
              </a:rPr>
              <a:t>⏱  Duración: 3 horas · Con acceso real a Splio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3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Tour por Splio: La Plataforma de Envíos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2"/>
          <p:cNvSpPr/>
          <p:nvPr/>
        </p:nvSpPr>
        <p:spPr>
          <a:xfrm>
            <a:off x="6858000" y="45720"/>
            <a:ext cx="2011680" cy="2743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32"/>
          <p:cNvSpPr/>
          <p:nvPr/>
        </p:nvSpPr>
        <p:spPr>
          <a:xfrm>
            <a:off x="6858000" y="457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1A56"/>
              </a:buClr>
              <a:buSzPts val="900"/>
              <a:buFont typeface="Calibri"/>
              <a:buNone/>
            </a:pPr>
            <a:r>
              <a:rPr b="1" i="0" lang="es" sz="900" u="none" cap="none" strike="noStrike">
                <a:solidFill>
                  <a:srgbClr val="2C1A56"/>
                </a:solidFill>
                <a:latin typeface="Calibri"/>
                <a:ea typeface="Calibri"/>
                <a:cs typeface="Calibri"/>
                <a:sym typeface="Calibri"/>
              </a:rPr>
              <a:t>MÓDULO 04 · SPLIO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2"/>
          <p:cNvSpPr/>
          <p:nvPr/>
        </p:nvSpPr>
        <p:spPr>
          <a:xfrm>
            <a:off x="274320" y="960120"/>
            <a:ext cx="4114800" cy="37490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2"/>
          <p:cNvSpPr/>
          <p:nvPr/>
        </p:nvSpPr>
        <p:spPr>
          <a:xfrm>
            <a:off x="274320" y="960120"/>
            <a:ext cx="4114800" cy="41148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32"/>
          <p:cNvSpPr/>
          <p:nvPr/>
        </p:nvSpPr>
        <p:spPr>
          <a:xfrm>
            <a:off x="365760" y="978408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Splio  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2"/>
          <p:cNvSpPr/>
          <p:nvPr/>
        </p:nvSpPr>
        <p:spPr>
          <a:xfrm>
            <a:off x="274320" y="1371600"/>
            <a:ext cx="914400" cy="3337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32"/>
          <p:cNvSpPr/>
          <p:nvPr/>
        </p:nvSpPr>
        <p:spPr>
          <a:xfrm>
            <a:off x="274320" y="146304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2"/>
          <p:cNvSpPr/>
          <p:nvPr/>
        </p:nvSpPr>
        <p:spPr>
          <a:xfrm>
            <a:off x="274320" y="196596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📧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2"/>
          <p:cNvSpPr/>
          <p:nvPr/>
        </p:nvSpPr>
        <p:spPr>
          <a:xfrm>
            <a:off x="274320" y="246888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👥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2"/>
          <p:cNvSpPr/>
          <p:nvPr/>
        </p:nvSpPr>
        <p:spPr>
          <a:xfrm>
            <a:off x="274320" y="297180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2"/>
          <p:cNvSpPr/>
          <p:nvPr/>
        </p:nvSpPr>
        <p:spPr>
          <a:xfrm>
            <a:off x="274320" y="347472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🎨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2"/>
          <p:cNvSpPr/>
          <p:nvPr/>
        </p:nvSpPr>
        <p:spPr>
          <a:xfrm>
            <a:off x="274320" y="397764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2"/>
          <p:cNvSpPr/>
          <p:nvPr/>
        </p:nvSpPr>
        <p:spPr>
          <a:xfrm>
            <a:off x="1298448" y="1463040"/>
            <a:ext cx="132588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32"/>
          <p:cNvSpPr/>
          <p:nvPr/>
        </p:nvSpPr>
        <p:spPr>
          <a:xfrm>
            <a:off x="1298448" y="1463040"/>
            <a:ext cx="1325880" cy="32004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32"/>
          <p:cNvSpPr/>
          <p:nvPr/>
        </p:nvSpPr>
        <p:spPr>
          <a:xfrm>
            <a:off x="1344168" y="1463040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Campañas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2"/>
          <p:cNvSpPr/>
          <p:nvPr/>
        </p:nvSpPr>
        <p:spPr>
          <a:xfrm>
            <a:off x="1371600" y="1847088"/>
            <a:ext cx="1188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Creas y programas newsletters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2"/>
          <p:cNvSpPr/>
          <p:nvPr/>
        </p:nvSpPr>
        <p:spPr>
          <a:xfrm>
            <a:off x="2761488" y="1463040"/>
            <a:ext cx="132588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32"/>
          <p:cNvSpPr/>
          <p:nvPr/>
        </p:nvSpPr>
        <p:spPr>
          <a:xfrm>
            <a:off x="2761488" y="1463040"/>
            <a:ext cx="1325880" cy="32004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32"/>
          <p:cNvSpPr/>
          <p:nvPr/>
        </p:nvSpPr>
        <p:spPr>
          <a:xfrm>
            <a:off x="2807208" y="1463040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Contactos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2"/>
          <p:cNvSpPr/>
          <p:nvPr/>
        </p:nvSpPr>
        <p:spPr>
          <a:xfrm>
            <a:off x="2834640" y="1847088"/>
            <a:ext cx="1188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Base de datos y segmentos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2"/>
          <p:cNvSpPr/>
          <p:nvPr/>
        </p:nvSpPr>
        <p:spPr>
          <a:xfrm>
            <a:off x="1298448" y="2743200"/>
            <a:ext cx="132588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32"/>
          <p:cNvSpPr/>
          <p:nvPr/>
        </p:nvSpPr>
        <p:spPr>
          <a:xfrm>
            <a:off x="1298448" y="2743200"/>
            <a:ext cx="1325880" cy="32004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32"/>
          <p:cNvSpPr/>
          <p:nvPr/>
        </p:nvSpPr>
        <p:spPr>
          <a:xfrm>
            <a:off x="1344168" y="2743200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Estadísticas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2"/>
          <p:cNvSpPr/>
          <p:nvPr/>
        </p:nvSpPr>
        <p:spPr>
          <a:xfrm>
            <a:off x="1371600" y="3127248"/>
            <a:ext cx="1188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Aperturas, clics, rebotes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2"/>
          <p:cNvSpPr/>
          <p:nvPr/>
        </p:nvSpPr>
        <p:spPr>
          <a:xfrm>
            <a:off x="2761488" y="2743200"/>
            <a:ext cx="132588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32"/>
          <p:cNvSpPr/>
          <p:nvPr/>
        </p:nvSpPr>
        <p:spPr>
          <a:xfrm>
            <a:off x="2761488" y="2743200"/>
            <a:ext cx="1325880" cy="320040"/>
          </a:xfrm>
          <a:prstGeom prst="rect">
            <a:avLst/>
          </a:prstGeom>
          <a:solidFill>
            <a:srgbClr val="E08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32"/>
          <p:cNvSpPr/>
          <p:nvPr/>
        </p:nvSpPr>
        <p:spPr>
          <a:xfrm>
            <a:off x="2807208" y="2743200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Plantillas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2"/>
          <p:cNvSpPr/>
          <p:nvPr/>
        </p:nvSpPr>
        <p:spPr>
          <a:xfrm>
            <a:off x="2834640" y="3127248"/>
            <a:ext cx="1188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Biblioteca de plantillas HTML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2"/>
          <p:cNvSpPr/>
          <p:nvPr/>
        </p:nvSpPr>
        <p:spPr>
          <a:xfrm>
            <a:off x="4663440" y="987552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Trebuchet MS"/>
              <a:buNone/>
            </a:pPr>
            <a:r>
              <a:rPr b="1" i="0" lang="es" sz="1300" u="none" cap="none" strike="noStrike">
                <a:solidFill>
                  <a:srgbClr val="263980"/>
                </a:solidFill>
                <a:latin typeface="Trebuchet MS"/>
                <a:ea typeface="Trebuchet MS"/>
                <a:cs typeface="Trebuchet MS"/>
                <a:sym typeface="Trebuchet MS"/>
              </a:rPr>
              <a:t>Proceso para Subir una Campaña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2"/>
          <p:cNvSpPr/>
          <p:nvPr/>
        </p:nvSpPr>
        <p:spPr>
          <a:xfrm>
            <a:off x="4663440" y="1417320"/>
            <a:ext cx="4206240" cy="40233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32"/>
          <p:cNvSpPr/>
          <p:nvPr/>
        </p:nvSpPr>
        <p:spPr>
          <a:xfrm>
            <a:off x="4709160" y="1463040"/>
            <a:ext cx="274320" cy="2743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32"/>
          <p:cNvSpPr/>
          <p:nvPr/>
        </p:nvSpPr>
        <p:spPr>
          <a:xfrm>
            <a:off x="4709160" y="146304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b="1" i="0" lang="es" sz="9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2"/>
          <p:cNvSpPr/>
          <p:nvPr/>
        </p:nvSpPr>
        <p:spPr>
          <a:xfrm>
            <a:off x="5074920" y="146304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Crear nueva campaña (botón «+»)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2"/>
          <p:cNvSpPr/>
          <p:nvPr/>
        </p:nvSpPr>
        <p:spPr>
          <a:xfrm>
            <a:off x="4663440" y="1892808"/>
            <a:ext cx="4206240" cy="402336"/>
          </a:xfrm>
          <a:prstGeom prst="rect">
            <a:avLst/>
          </a:prstGeom>
          <a:solidFill>
            <a:srgbClr val="EA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32"/>
          <p:cNvSpPr/>
          <p:nvPr/>
        </p:nvSpPr>
        <p:spPr>
          <a:xfrm>
            <a:off x="4709160" y="1938528"/>
            <a:ext cx="274320" cy="2743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32"/>
          <p:cNvSpPr/>
          <p:nvPr/>
        </p:nvSpPr>
        <p:spPr>
          <a:xfrm>
            <a:off x="4709160" y="193852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b="1" i="0" lang="es" sz="9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2"/>
          <p:cNvSpPr/>
          <p:nvPr/>
        </p:nvSpPr>
        <p:spPr>
          <a:xfrm>
            <a:off x="5074920" y="193852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Seleccionar: Email Campaign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2"/>
          <p:cNvSpPr/>
          <p:nvPr/>
        </p:nvSpPr>
        <p:spPr>
          <a:xfrm>
            <a:off x="4663440" y="2368296"/>
            <a:ext cx="4206240" cy="40233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32"/>
          <p:cNvSpPr/>
          <p:nvPr/>
        </p:nvSpPr>
        <p:spPr>
          <a:xfrm>
            <a:off x="4709160" y="2414016"/>
            <a:ext cx="274320" cy="2743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2"/>
          <p:cNvSpPr/>
          <p:nvPr/>
        </p:nvSpPr>
        <p:spPr>
          <a:xfrm>
            <a:off x="4709160" y="241401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b="1" i="0" lang="es" sz="9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2"/>
          <p:cNvSpPr/>
          <p:nvPr/>
        </p:nvSpPr>
        <p:spPr>
          <a:xfrm>
            <a:off x="5074920" y="241401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Nombrar con fecha: Newsletter_Semana12_2025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2"/>
          <p:cNvSpPr/>
          <p:nvPr/>
        </p:nvSpPr>
        <p:spPr>
          <a:xfrm>
            <a:off x="4663440" y="2843784"/>
            <a:ext cx="4206240" cy="402336"/>
          </a:xfrm>
          <a:prstGeom prst="rect">
            <a:avLst/>
          </a:prstGeom>
          <a:solidFill>
            <a:srgbClr val="EA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32"/>
          <p:cNvSpPr/>
          <p:nvPr/>
        </p:nvSpPr>
        <p:spPr>
          <a:xfrm>
            <a:off x="4709160" y="2889504"/>
            <a:ext cx="274320" cy="2743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32"/>
          <p:cNvSpPr/>
          <p:nvPr/>
        </p:nvSpPr>
        <p:spPr>
          <a:xfrm>
            <a:off x="4709160" y="288950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b="1" i="0" lang="es" sz="9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2"/>
          <p:cNvSpPr/>
          <p:nvPr/>
        </p:nvSpPr>
        <p:spPr>
          <a:xfrm>
            <a:off x="5074920" y="288950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Ir al editor HTML (HTML Editor)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2"/>
          <p:cNvSpPr/>
          <p:nvPr/>
        </p:nvSpPr>
        <p:spPr>
          <a:xfrm>
            <a:off x="4663440" y="3319272"/>
            <a:ext cx="4206240" cy="40233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32"/>
          <p:cNvSpPr/>
          <p:nvPr/>
        </p:nvSpPr>
        <p:spPr>
          <a:xfrm>
            <a:off x="4709160" y="3364992"/>
            <a:ext cx="274320" cy="2743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32"/>
          <p:cNvSpPr/>
          <p:nvPr/>
        </p:nvSpPr>
        <p:spPr>
          <a:xfrm>
            <a:off x="4709160" y="336499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b="1" i="0" lang="es" sz="9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2"/>
          <p:cNvSpPr/>
          <p:nvPr/>
        </p:nvSpPr>
        <p:spPr>
          <a:xfrm>
            <a:off x="5074920" y="336499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Pegar TODO el código de VSC (Ctrl+A → Ctrl+C → Ctrl+V)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2"/>
          <p:cNvSpPr/>
          <p:nvPr/>
        </p:nvSpPr>
        <p:spPr>
          <a:xfrm>
            <a:off x="4663440" y="3794760"/>
            <a:ext cx="4206240" cy="402336"/>
          </a:xfrm>
          <a:prstGeom prst="rect">
            <a:avLst/>
          </a:prstGeom>
          <a:solidFill>
            <a:srgbClr val="EA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32"/>
          <p:cNvSpPr/>
          <p:nvPr/>
        </p:nvSpPr>
        <p:spPr>
          <a:xfrm>
            <a:off x="4709160" y="3840480"/>
            <a:ext cx="274320" cy="2743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32"/>
          <p:cNvSpPr/>
          <p:nvPr/>
        </p:nvSpPr>
        <p:spPr>
          <a:xfrm>
            <a:off x="4709160" y="38404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b="1" i="0" lang="es" sz="9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2"/>
          <p:cNvSpPr/>
          <p:nvPr/>
        </p:nvSpPr>
        <p:spPr>
          <a:xfrm>
            <a:off x="5074920" y="384048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Verificar previsualización en Splio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2"/>
          <p:cNvSpPr/>
          <p:nvPr/>
        </p:nvSpPr>
        <p:spPr>
          <a:xfrm>
            <a:off x="4663440" y="4270248"/>
            <a:ext cx="4206240" cy="40233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2"/>
          <p:cNvSpPr/>
          <p:nvPr/>
        </p:nvSpPr>
        <p:spPr>
          <a:xfrm>
            <a:off x="4709160" y="4315968"/>
            <a:ext cx="274320" cy="2743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32"/>
          <p:cNvSpPr/>
          <p:nvPr/>
        </p:nvSpPr>
        <p:spPr>
          <a:xfrm>
            <a:off x="4709160" y="431596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b="1" i="0" lang="es" sz="9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2"/>
          <p:cNvSpPr/>
          <p:nvPr/>
        </p:nvSpPr>
        <p:spPr>
          <a:xfrm>
            <a:off x="5074920" y="431596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Configurar remitente y asunto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2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Eduardo Acevedo · Sunname Technologies · Curso Email Marketing MiBebéyYo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3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Segmentación: El Secreto del Envío Efectivo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3"/>
          <p:cNvSpPr/>
          <p:nvPr/>
        </p:nvSpPr>
        <p:spPr>
          <a:xfrm>
            <a:off x="6583680" y="45720"/>
            <a:ext cx="2011680" cy="2743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33"/>
          <p:cNvSpPr/>
          <p:nvPr/>
        </p:nvSpPr>
        <p:spPr>
          <a:xfrm>
            <a:off x="6583680" y="457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1A56"/>
              </a:buClr>
              <a:buSzPts val="900"/>
              <a:buFont typeface="Calibri"/>
              <a:buNone/>
            </a:pPr>
            <a:r>
              <a:rPr b="1" i="0" lang="es" sz="900" u="none" cap="none" strike="noStrike">
                <a:solidFill>
                  <a:srgbClr val="2C1A56"/>
                </a:solidFill>
                <a:latin typeface="Calibri"/>
                <a:ea typeface="Calibri"/>
                <a:cs typeface="Calibri"/>
                <a:sym typeface="Calibri"/>
              </a:rPr>
              <a:t>MÓDULO 04 · SEGMENTACIÓN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33"/>
          <p:cNvSpPr/>
          <p:nvPr/>
        </p:nvSpPr>
        <p:spPr>
          <a:xfrm>
            <a:off x="274320" y="1005840"/>
            <a:ext cx="3200400" cy="123444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33"/>
          <p:cNvSpPr/>
          <p:nvPr/>
        </p:nvSpPr>
        <p:spPr>
          <a:xfrm>
            <a:off x="365760" y="105156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200"/>
              <a:buFont typeface="Trebuchet MS"/>
              <a:buNone/>
            </a:pPr>
            <a:r>
              <a:rPr b="1" i="0" lang="es" sz="1200" u="none" cap="none" strike="noStrike">
                <a:solidFill>
                  <a:srgbClr val="46C2CE"/>
                </a:solidFill>
                <a:latin typeface="Trebuchet MS"/>
                <a:ea typeface="Trebuchet MS"/>
                <a:cs typeface="Trebuchet MS"/>
                <a:sym typeface="Trebuchet MS"/>
              </a:rPr>
              <a:t>¿Por qué segmentar?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3"/>
          <p:cNvSpPr/>
          <p:nvPr/>
        </p:nvSpPr>
        <p:spPr>
          <a:xfrm>
            <a:off x="365760" y="1389888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tiene sentido enviar «preparativos para el parto» a una mamá con hijo de 2 años. El contenido relevante aumenta aperturas y reduce bajas.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3"/>
          <p:cNvSpPr/>
          <p:nvPr/>
        </p:nvSpPr>
        <p:spPr>
          <a:xfrm>
            <a:off x="3657600" y="1005840"/>
            <a:ext cx="1645920" cy="1463040"/>
          </a:xfrm>
          <a:prstGeom prst="rect">
            <a:avLst/>
          </a:prstGeom>
          <a:solidFill>
            <a:srgbClr val="46C2CE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33"/>
          <p:cNvSpPr/>
          <p:nvPr/>
        </p:nvSpPr>
        <p:spPr>
          <a:xfrm>
            <a:off x="3730752" y="1097280"/>
            <a:ext cx="14996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000"/>
              <a:buFont typeface="Trebuchet MS"/>
              <a:buNone/>
            </a:pPr>
            <a:r>
              <a:rPr b="1" i="0" lang="es" sz="1000" u="none" cap="none" strike="noStrike">
                <a:solidFill>
                  <a:srgbClr val="263980"/>
                </a:solidFill>
                <a:latin typeface="Trebuchet MS"/>
                <a:ea typeface="Trebuchet MS"/>
                <a:cs typeface="Trebuchet MS"/>
                <a:sym typeface="Trebuchet MS"/>
              </a:rPr>
              <a:t>Embarazada 1°T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3"/>
          <p:cNvSpPr/>
          <p:nvPr/>
        </p:nvSpPr>
        <p:spPr>
          <a:xfrm>
            <a:off x="3840480" y="1536192"/>
            <a:ext cx="1280160" cy="274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3"/>
          <p:cNvSpPr/>
          <p:nvPr/>
        </p:nvSpPr>
        <p:spPr>
          <a:xfrm>
            <a:off x="3749040" y="1645920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850"/>
              <a:buFont typeface="Calibri"/>
              <a:buNone/>
            </a:pPr>
            <a:r>
              <a:rPr b="0" i="0" lang="es" sz="850" u="none" cap="none" strike="noStrik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Síntomas, nutrición prenatal, primeras visitas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3"/>
          <p:cNvSpPr/>
          <p:nvPr/>
        </p:nvSpPr>
        <p:spPr>
          <a:xfrm>
            <a:off x="5486400" y="1005840"/>
            <a:ext cx="1645920" cy="1463040"/>
          </a:xfrm>
          <a:prstGeom prst="rect">
            <a:avLst/>
          </a:prstGeom>
          <a:solidFill>
            <a:srgbClr val="7F52A0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33"/>
          <p:cNvSpPr/>
          <p:nvPr/>
        </p:nvSpPr>
        <p:spPr>
          <a:xfrm>
            <a:off x="5559552" y="1097280"/>
            <a:ext cx="14996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Embarazada 2°T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3"/>
          <p:cNvSpPr/>
          <p:nvPr/>
        </p:nvSpPr>
        <p:spPr>
          <a:xfrm>
            <a:off x="5669280" y="1536192"/>
            <a:ext cx="1280160" cy="274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33"/>
          <p:cNvSpPr/>
          <p:nvPr/>
        </p:nvSpPr>
        <p:spPr>
          <a:xfrm>
            <a:off x="5577840" y="1645920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E7FF"/>
              </a:buClr>
              <a:buSzPts val="850"/>
              <a:buFont typeface="Calibri"/>
              <a:buNone/>
            </a:pPr>
            <a:r>
              <a:rPr b="0" i="0" lang="es" sz="850" u="none" cap="none" strike="noStrike">
                <a:solidFill>
                  <a:srgbClr val="E0E7FF"/>
                </a:solidFill>
                <a:latin typeface="Calibri"/>
                <a:ea typeface="Calibri"/>
                <a:cs typeface="Calibri"/>
                <a:sym typeface="Calibri"/>
              </a:rPr>
              <a:t>Movimientos, parto, decoración del cuarto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3"/>
          <p:cNvSpPr/>
          <p:nvPr/>
        </p:nvSpPr>
        <p:spPr>
          <a:xfrm>
            <a:off x="7315200" y="1005840"/>
            <a:ext cx="1645920" cy="1463040"/>
          </a:xfrm>
          <a:prstGeom prst="rect">
            <a:avLst/>
          </a:prstGeom>
          <a:solidFill>
            <a:srgbClr val="263980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33"/>
          <p:cNvSpPr/>
          <p:nvPr/>
        </p:nvSpPr>
        <p:spPr>
          <a:xfrm>
            <a:off x="7388352" y="1097280"/>
            <a:ext cx="14996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Embarazada 3°T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3"/>
          <p:cNvSpPr/>
          <p:nvPr/>
        </p:nvSpPr>
        <p:spPr>
          <a:xfrm>
            <a:off x="7498080" y="1536192"/>
            <a:ext cx="1280160" cy="274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33"/>
          <p:cNvSpPr/>
          <p:nvPr/>
        </p:nvSpPr>
        <p:spPr>
          <a:xfrm>
            <a:off x="7406640" y="1645920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E7FF"/>
              </a:buClr>
              <a:buSzPts val="850"/>
              <a:buFont typeface="Calibri"/>
              <a:buNone/>
            </a:pPr>
            <a:r>
              <a:rPr b="0" i="0" lang="es" sz="850" u="none" cap="none" strike="noStrike">
                <a:solidFill>
                  <a:srgbClr val="E0E7FF"/>
                </a:solidFill>
                <a:latin typeface="Calibri"/>
                <a:ea typeface="Calibri"/>
                <a:cs typeface="Calibri"/>
                <a:sym typeface="Calibri"/>
              </a:rPr>
              <a:t>Bolsa hospital, señales de labor, preparativos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3"/>
          <p:cNvSpPr/>
          <p:nvPr/>
        </p:nvSpPr>
        <p:spPr>
          <a:xfrm>
            <a:off x="3657600" y="2651760"/>
            <a:ext cx="1645920" cy="1463040"/>
          </a:xfrm>
          <a:prstGeom prst="rect">
            <a:avLst/>
          </a:prstGeom>
          <a:solidFill>
            <a:srgbClr val="1A7A4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33"/>
          <p:cNvSpPr/>
          <p:nvPr/>
        </p:nvSpPr>
        <p:spPr>
          <a:xfrm>
            <a:off x="3730752" y="2743200"/>
            <a:ext cx="14996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Bebé 0-6 meses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3"/>
          <p:cNvSpPr/>
          <p:nvPr/>
        </p:nvSpPr>
        <p:spPr>
          <a:xfrm>
            <a:off x="3840480" y="3182112"/>
            <a:ext cx="1280160" cy="274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3"/>
          <p:cNvSpPr/>
          <p:nvPr/>
        </p:nvSpPr>
        <p:spPr>
          <a:xfrm>
            <a:off x="3749040" y="3291840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E7FF"/>
              </a:buClr>
              <a:buSzPts val="850"/>
              <a:buFont typeface="Calibri"/>
              <a:buNone/>
            </a:pPr>
            <a:r>
              <a:rPr b="0" i="0" lang="es" sz="850" u="none" cap="none" strike="noStrike">
                <a:solidFill>
                  <a:srgbClr val="E0E7FF"/>
                </a:solidFill>
                <a:latin typeface="Calibri"/>
                <a:ea typeface="Calibri"/>
                <a:cs typeface="Calibri"/>
                <a:sym typeface="Calibri"/>
              </a:rPr>
              <a:t>Lactancia, sueño del bebé, desarrollo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3"/>
          <p:cNvSpPr/>
          <p:nvPr/>
        </p:nvSpPr>
        <p:spPr>
          <a:xfrm>
            <a:off x="5486400" y="2651760"/>
            <a:ext cx="1645920" cy="1463040"/>
          </a:xfrm>
          <a:prstGeom prst="rect">
            <a:avLst/>
          </a:prstGeom>
          <a:solidFill>
            <a:srgbClr val="E08B30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3"/>
          <p:cNvSpPr/>
          <p:nvPr/>
        </p:nvSpPr>
        <p:spPr>
          <a:xfrm>
            <a:off x="5559552" y="2743200"/>
            <a:ext cx="14996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Bebé 6-12 meses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3"/>
          <p:cNvSpPr/>
          <p:nvPr/>
        </p:nvSpPr>
        <p:spPr>
          <a:xfrm>
            <a:off x="5669280" y="3182112"/>
            <a:ext cx="1280160" cy="274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33"/>
          <p:cNvSpPr/>
          <p:nvPr/>
        </p:nvSpPr>
        <p:spPr>
          <a:xfrm>
            <a:off x="5577840" y="3291840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E7FF"/>
              </a:buClr>
              <a:buSzPts val="850"/>
              <a:buFont typeface="Calibri"/>
              <a:buNone/>
            </a:pPr>
            <a:r>
              <a:rPr b="0" i="0" lang="es" sz="850" u="none" cap="none" strike="noStrike">
                <a:solidFill>
                  <a:srgbClr val="E0E7FF"/>
                </a:solidFill>
                <a:latin typeface="Calibri"/>
                <a:ea typeface="Calibri"/>
                <a:cs typeface="Calibri"/>
                <a:sym typeface="Calibri"/>
              </a:rPr>
              <a:t>Alimentos sólidos, desarrollo motor, seguridad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3"/>
          <p:cNvSpPr/>
          <p:nvPr/>
        </p:nvSpPr>
        <p:spPr>
          <a:xfrm>
            <a:off x="7315200" y="2651760"/>
            <a:ext cx="1645920" cy="1463040"/>
          </a:xfrm>
          <a:prstGeom prst="rect">
            <a:avLst/>
          </a:prstGeom>
          <a:solidFill>
            <a:srgbClr val="C2403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3"/>
          <p:cNvSpPr/>
          <p:nvPr/>
        </p:nvSpPr>
        <p:spPr>
          <a:xfrm>
            <a:off x="7388352" y="2743200"/>
            <a:ext cx="14996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Bebé 1-2 años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3"/>
          <p:cNvSpPr/>
          <p:nvPr/>
        </p:nvSpPr>
        <p:spPr>
          <a:xfrm>
            <a:off x="7498080" y="3182112"/>
            <a:ext cx="1280160" cy="274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3"/>
          <p:cNvSpPr/>
          <p:nvPr/>
        </p:nvSpPr>
        <p:spPr>
          <a:xfrm>
            <a:off x="7406640" y="3291840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E7FF"/>
              </a:buClr>
              <a:buSzPts val="850"/>
              <a:buFont typeface="Calibri"/>
              <a:buNone/>
            </a:pPr>
            <a:r>
              <a:rPr b="0" i="0" lang="es" sz="850" u="none" cap="none" strike="noStrike">
                <a:solidFill>
                  <a:srgbClr val="E0E7FF"/>
                </a:solidFill>
                <a:latin typeface="Calibri"/>
                <a:ea typeface="Calibri"/>
                <a:cs typeface="Calibri"/>
                <a:sym typeface="Calibri"/>
              </a:rPr>
              <a:t>Primeros pasos, lenguaje, alimentación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3"/>
          <p:cNvSpPr/>
          <p:nvPr/>
        </p:nvSpPr>
        <p:spPr>
          <a:xfrm>
            <a:off x="274320" y="2331720"/>
            <a:ext cx="3200400" cy="164592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33"/>
          <p:cNvSpPr/>
          <p:nvPr/>
        </p:nvSpPr>
        <p:spPr>
          <a:xfrm>
            <a:off x="365760" y="2377440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🌐  Lista General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3"/>
          <p:cNvSpPr/>
          <p:nvPr/>
        </p:nvSpPr>
        <p:spPr>
          <a:xfrm>
            <a:off x="365760" y="2724912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000"/>
              <a:buFont typeface="Calibri"/>
              <a:buNone/>
            </a:pPr>
            <a:r>
              <a:rPr b="0" i="1" lang="es" sz="100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Todos los segmentos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3"/>
          <p:cNvSpPr/>
          <p:nvPr/>
        </p:nvSpPr>
        <p:spPr>
          <a:xfrm>
            <a:off x="457200" y="303580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Sorteos y canastillas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3"/>
          <p:cNvSpPr/>
          <p:nvPr/>
        </p:nvSpPr>
        <p:spPr>
          <a:xfrm>
            <a:off x="457200" y="335584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Artículos evergreen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3"/>
          <p:cNvSpPr/>
          <p:nvPr/>
        </p:nvSpPr>
        <p:spPr>
          <a:xfrm>
            <a:off x="457200" y="36758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Campañas de marcas patrocinadoras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3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Eduardo Acevedo · Sunname Technologies · Curso Email Marketing MiBebéyYo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3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34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200"/>
              <a:buFont typeface="Arial Black"/>
              <a:buNone/>
            </a:pPr>
            <a:r>
              <a:rPr b="1" i="0" lang="es" sz="2200" u="none" cap="none" strike="noStrike">
                <a:solidFill>
                  <a:srgbClr val="263980"/>
                </a:solidFill>
                <a:latin typeface="Arial Black"/>
                <a:ea typeface="Arial Black"/>
                <a:cs typeface="Arial Black"/>
                <a:sym typeface="Arial Black"/>
              </a:rPr>
              <a:t>🚨  Pruebas Obligatorias Antes del Envío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4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34"/>
          <p:cNvSpPr/>
          <p:nvPr/>
        </p:nvSpPr>
        <p:spPr>
          <a:xfrm>
            <a:off x="6858000" y="45720"/>
            <a:ext cx="2011680" cy="2743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34"/>
          <p:cNvSpPr/>
          <p:nvPr/>
        </p:nvSpPr>
        <p:spPr>
          <a:xfrm>
            <a:off x="6858000" y="457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1A56"/>
              </a:buClr>
              <a:buSzPts val="900"/>
              <a:buFont typeface="Calibri"/>
              <a:buNone/>
            </a:pPr>
            <a:r>
              <a:rPr b="1" i="0" lang="es" sz="900" u="none" cap="none" strike="noStrike">
                <a:solidFill>
                  <a:srgbClr val="2C1A56"/>
                </a:solidFill>
                <a:latin typeface="Calibri"/>
                <a:ea typeface="Calibri"/>
                <a:cs typeface="Calibri"/>
                <a:sym typeface="Calibri"/>
              </a:rPr>
              <a:t>MÓDULO 04 · TESTING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4"/>
          <p:cNvSpPr/>
          <p:nvPr/>
        </p:nvSpPr>
        <p:spPr>
          <a:xfrm>
            <a:off x="274320" y="987552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Trebuchet MS"/>
              <a:buNone/>
            </a:pPr>
            <a:r>
              <a:rPr b="1" i="0" lang="es" sz="1200" u="none" cap="none" strike="noStrike">
                <a:solidFill>
                  <a:srgbClr val="263980"/>
                </a:solidFill>
                <a:latin typeface="Trebuchet MS"/>
                <a:ea typeface="Trebuchet MS"/>
                <a:cs typeface="Trebuchet MS"/>
                <a:sym typeface="Trebuchet MS"/>
              </a:rPr>
              <a:t>Lista de Verificación del Correo de Prueba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4"/>
          <p:cNvSpPr/>
          <p:nvPr/>
        </p:nvSpPr>
        <p:spPr>
          <a:xfrm>
            <a:off x="274320" y="1417320"/>
            <a:ext cx="4663440" cy="34747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34"/>
          <p:cNvSpPr/>
          <p:nvPr/>
        </p:nvSpPr>
        <p:spPr>
          <a:xfrm>
            <a:off x="274320" y="1417320"/>
            <a:ext cx="347472" cy="347472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34"/>
          <p:cNvSpPr/>
          <p:nvPr/>
        </p:nvSpPr>
        <p:spPr>
          <a:xfrm>
            <a:off x="274320" y="1435608"/>
            <a:ext cx="3474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4"/>
          <p:cNvSpPr/>
          <p:nvPr/>
        </p:nvSpPr>
        <p:spPr>
          <a:xfrm>
            <a:off x="685800" y="143560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¿El asunto aparece correctamente en la bandeja?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4"/>
          <p:cNvSpPr/>
          <p:nvPr/>
        </p:nvSpPr>
        <p:spPr>
          <a:xfrm>
            <a:off x="274320" y="1819656"/>
            <a:ext cx="4663440" cy="347472"/>
          </a:xfrm>
          <a:prstGeom prst="rect">
            <a:avLst/>
          </a:prstGeom>
          <a:solidFill>
            <a:srgbClr val="EA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34"/>
          <p:cNvSpPr/>
          <p:nvPr/>
        </p:nvSpPr>
        <p:spPr>
          <a:xfrm>
            <a:off x="274320" y="1819656"/>
            <a:ext cx="347472" cy="347472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34"/>
          <p:cNvSpPr/>
          <p:nvPr/>
        </p:nvSpPr>
        <p:spPr>
          <a:xfrm>
            <a:off x="274320" y="1837944"/>
            <a:ext cx="3474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4"/>
          <p:cNvSpPr/>
          <p:nvPr/>
        </p:nvSpPr>
        <p:spPr>
          <a:xfrm>
            <a:off x="685800" y="1837944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¿El pre-header complementa el asunto?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4"/>
          <p:cNvSpPr/>
          <p:nvPr/>
        </p:nvSpPr>
        <p:spPr>
          <a:xfrm>
            <a:off x="274320" y="2221992"/>
            <a:ext cx="4663440" cy="34747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34"/>
          <p:cNvSpPr/>
          <p:nvPr/>
        </p:nvSpPr>
        <p:spPr>
          <a:xfrm>
            <a:off x="274320" y="2221992"/>
            <a:ext cx="347472" cy="347472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34"/>
          <p:cNvSpPr/>
          <p:nvPr/>
        </p:nvSpPr>
        <p:spPr>
          <a:xfrm>
            <a:off x="274320" y="2240280"/>
            <a:ext cx="3474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4"/>
          <p:cNvSpPr/>
          <p:nvPr/>
        </p:nvSpPr>
        <p:spPr>
          <a:xfrm>
            <a:off x="685800" y="22402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¿Todas las imágenes cargan correctamente?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4"/>
          <p:cNvSpPr/>
          <p:nvPr/>
        </p:nvSpPr>
        <p:spPr>
          <a:xfrm>
            <a:off x="274320" y="2624328"/>
            <a:ext cx="4663440" cy="347472"/>
          </a:xfrm>
          <a:prstGeom prst="rect">
            <a:avLst/>
          </a:prstGeom>
          <a:solidFill>
            <a:srgbClr val="EA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34"/>
          <p:cNvSpPr/>
          <p:nvPr/>
        </p:nvSpPr>
        <p:spPr>
          <a:xfrm>
            <a:off x="274320" y="2624328"/>
            <a:ext cx="347472" cy="347472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34"/>
          <p:cNvSpPr/>
          <p:nvPr/>
        </p:nvSpPr>
        <p:spPr>
          <a:xfrm>
            <a:off x="274320" y="2642616"/>
            <a:ext cx="3474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4"/>
          <p:cNvSpPr/>
          <p:nvPr/>
        </p:nvSpPr>
        <p:spPr>
          <a:xfrm>
            <a:off x="685800" y="2642616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¿Todos los botones y enlaces funcionan?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4"/>
          <p:cNvSpPr/>
          <p:nvPr/>
        </p:nvSpPr>
        <p:spPr>
          <a:xfrm>
            <a:off x="274320" y="3026664"/>
            <a:ext cx="4663440" cy="34747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34"/>
          <p:cNvSpPr/>
          <p:nvPr/>
        </p:nvSpPr>
        <p:spPr>
          <a:xfrm>
            <a:off x="274320" y="3026664"/>
            <a:ext cx="347472" cy="347472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4"/>
          <p:cNvSpPr/>
          <p:nvPr/>
        </p:nvSpPr>
        <p:spPr>
          <a:xfrm>
            <a:off x="274320" y="3044952"/>
            <a:ext cx="3474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4"/>
          <p:cNvSpPr/>
          <p:nvPr/>
        </p:nvSpPr>
        <p:spPr>
          <a:xfrm>
            <a:off x="685800" y="304495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¿Los URLs llevan al destino correcto (no 404)?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4"/>
          <p:cNvSpPr/>
          <p:nvPr/>
        </p:nvSpPr>
        <p:spPr>
          <a:xfrm>
            <a:off x="274320" y="3429000"/>
            <a:ext cx="4663440" cy="347472"/>
          </a:xfrm>
          <a:prstGeom prst="rect">
            <a:avLst/>
          </a:prstGeom>
          <a:solidFill>
            <a:srgbClr val="EA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34"/>
          <p:cNvSpPr/>
          <p:nvPr/>
        </p:nvSpPr>
        <p:spPr>
          <a:xfrm>
            <a:off x="274320" y="3429000"/>
            <a:ext cx="347472" cy="347472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34"/>
          <p:cNvSpPr/>
          <p:nvPr/>
        </p:nvSpPr>
        <p:spPr>
          <a:xfrm>
            <a:off x="274320" y="3447288"/>
            <a:ext cx="3474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4"/>
          <p:cNvSpPr/>
          <p:nvPr/>
        </p:nvSpPr>
        <p:spPr>
          <a:xfrm>
            <a:off x="685800" y="344728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¿El correo se ve bien en móvil?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4"/>
          <p:cNvSpPr/>
          <p:nvPr/>
        </p:nvSpPr>
        <p:spPr>
          <a:xfrm>
            <a:off x="274320" y="3831336"/>
            <a:ext cx="4663440" cy="34747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34"/>
          <p:cNvSpPr/>
          <p:nvPr/>
        </p:nvSpPr>
        <p:spPr>
          <a:xfrm>
            <a:off x="274320" y="3831336"/>
            <a:ext cx="347472" cy="347472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34"/>
          <p:cNvSpPr/>
          <p:nvPr/>
        </p:nvSpPr>
        <p:spPr>
          <a:xfrm>
            <a:off x="274320" y="3849624"/>
            <a:ext cx="3474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4"/>
          <p:cNvSpPr/>
          <p:nvPr/>
        </p:nvSpPr>
        <p:spPr>
          <a:xfrm>
            <a:off x="685800" y="3849624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¿El nombre del remitente es «Mi Bebé y Yo»?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4"/>
          <p:cNvSpPr/>
          <p:nvPr/>
        </p:nvSpPr>
        <p:spPr>
          <a:xfrm>
            <a:off x="274320" y="4233672"/>
            <a:ext cx="4663440" cy="347472"/>
          </a:xfrm>
          <a:prstGeom prst="rect">
            <a:avLst/>
          </a:prstGeom>
          <a:solidFill>
            <a:srgbClr val="EA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34"/>
          <p:cNvSpPr/>
          <p:nvPr/>
        </p:nvSpPr>
        <p:spPr>
          <a:xfrm>
            <a:off x="274320" y="4233672"/>
            <a:ext cx="347472" cy="347472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34"/>
          <p:cNvSpPr/>
          <p:nvPr/>
        </p:nvSpPr>
        <p:spPr>
          <a:xfrm>
            <a:off x="274320" y="4251960"/>
            <a:ext cx="3474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4"/>
          <p:cNvSpPr/>
          <p:nvPr/>
        </p:nvSpPr>
        <p:spPr>
          <a:xfrm>
            <a:off x="685800" y="425196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¿El footer tiene el enlace de desuscripción?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4"/>
          <p:cNvSpPr/>
          <p:nvPr/>
        </p:nvSpPr>
        <p:spPr>
          <a:xfrm>
            <a:off x="5212080" y="987552"/>
            <a:ext cx="3657600" cy="12344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34"/>
          <p:cNvSpPr/>
          <p:nvPr/>
        </p:nvSpPr>
        <p:spPr>
          <a:xfrm>
            <a:off x="5212080" y="987552"/>
            <a:ext cx="3657600" cy="365760"/>
          </a:xfrm>
          <a:prstGeom prst="rect">
            <a:avLst/>
          </a:prstGeom>
          <a:solidFill>
            <a:srgbClr val="D640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34"/>
          <p:cNvSpPr/>
          <p:nvPr/>
        </p:nvSpPr>
        <p:spPr>
          <a:xfrm>
            <a:off x="5303520" y="987552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🚨  Error 404 — CRÍTICO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4"/>
          <p:cNvSpPr/>
          <p:nvPr/>
        </p:nvSpPr>
        <p:spPr>
          <a:xfrm>
            <a:off x="5303520" y="141732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Un error 404 = página que no existe. Haz clic en CADA botón y CADA enlace del correo de prueba. Si hay un 404, vuelve a VSC, corrige el URL y sube el HTML de nuevo. Enviar un correo con enlaces rotos a toda la base es un error grave.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4"/>
          <p:cNvSpPr/>
          <p:nvPr/>
        </p:nvSpPr>
        <p:spPr>
          <a:xfrm>
            <a:off x="5212080" y="23317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00"/>
              <a:buFont typeface="Trebuchet MS"/>
              <a:buNone/>
            </a:pPr>
            <a:r>
              <a:rPr b="1" i="0" lang="es" sz="1100" u="none" cap="none" strike="noStrike">
                <a:solidFill>
                  <a:srgbClr val="263980"/>
                </a:solidFill>
                <a:latin typeface="Trebuchet MS"/>
                <a:ea typeface="Trebuchet MS"/>
                <a:cs typeface="Trebuchet MS"/>
                <a:sym typeface="Trebuchet MS"/>
              </a:rPr>
              <a:t>Cómo enviar la prueba en Splio: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4"/>
          <p:cNvSpPr/>
          <p:nvPr/>
        </p:nvSpPr>
        <p:spPr>
          <a:xfrm>
            <a:off x="5257800" y="2743200"/>
            <a:ext cx="256032" cy="25603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34"/>
          <p:cNvSpPr/>
          <p:nvPr/>
        </p:nvSpPr>
        <p:spPr>
          <a:xfrm>
            <a:off x="5257800" y="274320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900"/>
              <a:buFont typeface="Arial Black"/>
              <a:buNone/>
            </a:pPr>
            <a:r>
              <a:rPr b="1" i="0" lang="es" sz="900" u="none" cap="none" strike="noStrike">
                <a:solidFill>
                  <a:srgbClr val="263980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4"/>
          <p:cNvSpPr/>
          <p:nvPr/>
        </p:nvSpPr>
        <p:spPr>
          <a:xfrm>
            <a:off x="5577840" y="2752344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Busca «Enviar prueba» o «Test Send»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4"/>
          <p:cNvSpPr/>
          <p:nvPr/>
        </p:nvSpPr>
        <p:spPr>
          <a:xfrm>
            <a:off x="5257800" y="3172968"/>
            <a:ext cx="256032" cy="25603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34"/>
          <p:cNvSpPr/>
          <p:nvPr/>
        </p:nvSpPr>
        <p:spPr>
          <a:xfrm>
            <a:off x="5257800" y="317296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900"/>
              <a:buFont typeface="Arial Black"/>
              <a:buNone/>
            </a:pPr>
            <a:r>
              <a:rPr b="1" i="0" lang="es" sz="900" u="none" cap="none" strike="noStrike">
                <a:solidFill>
                  <a:srgbClr val="263980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4"/>
          <p:cNvSpPr/>
          <p:nvPr/>
        </p:nvSpPr>
        <p:spPr>
          <a:xfrm>
            <a:off x="5577840" y="3182112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Escribe tu correo + el de tu supervisora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4"/>
          <p:cNvSpPr/>
          <p:nvPr/>
        </p:nvSpPr>
        <p:spPr>
          <a:xfrm>
            <a:off x="5257800" y="3602736"/>
            <a:ext cx="256032" cy="25603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34"/>
          <p:cNvSpPr/>
          <p:nvPr/>
        </p:nvSpPr>
        <p:spPr>
          <a:xfrm>
            <a:off x="5257800" y="360273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900"/>
              <a:buFont typeface="Arial Black"/>
              <a:buNone/>
            </a:pPr>
            <a:r>
              <a:rPr b="1" i="0" lang="es" sz="900" u="none" cap="none" strike="noStrike">
                <a:solidFill>
                  <a:srgbClr val="263980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4"/>
          <p:cNvSpPr/>
          <p:nvPr/>
        </p:nvSpPr>
        <p:spPr>
          <a:xfrm>
            <a:off x="5577840" y="361188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Abre en TELÉFONO y en COMPUTADORA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4"/>
          <p:cNvSpPr/>
          <p:nvPr/>
        </p:nvSpPr>
        <p:spPr>
          <a:xfrm>
            <a:off x="5257800" y="4032504"/>
            <a:ext cx="256032" cy="25603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34"/>
          <p:cNvSpPr/>
          <p:nvPr/>
        </p:nvSpPr>
        <p:spPr>
          <a:xfrm>
            <a:off x="5257800" y="403250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900"/>
              <a:buFont typeface="Arial Black"/>
              <a:buNone/>
            </a:pPr>
            <a:r>
              <a:rPr b="1" i="0" lang="es" sz="900" u="none" cap="none" strike="noStrike">
                <a:solidFill>
                  <a:srgbClr val="263980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4"/>
          <p:cNvSpPr/>
          <p:nvPr/>
        </p:nvSpPr>
        <p:spPr>
          <a:xfrm>
            <a:off x="5577840" y="4041648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Verifica todos los puntos de la lista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3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Eduardo Acevedo · Sunname Technologies · Curso Email Marketing MiBebéyYo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980"/>
        </a:solidFill>
      </p:bgPr>
    </p:bg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3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35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⏰  Los Mejores Horarios para Enviar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5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35"/>
          <p:cNvSpPr/>
          <p:nvPr/>
        </p:nvSpPr>
        <p:spPr>
          <a:xfrm>
            <a:off x="6675120" y="45720"/>
            <a:ext cx="2011680" cy="2743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35"/>
          <p:cNvSpPr/>
          <p:nvPr/>
        </p:nvSpPr>
        <p:spPr>
          <a:xfrm>
            <a:off x="6675120" y="457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1A56"/>
              </a:buClr>
              <a:buSzPts val="900"/>
              <a:buFont typeface="Calibri"/>
              <a:buNone/>
            </a:pPr>
            <a:r>
              <a:rPr b="1" i="0" lang="es" sz="900" u="none" cap="none" strike="noStrike">
                <a:solidFill>
                  <a:srgbClr val="2C1A56"/>
                </a:solidFill>
                <a:latin typeface="Calibri"/>
                <a:ea typeface="Calibri"/>
                <a:cs typeface="Calibri"/>
                <a:sym typeface="Calibri"/>
              </a:rPr>
              <a:t>MÓDULO 04 · HORARIOS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5"/>
          <p:cNvSpPr/>
          <p:nvPr/>
        </p:nvSpPr>
        <p:spPr>
          <a:xfrm>
            <a:off x="274320" y="1005840"/>
            <a:ext cx="1508760" cy="3474720"/>
          </a:xfrm>
          <a:prstGeom prst="rect">
            <a:avLst/>
          </a:prstGeom>
          <a:solidFill>
            <a:srgbClr val="1D2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35"/>
          <p:cNvSpPr/>
          <p:nvPr/>
        </p:nvSpPr>
        <p:spPr>
          <a:xfrm>
            <a:off x="274320" y="1005840"/>
            <a:ext cx="1508760" cy="411480"/>
          </a:xfrm>
          <a:prstGeom prst="rect">
            <a:avLst/>
          </a:prstGeom>
          <a:solidFill>
            <a:srgbClr val="46A8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35"/>
          <p:cNvSpPr/>
          <p:nvPr/>
        </p:nvSpPr>
        <p:spPr>
          <a:xfrm>
            <a:off x="320040" y="100584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Lunes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35"/>
          <p:cNvSpPr/>
          <p:nvPr/>
        </p:nvSpPr>
        <p:spPr>
          <a:xfrm>
            <a:off x="320040" y="150876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9:00 - 10:00 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5"/>
          <p:cNvSpPr/>
          <p:nvPr/>
        </p:nvSpPr>
        <p:spPr>
          <a:xfrm>
            <a:off x="438912" y="2176272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A8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35"/>
          <p:cNvSpPr/>
          <p:nvPr/>
        </p:nvSpPr>
        <p:spPr>
          <a:xfrm>
            <a:off x="676656" y="2176272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A8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35"/>
          <p:cNvSpPr/>
          <p:nvPr/>
        </p:nvSpPr>
        <p:spPr>
          <a:xfrm>
            <a:off x="914400" y="2176272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A8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35"/>
          <p:cNvSpPr/>
          <p:nvPr/>
        </p:nvSpPr>
        <p:spPr>
          <a:xfrm>
            <a:off x="1152144" y="2176272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D4E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35"/>
          <p:cNvSpPr/>
          <p:nvPr/>
        </p:nvSpPr>
        <p:spPr>
          <a:xfrm>
            <a:off x="1389888" y="2176272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D4E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5"/>
          <p:cNvSpPr/>
          <p:nvPr/>
        </p:nvSpPr>
        <p:spPr>
          <a:xfrm>
            <a:off x="365760" y="2468880"/>
            <a:ext cx="1325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Inicio de semana. Mayor receptividad a nuevo contenido.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5"/>
          <p:cNvSpPr/>
          <p:nvPr/>
        </p:nvSpPr>
        <p:spPr>
          <a:xfrm>
            <a:off x="1984248" y="1005840"/>
            <a:ext cx="1508760" cy="3474720"/>
          </a:xfrm>
          <a:prstGeom prst="rect">
            <a:avLst/>
          </a:prstGeom>
          <a:solidFill>
            <a:srgbClr val="1D2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35"/>
          <p:cNvSpPr/>
          <p:nvPr/>
        </p:nvSpPr>
        <p:spPr>
          <a:xfrm>
            <a:off x="1984248" y="1005840"/>
            <a:ext cx="1508760" cy="41148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5"/>
          <p:cNvSpPr/>
          <p:nvPr/>
        </p:nvSpPr>
        <p:spPr>
          <a:xfrm>
            <a:off x="2029968" y="100584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00"/>
              <a:buFont typeface="Trebuchet MS"/>
              <a:buNone/>
            </a:pPr>
            <a:r>
              <a:rPr b="1" i="0" lang="es" sz="1100" u="none" cap="none" strike="noStrike">
                <a:solidFill>
                  <a:srgbClr val="263980"/>
                </a:solidFill>
                <a:latin typeface="Trebuchet MS"/>
                <a:ea typeface="Trebuchet MS"/>
                <a:cs typeface="Trebuchet MS"/>
                <a:sym typeface="Trebuchet MS"/>
              </a:rPr>
              <a:t>Martes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5"/>
          <p:cNvSpPr/>
          <p:nvPr/>
        </p:nvSpPr>
        <p:spPr>
          <a:xfrm>
            <a:off x="2029968" y="150876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8:00 - 9:00 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5"/>
          <p:cNvSpPr/>
          <p:nvPr/>
        </p:nvSpPr>
        <p:spPr>
          <a:xfrm>
            <a:off x="2148840" y="2176272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35"/>
          <p:cNvSpPr/>
          <p:nvPr/>
        </p:nvSpPr>
        <p:spPr>
          <a:xfrm>
            <a:off x="2386584" y="2176272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35"/>
          <p:cNvSpPr/>
          <p:nvPr/>
        </p:nvSpPr>
        <p:spPr>
          <a:xfrm>
            <a:off x="2624328" y="2176272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35"/>
          <p:cNvSpPr/>
          <p:nvPr/>
        </p:nvSpPr>
        <p:spPr>
          <a:xfrm>
            <a:off x="2862072" y="2176272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35"/>
          <p:cNvSpPr/>
          <p:nvPr/>
        </p:nvSpPr>
        <p:spPr>
          <a:xfrm>
            <a:off x="3099816" y="2176272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35"/>
          <p:cNvSpPr/>
          <p:nvPr/>
        </p:nvSpPr>
        <p:spPr>
          <a:xfrm>
            <a:off x="2075688" y="2468880"/>
            <a:ext cx="1325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Las mamás revisan correo mientras el bebé duerme.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5"/>
          <p:cNvSpPr/>
          <p:nvPr/>
        </p:nvSpPr>
        <p:spPr>
          <a:xfrm>
            <a:off x="3694176" y="1005840"/>
            <a:ext cx="1508760" cy="3474720"/>
          </a:xfrm>
          <a:prstGeom prst="rect">
            <a:avLst/>
          </a:prstGeom>
          <a:solidFill>
            <a:srgbClr val="1D2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35"/>
          <p:cNvSpPr/>
          <p:nvPr/>
        </p:nvSpPr>
        <p:spPr>
          <a:xfrm>
            <a:off x="3694176" y="1005840"/>
            <a:ext cx="1508760" cy="41148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35"/>
          <p:cNvSpPr/>
          <p:nvPr/>
        </p:nvSpPr>
        <p:spPr>
          <a:xfrm>
            <a:off x="3739896" y="100584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00"/>
              <a:buFont typeface="Trebuchet MS"/>
              <a:buNone/>
            </a:pPr>
            <a:r>
              <a:rPr b="1" i="0" lang="es" sz="1100" u="none" cap="none" strike="noStrike">
                <a:solidFill>
                  <a:srgbClr val="263980"/>
                </a:solidFill>
                <a:latin typeface="Trebuchet MS"/>
                <a:ea typeface="Trebuchet MS"/>
                <a:cs typeface="Trebuchet MS"/>
                <a:sym typeface="Trebuchet MS"/>
              </a:rPr>
              <a:t>Miércoles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5"/>
          <p:cNvSpPr/>
          <p:nvPr/>
        </p:nvSpPr>
        <p:spPr>
          <a:xfrm>
            <a:off x="3739896" y="150876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8:00 - 9:00 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5"/>
          <p:cNvSpPr/>
          <p:nvPr/>
        </p:nvSpPr>
        <p:spPr>
          <a:xfrm>
            <a:off x="3858768" y="2176272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35"/>
          <p:cNvSpPr/>
          <p:nvPr/>
        </p:nvSpPr>
        <p:spPr>
          <a:xfrm>
            <a:off x="4096512" y="2176272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35"/>
          <p:cNvSpPr/>
          <p:nvPr/>
        </p:nvSpPr>
        <p:spPr>
          <a:xfrm>
            <a:off x="4334256" y="2176272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35"/>
          <p:cNvSpPr/>
          <p:nvPr/>
        </p:nvSpPr>
        <p:spPr>
          <a:xfrm>
            <a:off x="4572000" y="2176272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35"/>
          <p:cNvSpPr/>
          <p:nvPr/>
        </p:nvSpPr>
        <p:spPr>
          <a:xfrm>
            <a:off x="4809744" y="2176272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35"/>
          <p:cNvSpPr/>
          <p:nvPr/>
        </p:nvSpPr>
        <p:spPr>
          <a:xfrm>
            <a:off x="3785616" y="2468880"/>
            <a:ext cx="1325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Horario óptimo. Alto engagement entre semana.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35"/>
          <p:cNvSpPr/>
          <p:nvPr/>
        </p:nvSpPr>
        <p:spPr>
          <a:xfrm>
            <a:off x="5404104" y="1005840"/>
            <a:ext cx="1508760" cy="3474720"/>
          </a:xfrm>
          <a:prstGeom prst="rect">
            <a:avLst/>
          </a:prstGeom>
          <a:solidFill>
            <a:srgbClr val="1D2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35"/>
          <p:cNvSpPr/>
          <p:nvPr/>
        </p:nvSpPr>
        <p:spPr>
          <a:xfrm>
            <a:off x="5404104" y="1005840"/>
            <a:ext cx="1508760" cy="41148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35"/>
          <p:cNvSpPr/>
          <p:nvPr/>
        </p:nvSpPr>
        <p:spPr>
          <a:xfrm>
            <a:off x="5449824" y="100584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Jueves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5"/>
          <p:cNvSpPr/>
          <p:nvPr/>
        </p:nvSpPr>
        <p:spPr>
          <a:xfrm>
            <a:off x="5449824" y="150876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12:00 - 2:00 PM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5"/>
          <p:cNvSpPr/>
          <p:nvPr/>
        </p:nvSpPr>
        <p:spPr>
          <a:xfrm>
            <a:off x="5568696" y="2176272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35"/>
          <p:cNvSpPr/>
          <p:nvPr/>
        </p:nvSpPr>
        <p:spPr>
          <a:xfrm>
            <a:off x="5806440" y="2176272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35"/>
          <p:cNvSpPr/>
          <p:nvPr/>
        </p:nvSpPr>
        <p:spPr>
          <a:xfrm>
            <a:off x="6044184" y="2176272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35"/>
          <p:cNvSpPr/>
          <p:nvPr/>
        </p:nvSpPr>
        <p:spPr>
          <a:xfrm>
            <a:off x="6281928" y="2176272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5"/>
          <p:cNvSpPr/>
          <p:nvPr/>
        </p:nvSpPr>
        <p:spPr>
          <a:xfrm>
            <a:off x="6519672" y="2176272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D4E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5"/>
          <p:cNvSpPr/>
          <p:nvPr/>
        </p:nvSpPr>
        <p:spPr>
          <a:xfrm>
            <a:off x="5495544" y="2468880"/>
            <a:ext cx="1325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Pausa del almuerzo. Lectura desde el celular.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5"/>
          <p:cNvSpPr/>
          <p:nvPr/>
        </p:nvSpPr>
        <p:spPr>
          <a:xfrm>
            <a:off x="7114032" y="1005840"/>
            <a:ext cx="1508760" cy="3474720"/>
          </a:xfrm>
          <a:prstGeom prst="rect">
            <a:avLst/>
          </a:prstGeom>
          <a:solidFill>
            <a:srgbClr val="1D2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5"/>
          <p:cNvSpPr/>
          <p:nvPr/>
        </p:nvSpPr>
        <p:spPr>
          <a:xfrm>
            <a:off x="7114032" y="1005840"/>
            <a:ext cx="1508760" cy="411480"/>
          </a:xfrm>
          <a:prstGeom prst="rect">
            <a:avLst/>
          </a:prstGeom>
          <a:solidFill>
            <a:srgbClr val="E08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35"/>
          <p:cNvSpPr/>
          <p:nvPr/>
        </p:nvSpPr>
        <p:spPr>
          <a:xfrm>
            <a:off x="7159752" y="100584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Fin de Sem.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35"/>
          <p:cNvSpPr/>
          <p:nvPr/>
        </p:nvSpPr>
        <p:spPr>
          <a:xfrm>
            <a:off x="7159752" y="150876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10:00 AM - 12:00 PM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5"/>
          <p:cNvSpPr/>
          <p:nvPr/>
        </p:nvSpPr>
        <p:spPr>
          <a:xfrm>
            <a:off x="7278624" y="2176272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08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35"/>
          <p:cNvSpPr/>
          <p:nvPr/>
        </p:nvSpPr>
        <p:spPr>
          <a:xfrm>
            <a:off x="7516368" y="2176272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08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35"/>
          <p:cNvSpPr/>
          <p:nvPr/>
        </p:nvSpPr>
        <p:spPr>
          <a:xfrm>
            <a:off x="7754112" y="2176272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D4E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5"/>
          <p:cNvSpPr/>
          <p:nvPr/>
        </p:nvSpPr>
        <p:spPr>
          <a:xfrm>
            <a:off x="7991856" y="2176272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D4E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35"/>
          <p:cNvSpPr/>
          <p:nvPr/>
        </p:nvSpPr>
        <p:spPr>
          <a:xfrm>
            <a:off x="8229600" y="2176272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D4E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35"/>
          <p:cNvSpPr/>
          <p:nvPr/>
        </p:nvSpPr>
        <p:spPr>
          <a:xfrm>
            <a:off x="7205472" y="2468880"/>
            <a:ext cx="1325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Sorteos y contenido de entretenimiento. Menos competencia.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5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46C2CE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35"/>
          <p:cNvSpPr/>
          <p:nvPr/>
        </p:nvSpPr>
        <p:spPr>
          <a:xfrm>
            <a:off x="365760" y="4636008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050"/>
              <a:buFont typeface="Calibri"/>
              <a:buNone/>
            </a:pPr>
            <a:r>
              <a:rPr b="1" i="0" lang="es" sz="1050" u="none" cap="none" strike="noStrik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⭐  Recomendación: Martes a jueves, 8:00 - 9:00 AM = máxima tasa de apertura para Mi Bebé y Yo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3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Eduardo Acevedo · Sunname Technologies · Curso Email Marketing MiBebéyYo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3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36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 Black"/>
              <a:buNone/>
            </a:pPr>
            <a:r>
              <a:rPr b="1" i="0" lang="es" sz="2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Resumen: Lo Que Debes Recordar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6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36"/>
          <p:cNvSpPr/>
          <p:nvPr/>
        </p:nvSpPr>
        <p:spPr>
          <a:xfrm>
            <a:off x="274320" y="1005840"/>
            <a:ext cx="3977640" cy="1737360"/>
          </a:xfrm>
          <a:prstGeom prst="rect">
            <a:avLst/>
          </a:prstGeom>
          <a:solidFill>
            <a:srgbClr val="263980"/>
          </a:solidFill>
          <a:ln>
            <a:noFill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36"/>
          <p:cNvSpPr/>
          <p:nvPr/>
        </p:nvSpPr>
        <p:spPr>
          <a:xfrm>
            <a:off x="274320" y="1005840"/>
            <a:ext cx="502920" cy="1737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36"/>
          <p:cNvSpPr/>
          <p:nvPr/>
        </p:nvSpPr>
        <p:spPr>
          <a:xfrm>
            <a:off x="274320" y="1508760"/>
            <a:ext cx="502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1" i="0" lang="e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36"/>
          <p:cNvSpPr/>
          <p:nvPr/>
        </p:nvSpPr>
        <p:spPr>
          <a:xfrm>
            <a:off x="868680" y="10972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Email Marketing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6"/>
          <p:cNvSpPr/>
          <p:nvPr/>
        </p:nvSpPr>
        <p:spPr>
          <a:xfrm>
            <a:off x="868680" y="15087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7FF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E0E7FF"/>
                </a:solidFill>
                <a:latin typeface="Calibri"/>
                <a:ea typeface="Calibri"/>
                <a:cs typeface="Calibri"/>
                <a:sym typeface="Calibri"/>
              </a:rPr>
              <a:t>✓  Objetivo claro en cada correo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36"/>
          <p:cNvSpPr/>
          <p:nvPr/>
        </p:nvSpPr>
        <p:spPr>
          <a:xfrm>
            <a:off x="868680" y="181051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7FF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E0E7FF"/>
                </a:solidFill>
                <a:latin typeface="Calibri"/>
                <a:ea typeface="Calibri"/>
                <a:cs typeface="Calibri"/>
                <a:sym typeface="Calibri"/>
              </a:rPr>
              <a:t>✓  Asunto = primera impresión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36"/>
          <p:cNvSpPr/>
          <p:nvPr/>
        </p:nvSpPr>
        <p:spPr>
          <a:xfrm>
            <a:off x="868680" y="211226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7FF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E0E7FF"/>
                </a:solidFill>
                <a:latin typeface="Calibri"/>
                <a:ea typeface="Calibri"/>
                <a:cs typeface="Calibri"/>
                <a:sym typeface="Calibri"/>
              </a:rPr>
              <a:t>✓  Métricas: Open/Click/Bounce Rate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36"/>
          <p:cNvSpPr/>
          <p:nvPr/>
        </p:nvSpPr>
        <p:spPr>
          <a:xfrm>
            <a:off x="868680" y="2414016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7FF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E0E7FF"/>
                </a:solidFill>
                <a:latin typeface="Calibri"/>
                <a:ea typeface="Calibri"/>
                <a:cs typeface="Calibri"/>
                <a:sym typeface="Calibri"/>
              </a:rPr>
              <a:t>✓  Evita palabras de spam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36"/>
          <p:cNvSpPr/>
          <p:nvPr/>
        </p:nvSpPr>
        <p:spPr>
          <a:xfrm>
            <a:off x="4709160" y="1005840"/>
            <a:ext cx="3977640" cy="1737360"/>
          </a:xfrm>
          <a:prstGeom prst="rect">
            <a:avLst/>
          </a:prstGeom>
          <a:solidFill>
            <a:srgbClr val="7F52A0"/>
          </a:solidFill>
          <a:ln>
            <a:noFill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36"/>
          <p:cNvSpPr/>
          <p:nvPr/>
        </p:nvSpPr>
        <p:spPr>
          <a:xfrm>
            <a:off x="4709160" y="1005840"/>
            <a:ext cx="502920" cy="1737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36"/>
          <p:cNvSpPr/>
          <p:nvPr/>
        </p:nvSpPr>
        <p:spPr>
          <a:xfrm>
            <a:off x="4709160" y="1508760"/>
            <a:ext cx="502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1" i="0" lang="e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36"/>
          <p:cNvSpPr/>
          <p:nvPr/>
        </p:nvSpPr>
        <p:spPr>
          <a:xfrm>
            <a:off x="5303520" y="10972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Herramientas Web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36"/>
          <p:cNvSpPr/>
          <p:nvPr/>
        </p:nvSpPr>
        <p:spPr>
          <a:xfrm>
            <a:off x="5303520" y="15087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7FF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E0E7FF"/>
                </a:solidFill>
                <a:latin typeface="Calibri"/>
                <a:ea typeface="Calibri"/>
                <a:cs typeface="Calibri"/>
                <a:sym typeface="Calibri"/>
              </a:rPr>
              <a:t>✓  VSC: editor gratuito de HTML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36"/>
          <p:cNvSpPr/>
          <p:nvPr/>
        </p:nvSpPr>
        <p:spPr>
          <a:xfrm>
            <a:off x="5303520" y="181051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7FF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E0E7FF"/>
                </a:solidFill>
                <a:latin typeface="Calibri"/>
                <a:ea typeface="Calibri"/>
                <a:cs typeface="Calibri"/>
                <a:sym typeface="Calibri"/>
              </a:rPr>
              <a:t>✓  HTML = estructura, CSS = diseño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36"/>
          <p:cNvSpPr/>
          <p:nvPr/>
        </p:nvSpPr>
        <p:spPr>
          <a:xfrm>
            <a:off x="5303520" y="211226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7FF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E0E7FF"/>
                </a:solidFill>
                <a:latin typeface="Calibri"/>
                <a:ea typeface="Calibri"/>
                <a:cs typeface="Calibri"/>
                <a:sym typeface="Calibri"/>
              </a:rPr>
              <a:t>✓  No tocar CSS sin instrucciones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36"/>
          <p:cNvSpPr/>
          <p:nvPr/>
        </p:nvSpPr>
        <p:spPr>
          <a:xfrm>
            <a:off x="5303520" y="2414016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7FF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E0E7FF"/>
                </a:solidFill>
                <a:latin typeface="Calibri"/>
                <a:ea typeface="Calibri"/>
                <a:cs typeface="Calibri"/>
                <a:sym typeface="Calibri"/>
              </a:rPr>
              <a:t>✓  80-90% abre en celular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36"/>
          <p:cNvSpPr/>
          <p:nvPr/>
        </p:nvSpPr>
        <p:spPr>
          <a:xfrm>
            <a:off x="274320" y="2971800"/>
            <a:ext cx="3977640" cy="1737360"/>
          </a:xfrm>
          <a:prstGeom prst="rect">
            <a:avLst/>
          </a:prstGeom>
          <a:solidFill>
            <a:srgbClr val="46C2CE"/>
          </a:solidFill>
          <a:ln>
            <a:noFill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36"/>
          <p:cNvSpPr/>
          <p:nvPr/>
        </p:nvSpPr>
        <p:spPr>
          <a:xfrm>
            <a:off x="274320" y="2971800"/>
            <a:ext cx="502920" cy="1737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36"/>
          <p:cNvSpPr/>
          <p:nvPr/>
        </p:nvSpPr>
        <p:spPr>
          <a:xfrm>
            <a:off x="274320" y="3474720"/>
            <a:ext cx="502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000"/>
              <a:buFont typeface="Arial Black"/>
              <a:buNone/>
            </a:pPr>
            <a:r>
              <a:rPr b="1" i="0" lang="es" sz="2000" u="none" cap="none" strike="noStrike">
                <a:solidFill>
                  <a:srgbClr val="263980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36"/>
          <p:cNvSpPr/>
          <p:nvPr/>
        </p:nvSpPr>
        <p:spPr>
          <a:xfrm>
            <a:off x="868680" y="30632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Trebuchet MS"/>
              <a:buNone/>
            </a:pPr>
            <a:r>
              <a:rPr b="1" i="0" lang="es" sz="1300" u="none" cap="none" strike="noStrike">
                <a:solidFill>
                  <a:srgbClr val="263980"/>
                </a:solidFill>
                <a:latin typeface="Trebuchet MS"/>
                <a:ea typeface="Trebuchet MS"/>
                <a:cs typeface="Trebuchet MS"/>
                <a:sym typeface="Trebuchet MS"/>
              </a:rPr>
              <a:t>Edición Práctica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36"/>
          <p:cNvSpPr/>
          <p:nvPr/>
        </p:nvSpPr>
        <p:spPr>
          <a:xfrm>
            <a:off x="868680" y="34747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✓  Siempre trabajar en copia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36"/>
          <p:cNvSpPr/>
          <p:nvPr/>
        </p:nvSpPr>
        <p:spPr>
          <a:xfrm>
            <a:off x="868680" y="377647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✓  Ctrl+H para reemplazar masivo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6"/>
          <p:cNvSpPr/>
          <p:nvPr/>
        </p:nvSpPr>
        <p:spPr>
          <a:xfrm>
            <a:off x="868680" y="407822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✓  Solo editar entre etiquetas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6"/>
          <p:cNvSpPr/>
          <p:nvPr/>
        </p:nvSpPr>
        <p:spPr>
          <a:xfrm>
            <a:off x="868680" y="4379976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✓  Previsualizar en Chrome + móvil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6"/>
          <p:cNvSpPr/>
          <p:nvPr/>
        </p:nvSpPr>
        <p:spPr>
          <a:xfrm>
            <a:off x="4709160" y="2971800"/>
            <a:ext cx="3977640" cy="1737360"/>
          </a:xfrm>
          <a:prstGeom prst="rect">
            <a:avLst/>
          </a:prstGeom>
          <a:solidFill>
            <a:srgbClr val="2C1A56"/>
          </a:solidFill>
          <a:ln>
            <a:noFill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6"/>
          <p:cNvSpPr/>
          <p:nvPr/>
        </p:nvSpPr>
        <p:spPr>
          <a:xfrm>
            <a:off x="4709160" y="2971800"/>
            <a:ext cx="502920" cy="1737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36"/>
          <p:cNvSpPr/>
          <p:nvPr/>
        </p:nvSpPr>
        <p:spPr>
          <a:xfrm>
            <a:off x="4709160" y="3474720"/>
            <a:ext cx="502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1" i="0" lang="e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6"/>
          <p:cNvSpPr/>
          <p:nvPr/>
        </p:nvSpPr>
        <p:spPr>
          <a:xfrm>
            <a:off x="5303520" y="30632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Splio y Envíos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36"/>
          <p:cNvSpPr/>
          <p:nvPr/>
        </p:nvSpPr>
        <p:spPr>
          <a:xfrm>
            <a:off x="5303520" y="34747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7FF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E0E7FF"/>
                </a:solidFill>
                <a:latin typeface="Calibri"/>
                <a:ea typeface="Calibri"/>
                <a:cs typeface="Calibri"/>
                <a:sym typeface="Calibri"/>
              </a:rPr>
              <a:t>✓  Copiar HTML limpio de VSC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36"/>
          <p:cNvSpPr/>
          <p:nvPr/>
        </p:nvSpPr>
        <p:spPr>
          <a:xfrm>
            <a:off x="5303520" y="377647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7FF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E0E7FF"/>
                </a:solidFill>
                <a:latin typeface="Calibri"/>
                <a:ea typeface="Calibri"/>
                <a:cs typeface="Calibri"/>
                <a:sym typeface="Calibri"/>
              </a:rPr>
              <a:t>✓  Configurar remitente correcto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36"/>
          <p:cNvSpPr/>
          <p:nvPr/>
        </p:nvSpPr>
        <p:spPr>
          <a:xfrm>
            <a:off x="5303520" y="407822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7FF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E0E7FF"/>
                </a:solidFill>
                <a:latin typeface="Calibri"/>
                <a:ea typeface="Calibri"/>
                <a:cs typeface="Calibri"/>
                <a:sym typeface="Calibri"/>
              </a:rPr>
              <a:t>✓  Segmentar por etapa de vida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36"/>
          <p:cNvSpPr/>
          <p:nvPr/>
        </p:nvSpPr>
        <p:spPr>
          <a:xfrm>
            <a:off x="5303520" y="4379976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7FF"/>
              </a:buClr>
              <a:buSzPts val="950"/>
              <a:buFont typeface="Calibri"/>
              <a:buNone/>
            </a:pPr>
            <a:r>
              <a:rPr b="0" i="0" lang="es" sz="950" u="none" cap="none" strike="noStrike">
                <a:solidFill>
                  <a:srgbClr val="E0E7FF"/>
                </a:solidFill>
                <a:latin typeface="Calibri"/>
                <a:ea typeface="Calibri"/>
                <a:cs typeface="Calibri"/>
                <a:sym typeface="Calibri"/>
              </a:rPr>
              <a:t>✓  Prueba antes del envío masivo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36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Eduardo Acevedo · Sunname Technologies · Curso Email Marketing MiBebéyYo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1A56"/>
        </a:solidFill>
      </p:bgPr>
    </p:bg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7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37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37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37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💕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37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i="0" lang="e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¡Estás listo/a para conectar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37"/>
          <p:cNvSpPr/>
          <p:nvPr/>
        </p:nvSpPr>
        <p:spPr>
          <a:xfrm>
            <a:off x="731520" y="178308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2600"/>
              <a:buFont typeface="Arial Black"/>
              <a:buNone/>
            </a:pPr>
            <a:r>
              <a:rPr b="1" i="0" lang="es" sz="2600" u="none" cap="none" strike="noStrike">
                <a:solidFill>
                  <a:srgbClr val="46C2CE"/>
                </a:solidFill>
                <a:latin typeface="Arial Black"/>
                <a:ea typeface="Arial Black"/>
                <a:cs typeface="Arial Black"/>
                <a:sym typeface="Arial Black"/>
              </a:rPr>
              <a:t>con miles de mamás y papás!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37"/>
          <p:cNvSpPr/>
          <p:nvPr/>
        </p:nvSpPr>
        <p:spPr>
          <a:xfrm>
            <a:off x="1828800" y="2514600"/>
            <a:ext cx="5486400" cy="45720"/>
          </a:xfrm>
          <a:prstGeom prst="rect">
            <a:avLst/>
          </a:prstGeom>
          <a:solidFill>
            <a:srgbClr val="46C2CE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37"/>
          <p:cNvSpPr/>
          <p:nvPr/>
        </p:nvSpPr>
        <p:spPr>
          <a:xfrm>
            <a:off x="914400" y="265176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0D0F0"/>
              </a:buClr>
              <a:buSzPts val="1200"/>
              <a:buFont typeface="Calibri"/>
              <a:buNone/>
            </a:pPr>
            <a:r>
              <a:rPr b="0" i="1" lang="es" sz="1200" u="none" cap="none" strike="noStrike">
                <a:solidFill>
                  <a:srgbClr val="E0D0F0"/>
                </a:solidFill>
                <a:latin typeface="Calibri"/>
                <a:ea typeface="Calibri"/>
                <a:cs typeface="Calibri"/>
                <a:sym typeface="Calibri"/>
              </a:rPr>
              <a:t>Cada correo que envías bien significa que una mamá encontró el artículo que necesitaba leer hoy.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0D0F0"/>
              </a:buClr>
              <a:buSzPts val="1200"/>
              <a:buFont typeface="Calibri"/>
              <a:buNone/>
            </a:pPr>
            <a:r>
              <a:rPr b="0" i="1" lang="es" sz="1200" u="none" cap="none" strike="noStrike">
                <a:solidFill>
                  <a:srgbClr val="E0D0F0"/>
                </a:solidFill>
                <a:latin typeface="Calibri"/>
                <a:ea typeface="Calibri"/>
                <a:cs typeface="Calibri"/>
                <a:sym typeface="Calibri"/>
              </a:rPr>
              <a:t>¡Ese impacto vale el esfuerzo de hacer bien tu trabajo!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37"/>
          <p:cNvSpPr/>
          <p:nvPr/>
        </p:nvSpPr>
        <p:spPr>
          <a:xfrm>
            <a:off x="1371600" y="3657600"/>
            <a:ext cx="2743200" cy="868680"/>
          </a:xfrm>
          <a:prstGeom prst="rect">
            <a:avLst/>
          </a:prstGeom>
          <a:solidFill>
            <a:srgbClr val="263980"/>
          </a:solidFill>
          <a:ln cap="flat" cmpd="sng" w="12700">
            <a:solidFill>
              <a:srgbClr val="46C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37"/>
          <p:cNvSpPr/>
          <p:nvPr/>
        </p:nvSpPr>
        <p:spPr>
          <a:xfrm>
            <a:off x="1371600" y="3787902"/>
            <a:ext cx="27432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Sunname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37"/>
          <p:cNvSpPr/>
          <p:nvPr/>
        </p:nvSpPr>
        <p:spPr>
          <a:xfrm>
            <a:off x="1371600" y="4135374"/>
            <a:ext cx="274320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TECHNOLOGIES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37"/>
          <p:cNvSpPr/>
          <p:nvPr/>
        </p:nvSpPr>
        <p:spPr>
          <a:xfrm>
            <a:off x="5029200" y="3657600"/>
            <a:ext cx="274320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37"/>
          <p:cNvSpPr/>
          <p:nvPr/>
        </p:nvSpPr>
        <p:spPr>
          <a:xfrm>
            <a:off x="5029200" y="3787902"/>
            <a:ext cx="2743200" cy="4777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B2E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A6B2E"/>
                </a:solidFill>
                <a:latin typeface="Calibri"/>
                <a:ea typeface="Calibri"/>
                <a:cs typeface="Calibri"/>
                <a:sym typeface="Calibri"/>
              </a:rPr>
              <a:t>Mibebé y yo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37"/>
          <p:cNvSpPr/>
          <p:nvPr/>
        </p:nvSpPr>
        <p:spPr>
          <a:xfrm>
            <a:off x="5029200" y="4222242"/>
            <a:ext cx="2743200" cy="2171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33"/>
              </a:buClr>
              <a:buSzPts val="700"/>
              <a:buFont typeface="Calibri"/>
              <a:buNone/>
            </a:pPr>
            <a:r>
              <a:rPr b="0" i="0" lang="es" sz="700" u="none" cap="none" strike="noStrike">
                <a:solidFill>
                  <a:srgbClr val="CC0033"/>
                </a:solidFill>
                <a:latin typeface="Calibri"/>
                <a:ea typeface="Calibri"/>
                <a:cs typeface="Calibri"/>
                <a:sym typeface="Calibri"/>
              </a:rPr>
              <a:t>MÉXICO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37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Eduardo Acevedo  ·  Consultor Digital  ·  Sunname Technologies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