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83" r:id="rId2"/>
    <p:sldId id="257" r:id="rId3"/>
    <p:sldId id="282" r:id="rId4"/>
    <p:sldId id="259" r:id="rId5"/>
    <p:sldId id="260" r:id="rId6"/>
    <p:sldId id="261" r:id="rId7"/>
    <p:sldId id="262" r:id="rId8"/>
    <p:sldId id="263" r:id="rId9"/>
    <p:sldId id="284" r:id="rId10"/>
    <p:sldId id="265" r:id="rId11"/>
    <p:sldId id="266" r:id="rId12"/>
    <p:sldId id="267" r:id="rId13"/>
    <p:sldId id="268" r:id="rId14"/>
    <p:sldId id="285" r:id="rId15"/>
    <p:sldId id="270" r:id="rId16"/>
    <p:sldId id="271" r:id="rId17"/>
    <p:sldId id="272" r:id="rId18"/>
    <p:sldId id="273" r:id="rId19"/>
    <p:sldId id="286"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56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5FE"/>
    <a:srgbClr val="F7F9FF"/>
    <a:srgbClr val="2C1A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4" d="100"/>
          <a:sy n="144" d="100"/>
        </p:scale>
        <p:origin x="654" y="126"/>
      </p:cViewPr>
      <p:guideLst>
        <p:guide orient="horz" pos="1620"/>
        <p:guide pos="560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441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6.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2.svg"/><Relationship Id="rId4" Type="http://schemas.openxmlformats.org/officeDocument/2006/relationships/image" Target="../media/image12.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C1A56"/>
        </a:solidFill>
        <a:effectLst/>
      </p:bgPr>
    </p:bg>
    <p:spTree>
      <p:nvGrpSpPr>
        <p:cNvPr id="1" name=""/>
        <p:cNvGrpSpPr/>
        <p:nvPr/>
      </p:nvGrpSpPr>
      <p:grpSpPr>
        <a:xfrm>
          <a:off x="0" y="0"/>
          <a:ext cx="0" cy="0"/>
          <a:chOff x="0" y="0"/>
          <a:chExt cx="0" cy="0"/>
        </a:xfrm>
      </p:grpSpPr>
      <p:sp>
        <p:nvSpPr>
          <p:cNvPr id="2" name="Shape 0"/>
          <p:cNvSpPr/>
          <p:nvPr/>
        </p:nvSpPr>
        <p:spPr>
          <a:xfrm>
            <a:off x="5760720" y="-2011680"/>
            <a:ext cx="6400800" cy="6400800"/>
          </a:xfrm>
          <a:prstGeom prst="ellipse">
            <a:avLst/>
          </a:prstGeom>
          <a:solidFill>
            <a:srgbClr val="263980"/>
          </a:solidFill>
          <a:ln w="12700">
            <a:solidFill>
              <a:srgbClr val="2639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6858000" y="-914400"/>
            <a:ext cx="4114800" cy="4114800"/>
          </a:xfrm>
          <a:prstGeom prst="ellipse">
            <a:avLst/>
          </a:prstGeom>
          <a:solidFill>
            <a:srgbClr val="46C2CE">
              <a:alpha val="32000"/>
            </a:srgbClr>
          </a:solidFill>
          <a:ln w="12700">
            <a:solidFill>
              <a:srgbClr val="46C2CE">
                <a:alpha val="3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2011680" y="3200400"/>
            <a:ext cx="5029200" cy="5029200"/>
          </a:xfrm>
          <a:prstGeom prst="ellipse">
            <a:avLst/>
          </a:prstGeom>
          <a:solidFill>
            <a:srgbClr val="263980">
              <a:alpha val="62000"/>
            </a:srgbClr>
          </a:solidFill>
          <a:ln w="12700">
            <a:solidFill>
              <a:srgbClr val="263980">
                <a:alpha val="6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4663440"/>
            <a:ext cx="9144000" cy="480060"/>
          </a:xfrm>
          <a:prstGeom prst="rect">
            <a:avLst/>
          </a:prstGeom>
          <a:solidFill>
            <a:srgbClr val="263980"/>
          </a:solidFill>
          <a:ln w="12700">
            <a:solidFill>
              <a:srgbClr val="2639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0" y="4663440"/>
            <a:ext cx="3474720" cy="480060"/>
          </a:xfrm>
          <a:prstGeom prst="rect">
            <a:avLst/>
          </a:prstGeom>
          <a:solidFill>
            <a:srgbClr val="46C2CE"/>
          </a:solidFill>
          <a:ln w="12700">
            <a:solidFill>
              <a:srgbClr val="46C2C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502920" y="1143000"/>
            <a:ext cx="2011680" cy="256032"/>
          </a:xfrm>
          <a:prstGeom prst="rect">
            <a:avLst/>
          </a:prstGeom>
          <a:solidFill>
            <a:srgbClr val="46C2CE">
              <a:alpha val="80000"/>
            </a:srgbClr>
          </a:solidFill>
          <a:ln w="12700">
            <a:solidFill>
              <a:srgbClr val="46C2CE">
                <a:alpha val="8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502920" y="1143000"/>
            <a:ext cx="20116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300" normalizeH="0" baseline="0" noProof="0" dirty="0">
                <a:ln>
                  <a:noFill/>
                </a:ln>
                <a:solidFill>
                  <a:srgbClr val="FFFFFF"/>
                </a:solidFill>
                <a:effectLst/>
                <a:uLnTx/>
                <a:uFillTx/>
                <a:latin typeface="Calibri" pitchFamily="34" charset="0"/>
                <a:ea typeface="Calibri" pitchFamily="34" charset="-122"/>
                <a:cs typeface="Calibri" pitchFamily="34" charset="-120"/>
              </a:rPr>
              <a:t>PRESENTA</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502920" y="1508760"/>
            <a:ext cx="685800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Gestión</a:t>
            </a:r>
            <a:r>
              <a:rPr kumimoji="0" lang="en-US" sz="3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de Banners</a:t>
            </a:r>
          </a:p>
        </p:txBody>
      </p:sp>
      <p:sp>
        <p:nvSpPr>
          <p:cNvPr id="11" name="Text 8"/>
          <p:cNvSpPr/>
          <p:nvPr/>
        </p:nvSpPr>
        <p:spPr>
          <a:xfrm>
            <a:off x="502920" y="2103120"/>
            <a:ext cx="6858000" cy="7498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46C2CE"/>
                </a:solidFill>
                <a:effectLst/>
                <a:uLnTx/>
                <a:uFillTx/>
                <a:latin typeface="Calibri" pitchFamily="34" charset="0"/>
                <a:ea typeface="Calibri" pitchFamily="34" charset="-122"/>
                <a:cs typeface="Calibri" pitchFamily="34" charset="-120"/>
              </a:rPr>
              <a:t>con Google Ad Manager</a:t>
            </a:r>
          </a:p>
        </p:txBody>
      </p:sp>
      <p:sp>
        <p:nvSpPr>
          <p:cNvPr id="12" name="Shape 9"/>
          <p:cNvSpPr/>
          <p:nvPr/>
        </p:nvSpPr>
        <p:spPr>
          <a:xfrm>
            <a:off x="502920" y="2944368"/>
            <a:ext cx="3291840" cy="438912"/>
          </a:xfrm>
          <a:prstGeom prst="rect">
            <a:avLst/>
          </a:prstGeom>
          <a:solidFill>
            <a:srgbClr val="263980"/>
          </a:solidFill>
          <a:ln w="12700">
            <a:solidFill>
              <a:srgbClr val="46C2C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502920" y="2944368"/>
            <a:ext cx="3291840"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400" normalizeH="0" baseline="0" noProof="0" dirty="0">
                <a:ln>
                  <a:noFill/>
                </a:ln>
                <a:solidFill>
                  <a:srgbClr val="46C2CE"/>
                </a:solidFill>
                <a:effectLst/>
                <a:uLnTx/>
                <a:uFillTx/>
                <a:latin typeface="Calibri" pitchFamily="34" charset="0"/>
                <a:ea typeface="Calibri" pitchFamily="34" charset="-122"/>
                <a:cs typeface="Calibri" pitchFamily="34" charset="-120"/>
              </a:rPr>
              <a:t>Sfera </a:t>
            </a:r>
            <a:r>
              <a:rPr kumimoji="0" lang="en-US" sz="1800" b="1" i="0" u="none" strike="noStrike" kern="0" cap="none" spc="400" normalizeH="0" baseline="0" noProof="0" dirty="0" err="1">
                <a:ln>
                  <a:noFill/>
                </a:ln>
                <a:solidFill>
                  <a:srgbClr val="46C2CE"/>
                </a:solidFill>
                <a:effectLst/>
                <a:uLnTx/>
                <a:uFillTx/>
                <a:latin typeface="Calibri" pitchFamily="34" charset="0"/>
                <a:ea typeface="Calibri" pitchFamily="34" charset="-122"/>
                <a:cs typeface="Calibri" pitchFamily="34" charset="-120"/>
              </a:rPr>
              <a:t>MediaGroup</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502920" y="3493008"/>
            <a:ext cx="640080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300" b="0" i="0" u="none" strike="noStrike" kern="1200" cap="none" spc="0" normalizeH="0" baseline="0" noProof="0" dirty="0">
                <a:ln>
                  <a:noFill/>
                </a:ln>
                <a:solidFill>
                  <a:srgbClr val="FFFFFF">
                    <a:alpha val="82000"/>
                  </a:srgbClr>
                </a:solidFill>
                <a:effectLst/>
                <a:uLnTx/>
                <a:uFillTx/>
                <a:latin typeface="Calibri" pitchFamily="34" charset="0"/>
                <a:ea typeface="Calibri" pitchFamily="34" charset="-122"/>
                <a:cs typeface="Calibri" pitchFamily="34" charset="-120"/>
              </a:rPr>
              <a:t>Curso de Capacitación</a:t>
            </a:r>
          </a:p>
        </p:txBody>
      </p:sp>
      <p:sp>
        <p:nvSpPr>
          <p:cNvPr id="15" name="Shape 12"/>
          <p:cNvSpPr/>
          <p:nvPr/>
        </p:nvSpPr>
        <p:spPr>
          <a:xfrm>
            <a:off x="502920" y="3913632"/>
            <a:ext cx="64008" cy="475488"/>
          </a:xfrm>
          <a:prstGeom prst="rect">
            <a:avLst/>
          </a:prstGeom>
          <a:solidFill>
            <a:srgbClr val="46C2CE"/>
          </a:solidFill>
          <a:ln w="12700">
            <a:solidFill>
              <a:srgbClr val="46C2C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685800" y="3913632"/>
            <a:ext cx="4572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alpha val="70000"/>
                  </a:srgbClr>
                </a:solidFill>
                <a:effectLst/>
                <a:uLnTx/>
                <a:uFillTx/>
                <a:latin typeface="Calibri" pitchFamily="34" charset="0"/>
                <a:ea typeface="Calibri" pitchFamily="34" charset="-122"/>
                <a:cs typeface="Calibri" pitchFamily="34" charset="-120"/>
              </a:rPr>
              <a:t>Presenta:</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685800" y="41148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Eduardo Acevedo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0" y="4718304"/>
            <a:ext cx="914400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FFFF">
                    <a:alpha val="65000"/>
                  </a:srgbClr>
                </a:solidFill>
                <a:effectLst/>
                <a:uLnTx/>
                <a:uFillTx/>
                <a:latin typeface="Calibri" pitchFamily="34" charset="0"/>
                <a:ea typeface="Calibri" pitchFamily="34" charset="-122"/>
                <a:cs typeface="Calibri" pitchFamily="34" charset="-120"/>
              </a:rPr>
              <a:t>sunname.com.mx</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Gráfico 19">
            <a:extLst>
              <a:ext uri="{FF2B5EF4-FFF2-40B4-BE49-F238E27FC236}">
                <a16:creationId xmlns:a16="http://schemas.microsoft.com/office/drawing/2014/main" id="{ED3B0965-9B3C-6F7A-2D34-D123E2987F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436" y="142738"/>
            <a:ext cx="2786892" cy="1080000"/>
          </a:xfrm>
          <a:prstGeom prst="rect">
            <a:avLst/>
          </a:prstGeom>
        </p:spPr>
      </p:pic>
      <p:pic>
        <p:nvPicPr>
          <p:cNvPr id="19" name="Imagen 18">
            <a:extLst>
              <a:ext uri="{FF2B5EF4-FFF2-40B4-BE49-F238E27FC236}">
                <a16:creationId xmlns:a16="http://schemas.microsoft.com/office/drawing/2014/main" id="{4AD0DA23-0FD5-3421-615D-C546CD8474C4}"/>
              </a:ext>
            </a:extLst>
          </p:cNvPr>
          <p:cNvPicPr>
            <a:picLocks noChangeAspect="1"/>
          </p:cNvPicPr>
          <p:nvPr/>
        </p:nvPicPr>
        <p:blipFill>
          <a:blip r:embed="rId5">
            <a:biLevel thresh="25000"/>
          </a:blip>
          <a:stretch>
            <a:fillRect/>
          </a:stretch>
        </p:blipFill>
        <p:spPr>
          <a:xfrm>
            <a:off x="7666822" y="645523"/>
            <a:ext cx="1154430" cy="11544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pic>
        <p:nvPicPr>
          <p:cNvPr id="78" name="Imagen 77">
            <a:extLst>
              <a:ext uri="{FF2B5EF4-FFF2-40B4-BE49-F238E27FC236}">
                <a16:creationId xmlns:a16="http://schemas.microsoft.com/office/drawing/2014/main" id="{C3108246-318C-43D3-8F83-1C6B5E3C89B8}"/>
              </a:ext>
            </a:extLst>
          </p:cNvPr>
          <p:cNvPicPr>
            <a:picLocks noChangeAspect="1"/>
          </p:cNvPicPr>
          <p:nvPr/>
        </p:nvPicPr>
        <p:blipFill>
          <a:blip r:embed="rId3"/>
          <a:stretch>
            <a:fillRect/>
          </a:stretch>
        </p:blipFill>
        <p:spPr>
          <a:xfrm>
            <a:off x="5057798" y="480913"/>
            <a:ext cx="3877501" cy="3960000"/>
          </a:xfrm>
          <a:prstGeom prst="rect">
            <a:avLst/>
          </a:prstGeom>
        </p:spPr>
      </p:pic>
      <p:sp>
        <p:nvSpPr>
          <p:cNvPr id="2" name="Shape 0"/>
          <p:cNvSpPr/>
          <p:nvPr/>
        </p:nvSpPr>
        <p:spPr>
          <a:xfrm>
            <a:off x="0" y="0"/>
            <a:ext cx="2926080" cy="5143500"/>
          </a:xfrm>
          <a:prstGeom prst="rect">
            <a:avLst/>
          </a:prstGeom>
          <a:solidFill>
            <a:srgbClr val="263980"/>
          </a:solidFill>
          <a:ln w="12700">
            <a:solidFill>
              <a:srgbClr val="263980"/>
            </a:solidFill>
            <a:prstDash val="solid"/>
          </a:ln>
        </p:spPr>
        <p:txBody>
          <a:bodyPr/>
          <a:lstStyle/>
          <a:p>
            <a:endParaRPr lang="es-MX"/>
          </a:p>
        </p:txBody>
      </p:sp>
      <p:sp>
        <p:nvSpPr>
          <p:cNvPr id="3" name="Text 1"/>
          <p:cNvSpPr/>
          <p:nvPr/>
        </p:nvSpPr>
        <p:spPr>
          <a:xfrm>
            <a:off x="182880" y="228600"/>
            <a:ext cx="2560320" cy="411480"/>
          </a:xfrm>
          <a:prstGeom prst="rect">
            <a:avLst/>
          </a:prstGeom>
          <a:noFill/>
          <a:ln/>
        </p:spPr>
        <p:txBody>
          <a:bodyPr wrap="square" lIns="0" tIns="0" rIns="0" bIns="0" rtlCol="0" anchor="ctr"/>
          <a:lstStyle/>
          <a:p>
            <a:pPr marL="0" indent="0">
              <a:buNone/>
            </a:pPr>
            <a:r>
              <a:rPr lang="en-US" sz="1100" b="1" kern="0" spc="300" dirty="0">
                <a:solidFill>
                  <a:srgbClr val="46C2CE"/>
                </a:solidFill>
              </a:rPr>
              <a:t>CONTENIDO</a:t>
            </a:r>
            <a:endParaRPr lang="en-US" sz="1100" dirty="0"/>
          </a:p>
        </p:txBody>
      </p:sp>
      <p:sp>
        <p:nvSpPr>
          <p:cNvPr id="4" name="Text 2"/>
          <p:cNvSpPr/>
          <p:nvPr/>
        </p:nvSpPr>
        <p:spPr>
          <a:xfrm>
            <a:off x="182880" y="594360"/>
            <a:ext cx="2560320" cy="502920"/>
          </a:xfrm>
          <a:prstGeom prst="rect">
            <a:avLst/>
          </a:prstGeom>
          <a:noFill/>
          <a:ln/>
        </p:spPr>
        <p:txBody>
          <a:bodyPr wrap="square" lIns="0" tIns="0" rIns="0" bIns="0" rtlCol="0" anchor="ctr"/>
          <a:lstStyle/>
          <a:p>
            <a:pPr marL="0" indent="0">
              <a:buNone/>
            </a:pPr>
            <a:r>
              <a:rPr lang="en-US" sz="2200" b="1" dirty="0">
                <a:solidFill>
                  <a:srgbClr val="FFFFFF"/>
                </a:solidFill>
              </a:rPr>
              <a:t>del Curso</a:t>
            </a:r>
            <a:endParaRPr lang="en-US" sz="2200" dirty="0"/>
          </a:p>
        </p:txBody>
      </p:sp>
      <p:sp>
        <p:nvSpPr>
          <p:cNvPr id="5" name="Shape 3"/>
          <p:cNvSpPr/>
          <p:nvPr/>
        </p:nvSpPr>
        <p:spPr>
          <a:xfrm>
            <a:off x="182880" y="1188720"/>
            <a:ext cx="2286000" cy="27432"/>
          </a:xfrm>
          <a:prstGeom prst="rect">
            <a:avLst/>
          </a:prstGeom>
          <a:solidFill>
            <a:srgbClr val="46C2CE"/>
          </a:solidFill>
          <a:ln w="12700">
            <a:solidFill>
              <a:srgbClr val="46C2CE"/>
            </a:solidFill>
            <a:prstDash val="solid"/>
          </a:ln>
        </p:spPr>
        <p:txBody>
          <a:bodyPr/>
          <a:lstStyle/>
          <a:p>
            <a:endParaRPr lang="es-MX"/>
          </a:p>
        </p:txBody>
      </p:sp>
      <p:sp>
        <p:nvSpPr>
          <p:cNvPr id="6" name="Shape 4"/>
          <p:cNvSpPr/>
          <p:nvPr/>
        </p:nvSpPr>
        <p:spPr>
          <a:xfrm>
            <a:off x="228600" y="1417320"/>
            <a:ext cx="384048" cy="384048"/>
          </a:xfrm>
          <a:prstGeom prst="ellipse">
            <a:avLst/>
          </a:prstGeom>
          <a:solidFill>
            <a:srgbClr val="46C2CE"/>
          </a:solidFill>
          <a:ln w="12700">
            <a:solidFill>
              <a:srgbClr val="46C2CE"/>
            </a:solidFill>
            <a:prstDash val="solid"/>
          </a:ln>
        </p:spPr>
        <p:txBody>
          <a:bodyPr/>
          <a:lstStyle/>
          <a:p>
            <a:endParaRPr lang="es-MX"/>
          </a:p>
        </p:txBody>
      </p:sp>
      <p:sp>
        <p:nvSpPr>
          <p:cNvPr id="7" name="Text 5"/>
          <p:cNvSpPr/>
          <p:nvPr/>
        </p:nvSpPr>
        <p:spPr>
          <a:xfrm>
            <a:off x="228600" y="1417320"/>
            <a:ext cx="384048" cy="384048"/>
          </a:xfrm>
          <a:prstGeom prst="rect">
            <a:avLst/>
          </a:prstGeom>
          <a:noFill/>
          <a:ln/>
        </p:spPr>
        <p:txBody>
          <a:bodyPr wrap="square" lIns="0" tIns="0" rIns="0" bIns="0" rtlCol="0" anchor="ctr"/>
          <a:lstStyle/>
          <a:p>
            <a:pPr marL="0" indent="0" algn="ctr">
              <a:buNone/>
            </a:pPr>
            <a:r>
              <a:rPr lang="en-US" sz="1000" b="1" dirty="0">
                <a:solidFill>
                  <a:srgbClr val="2C1A56"/>
                </a:solidFill>
              </a:rPr>
              <a:t>01</a:t>
            </a:r>
            <a:endParaRPr lang="en-US" sz="1000" dirty="0"/>
          </a:p>
        </p:txBody>
      </p:sp>
      <p:sp>
        <p:nvSpPr>
          <p:cNvPr id="8" name="Text 6"/>
          <p:cNvSpPr/>
          <p:nvPr/>
        </p:nvSpPr>
        <p:spPr>
          <a:xfrm>
            <a:off x="731520" y="1389888"/>
            <a:ext cx="2011680" cy="438912"/>
          </a:xfrm>
          <a:prstGeom prst="rect">
            <a:avLst/>
          </a:prstGeom>
          <a:noFill/>
          <a:ln/>
        </p:spPr>
        <p:txBody>
          <a:bodyPr wrap="square" lIns="0" tIns="0" rIns="0" bIns="0" rtlCol="0" anchor="ctr"/>
          <a:lstStyle/>
          <a:p>
            <a:pPr marL="0" indent="0">
              <a:buNone/>
            </a:pPr>
            <a:r>
              <a:rPr lang="en-US" sz="1200" dirty="0">
                <a:solidFill>
                  <a:srgbClr val="FFFFFF"/>
                </a:solidFill>
              </a:rPr>
              <a:t>Fundamentos</a:t>
            </a:r>
            <a:endParaRPr lang="en-US" sz="1200" dirty="0"/>
          </a:p>
        </p:txBody>
      </p:sp>
      <p:sp>
        <p:nvSpPr>
          <p:cNvPr id="9" name="Shape 7"/>
          <p:cNvSpPr/>
          <p:nvPr/>
        </p:nvSpPr>
        <p:spPr>
          <a:xfrm>
            <a:off x="228600" y="2221992"/>
            <a:ext cx="384048" cy="384048"/>
          </a:xfrm>
          <a:prstGeom prst="ellipse">
            <a:avLst/>
          </a:prstGeom>
          <a:solidFill>
            <a:srgbClr val="46C2CE"/>
          </a:solidFill>
          <a:ln w="12700">
            <a:solidFill>
              <a:srgbClr val="46C2CE"/>
            </a:solidFill>
            <a:prstDash val="solid"/>
          </a:ln>
        </p:spPr>
        <p:txBody>
          <a:bodyPr/>
          <a:lstStyle/>
          <a:p>
            <a:endParaRPr lang="es-MX"/>
          </a:p>
        </p:txBody>
      </p:sp>
      <p:sp>
        <p:nvSpPr>
          <p:cNvPr id="10" name="Text 8"/>
          <p:cNvSpPr/>
          <p:nvPr/>
        </p:nvSpPr>
        <p:spPr>
          <a:xfrm>
            <a:off x="228600" y="2221992"/>
            <a:ext cx="384048" cy="384048"/>
          </a:xfrm>
          <a:prstGeom prst="rect">
            <a:avLst/>
          </a:prstGeom>
          <a:noFill/>
          <a:ln/>
        </p:spPr>
        <p:txBody>
          <a:bodyPr wrap="square" lIns="0" tIns="0" rIns="0" bIns="0" rtlCol="0" anchor="ctr"/>
          <a:lstStyle/>
          <a:p>
            <a:pPr marL="0" indent="0" algn="ctr">
              <a:buNone/>
            </a:pPr>
            <a:r>
              <a:rPr lang="en-US" sz="1000" b="1" dirty="0">
                <a:solidFill>
                  <a:srgbClr val="2C1A56"/>
                </a:solidFill>
              </a:rPr>
              <a:t>02</a:t>
            </a:r>
            <a:endParaRPr lang="en-US" sz="1000" dirty="0"/>
          </a:p>
        </p:txBody>
      </p:sp>
      <p:sp>
        <p:nvSpPr>
          <p:cNvPr id="11" name="Text 9"/>
          <p:cNvSpPr/>
          <p:nvPr/>
        </p:nvSpPr>
        <p:spPr>
          <a:xfrm>
            <a:off x="731520" y="2194560"/>
            <a:ext cx="2011680" cy="438912"/>
          </a:xfrm>
          <a:prstGeom prst="rect">
            <a:avLst/>
          </a:prstGeom>
          <a:noFill/>
          <a:ln/>
        </p:spPr>
        <p:txBody>
          <a:bodyPr wrap="square" lIns="0" tIns="0" rIns="0" bIns="0" rtlCol="0" anchor="ctr"/>
          <a:lstStyle/>
          <a:p>
            <a:pPr marL="0" indent="0">
              <a:buNone/>
            </a:pPr>
            <a:r>
              <a:rPr lang="en-US" sz="1200" dirty="0">
                <a:solidFill>
                  <a:srgbClr val="FFFFFF"/>
                </a:solidFill>
              </a:rPr>
              <a:t>Procesos Clave</a:t>
            </a:r>
            <a:endParaRPr lang="en-US" sz="1200" dirty="0"/>
          </a:p>
        </p:txBody>
      </p:sp>
      <p:sp>
        <p:nvSpPr>
          <p:cNvPr id="12" name="Shape 10"/>
          <p:cNvSpPr/>
          <p:nvPr/>
        </p:nvSpPr>
        <p:spPr>
          <a:xfrm>
            <a:off x="228600" y="3026664"/>
            <a:ext cx="384048" cy="384048"/>
          </a:xfrm>
          <a:prstGeom prst="ellipse">
            <a:avLst/>
          </a:prstGeom>
          <a:solidFill>
            <a:srgbClr val="46C2CE"/>
          </a:solidFill>
          <a:ln w="12700">
            <a:solidFill>
              <a:srgbClr val="46C2CE"/>
            </a:solidFill>
            <a:prstDash val="solid"/>
          </a:ln>
        </p:spPr>
        <p:txBody>
          <a:bodyPr/>
          <a:lstStyle/>
          <a:p>
            <a:endParaRPr lang="es-MX"/>
          </a:p>
        </p:txBody>
      </p:sp>
      <p:sp>
        <p:nvSpPr>
          <p:cNvPr id="13" name="Text 11"/>
          <p:cNvSpPr/>
          <p:nvPr/>
        </p:nvSpPr>
        <p:spPr>
          <a:xfrm>
            <a:off x="228600" y="3026664"/>
            <a:ext cx="384048" cy="384048"/>
          </a:xfrm>
          <a:prstGeom prst="rect">
            <a:avLst/>
          </a:prstGeom>
          <a:noFill/>
          <a:ln/>
        </p:spPr>
        <p:txBody>
          <a:bodyPr wrap="square" lIns="0" tIns="0" rIns="0" bIns="0" rtlCol="0" anchor="ctr"/>
          <a:lstStyle/>
          <a:p>
            <a:pPr marL="0" indent="0" algn="ctr">
              <a:buNone/>
            </a:pPr>
            <a:r>
              <a:rPr lang="en-US" sz="1000" b="1" dirty="0">
                <a:solidFill>
                  <a:srgbClr val="2C1A56"/>
                </a:solidFill>
              </a:rPr>
              <a:t>03</a:t>
            </a:r>
            <a:endParaRPr lang="en-US" sz="1000" dirty="0"/>
          </a:p>
        </p:txBody>
      </p:sp>
      <p:sp>
        <p:nvSpPr>
          <p:cNvPr id="14" name="Text 12"/>
          <p:cNvSpPr/>
          <p:nvPr/>
        </p:nvSpPr>
        <p:spPr>
          <a:xfrm>
            <a:off x="731520" y="2999232"/>
            <a:ext cx="2011680" cy="438912"/>
          </a:xfrm>
          <a:prstGeom prst="rect">
            <a:avLst/>
          </a:prstGeom>
          <a:noFill/>
          <a:ln/>
        </p:spPr>
        <p:txBody>
          <a:bodyPr wrap="square" lIns="0" tIns="0" rIns="0" bIns="0" rtlCol="0" anchor="ctr"/>
          <a:lstStyle/>
          <a:p>
            <a:pPr marL="0" indent="0">
              <a:buNone/>
            </a:pPr>
            <a:r>
              <a:rPr lang="en-US" sz="1200" dirty="0">
                <a:solidFill>
                  <a:srgbClr val="FFFFFF"/>
                </a:solidFill>
              </a:rPr>
              <a:t>Campañas y</a:t>
            </a:r>
            <a:endParaRPr lang="en-US" sz="1200" dirty="0"/>
          </a:p>
          <a:p>
            <a:pPr marL="0" indent="0">
              <a:buNone/>
            </a:pPr>
            <a:r>
              <a:rPr lang="en-US" sz="1200" dirty="0">
                <a:solidFill>
                  <a:srgbClr val="FFFFFF"/>
                </a:solidFill>
              </a:rPr>
              <a:t>Patrocinios</a:t>
            </a:r>
            <a:endParaRPr lang="en-US" sz="1200" dirty="0"/>
          </a:p>
        </p:txBody>
      </p:sp>
      <p:sp>
        <p:nvSpPr>
          <p:cNvPr id="15" name="Shape 13"/>
          <p:cNvSpPr/>
          <p:nvPr/>
        </p:nvSpPr>
        <p:spPr>
          <a:xfrm>
            <a:off x="228600" y="3831336"/>
            <a:ext cx="384048" cy="384048"/>
          </a:xfrm>
          <a:prstGeom prst="ellipse">
            <a:avLst/>
          </a:prstGeom>
          <a:solidFill>
            <a:srgbClr val="46C2CE"/>
          </a:solidFill>
          <a:ln w="12700">
            <a:solidFill>
              <a:srgbClr val="46C2CE"/>
            </a:solidFill>
            <a:prstDash val="solid"/>
          </a:ln>
        </p:spPr>
        <p:txBody>
          <a:bodyPr/>
          <a:lstStyle/>
          <a:p>
            <a:endParaRPr lang="es-MX"/>
          </a:p>
        </p:txBody>
      </p:sp>
      <p:sp>
        <p:nvSpPr>
          <p:cNvPr id="16" name="Text 14"/>
          <p:cNvSpPr/>
          <p:nvPr/>
        </p:nvSpPr>
        <p:spPr>
          <a:xfrm>
            <a:off x="228600" y="3831336"/>
            <a:ext cx="384048" cy="384048"/>
          </a:xfrm>
          <a:prstGeom prst="rect">
            <a:avLst/>
          </a:prstGeom>
          <a:noFill/>
          <a:ln/>
        </p:spPr>
        <p:txBody>
          <a:bodyPr wrap="square" lIns="0" tIns="0" rIns="0" bIns="0" rtlCol="0" anchor="ctr"/>
          <a:lstStyle/>
          <a:p>
            <a:pPr marL="0" indent="0" algn="ctr">
              <a:buNone/>
            </a:pPr>
            <a:r>
              <a:rPr lang="en-US" sz="1000" b="1" dirty="0">
                <a:solidFill>
                  <a:srgbClr val="2C1A56"/>
                </a:solidFill>
              </a:rPr>
              <a:t>04</a:t>
            </a:r>
            <a:endParaRPr lang="en-US" sz="1000" dirty="0"/>
          </a:p>
        </p:txBody>
      </p:sp>
      <p:sp>
        <p:nvSpPr>
          <p:cNvPr id="17" name="Text 15"/>
          <p:cNvSpPr/>
          <p:nvPr/>
        </p:nvSpPr>
        <p:spPr>
          <a:xfrm>
            <a:off x="731520" y="3803904"/>
            <a:ext cx="2011680" cy="438912"/>
          </a:xfrm>
          <a:prstGeom prst="rect">
            <a:avLst/>
          </a:prstGeom>
          <a:noFill/>
          <a:ln/>
        </p:spPr>
        <p:txBody>
          <a:bodyPr wrap="square" lIns="0" tIns="0" rIns="0" bIns="0" rtlCol="0" anchor="ctr"/>
          <a:lstStyle/>
          <a:p>
            <a:pPr marL="0" indent="0">
              <a:buNone/>
            </a:pPr>
            <a:r>
              <a:rPr lang="en-US" sz="1200" dirty="0">
                <a:solidFill>
                  <a:srgbClr val="FFFFFF"/>
                </a:solidFill>
              </a:rPr>
              <a:t>Operación</a:t>
            </a:r>
            <a:endParaRPr lang="en-US" sz="1200" dirty="0"/>
          </a:p>
          <a:p>
            <a:pPr marL="0" indent="0">
              <a:buNone/>
            </a:pPr>
            <a:r>
              <a:rPr lang="en-US" sz="1200" dirty="0">
                <a:solidFill>
                  <a:srgbClr val="FFFFFF"/>
                </a:solidFill>
              </a:rPr>
              <a:t>Avanzada</a:t>
            </a:r>
            <a:endParaRPr lang="en-US" sz="1200" dirty="0"/>
          </a:p>
        </p:txBody>
      </p:sp>
      <p:grpSp>
        <p:nvGrpSpPr>
          <p:cNvPr id="75" name="Grupo 74">
            <a:extLst>
              <a:ext uri="{FF2B5EF4-FFF2-40B4-BE49-F238E27FC236}">
                <a16:creationId xmlns:a16="http://schemas.microsoft.com/office/drawing/2014/main" id="{777224A6-CA82-FA25-85D2-0E818E432DAA}"/>
              </a:ext>
            </a:extLst>
          </p:cNvPr>
          <p:cNvGrpSpPr/>
          <p:nvPr/>
        </p:nvGrpSpPr>
        <p:grpSpPr>
          <a:xfrm>
            <a:off x="3108960" y="182880"/>
            <a:ext cx="2150461" cy="1104595"/>
            <a:chOff x="3108960" y="182880"/>
            <a:chExt cx="2150461" cy="1104595"/>
          </a:xfrm>
        </p:grpSpPr>
        <p:sp>
          <p:nvSpPr>
            <p:cNvPr id="18" name="Shape 16"/>
            <p:cNvSpPr/>
            <p:nvPr/>
          </p:nvSpPr>
          <p:spPr>
            <a:xfrm>
              <a:off x="3108960" y="182880"/>
              <a:ext cx="54864" cy="256032"/>
            </a:xfrm>
            <a:prstGeom prst="rect">
              <a:avLst/>
            </a:prstGeom>
            <a:solidFill>
              <a:srgbClr val="46C2CE"/>
            </a:solidFill>
            <a:ln w="12700">
              <a:solidFill>
                <a:srgbClr val="46C2CE"/>
              </a:solidFill>
              <a:prstDash val="solid"/>
            </a:ln>
          </p:spPr>
          <p:txBody>
            <a:bodyPr/>
            <a:lstStyle/>
            <a:p>
              <a:endParaRPr lang="es-MX"/>
            </a:p>
          </p:txBody>
        </p:sp>
        <p:sp>
          <p:nvSpPr>
            <p:cNvPr id="19" name="Text 17"/>
            <p:cNvSpPr/>
            <p:nvPr/>
          </p:nvSpPr>
          <p:spPr>
            <a:xfrm>
              <a:off x="3291840" y="182880"/>
              <a:ext cx="1005840" cy="237744"/>
            </a:xfrm>
            <a:prstGeom prst="rect">
              <a:avLst/>
            </a:prstGeom>
            <a:noFill/>
            <a:ln/>
          </p:spPr>
          <p:txBody>
            <a:bodyPr wrap="square" lIns="0" tIns="0" rIns="0" bIns="0" rtlCol="0" anchor="ctr"/>
            <a:lstStyle/>
            <a:p>
              <a:pPr marL="0" indent="0">
                <a:buNone/>
              </a:pPr>
              <a:r>
                <a:rPr lang="en-US" sz="800" b="1" dirty="0">
                  <a:solidFill>
                    <a:srgbClr val="46C2CE"/>
                  </a:solidFill>
                </a:rPr>
                <a:t>PARTE 01</a:t>
              </a:r>
              <a:endParaRPr lang="en-US" sz="800" dirty="0"/>
            </a:p>
          </p:txBody>
        </p:sp>
        <p:sp>
          <p:nvSpPr>
            <p:cNvPr id="20" name="Shape 18"/>
            <p:cNvSpPr/>
            <p:nvPr/>
          </p:nvSpPr>
          <p:spPr>
            <a:xfrm>
              <a:off x="3246120" y="512064"/>
              <a:ext cx="118872" cy="118872"/>
            </a:xfrm>
            <a:prstGeom prst="ellipse">
              <a:avLst/>
            </a:prstGeom>
            <a:solidFill>
              <a:srgbClr val="46C2CE"/>
            </a:solidFill>
            <a:ln w="12700">
              <a:solidFill>
                <a:srgbClr val="46C2CE"/>
              </a:solidFill>
              <a:prstDash val="solid"/>
            </a:ln>
          </p:spPr>
          <p:txBody>
            <a:bodyPr/>
            <a:lstStyle/>
            <a:p>
              <a:endParaRPr lang="es-MX"/>
            </a:p>
          </p:txBody>
        </p:sp>
        <p:sp>
          <p:nvSpPr>
            <p:cNvPr id="21" name="Text 19"/>
            <p:cNvSpPr/>
            <p:nvPr/>
          </p:nvSpPr>
          <p:spPr>
            <a:xfrm>
              <a:off x="3456432" y="475488"/>
              <a:ext cx="1802989" cy="182880"/>
            </a:xfrm>
            <a:prstGeom prst="rect">
              <a:avLst/>
            </a:prstGeom>
            <a:noFill/>
            <a:ln/>
          </p:spPr>
          <p:txBody>
            <a:bodyPr wrap="square" lIns="0" tIns="0" rIns="0" bIns="0" rtlCol="0" anchor="ctr"/>
            <a:lstStyle/>
            <a:p>
              <a:pPr marL="0" indent="0">
                <a:buNone/>
              </a:pPr>
              <a:r>
                <a:rPr lang="en-US" sz="900" dirty="0">
                  <a:solidFill>
                    <a:srgbClr val="1A1040"/>
                  </a:solidFill>
                </a:rPr>
                <a:t>¿Qué es GAM y para qué sirve?</a:t>
              </a:r>
              <a:endParaRPr lang="en-US" sz="900" dirty="0"/>
            </a:p>
          </p:txBody>
        </p:sp>
        <p:sp>
          <p:nvSpPr>
            <p:cNvPr id="22" name="Shape 20"/>
            <p:cNvSpPr/>
            <p:nvPr/>
          </p:nvSpPr>
          <p:spPr>
            <a:xfrm>
              <a:off x="3246120" y="669341"/>
              <a:ext cx="118872" cy="118872"/>
            </a:xfrm>
            <a:prstGeom prst="ellipse">
              <a:avLst/>
            </a:prstGeom>
            <a:solidFill>
              <a:srgbClr val="46C2CE"/>
            </a:solidFill>
            <a:ln w="12700">
              <a:solidFill>
                <a:srgbClr val="46C2CE"/>
              </a:solidFill>
              <a:prstDash val="solid"/>
            </a:ln>
          </p:spPr>
          <p:txBody>
            <a:bodyPr/>
            <a:lstStyle/>
            <a:p>
              <a:endParaRPr lang="es-MX"/>
            </a:p>
          </p:txBody>
        </p:sp>
        <p:sp>
          <p:nvSpPr>
            <p:cNvPr id="23" name="Text 21"/>
            <p:cNvSpPr/>
            <p:nvPr/>
          </p:nvSpPr>
          <p:spPr>
            <a:xfrm>
              <a:off x="3456432" y="632765"/>
              <a:ext cx="1802989" cy="182880"/>
            </a:xfrm>
            <a:prstGeom prst="rect">
              <a:avLst/>
            </a:prstGeom>
            <a:noFill/>
            <a:ln/>
          </p:spPr>
          <p:txBody>
            <a:bodyPr wrap="square" lIns="0" tIns="0" rIns="0" bIns="0" rtlCol="0" anchor="ctr"/>
            <a:lstStyle/>
            <a:p>
              <a:pPr marL="0" indent="0">
                <a:buNone/>
              </a:pPr>
              <a:r>
                <a:rPr lang="en-US" sz="900" dirty="0">
                  <a:solidFill>
                    <a:srgbClr val="1A1040"/>
                  </a:solidFill>
                </a:rPr>
                <a:t>Jerarquía del sistema</a:t>
              </a:r>
              <a:endParaRPr lang="en-US" sz="900" dirty="0"/>
            </a:p>
          </p:txBody>
        </p:sp>
        <p:sp>
          <p:nvSpPr>
            <p:cNvPr id="24" name="Shape 22"/>
            <p:cNvSpPr/>
            <p:nvPr/>
          </p:nvSpPr>
          <p:spPr>
            <a:xfrm>
              <a:off x="3246120" y="826618"/>
              <a:ext cx="118872" cy="118872"/>
            </a:xfrm>
            <a:prstGeom prst="ellipse">
              <a:avLst/>
            </a:prstGeom>
            <a:solidFill>
              <a:srgbClr val="46C2CE"/>
            </a:solidFill>
            <a:ln w="12700">
              <a:solidFill>
                <a:srgbClr val="46C2CE"/>
              </a:solidFill>
              <a:prstDash val="solid"/>
            </a:ln>
          </p:spPr>
          <p:txBody>
            <a:bodyPr/>
            <a:lstStyle/>
            <a:p>
              <a:endParaRPr lang="es-MX"/>
            </a:p>
          </p:txBody>
        </p:sp>
        <p:sp>
          <p:nvSpPr>
            <p:cNvPr id="25" name="Text 23"/>
            <p:cNvSpPr/>
            <p:nvPr/>
          </p:nvSpPr>
          <p:spPr>
            <a:xfrm>
              <a:off x="3456432" y="790042"/>
              <a:ext cx="1802989" cy="182880"/>
            </a:xfrm>
            <a:prstGeom prst="rect">
              <a:avLst/>
            </a:prstGeom>
            <a:noFill/>
            <a:ln/>
          </p:spPr>
          <p:txBody>
            <a:bodyPr wrap="square" lIns="0" tIns="0" rIns="0" bIns="0" rtlCol="0" anchor="ctr"/>
            <a:lstStyle/>
            <a:p>
              <a:pPr marL="0" indent="0">
                <a:buNone/>
              </a:pPr>
              <a:r>
                <a:rPr lang="en-US" sz="900" dirty="0">
                  <a:solidFill>
                    <a:srgbClr val="1A1040"/>
                  </a:solidFill>
                </a:rPr>
                <a:t>Tipos de banners y formatos</a:t>
              </a:r>
              <a:endParaRPr lang="en-US" sz="900" dirty="0"/>
            </a:p>
          </p:txBody>
        </p:sp>
        <p:sp>
          <p:nvSpPr>
            <p:cNvPr id="26" name="Shape 24"/>
            <p:cNvSpPr/>
            <p:nvPr/>
          </p:nvSpPr>
          <p:spPr>
            <a:xfrm>
              <a:off x="3246120" y="983894"/>
              <a:ext cx="118872" cy="118872"/>
            </a:xfrm>
            <a:prstGeom prst="ellipse">
              <a:avLst/>
            </a:prstGeom>
            <a:solidFill>
              <a:srgbClr val="46C2CE"/>
            </a:solidFill>
            <a:ln w="12700">
              <a:solidFill>
                <a:srgbClr val="46C2CE"/>
              </a:solidFill>
              <a:prstDash val="solid"/>
            </a:ln>
          </p:spPr>
          <p:txBody>
            <a:bodyPr/>
            <a:lstStyle/>
            <a:p>
              <a:endParaRPr lang="es-MX"/>
            </a:p>
          </p:txBody>
        </p:sp>
        <p:sp>
          <p:nvSpPr>
            <p:cNvPr id="27" name="Text 25"/>
            <p:cNvSpPr/>
            <p:nvPr/>
          </p:nvSpPr>
          <p:spPr>
            <a:xfrm>
              <a:off x="3456432" y="947318"/>
              <a:ext cx="1802989" cy="182880"/>
            </a:xfrm>
            <a:prstGeom prst="rect">
              <a:avLst/>
            </a:prstGeom>
            <a:noFill/>
            <a:ln/>
          </p:spPr>
          <p:txBody>
            <a:bodyPr wrap="square" lIns="0" tIns="0" rIns="0" bIns="0" rtlCol="0" anchor="ctr"/>
            <a:lstStyle/>
            <a:p>
              <a:pPr marL="0" indent="0">
                <a:buNone/>
              </a:pPr>
              <a:r>
                <a:rPr lang="en-US" sz="900" dirty="0">
                  <a:solidFill>
                    <a:srgbClr val="1A1040"/>
                  </a:solidFill>
                </a:rPr>
                <a:t>Unidades de anuncio (Ad Units)</a:t>
              </a:r>
              <a:endParaRPr lang="en-US" sz="900" dirty="0"/>
            </a:p>
          </p:txBody>
        </p:sp>
        <p:sp>
          <p:nvSpPr>
            <p:cNvPr id="28" name="Shape 26"/>
            <p:cNvSpPr/>
            <p:nvPr/>
          </p:nvSpPr>
          <p:spPr>
            <a:xfrm>
              <a:off x="3246120" y="1141171"/>
              <a:ext cx="118872" cy="118872"/>
            </a:xfrm>
            <a:prstGeom prst="ellipse">
              <a:avLst/>
            </a:prstGeom>
            <a:solidFill>
              <a:srgbClr val="46C2CE"/>
            </a:solidFill>
            <a:ln w="12700">
              <a:solidFill>
                <a:srgbClr val="46C2CE"/>
              </a:solidFill>
              <a:prstDash val="solid"/>
            </a:ln>
          </p:spPr>
          <p:txBody>
            <a:bodyPr/>
            <a:lstStyle/>
            <a:p>
              <a:endParaRPr lang="es-MX"/>
            </a:p>
          </p:txBody>
        </p:sp>
        <p:sp>
          <p:nvSpPr>
            <p:cNvPr id="29" name="Text 27"/>
            <p:cNvSpPr/>
            <p:nvPr/>
          </p:nvSpPr>
          <p:spPr>
            <a:xfrm>
              <a:off x="3456432" y="1104595"/>
              <a:ext cx="1802989" cy="182880"/>
            </a:xfrm>
            <a:prstGeom prst="rect">
              <a:avLst/>
            </a:prstGeom>
            <a:noFill/>
            <a:ln/>
          </p:spPr>
          <p:txBody>
            <a:bodyPr wrap="square" lIns="0" tIns="0" rIns="0" bIns="0" rtlCol="0" anchor="ctr"/>
            <a:lstStyle/>
            <a:p>
              <a:pPr marL="0" indent="0">
                <a:buNone/>
              </a:pPr>
              <a:r>
                <a:rPr lang="en-US" sz="900" dirty="0">
                  <a:solidFill>
                    <a:srgbClr val="1A1040"/>
                  </a:solidFill>
                </a:rPr>
                <a:t>Flujo de trabajo mensual</a:t>
              </a:r>
              <a:endParaRPr lang="en-US" sz="900" dirty="0"/>
            </a:p>
          </p:txBody>
        </p:sp>
      </p:grpSp>
      <p:grpSp>
        <p:nvGrpSpPr>
          <p:cNvPr id="74" name="Grupo 73">
            <a:extLst>
              <a:ext uri="{FF2B5EF4-FFF2-40B4-BE49-F238E27FC236}">
                <a16:creationId xmlns:a16="http://schemas.microsoft.com/office/drawing/2014/main" id="{20F8318D-D7FB-913A-FF20-313786A8FA1C}"/>
              </a:ext>
            </a:extLst>
          </p:cNvPr>
          <p:cNvGrpSpPr/>
          <p:nvPr/>
        </p:nvGrpSpPr>
        <p:grpSpPr>
          <a:xfrm>
            <a:off x="3108960" y="1307592"/>
            <a:ext cx="2150461" cy="1104595"/>
            <a:chOff x="3108960" y="1307592"/>
            <a:chExt cx="2150461" cy="1104595"/>
          </a:xfrm>
        </p:grpSpPr>
        <p:sp>
          <p:nvSpPr>
            <p:cNvPr id="30" name="Shape 28"/>
            <p:cNvSpPr/>
            <p:nvPr/>
          </p:nvSpPr>
          <p:spPr>
            <a:xfrm>
              <a:off x="3108960" y="1307592"/>
              <a:ext cx="54864" cy="256032"/>
            </a:xfrm>
            <a:prstGeom prst="rect">
              <a:avLst/>
            </a:prstGeom>
            <a:solidFill>
              <a:srgbClr val="7F52A0"/>
            </a:solidFill>
            <a:ln w="12700">
              <a:solidFill>
                <a:srgbClr val="7F52A0"/>
              </a:solidFill>
              <a:prstDash val="solid"/>
            </a:ln>
          </p:spPr>
          <p:txBody>
            <a:bodyPr/>
            <a:lstStyle/>
            <a:p>
              <a:endParaRPr lang="es-MX"/>
            </a:p>
          </p:txBody>
        </p:sp>
        <p:sp>
          <p:nvSpPr>
            <p:cNvPr id="31" name="Text 29"/>
            <p:cNvSpPr/>
            <p:nvPr/>
          </p:nvSpPr>
          <p:spPr>
            <a:xfrm>
              <a:off x="3291840" y="1307592"/>
              <a:ext cx="1005840" cy="237744"/>
            </a:xfrm>
            <a:prstGeom prst="rect">
              <a:avLst/>
            </a:prstGeom>
            <a:noFill/>
            <a:ln/>
          </p:spPr>
          <p:txBody>
            <a:bodyPr wrap="square" lIns="0" tIns="0" rIns="0" bIns="0" rtlCol="0" anchor="ctr"/>
            <a:lstStyle/>
            <a:p>
              <a:pPr marL="0" indent="0">
                <a:buNone/>
              </a:pPr>
              <a:r>
                <a:rPr lang="en-US" sz="800" b="1" dirty="0">
                  <a:solidFill>
                    <a:srgbClr val="7F52A0"/>
                  </a:solidFill>
                </a:rPr>
                <a:t>PARTE 02</a:t>
              </a:r>
              <a:endParaRPr lang="en-US" sz="800" dirty="0"/>
            </a:p>
          </p:txBody>
        </p:sp>
        <p:sp>
          <p:nvSpPr>
            <p:cNvPr id="32" name="Shape 30"/>
            <p:cNvSpPr/>
            <p:nvPr/>
          </p:nvSpPr>
          <p:spPr>
            <a:xfrm>
              <a:off x="3246120" y="1636776"/>
              <a:ext cx="118872" cy="118872"/>
            </a:xfrm>
            <a:prstGeom prst="ellipse">
              <a:avLst/>
            </a:prstGeom>
            <a:solidFill>
              <a:srgbClr val="7F52A0"/>
            </a:solidFill>
            <a:ln w="12700">
              <a:solidFill>
                <a:srgbClr val="7F52A0"/>
              </a:solidFill>
              <a:prstDash val="solid"/>
            </a:ln>
          </p:spPr>
          <p:txBody>
            <a:bodyPr/>
            <a:lstStyle/>
            <a:p>
              <a:endParaRPr lang="es-MX"/>
            </a:p>
          </p:txBody>
        </p:sp>
        <p:sp>
          <p:nvSpPr>
            <p:cNvPr id="33" name="Text 31"/>
            <p:cNvSpPr/>
            <p:nvPr/>
          </p:nvSpPr>
          <p:spPr>
            <a:xfrm>
              <a:off x="3456432" y="1600200"/>
              <a:ext cx="1802989" cy="182880"/>
            </a:xfrm>
            <a:prstGeom prst="rect">
              <a:avLst/>
            </a:prstGeom>
            <a:noFill/>
            <a:ln/>
          </p:spPr>
          <p:txBody>
            <a:bodyPr wrap="square" lIns="0" tIns="0" rIns="0" bIns="0" rtlCol="0" anchor="ctr"/>
            <a:lstStyle/>
            <a:p>
              <a:pPr marL="0" indent="0">
                <a:buNone/>
              </a:pPr>
              <a:r>
                <a:rPr lang="en-US" sz="900" dirty="0">
                  <a:solidFill>
                    <a:srgbClr val="1A1040"/>
                  </a:solidFill>
                </a:rPr>
                <a:t>Crear Keywords (Pares clave-valor)</a:t>
              </a:r>
              <a:endParaRPr lang="en-US" sz="900" dirty="0"/>
            </a:p>
          </p:txBody>
        </p:sp>
        <p:sp>
          <p:nvSpPr>
            <p:cNvPr id="34" name="Shape 32"/>
            <p:cNvSpPr/>
            <p:nvPr/>
          </p:nvSpPr>
          <p:spPr>
            <a:xfrm>
              <a:off x="3246120" y="1794053"/>
              <a:ext cx="118872" cy="118872"/>
            </a:xfrm>
            <a:prstGeom prst="ellipse">
              <a:avLst/>
            </a:prstGeom>
            <a:solidFill>
              <a:srgbClr val="7F52A0"/>
            </a:solidFill>
            <a:ln w="12700">
              <a:solidFill>
                <a:srgbClr val="7F52A0"/>
              </a:solidFill>
              <a:prstDash val="solid"/>
            </a:ln>
          </p:spPr>
          <p:txBody>
            <a:bodyPr/>
            <a:lstStyle/>
            <a:p>
              <a:endParaRPr lang="es-MX"/>
            </a:p>
          </p:txBody>
        </p:sp>
        <p:sp>
          <p:nvSpPr>
            <p:cNvPr id="35" name="Text 33"/>
            <p:cNvSpPr/>
            <p:nvPr/>
          </p:nvSpPr>
          <p:spPr>
            <a:xfrm>
              <a:off x="3456432" y="1757477"/>
              <a:ext cx="1802989" cy="182880"/>
            </a:xfrm>
            <a:prstGeom prst="rect">
              <a:avLst/>
            </a:prstGeom>
            <a:noFill/>
            <a:ln/>
          </p:spPr>
          <p:txBody>
            <a:bodyPr wrap="square" lIns="0" tIns="0" rIns="0" bIns="0" rtlCol="0" anchor="ctr"/>
            <a:lstStyle/>
            <a:p>
              <a:pPr marL="0" indent="0">
                <a:buNone/>
              </a:pPr>
              <a:r>
                <a:rPr lang="en-US" sz="900" dirty="0">
                  <a:solidFill>
                    <a:srgbClr val="1A1040"/>
                  </a:solidFill>
                </a:rPr>
                <a:t>Crear Pedidos y Líneas de pedido</a:t>
              </a:r>
              <a:endParaRPr lang="en-US" sz="900" dirty="0"/>
            </a:p>
          </p:txBody>
        </p:sp>
        <p:sp>
          <p:nvSpPr>
            <p:cNvPr id="36" name="Shape 34"/>
            <p:cNvSpPr/>
            <p:nvPr/>
          </p:nvSpPr>
          <p:spPr>
            <a:xfrm>
              <a:off x="3246120" y="1951330"/>
              <a:ext cx="118872" cy="118872"/>
            </a:xfrm>
            <a:prstGeom prst="ellipse">
              <a:avLst/>
            </a:prstGeom>
            <a:solidFill>
              <a:srgbClr val="7F52A0"/>
            </a:solidFill>
            <a:ln w="12700">
              <a:solidFill>
                <a:srgbClr val="7F52A0"/>
              </a:solidFill>
              <a:prstDash val="solid"/>
            </a:ln>
          </p:spPr>
          <p:txBody>
            <a:bodyPr/>
            <a:lstStyle/>
            <a:p>
              <a:endParaRPr lang="es-MX"/>
            </a:p>
          </p:txBody>
        </p:sp>
        <p:sp>
          <p:nvSpPr>
            <p:cNvPr id="37" name="Text 35"/>
            <p:cNvSpPr/>
            <p:nvPr/>
          </p:nvSpPr>
          <p:spPr>
            <a:xfrm>
              <a:off x="3456432" y="1914754"/>
              <a:ext cx="1802989" cy="182880"/>
            </a:xfrm>
            <a:prstGeom prst="rect">
              <a:avLst/>
            </a:prstGeom>
            <a:noFill/>
            <a:ln/>
          </p:spPr>
          <p:txBody>
            <a:bodyPr wrap="square" lIns="0" tIns="0" rIns="0" bIns="0" rtlCol="0" anchor="ctr"/>
            <a:lstStyle/>
            <a:p>
              <a:pPr marL="0" indent="0">
                <a:buNone/>
              </a:pPr>
              <a:r>
                <a:rPr lang="en-US" sz="900" dirty="0">
                  <a:solidFill>
                    <a:srgbClr val="1A1040"/>
                  </a:solidFill>
                </a:rPr>
                <a:t>Subir y configurar Creatividades</a:t>
              </a:r>
              <a:endParaRPr lang="en-US" sz="900" dirty="0"/>
            </a:p>
          </p:txBody>
        </p:sp>
        <p:sp>
          <p:nvSpPr>
            <p:cNvPr id="38" name="Shape 36"/>
            <p:cNvSpPr/>
            <p:nvPr/>
          </p:nvSpPr>
          <p:spPr>
            <a:xfrm>
              <a:off x="3246120" y="2108606"/>
              <a:ext cx="118872" cy="118872"/>
            </a:xfrm>
            <a:prstGeom prst="ellipse">
              <a:avLst/>
            </a:prstGeom>
            <a:solidFill>
              <a:srgbClr val="7F52A0"/>
            </a:solidFill>
            <a:ln w="12700">
              <a:solidFill>
                <a:srgbClr val="7F52A0"/>
              </a:solidFill>
              <a:prstDash val="solid"/>
            </a:ln>
          </p:spPr>
          <p:txBody>
            <a:bodyPr/>
            <a:lstStyle/>
            <a:p>
              <a:endParaRPr lang="es-MX"/>
            </a:p>
          </p:txBody>
        </p:sp>
        <p:sp>
          <p:nvSpPr>
            <p:cNvPr id="39" name="Text 37"/>
            <p:cNvSpPr/>
            <p:nvPr/>
          </p:nvSpPr>
          <p:spPr>
            <a:xfrm>
              <a:off x="3456432" y="2072030"/>
              <a:ext cx="1802989" cy="182880"/>
            </a:xfrm>
            <a:prstGeom prst="rect">
              <a:avLst/>
            </a:prstGeom>
            <a:noFill/>
            <a:ln/>
          </p:spPr>
          <p:txBody>
            <a:bodyPr wrap="square" lIns="0" tIns="0" rIns="0" bIns="0" rtlCol="0" anchor="ctr"/>
            <a:lstStyle/>
            <a:p>
              <a:pPr marL="0" indent="0">
                <a:buNone/>
              </a:pPr>
              <a:r>
                <a:rPr lang="en-US" sz="900" dirty="0">
                  <a:solidFill>
                    <a:srgbClr val="1A1040"/>
                  </a:solidFill>
                </a:rPr>
                <a:t>Generar URLs con UTM</a:t>
              </a:r>
              <a:endParaRPr lang="en-US" sz="900" dirty="0"/>
            </a:p>
          </p:txBody>
        </p:sp>
        <p:sp>
          <p:nvSpPr>
            <p:cNvPr id="40" name="Shape 38"/>
            <p:cNvSpPr/>
            <p:nvPr/>
          </p:nvSpPr>
          <p:spPr>
            <a:xfrm>
              <a:off x="3246120" y="2265883"/>
              <a:ext cx="118872" cy="118872"/>
            </a:xfrm>
            <a:prstGeom prst="ellipse">
              <a:avLst/>
            </a:prstGeom>
            <a:solidFill>
              <a:srgbClr val="7F52A0"/>
            </a:solidFill>
            <a:ln w="12700">
              <a:solidFill>
                <a:srgbClr val="7F52A0"/>
              </a:solidFill>
              <a:prstDash val="solid"/>
            </a:ln>
          </p:spPr>
          <p:txBody>
            <a:bodyPr/>
            <a:lstStyle/>
            <a:p>
              <a:endParaRPr lang="es-MX"/>
            </a:p>
          </p:txBody>
        </p:sp>
        <p:sp>
          <p:nvSpPr>
            <p:cNvPr id="41" name="Text 39"/>
            <p:cNvSpPr/>
            <p:nvPr/>
          </p:nvSpPr>
          <p:spPr>
            <a:xfrm>
              <a:off x="3456432" y="2229307"/>
              <a:ext cx="1802989" cy="182880"/>
            </a:xfrm>
            <a:prstGeom prst="rect">
              <a:avLst/>
            </a:prstGeom>
            <a:noFill/>
            <a:ln/>
          </p:spPr>
          <p:txBody>
            <a:bodyPr wrap="square" lIns="0" tIns="0" rIns="0" bIns="0" rtlCol="0" anchor="ctr"/>
            <a:lstStyle/>
            <a:p>
              <a:pPr marL="0" indent="0">
                <a:buNone/>
              </a:pPr>
              <a:r>
                <a:rPr lang="en-US" sz="900" dirty="0">
                  <a:solidFill>
                    <a:srgbClr val="1A1040"/>
                  </a:solidFill>
                </a:rPr>
                <a:t>Banners temporales (Expo)</a:t>
              </a:r>
              <a:endParaRPr lang="en-US" sz="900" dirty="0"/>
            </a:p>
          </p:txBody>
        </p:sp>
      </p:grpSp>
      <p:grpSp>
        <p:nvGrpSpPr>
          <p:cNvPr id="73" name="Grupo 72">
            <a:extLst>
              <a:ext uri="{FF2B5EF4-FFF2-40B4-BE49-F238E27FC236}">
                <a16:creationId xmlns:a16="http://schemas.microsoft.com/office/drawing/2014/main" id="{C489466B-CD1F-7590-05E5-DDF62E7A6FCD}"/>
              </a:ext>
            </a:extLst>
          </p:cNvPr>
          <p:cNvGrpSpPr/>
          <p:nvPr/>
        </p:nvGrpSpPr>
        <p:grpSpPr>
          <a:xfrm>
            <a:off x="3108960" y="2432304"/>
            <a:ext cx="2150461" cy="1104595"/>
            <a:chOff x="3108960" y="2432304"/>
            <a:chExt cx="2150461" cy="1104595"/>
          </a:xfrm>
        </p:grpSpPr>
        <p:sp>
          <p:nvSpPr>
            <p:cNvPr id="42" name="Shape 40"/>
            <p:cNvSpPr/>
            <p:nvPr/>
          </p:nvSpPr>
          <p:spPr>
            <a:xfrm>
              <a:off x="3108960" y="2432304"/>
              <a:ext cx="54864" cy="256032"/>
            </a:xfrm>
            <a:prstGeom prst="rect">
              <a:avLst/>
            </a:prstGeom>
            <a:solidFill>
              <a:srgbClr val="263980"/>
            </a:solidFill>
            <a:ln w="12700">
              <a:solidFill>
                <a:srgbClr val="263980"/>
              </a:solidFill>
              <a:prstDash val="solid"/>
            </a:ln>
          </p:spPr>
          <p:txBody>
            <a:bodyPr/>
            <a:lstStyle/>
            <a:p>
              <a:endParaRPr lang="es-MX"/>
            </a:p>
          </p:txBody>
        </p:sp>
        <p:sp>
          <p:nvSpPr>
            <p:cNvPr id="43" name="Text 41"/>
            <p:cNvSpPr/>
            <p:nvPr/>
          </p:nvSpPr>
          <p:spPr>
            <a:xfrm>
              <a:off x="3291840" y="2432304"/>
              <a:ext cx="1005840" cy="237744"/>
            </a:xfrm>
            <a:prstGeom prst="rect">
              <a:avLst/>
            </a:prstGeom>
            <a:noFill/>
            <a:ln/>
          </p:spPr>
          <p:txBody>
            <a:bodyPr wrap="square" lIns="0" tIns="0" rIns="0" bIns="0" rtlCol="0" anchor="ctr"/>
            <a:lstStyle/>
            <a:p>
              <a:pPr marL="0" indent="0">
                <a:buNone/>
              </a:pPr>
              <a:r>
                <a:rPr lang="en-US" sz="800" b="1" dirty="0">
                  <a:solidFill>
                    <a:srgbClr val="263980"/>
                  </a:solidFill>
                </a:rPr>
                <a:t>PARTE 03</a:t>
              </a:r>
              <a:endParaRPr lang="en-US" sz="800" dirty="0"/>
            </a:p>
          </p:txBody>
        </p:sp>
        <p:sp>
          <p:nvSpPr>
            <p:cNvPr id="44" name="Shape 42"/>
            <p:cNvSpPr/>
            <p:nvPr/>
          </p:nvSpPr>
          <p:spPr>
            <a:xfrm>
              <a:off x="3246120" y="2761488"/>
              <a:ext cx="118872" cy="118872"/>
            </a:xfrm>
            <a:prstGeom prst="ellipse">
              <a:avLst/>
            </a:prstGeom>
            <a:solidFill>
              <a:srgbClr val="263980"/>
            </a:solidFill>
            <a:ln w="12700">
              <a:solidFill>
                <a:srgbClr val="263980"/>
              </a:solidFill>
              <a:prstDash val="solid"/>
            </a:ln>
          </p:spPr>
          <p:txBody>
            <a:bodyPr/>
            <a:lstStyle/>
            <a:p>
              <a:endParaRPr lang="es-MX"/>
            </a:p>
          </p:txBody>
        </p:sp>
        <p:sp>
          <p:nvSpPr>
            <p:cNvPr id="45" name="Text 43"/>
            <p:cNvSpPr/>
            <p:nvPr/>
          </p:nvSpPr>
          <p:spPr>
            <a:xfrm>
              <a:off x="3456432" y="2724912"/>
              <a:ext cx="1802989" cy="182880"/>
            </a:xfrm>
            <a:prstGeom prst="rect">
              <a:avLst/>
            </a:prstGeom>
            <a:noFill/>
            <a:ln/>
          </p:spPr>
          <p:txBody>
            <a:bodyPr wrap="square" lIns="0" tIns="0" rIns="0" bIns="0" rtlCol="0" anchor="ctr"/>
            <a:lstStyle/>
            <a:p>
              <a:pPr marL="0" indent="0">
                <a:buNone/>
              </a:pPr>
              <a:r>
                <a:rPr lang="en-US" sz="900" dirty="0">
                  <a:solidFill>
                    <a:srgbClr val="1A1040"/>
                  </a:solidFill>
                </a:rPr>
                <a:t>Patrocinio de Agendas</a:t>
              </a:r>
              <a:endParaRPr lang="en-US" sz="900" dirty="0"/>
            </a:p>
          </p:txBody>
        </p:sp>
        <p:sp>
          <p:nvSpPr>
            <p:cNvPr id="46" name="Shape 44"/>
            <p:cNvSpPr/>
            <p:nvPr/>
          </p:nvSpPr>
          <p:spPr>
            <a:xfrm>
              <a:off x="3246120" y="2918765"/>
              <a:ext cx="118872" cy="118872"/>
            </a:xfrm>
            <a:prstGeom prst="ellipse">
              <a:avLst/>
            </a:prstGeom>
            <a:solidFill>
              <a:srgbClr val="263980"/>
            </a:solidFill>
            <a:ln w="12700">
              <a:solidFill>
                <a:srgbClr val="263980"/>
              </a:solidFill>
              <a:prstDash val="solid"/>
            </a:ln>
          </p:spPr>
          <p:txBody>
            <a:bodyPr/>
            <a:lstStyle/>
            <a:p>
              <a:endParaRPr lang="es-MX"/>
            </a:p>
          </p:txBody>
        </p:sp>
        <p:sp>
          <p:nvSpPr>
            <p:cNvPr id="47" name="Text 45"/>
            <p:cNvSpPr/>
            <p:nvPr/>
          </p:nvSpPr>
          <p:spPr>
            <a:xfrm>
              <a:off x="3456432" y="2882189"/>
              <a:ext cx="1802989" cy="182880"/>
            </a:xfrm>
            <a:prstGeom prst="rect">
              <a:avLst/>
            </a:prstGeom>
            <a:noFill/>
            <a:ln/>
          </p:spPr>
          <p:txBody>
            <a:bodyPr wrap="square" lIns="0" tIns="0" rIns="0" bIns="0" rtlCol="0" anchor="ctr"/>
            <a:lstStyle/>
            <a:p>
              <a:pPr marL="0" indent="0">
                <a:buNone/>
              </a:pPr>
              <a:r>
                <a:rPr lang="en-US" sz="900" dirty="0">
                  <a:solidFill>
                    <a:srgbClr val="1A1040"/>
                  </a:solidFill>
                </a:rPr>
                <a:t>Programática por sección</a:t>
              </a:r>
              <a:endParaRPr lang="en-US" sz="900" dirty="0"/>
            </a:p>
          </p:txBody>
        </p:sp>
        <p:sp>
          <p:nvSpPr>
            <p:cNvPr id="48" name="Shape 46"/>
            <p:cNvSpPr/>
            <p:nvPr/>
          </p:nvSpPr>
          <p:spPr>
            <a:xfrm>
              <a:off x="3246120" y="3076042"/>
              <a:ext cx="118872" cy="118872"/>
            </a:xfrm>
            <a:prstGeom prst="ellipse">
              <a:avLst/>
            </a:prstGeom>
            <a:solidFill>
              <a:srgbClr val="263980"/>
            </a:solidFill>
            <a:ln w="12700">
              <a:solidFill>
                <a:srgbClr val="263980"/>
              </a:solidFill>
              <a:prstDash val="solid"/>
            </a:ln>
          </p:spPr>
          <p:txBody>
            <a:bodyPr/>
            <a:lstStyle/>
            <a:p>
              <a:endParaRPr lang="es-MX"/>
            </a:p>
          </p:txBody>
        </p:sp>
        <p:sp>
          <p:nvSpPr>
            <p:cNvPr id="49" name="Text 47"/>
            <p:cNvSpPr/>
            <p:nvPr/>
          </p:nvSpPr>
          <p:spPr>
            <a:xfrm>
              <a:off x="3456432" y="3039466"/>
              <a:ext cx="1802989" cy="182880"/>
            </a:xfrm>
            <a:prstGeom prst="rect">
              <a:avLst/>
            </a:prstGeom>
            <a:noFill/>
            <a:ln/>
          </p:spPr>
          <p:txBody>
            <a:bodyPr wrap="square" lIns="0" tIns="0" rIns="0" bIns="0" rtlCol="0" anchor="ctr"/>
            <a:lstStyle/>
            <a:p>
              <a:pPr marL="0" indent="0">
                <a:buNone/>
              </a:pPr>
              <a:r>
                <a:rPr lang="en-US" sz="900" dirty="0">
                  <a:solidFill>
                    <a:srgbClr val="1A1040"/>
                  </a:solidFill>
                </a:rPr>
                <a:t>Campaña Tu Hijo en Portada (THP)</a:t>
              </a:r>
              <a:endParaRPr lang="en-US" sz="900" dirty="0"/>
            </a:p>
          </p:txBody>
        </p:sp>
        <p:sp>
          <p:nvSpPr>
            <p:cNvPr id="50" name="Shape 48"/>
            <p:cNvSpPr/>
            <p:nvPr/>
          </p:nvSpPr>
          <p:spPr>
            <a:xfrm>
              <a:off x="3246120" y="3233318"/>
              <a:ext cx="118872" cy="118872"/>
            </a:xfrm>
            <a:prstGeom prst="ellipse">
              <a:avLst/>
            </a:prstGeom>
            <a:solidFill>
              <a:srgbClr val="263980"/>
            </a:solidFill>
            <a:ln w="12700">
              <a:solidFill>
                <a:srgbClr val="263980"/>
              </a:solidFill>
              <a:prstDash val="solid"/>
            </a:ln>
          </p:spPr>
          <p:txBody>
            <a:bodyPr/>
            <a:lstStyle/>
            <a:p>
              <a:endParaRPr lang="es-MX"/>
            </a:p>
          </p:txBody>
        </p:sp>
        <p:sp>
          <p:nvSpPr>
            <p:cNvPr id="51" name="Text 49"/>
            <p:cNvSpPr/>
            <p:nvPr/>
          </p:nvSpPr>
          <p:spPr>
            <a:xfrm>
              <a:off x="3456432" y="3196742"/>
              <a:ext cx="1802989" cy="182880"/>
            </a:xfrm>
            <a:prstGeom prst="rect">
              <a:avLst/>
            </a:prstGeom>
            <a:noFill/>
            <a:ln/>
          </p:spPr>
          <p:txBody>
            <a:bodyPr wrap="square" lIns="0" tIns="0" rIns="0" bIns="0" rtlCol="0" anchor="ctr"/>
            <a:lstStyle/>
            <a:p>
              <a:pPr marL="0" indent="0">
                <a:buNone/>
              </a:pPr>
              <a:r>
                <a:rPr lang="en-US" sz="900" dirty="0">
                  <a:solidFill>
                    <a:srgbClr val="1A1040"/>
                  </a:solidFill>
                </a:rPr>
                <a:t>Campaña Regístrate y Gana</a:t>
              </a:r>
              <a:endParaRPr lang="en-US" sz="900" dirty="0"/>
            </a:p>
          </p:txBody>
        </p:sp>
        <p:sp>
          <p:nvSpPr>
            <p:cNvPr id="52" name="Shape 50"/>
            <p:cNvSpPr/>
            <p:nvPr/>
          </p:nvSpPr>
          <p:spPr>
            <a:xfrm>
              <a:off x="3246120" y="3390595"/>
              <a:ext cx="118872" cy="118872"/>
            </a:xfrm>
            <a:prstGeom prst="ellipse">
              <a:avLst/>
            </a:prstGeom>
            <a:solidFill>
              <a:srgbClr val="263980"/>
            </a:solidFill>
            <a:ln w="12700">
              <a:solidFill>
                <a:srgbClr val="263980"/>
              </a:solidFill>
              <a:prstDash val="solid"/>
            </a:ln>
          </p:spPr>
          <p:txBody>
            <a:bodyPr/>
            <a:lstStyle/>
            <a:p>
              <a:endParaRPr lang="es-MX"/>
            </a:p>
          </p:txBody>
        </p:sp>
        <p:sp>
          <p:nvSpPr>
            <p:cNvPr id="53" name="Text 51"/>
            <p:cNvSpPr/>
            <p:nvPr/>
          </p:nvSpPr>
          <p:spPr>
            <a:xfrm>
              <a:off x="3456432" y="3354019"/>
              <a:ext cx="1802989" cy="182880"/>
            </a:xfrm>
            <a:prstGeom prst="rect">
              <a:avLst/>
            </a:prstGeom>
            <a:noFill/>
            <a:ln/>
          </p:spPr>
          <p:txBody>
            <a:bodyPr wrap="square" lIns="0" tIns="0" rIns="0" bIns="0" rtlCol="0" anchor="ctr"/>
            <a:lstStyle/>
            <a:p>
              <a:pPr marL="0" indent="0">
                <a:buNone/>
              </a:pPr>
              <a:r>
                <a:rPr lang="en-US" sz="900" dirty="0">
                  <a:solidFill>
                    <a:srgbClr val="1A1040"/>
                  </a:solidFill>
                </a:rPr>
                <a:t>Portal de Formularios</a:t>
              </a:r>
              <a:endParaRPr lang="en-US" sz="900" dirty="0"/>
            </a:p>
          </p:txBody>
        </p:sp>
      </p:grpSp>
      <p:grpSp>
        <p:nvGrpSpPr>
          <p:cNvPr id="72" name="Grupo 71">
            <a:extLst>
              <a:ext uri="{FF2B5EF4-FFF2-40B4-BE49-F238E27FC236}">
                <a16:creationId xmlns:a16="http://schemas.microsoft.com/office/drawing/2014/main" id="{AE06B924-3167-B0A4-B92F-6062685256B8}"/>
              </a:ext>
            </a:extLst>
          </p:cNvPr>
          <p:cNvGrpSpPr/>
          <p:nvPr/>
        </p:nvGrpSpPr>
        <p:grpSpPr>
          <a:xfrm>
            <a:off x="3108960" y="3557016"/>
            <a:ext cx="2150461" cy="1104595"/>
            <a:chOff x="3108960" y="3557016"/>
            <a:chExt cx="2150461" cy="1104595"/>
          </a:xfrm>
        </p:grpSpPr>
        <p:sp>
          <p:nvSpPr>
            <p:cNvPr id="54" name="Shape 52"/>
            <p:cNvSpPr/>
            <p:nvPr/>
          </p:nvSpPr>
          <p:spPr>
            <a:xfrm>
              <a:off x="3108960" y="3557016"/>
              <a:ext cx="54864" cy="256032"/>
            </a:xfrm>
            <a:prstGeom prst="rect">
              <a:avLst/>
            </a:prstGeom>
            <a:solidFill>
              <a:srgbClr val="2C1A56"/>
            </a:solidFill>
            <a:ln w="12700">
              <a:solidFill>
                <a:srgbClr val="2C1A56"/>
              </a:solidFill>
              <a:prstDash val="solid"/>
            </a:ln>
          </p:spPr>
          <p:txBody>
            <a:bodyPr/>
            <a:lstStyle/>
            <a:p>
              <a:endParaRPr lang="es-MX"/>
            </a:p>
          </p:txBody>
        </p:sp>
        <p:sp>
          <p:nvSpPr>
            <p:cNvPr id="55" name="Text 53"/>
            <p:cNvSpPr/>
            <p:nvPr/>
          </p:nvSpPr>
          <p:spPr>
            <a:xfrm>
              <a:off x="3291840" y="3557016"/>
              <a:ext cx="1005840" cy="237744"/>
            </a:xfrm>
            <a:prstGeom prst="rect">
              <a:avLst/>
            </a:prstGeom>
            <a:noFill/>
            <a:ln/>
          </p:spPr>
          <p:txBody>
            <a:bodyPr wrap="square" lIns="0" tIns="0" rIns="0" bIns="0" rtlCol="0" anchor="ctr"/>
            <a:lstStyle/>
            <a:p>
              <a:pPr marL="0" indent="0">
                <a:buNone/>
              </a:pPr>
              <a:r>
                <a:rPr lang="en-US" sz="800" b="1" dirty="0">
                  <a:solidFill>
                    <a:srgbClr val="2C1A56"/>
                  </a:solidFill>
                </a:rPr>
                <a:t>PARTE 04</a:t>
              </a:r>
              <a:endParaRPr lang="en-US" sz="800" dirty="0"/>
            </a:p>
          </p:txBody>
        </p:sp>
        <p:sp>
          <p:nvSpPr>
            <p:cNvPr id="56" name="Shape 54"/>
            <p:cNvSpPr/>
            <p:nvPr/>
          </p:nvSpPr>
          <p:spPr>
            <a:xfrm>
              <a:off x="3246120" y="3886200"/>
              <a:ext cx="118872" cy="118872"/>
            </a:xfrm>
            <a:prstGeom prst="ellipse">
              <a:avLst/>
            </a:prstGeom>
            <a:solidFill>
              <a:srgbClr val="2C1A56"/>
            </a:solidFill>
            <a:ln w="12700">
              <a:solidFill>
                <a:srgbClr val="2C1A56"/>
              </a:solidFill>
              <a:prstDash val="solid"/>
            </a:ln>
          </p:spPr>
          <p:txBody>
            <a:bodyPr/>
            <a:lstStyle/>
            <a:p>
              <a:endParaRPr lang="es-MX"/>
            </a:p>
          </p:txBody>
        </p:sp>
        <p:sp>
          <p:nvSpPr>
            <p:cNvPr id="57" name="Text 55"/>
            <p:cNvSpPr/>
            <p:nvPr/>
          </p:nvSpPr>
          <p:spPr>
            <a:xfrm>
              <a:off x="3456432" y="3849624"/>
              <a:ext cx="1802989" cy="182880"/>
            </a:xfrm>
            <a:prstGeom prst="rect">
              <a:avLst/>
            </a:prstGeom>
            <a:noFill/>
            <a:ln/>
          </p:spPr>
          <p:txBody>
            <a:bodyPr wrap="square" lIns="0" tIns="0" rIns="0" bIns="0" rtlCol="0" anchor="ctr"/>
            <a:lstStyle/>
            <a:p>
              <a:pPr marL="0" indent="0">
                <a:buNone/>
              </a:pPr>
              <a:r>
                <a:rPr lang="en-US" sz="900" dirty="0">
                  <a:solidFill>
                    <a:srgbClr val="1A1040"/>
                  </a:solidFill>
                </a:rPr>
                <a:t>Pausar, reactivar y archivar</a:t>
              </a:r>
              <a:endParaRPr lang="en-US" sz="900" dirty="0"/>
            </a:p>
          </p:txBody>
        </p:sp>
        <p:sp>
          <p:nvSpPr>
            <p:cNvPr id="58" name="Shape 56"/>
            <p:cNvSpPr/>
            <p:nvPr/>
          </p:nvSpPr>
          <p:spPr>
            <a:xfrm>
              <a:off x="3246120" y="4043477"/>
              <a:ext cx="118872" cy="118872"/>
            </a:xfrm>
            <a:prstGeom prst="ellipse">
              <a:avLst/>
            </a:prstGeom>
            <a:solidFill>
              <a:srgbClr val="2C1A56"/>
            </a:solidFill>
            <a:ln w="12700">
              <a:solidFill>
                <a:srgbClr val="2C1A56"/>
              </a:solidFill>
              <a:prstDash val="solid"/>
            </a:ln>
          </p:spPr>
          <p:txBody>
            <a:bodyPr/>
            <a:lstStyle/>
            <a:p>
              <a:endParaRPr lang="es-MX"/>
            </a:p>
          </p:txBody>
        </p:sp>
        <p:sp>
          <p:nvSpPr>
            <p:cNvPr id="59" name="Text 57"/>
            <p:cNvSpPr/>
            <p:nvPr/>
          </p:nvSpPr>
          <p:spPr>
            <a:xfrm>
              <a:off x="3456432" y="4006901"/>
              <a:ext cx="1802989" cy="182880"/>
            </a:xfrm>
            <a:prstGeom prst="rect">
              <a:avLst/>
            </a:prstGeom>
            <a:noFill/>
            <a:ln/>
          </p:spPr>
          <p:txBody>
            <a:bodyPr wrap="square" lIns="0" tIns="0" rIns="0" bIns="0" rtlCol="0" anchor="ctr"/>
            <a:lstStyle/>
            <a:p>
              <a:pPr marL="0" indent="0">
                <a:buNone/>
              </a:pPr>
              <a:r>
                <a:rPr lang="en-US" sz="900" dirty="0">
                  <a:solidFill>
                    <a:srgbClr val="1A1040"/>
                  </a:solidFill>
                </a:rPr>
                <a:t>Cambiar banner a mitad de campaña</a:t>
              </a:r>
              <a:endParaRPr lang="en-US" sz="900" dirty="0"/>
            </a:p>
          </p:txBody>
        </p:sp>
        <p:sp>
          <p:nvSpPr>
            <p:cNvPr id="60" name="Shape 58"/>
            <p:cNvSpPr/>
            <p:nvPr/>
          </p:nvSpPr>
          <p:spPr>
            <a:xfrm>
              <a:off x="3246120" y="4200754"/>
              <a:ext cx="118872" cy="118872"/>
            </a:xfrm>
            <a:prstGeom prst="ellipse">
              <a:avLst/>
            </a:prstGeom>
            <a:solidFill>
              <a:srgbClr val="2C1A56"/>
            </a:solidFill>
            <a:ln w="12700">
              <a:solidFill>
                <a:srgbClr val="2C1A56"/>
              </a:solidFill>
              <a:prstDash val="solid"/>
            </a:ln>
          </p:spPr>
          <p:txBody>
            <a:bodyPr/>
            <a:lstStyle/>
            <a:p>
              <a:endParaRPr lang="es-MX"/>
            </a:p>
          </p:txBody>
        </p:sp>
        <p:sp>
          <p:nvSpPr>
            <p:cNvPr id="61" name="Text 59"/>
            <p:cNvSpPr/>
            <p:nvPr/>
          </p:nvSpPr>
          <p:spPr>
            <a:xfrm>
              <a:off x="3456432" y="4164178"/>
              <a:ext cx="1802989" cy="182880"/>
            </a:xfrm>
            <a:prstGeom prst="rect">
              <a:avLst/>
            </a:prstGeom>
            <a:noFill/>
            <a:ln/>
          </p:spPr>
          <p:txBody>
            <a:bodyPr wrap="square" lIns="0" tIns="0" rIns="0" bIns="0" rtlCol="0" anchor="ctr"/>
            <a:lstStyle/>
            <a:p>
              <a:pPr marL="0" indent="0">
                <a:buNone/>
              </a:pPr>
              <a:r>
                <a:rPr lang="en-US" sz="900" dirty="0">
                  <a:solidFill>
                    <a:srgbClr val="1A1040"/>
                  </a:solidFill>
                </a:rPr>
                <a:t>Informes básicos de desempeño</a:t>
              </a:r>
              <a:endParaRPr lang="en-US" sz="900" dirty="0"/>
            </a:p>
          </p:txBody>
        </p:sp>
        <p:sp>
          <p:nvSpPr>
            <p:cNvPr id="62" name="Shape 60"/>
            <p:cNvSpPr/>
            <p:nvPr/>
          </p:nvSpPr>
          <p:spPr>
            <a:xfrm>
              <a:off x="3246120" y="4358030"/>
              <a:ext cx="118872" cy="118872"/>
            </a:xfrm>
            <a:prstGeom prst="ellipse">
              <a:avLst/>
            </a:prstGeom>
            <a:solidFill>
              <a:srgbClr val="2C1A56"/>
            </a:solidFill>
            <a:ln w="12700">
              <a:solidFill>
                <a:srgbClr val="2C1A56"/>
              </a:solidFill>
              <a:prstDash val="solid"/>
            </a:ln>
          </p:spPr>
          <p:txBody>
            <a:bodyPr/>
            <a:lstStyle/>
            <a:p>
              <a:endParaRPr lang="es-MX"/>
            </a:p>
          </p:txBody>
        </p:sp>
        <p:sp>
          <p:nvSpPr>
            <p:cNvPr id="63" name="Text 61"/>
            <p:cNvSpPr/>
            <p:nvPr/>
          </p:nvSpPr>
          <p:spPr>
            <a:xfrm>
              <a:off x="3456432" y="4321454"/>
              <a:ext cx="1802989" cy="182880"/>
            </a:xfrm>
            <a:prstGeom prst="rect">
              <a:avLst/>
            </a:prstGeom>
            <a:noFill/>
            <a:ln/>
          </p:spPr>
          <p:txBody>
            <a:bodyPr wrap="square" lIns="0" tIns="0" rIns="0" bIns="0" rtlCol="0" anchor="ctr"/>
            <a:lstStyle/>
            <a:p>
              <a:pPr marL="0" indent="0">
                <a:buNone/>
              </a:pPr>
              <a:r>
                <a:rPr lang="en-US" sz="900" dirty="0">
                  <a:solidFill>
                    <a:srgbClr val="1A1040"/>
                  </a:solidFill>
                </a:rPr>
                <a:t>Errores comunes y soluciones</a:t>
              </a:r>
              <a:endParaRPr lang="en-US" sz="900" dirty="0"/>
            </a:p>
          </p:txBody>
        </p:sp>
        <p:sp>
          <p:nvSpPr>
            <p:cNvPr id="64" name="Shape 62"/>
            <p:cNvSpPr/>
            <p:nvPr/>
          </p:nvSpPr>
          <p:spPr>
            <a:xfrm>
              <a:off x="3246120" y="4515307"/>
              <a:ext cx="118872" cy="118872"/>
            </a:xfrm>
            <a:prstGeom prst="ellipse">
              <a:avLst/>
            </a:prstGeom>
            <a:solidFill>
              <a:srgbClr val="2C1A56"/>
            </a:solidFill>
            <a:ln w="12700">
              <a:solidFill>
                <a:srgbClr val="2C1A56"/>
              </a:solidFill>
              <a:prstDash val="solid"/>
            </a:ln>
          </p:spPr>
          <p:txBody>
            <a:bodyPr/>
            <a:lstStyle/>
            <a:p>
              <a:endParaRPr lang="es-MX"/>
            </a:p>
          </p:txBody>
        </p:sp>
        <p:sp>
          <p:nvSpPr>
            <p:cNvPr id="65" name="Text 63"/>
            <p:cNvSpPr/>
            <p:nvPr/>
          </p:nvSpPr>
          <p:spPr>
            <a:xfrm>
              <a:off x="3456432" y="4478731"/>
              <a:ext cx="1802989" cy="182880"/>
            </a:xfrm>
            <a:prstGeom prst="rect">
              <a:avLst/>
            </a:prstGeom>
            <a:noFill/>
            <a:ln/>
          </p:spPr>
          <p:txBody>
            <a:bodyPr wrap="square" lIns="0" tIns="0" rIns="0" bIns="0" rtlCol="0" anchor="ctr"/>
            <a:lstStyle/>
            <a:p>
              <a:pPr marL="0" indent="0">
                <a:buNone/>
              </a:pPr>
              <a:r>
                <a:rPr lang="en-US" sz="900" dirty="0">
                  <a:solidFill>
                    <a:srgbClr val="1A1040"/>
                  </a:solidFill>
                </a:rPr>
                <a:t>Glosario de términos</a:t>
              </a:r>
              <a:endParaRPr lang="en-US" sz="900" dirty="0"/>
            </a:p>
          </p:txBody>
        </p:sp>
      </p:grpSp>
      <p:sp>
        <p:nvSpPr>
          <p:cNvPr id="66" name="Shape 64"/>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67" name="Text 65"/>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71" name="Gráfico 70">
            <a:extLst>
              <a:ext uri="{FF2B5EF4-FFF2-40B4-BE49-F238E27FC236}">
                <a16:creationId xmlns:a16="http://schemas.microsoft.com/office/drawing/2014/main" id="{8A84AC9D-FAF4-DA2E-BAA1-E91F564D91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80533" y="4731536"/>
            <a:ext cx="1393444" cy="54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C1A56"/>
        </a:solidFill>
        <a:effectLst/>
      </p:bgPr>
    </p:bg>
    <p:spTree>
      <p:nvGrpSpPr>
        <p:cNvPr id="1" name=""/>
        <p:cNvGrpSpPr/>
        <p:nvPr/>
      </p:nvGrpSpPr>
      <p:grpSpPr>
        <a:xfrm>
          <a:off x="0" y="0"/>
          <a:ext cx="0" cy="0"/>
          <a:chOff x="0" y="0"/>
          <a:chExt cx="0" cy="0"/>
        </a:xfrm>
      </p:grpSpPr>
      <p:sp>
        <p:nvSpPr>
          <p:cNvPr id="2" name="Shape 0"/>
          <p:cNvSpPr/>
          <p:nvPr/>
        </p:nvSpPr>
        <p:spPr>
          <a:xfrm>
            <a:off x="-1097280" y="-1097280"/>
            <a:ext cx="4572000" cy="4572000"/>
          </a:xfrm>
          <a:prstGeom prst="ellipse">
            <a:avLst/>
          </a:prstGeom>
          <a:solidFill>
            <a:srgbClr val="263980">
              <a:alpha val="70000"/>
            </a:srgbClr>
          </a:solidFill>
          <a:ln w="12700">
            <a:solidFill>
              <a:srgbClr val="26398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6583680" y="2560320"/>
            <a:ext cx="4114800" cy="4114800"/>
          </a:xfrm>
          <a:prstGeom prst="ellipse">
            <a:avLst/>
          </a:prstGeom>
          <a:solidFill>
            <a:srgbClr val="46C2CE">
              <a:alpha val="25000"/>
            </a:srgbClr>
          </a:solidFill>
          <a:ln w="12700">
            <a:solidFill>
              <a:srgbClr val="46C2CE">
                <a:alpha val="2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5943600" y="-731520"/>
            <a:ext cx="2743200" cy="2743200"/>
          </a:xfrm>
          <a:prstGeom prst="ellipse">
            <a:avLst/>
          </a:prstGeom>
          <a:solidFill>
            <a:srgbClr val="7F52A0">
              <a:alpha val="40000"/>
            </a:srgbClr>
          </a:solidFill>
          <a:ln w="12700">
            <a:solidFill>
              <a:srgbClr val="7F52A0">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4846320"/>
            <a:ext cx="9144000" cy="297180"/>
          </a:xfrm>
          <a:prstGeom prst="rect">
            <a:avLst/>
          </a:prstGeom>
          <a:solidFill>
            <a:srgbClr val="263980"/>
          </a:solidFill>
          <a:ln w="12700">
            <a:solidFill>
              <a:srgbClr val="2639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0" y="4846320"/>
            <a:ext cx="3200400" cy="297180"/>
          </a:xfrm>
          <a:prstGeom prst="rect">
            <a:avLst/>
          </a:prstGeom>
          <a:solidFill>
            <a:srgbClr val="46C2CE"/>
          </a:solidFill>
          <a:ln w="12700">
            <a:solidFill>
              <a:srgbClr val="46C2C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731520" y="457200"/>
            <a:ext cx="27432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0" b="1" i="0" u="none" strike="noStrike" kern="1200" cap="none" spc="0" normalizeH="0" baseline="0" noProof="0" dirty="0">
                <a:ln>
                  <a:noFill/>
                </a:ln>
                <a:solidFill>
                  <a:srgbClr val="46C2CE">
                    <a:alpha val="75000"/>
                  </a:srgbClr>
                </a:solidFill>
                <a:effectLst/>
                <a:uLnTx/>
                <a:uFillTx/>
                <a:latin typeface="Calibri" pitchFamily="34" charset="0"/>
                <a:ea typeface="Calibri" pitchFamily="34" charset="-122"/>
                <a:cs typeface="Calibri" pitchFamily="34" charset="-120"/>
              </a:rPr>
              <a:t>01</a:t>
            </a:r>
            <a:endParaRPr kumimoji="0" lang="en-US" sz="1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7315200" y="1645920"/>
            <a:ext cx="1188720" cy="1188720"/>
          </a:xfrm>
          <a:prstGeom prst="ellipse">
            <a:avLst/>
          </a:prstGeom>
          <a:solidFill>
            <a:srgbClr val="46C2CE">
              <a:alpha val="80000"/>
            </a:srgbClr>
          </a:solidFill>
          <a:ln w="12700">
            <a:solidFill>
              <a:srgbClr val="46C2CE">
                <a:alpha val="8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r:embed="rId3"/>
          <a:stretch>
            <a:fillRect/>
          </a:stretch>
        </p:blipFill>
        <p:spPr>
          <a:xfrm>
            <a:off x="7571232" y="1901952"/>
            <a:ext cx="685800" cy="685800"/>
          </a:xfrm>
          <a:prstGeom prst="rect">
            <a:avLst/>
          </a:prstGeom>
        </p:spPr>
      </p:pic>
      <p:sp>
        <p:nvSpPr>
          <p:cNvPr id="11" name="Text 7"/>
          <p:cNvSpPr/>
          <p:nvPr/>
        </p:nvSpPr>
        <p:spPr>
          <a:xfrm>
            <a:off x="731520" y="1783080"/>
            <a:ext cx="77724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Fundamentos</a:t>
            </a: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de GAM</a:t>
            </a:r>
          </a:p>
        </p:txBody>
      </p:sp>
      <p:sp>
        <p:nvSpPr>
          <p:cNvPr id="12" name="Text 8"/>
          <p:cNvSpPr/>
          <p:nvPr/>
        </p:nvSpPr>
        <p:spPr>
          <a:xfrm>
            <a:off x="731520" y="2651760"/>
            <a:ext cx="68580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srgbClr val="46C2CE"/>
                </a:solidFill>
                <a:effectLst/>
                <a:uLnTx/>
                <a:uFillTx/>
                <a:latin typeface="Calibri" pitchFamily="34" charset="0"/>
                <a:ea typeface="Calibri" pitchFamily="34" charset="-122"/>
                <a:cs typeface="Calibri" pitchFamily="34" charset="-120"/>
              </a:rPr>
              <a:t>El sistema, la estructura y los tipos de banners</a:t>
            </a:r>
          </a:p>
        </p:txBody>
      </p:sp>
      <p:sp>
        <p:nvSpPr>
          <p:cNvPr id="13" name="Shape 9"/>
          <p:cNvSpPr/>
          <p:nvPr/>
        </p:nvSpPr>
        <p:spPr>
          <a:xfrm>
            <a:off x="731520" y="3246120"/>
            <a:ext cx="2286000" cy="45720"/>
          </a:xfrm>
          <a:prstGeom prst="rect">
            <a:avLst/>
          </a:prstGeom>
          <a:solidFill>
            <a:srgbClr val="FFFFFF">
              <a:alpha val="40000"/>
            </a:srgbClr>
          </a:solidFill>
          <a:ln w="12700">
            <a:solidFill>
              <a:srgbClr val="FFFFFF">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Gráfico 14">
            <a:extLst>
              <a:ext uri="{FF2B5EF4-FFF2-40B4-BE49-F238E27FC236}">
                <a16:creationId xmlns:a16="http://schemas.microsoft.com/office/drawing/2014/main" id="{071387F9-05EF-0CC3-25E6-321021EFCEB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7819" y="4731536"/>
            <a:ext cx="1393444" cy="54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63980"/>
          </a:solidFill>
          <a:ln w="12700">
            <a:solidFill>
              <a:srgbClr val="26398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rPr>
              <a:t>¿Qué es Google Ad Manager?</a:t>
            </a:r>
            <a:endParaRPr lang="en-US" sz="2200" dirty="0"/>
          </a:p>
        </p:txBody>
      </p:sp>
      <p:sp>
        <p:nvSpPr>
          <p:cNvPr id="5" name="Shape 3"/>
          <p:cNvSpPr/>
          <p:nvPr/>
        </p:nvSpPr>
        <p:spPr>
          <a:xfrm>
            <a:off x="274320" y="914400"/>
            <a:ext cx="8595360" cy="868680"/>
          </a:xfrm>
          <a:prstGeom prst="rect">
            <a:avLst/>
          </a:prstGeom>
          <a:solidFill>
            <a:srgbClr val="2C1A56"/>
          </a:solidFill>
          <a:ln w="12700">
            <a:solidFill>
              <a:srgbClr val="2C1A56"/>
            </a:solidFill>
            <a:prstDash val="solid"/>
          </a:ln>
        </p:spPr>
        <p:txBody>
          <a:bodyPr/>
          <a:lstStyle/>
          <a:p>
            <a:endParaRPr lang="es-MX"/>
          </a:p>
        </p:txBody>
      </p:sp>
      <p:sp>
        <p:nvSpPr>
          <p:cNvPr id="6" name="Shape 4"/>
          <p:cNvSpPr/>
          <p:nvPr/>
        </p:nvSpPr>
        <p:spPr>
          <a:xfrm>
            <a:off x="274320" y="914400"/>
            <a:ext cx="109728" cy="868680"/>
          </a:xfrm>
          <a:prstGeom prst="rect">
            <a:avLst/>
          </a:prstGeom>
          <a:solidFill>
            <a:srgbClr val="46C2CE"/>
          </a:solidFill>
          <a:ln w="12700">
            <a:solidFill>
              <a:srgbClr val="46C2CE"/>
            </a:solidFill>
            <a:prstDash val="solid"/>
          </a:ln>
        </p:spPr>
        <p:txBody>
          <a:bodyPr/>
          <a:lstStyle/>
          <a:p>
            <a:endParaRPr lang="es-MX"/>
          </a:p>
        </p:txBody>
      </p:sp>
      <p:sp>
        <p:nvSpPr>
          <p:cNvPr id="7" name="Text 5"/>
          <p:cNvSpPr/>
          <p:nvPr/>
        </p:nvSpPr>
        <p:spPr>
          <a:xfrm>
            <a:off x="502920" y="960120"/>
            <a:ext cx="8183880" cy="777240"/>
          </a:xfrm>
          <a:prstGeom prst="rect">
            <a:avLst/>
          </a:prstGeom>
          <a:noFill/>
          <a:ln/>
        </p:spPr>
        <p:txBody>
          <a:bodyPr wrap="square" lIns="0" tIns="0" rIns="0" bIns="0" rtlCol="0" anchor="ctr"/>
          <a:lstStyle/>
          <a:p>
            <a:pPr marL="0" indent="0">
              <a:buNone/>
            </a:pPr>
            <a:r>
              <a:rPr lang="en-US" sz="1300" dirty="0">
                <a:solidFill>
                  <a:srgbClr val="FFFFFF"/>
                </a:solidFill>
              </a:rPr>
              <a:t>Es la plataforma donde se administra TODA la publicidad del sitio mibebeyyo.mx. Desde aquí defines qué banner se muestra, en qué sección, con qué frecuencia, durante cuánto tiempo y a qué URL lleva al usuario cuando hace clic.</a:t>
            </a:r>
            <a:endParaRPr lang="en-US" sz="1300" dirty="0"/>
          </a:p>
        </p:txBody>
      </p:sp>
      <p:sp>
        <p:nvSpPr>
          <p:cNvPr id="8" name="Shape 6"/>
          <p:cNvSpPr/>
          <p:nvPr/>
        </p:nvSpPr>
        <p:spPr>
          <a:xfrm>
            <a:off x="274320" y="1965960"/>
            <a:ext cx="2011680" cy="256032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9" name="Shape 7"/>
          <p:cNvSpPr/>
          <p:nvPr/>
        </p:nvSpPr>
        <p:spPr>
          <a:xfrm>
            <a:off x="274320" y="1965960"/>
            <a:ext cx="2011680" cy="54864"/>
          </a:xfrm>
          <a:prstGeom prst="rect">
            <a:avLst/>
          </a:prstGeom>
          <a:solidFill>
            <a:srgbClr val="46C2CE"/>
          </a:solidFill>
          <a:ln w="12700">
            <a:solidFill>
              <a:srgbClr val="46C2CE"/>
            </a:solidFill>
            <a:prstDash val="solid"/>
          </a:ln>
        </p:spPr>
        <p:txBody>
          <a:bodyPr/>
          <a:lstStyle/>
          <a:p>
            <a:endParaRPr lang="es-MX"/>
          </a:p>
        </p:txBody>
      </p:sp>
      <p:grpSp>
        <p:nvGrpSpPr>
          <p:cNvPr id="34" name="Grupo 33">
            <a:extLst>
              <a:ext uri="{FF2B5EF4-FFF2-40B4-BE49-F238E27FC236}">
                <a16:creationId xmlns:a16="http://schemas.microsoft.com/office/drawing/2014/main" id="{CC282EEB-15DA-32E6-3A0F-CE9A5991C967}"/>
              </a:ext>
            </a:extLst>
          </p:cNvPr>
          <p:cNvGrpSpPr/>
          <p:nvPr/>
        </p:nvGrpSpPr>
        <p:grpSpPr>
          <a:xfrm>
            <a:off x="941832" y="2327562"/>
            <a:ext cx="676656" cy="676656"/>
            <a:chOff x="941832" y="2057400"/>
            <a:chExt cx="676656" cy="676656"/>
          </a:xfrm>
        </p:grpSpPr>
        <p:sp>
          <p:nvSpPr>
            <p:cNvPr id="10" name="Shape 8"/>
            <p:cNvSpPr/>
            <p:nvPr/>
          </p:nvSpPr>
          <p:spPr>
            <a:xfrm>
              <a:off x="941832" y="2057400"/>
              <a:ext cx="676656" cy="676656"/>
            </a:xfrm>
            <a:prstGeom prst="ellipse">
              <a:avLst/>
            </a:prstGeom>
            <a:solidFill>
              <a:srgbClr val="D0F4F7"/>
            </a:solidFill>
            <a:ln w="12700">
              <a:solidFill>
                <a:srgbClr val="46C2CE"/>
              </a:solidFill>
              <a:prstDash val="solid"/>
            </a:ln>
          </p:spPr>
          <p:txBody>
            <a:bodyPr/>
            <a:lstStyle/>
            <a:p>
              <a:endParaRPr lang="es-MX"/>
            </a:p>
          </p:txBody>
        </p:sp>
        <p:pic>
          <p:nvPicPr>
            <p:cNvPr id="11" name="Image 0" descr="preencoded.png"/>
            <p:cNvPicPr>
              <a:picLocks noChangeAspect="1"/>
            </p:cNvPicPr>
            <p:nvPr/>
          </p:nvPicPr>
          <p:blipFill>
            <a:blip r:embed="rId3"/>
            <a:stretch>
              <a:fillRect/>
            </a:stretch>
          </p:blipFill>
          <p:spPr>
            <a:xfrm>
              <a:off x="1069848" y="2167128"/>
              <a:ext cx="420624" cy="420624"/>
            </a:xfrm>
            <a:prstGeom prst="rect">
              <a:avLst/>
            </a:prstGeom>
          </p:spPr>
        </p:pic>
      </p:grpSp>
      <p:sp>
        <p:nvSpPr>
          <p:cNvPr id="12" name="Text 9"/>
          <p:cNvSpPr/>
          <p:nvPr/>
        </p:nvSpPr>
        <p:spPr>
          <a:xfrm>
            <a:off x="365760" y="3104802"/>
            <a:ext cx="1828800" cy="347472"/>
          </a:xfrm>
          <a:prstGeom prst="rect">
            <a:avLst/>
          </a:prstGeom>
          <a:noFill/>
          <a:ln/>
        </p:spPr>
        <p:txBody>
          <a:bodyPr wrap="square" lIns="0" tIns="0" rIns="0" bIns="0" rtlCol="0" anchor="ctr"/>
          <a:lstStyle/>
          <a:p>
            <a:pPr marL="0" indent="0" algn="ctr">
              <a:buNone/>
            </a:pPr>
            <a:r>
              <a:rPr lang="en-US" sz="1300" b="1" dirty="0">
                <a:solidFill>
                  <a:srgbClr val="263980"/>
                </a:solidFill>
              </a:rPr>
              <a:t>¿Qué banner?</a:t>
            </a:r>
            <a:endParaRPr lang="en-US" sz="1300" dirty="0"/>
          </a:p>
        </p:txBody>
      </p:sp>
      <p:sp>
        <p:nvSpPr>
          <p:cNvPr id="13" name="Text 10"/>
          <p:cNvSpPr/>
          <p:nvPr/>
        </p:nvSpPr>
        <p:spPr>
          <a:xfrm>
            <a:off x="365760" y="3200400"/>
            <a:ext cx="1828800" cy="1188720"/>
          </a:xfrm>
          <a:prstGeom prst="rect">
            <a:avLst/>
          </a:prstGeom>
          <a:noFill/>
          <a:ln/>
        </p:spPr>
        <p:txBody>
          <a:bodyPr wrap="square" lIns="0" tIns="0" rIns="0" bIns="0" rtlCol="0" anchor="ctr"/>
          <a:lstStyle/>
          <a:p>
            <a:pPr marL="0" indent="0" algn="ctr">
              <a:buNone/>
            </a:pPr>
            <a:r>
              <a:rPr lang="en-US" sz="1000" dirty="0">
                <a:solidFill>
                  <a:srgbClr val="64748B"/>
                </a:solidFill>
              </a:rPr>
              <a:t>Selecciona la creatividad correcta según el cliente y formato</a:t>
            </a:r>
            <a:endParaRPr lang="en-US" sz="1000" dirty="0"/>
          </a:p>
        </p:txBody>
      </p:sp>
      <p:sp>
        <p:nvSpPr>
          <p:cNvPr id="14" name="Shape 11"/>
          <p:cNvSpPr/>
          <p:nvPr/>
        </p:nvSpPr>
        <p:spPr>
          <a:xfrm>
            <a:off x="2450592" y="1965960"/>
            <a:ext cx="2011680" cy="256032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15" name="Shape 12"/>
          <p:cNvSpPr/>
          <p:nvPr/>
        </p:nvSpPr>
        <p:spPr>
          <a:xfrm>
            <a:off x="2450592" y="1965960"/>
            <a:ext cx="2011680" cy="54864"/>
          </a:xfrm>
          <a:prstGeom prst="rect">
            <a:avLst/>
          </a:prstGeom>
          <a:solidFill>
            <a:srgbClr val="7F52A0"/>
          </a:solidFill>
          <a:ln w="12700">
            <a:solidFill>
              <a:srgbClr val="7F52A0"/>
            </a:solidFill>
            <a:prstDash val="solid"/>
          </a:ln>
        </p:spPr>
        <p:txBody>
          <a:bodyPr/>
          <a:lstStyle/>
          <a:p>
            <a:endParaRPr lang="es-MX"/>
          </a:p>
        </p:txBody>
      </p:sp>
      <p:grpSp>
        <p:nvGrpSpPr>
          <p:cNvPr id="35" name="Grupo 34">
            <a:extLst>
              <a:ext uri="{FF2B5EF4-FFF2-40B4-BE49-F238E27FC236}">
                <a16:creationId xmlns:a16="http://schemas.microsoft.com/office/drawing/2014/main" id="{F9E2F465-481C-8905-8BA5-2D48C44968E3}"/>
              </a:ext>
            </a:extLst>
          </p:cNvPr>
          <p:cNvGrpSpPr/>
          <p:nvPr/>
        </p:nvGrpSpPr>
        <p:grpSpPr>
          <a:xfrm>
            <a:off x="3118104" y="2327562"/>
            <a:ext cx="676656" cy="676656"/>
            <a:chOff x="3118104" y="2057400"/>
            <a:chExt cx="676656" cy="676656"/>
          </a:xfrm>
        </p:grpSpPr>
        <p:sp>
          <p:nvSpPr>
            <p:cNvPr id="16" name="Shape 13"/>
            <p:cNvSpPr/>
            <p:nvPr/>
          </p:nvSpPr>
          <p:spPr>
            <a:xfrm>
              <a:off x="3118104" y="2057400"/>
              <a:ext cx="676656" cy="676656"/>
            </a:xfrm>
            <a:prstGeom prst="ellipse">
              <a:avLst/>
            </a:prstGeom>
            <a:solidFill>
              <a:srgbClr val="E8E0F5"/>
            </a:solidFill>
            <a:ln w="12700">
              <a:solidFill>
                <a:srgbClr val="7F52A0"/>
              </a:solidFill>
              <a:prstDash val="solid"/>
            </a:ln>
          </p:spPr>
          <p:txBody>
            <a:bodyPr/>
            <a:lstStyle/>
            <a:p>
              <a:endParaRPr lang="es-MX"/>
            </a:p>
          </p:txBody>
        </p:sp>
        <p:pic>
          <p:nvPicPr>
            <p:cNvPr id="17" name="Image 1" descr="preencoded.png"/>
            <p:cNvPicPr>
              <a:picLocks noChangeAspect="1"/>
            </p:cNvPicPr>
            <p:nvPr/>
          </p:nvPicPr>
          <p:blipFill>
            <a:blip r:embed="rId4"/>
            <a:stretch>
              <a:fillRect/>
            </a:stretch>
          </p:blipFill>
          <p:spPr>
            <a:xfrm>
              <a:off x="3246120" y="2167128"/>
              <a:ext cx="420624" cy="420624"/>
            </a:xfrm>
            <a:prstGeom prst="rect">
              <a:avLst/>
            </a:prstGeom>
          </p:spPr>
        </p:pic>
      </p:grpSp>
      <p:sp>
        <p:nvSpPr>
          <p:cNvPr id="18" name="Text 14"/>
          <p:cNvSpPr/>
          <p:nvPr/>
        </p:nvSpPr>
        <p:spPr>
          <a:xfrm>
            <a:off x="2542032" y="3104802"/>
            <a:ext cx="1828800" cy="347472"/>
          </a:xfrm>
          <a:prstGeom prst="rect">
            <a:avLst/>
          </a:prstGeom>
          <a:noFill/>
          <a:ln/>
        </p:spPr>
        <p:txBody>
          <a:bodyPr wrap="square" lIns="0" tIns="0" rIns="0" bIns="0" rtlCol="0" anchor="ctr"/>
          <a:lstStyle/>
          <a:p>
            <a:pPr marL="0" indent="0" algn="ctr">
              <a:buNone/>
            </a:pPr>
            <a:r>
              <a:rPr lang="en-US" sz="1300" b="1" dirty="0">
                <a:solidFill>
                  <a:srgbClr val="263980"/>
                </a:solidFill>
              </a:rPr>
              <a:t>¿Dónde aparece?</a:t>
            </a:r>
            <a:endParaRPr lang="en-US" sz="1300" dirty="0"/>
          </a:p>
        </p:txBody>
      </p:sp>
      <p:sp>
        <p:nvSpPr>
          <p:cNvPr id="19" name="Text 15"/>
          <p:cNvSpPr/>
          <p:nvPr/>
        </p:nvSpPr>
        <p:spPr>
          <a:xfrm>
            <a:off x="2542032" y="3200400"/>
            <a:ext cx="1828800" cy="1188720"/>
          </a:xfrm>
          <a:prstGeom prst="rect">
            <a:avLst/>
          </a:prstGeom>
          <a:noFill/>
          <a:ln/>
        </p:spPr>
        <p:txBody>
          <a:bodyPr wrap="square" lIns="0" tIns="0" rIns="0" bIns="0" rtlCol="0" anchor="ctr"/>
          <a:lstStyle/>
          <a:p>
            <a:pPr marL="0" indent="0" algn="ctr">
              <a:buNone/>
            </a:pPr>
            <a:r>
              <a:rPr lang="en-US" sz="1000" dirty="0">
                <a:solidFill>
                  <a:srgbClr val="64748B"/>
                </a:solidFill>
              </a:rPr>
              <a:t>Secciones del sitio: Embarazo, Bebés, Niños, etc.</a:t>
            </a:r>
            <a:endParaRPr lang="en-US" sz="1000" dirty="0"/>
          </a:p>
        </p:txBody>
      </p:sp>
      <p:sp>
        <p:nvSpPr>
          <p:cNvPr id="20" name="Shape 16"/>
          <p:cNvSpPr/>
          <p:nvPr/>
        </p:nvSpPr>
        <p:spPr>
          <a:xfrm>
            <a:off x="4626864" y="1965960"/>
            <a:ext cx="2011680" cy="256032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21" name="Shape 17"/>
          <p:cNvSpPr/>
          <p:nvPr/>
        </p:nvSpPr>
        <p:spPr>
          <a:xfrm>
            <a:off x="4626864" y="1965960"/>
            <a:ext cx="2011680" cy="54864"/>
          </a:xfrm>
          <a:prstGeom prst="rect">
            <a:avLst/>
          </a:prstGeom>
          <a:solidFill>
            <a:srgbClr val="46C2CE"/>
          </a:solidFill>
          <a:ln w="12700">
            <a:solidFill>
              <a:srgbClr val="46C2CE"/>
            </a:solidFill>
            <a:prstDash val="solid"/>
          </a:ln>
        </p:spPr>
        <p:txBody>
          <a:bodyPr/>
          <a:lstStyle/>
          <a:p>
            <a:endParaRPr lang="es-MX"/>
          </a:p>
        </p:txBody>
      </p:sp>
      <p:grpSp>
        <p:nvGrpSpPr>
          <p:cNvPr id="36" name="Grupo 35">
            <a:extLst>
              <a:ext uri="{FF2B5EF4-FFF2-40B4-BE49-F238E27FC236}">
                <a16:creationId xmlns:a16="http://schemas.microsoft.com/office/drawing/2014/main" id="{5B076917-ED99-FEAD-1A74-C2908F8DB136}"/>
              </a:ext>
            </a:extLst>
          </p:cNvPr>
          <p:cNvGrpSpPr/>
          <p:nvPr/>
        </p:nvGrpSpPr>
        <p:grpSpPr>
          <a:xfrm>
            <a:off x="5294376" y="2327562"/>
            <a:ext cx="676656" cy="676656"/>
            <a:chOff x="5294376" y="2057400"/>
            <a:chExt cx="676656" cy="676656"/>
          </a:xfrm>
        </p:grpSpPr>
        <p:sp>
          <p:nvSpPr>
            <p:cNvPr id="22" name="Shape 18"/>
            <p:cNvSpPr/>
            <p:nvPr/>
          </p:nvSpPr>
          <p:spPr>
            <a:xfrm>
              <a:off x="5294376" y="2057400"/>
              <a:ext cx="676656" cy="676656"/>
            </a:xfrm>
            <a:prstGeom prst="ellipse">
              <a:avLst/>
            </a:prstGeom>
            <a:solidFill>
              <a:srgbClr val="D0F4F7"/>
            </a:solidFill>
            <a:ln w="12700">
              <a:solidFill>
                <a:srgbClr val="46C2CE"/>
              </a:solidFill>
              <a:prstDash val="solid"/>
            </a:ln>
          </p:spPr>
          <p:txBody>
            <a:bodyPr/>
            <a:lstStyle/>
            <a:p>
              <a:endParaRPr lang="es-MX"/>
            </a:p>
          </p:txBody>
        </p:sp>
        <p:pic>
          <p:nvPicPr>
            <p:cNvPr id="23" name="Image 2" descr="preencoded.png"/>
            <p:cNvPicPr>
              <a:picLocks noChangeAspect="1"/>
            </p:cNvPicPr>
            <p:nvPr/>
          </p:nvPicPr>
          <p:blipFill>
            <a:blip r:embed="rId5"/>
            <a:stretch>
              <a:fillRect/>
            </a:stretch>
          </p:blipFill>
          <p:spPr>
            <a:xfrm>
              <a:off x="5422392" y="2167128"/>
              <a:ext cx="420624" cy="420624"/>
            </a:xfrm>
            <a:prstGeom prst="rect">
              <a:avLst/>
            </a:prstGeom>
          </p:spPr>
        </p:pic>
      </p:grpSp>
      <p:sp>
        <p:nvSpPr>
          <p:cNvPr id="24" name="Text 19"/>
          <p:cNvSpPr/>
          <p:nvPr/>
        </p:nvSpPr>
        <p:spPr>
          <a:xfrm>
            <a:off x="4718304" y="3104802"/>
            <a:ext cx="1828800" cy="347472"/>
          </a:xfrm>
          <a:prstGeom prst="rect">
            <a:avLst/>
          </a:prstGeom>
          <a:noFill/>
          <a:ln/>
        </p:spPr>
        <p:txBody>
          <a:bodyPr wrap="square" lIns="0" tIns="0" rIns="0" bIns="0" rtlCol="0" anchor="ctr"/>
          <a:lstStyle/>
          <a:p>
            <a:pPr marL="0" indent="0" algn="ctr">
              <a:buNone/>
            </a:pPr>
            <a:r>
              <a:rPr lang="en-US" sz="1300" b="1" dirty="0">
                <a:solidFill>
                  <a:srgbClr val="263980"/>
                </a:solidFill>
              </a:rPr>
              <a:t>¿Cuándo y cuánto?</a:t>
            </a:r>
            <a:endParaRPr lang="en-US" sz="1300" dirty="0"/>
          </a:p>
        </p:txBody>
      </p:sp>
      <p:sp>
        <p:nvSpPr>
          <p:cNvPr id="25" name="Text 20"/>
          <p:cNvSpPr/>
          <p:nvPr/>
        </p:nvSpPr>
        <p:spPr>
          <a:xfrm>
            <a:off x="4718304" y="3200400"/>
            <a:ext cx="1828800" cy="1188720"/>
          </a:xfrm>
          <a:prstGeom prst="rect">
            <a:avLst/>
          </a:prstGeom>
          <a:noFill/>
          <a:ln/>
        </p:spPr>
        <p:txBody>
          <a:bodyPr wrap="square" lIns="0" tIns="0" rIns="0" bIns="0" rtlCol="0" anchor="ctr"/>
          <a:lstStyle/>
          <a:p>
            <a:pPr marL="0" indent="0" algn="ctr">
              <a:buNone/>
            </a:pPr>
            <a:r>
              <a:rPr lang="en-US" sz="1000" dirty="0">
                <a:solidFill>
                  <a:srgbClr val="64748B"/>
                </a:solidFill>
              </a:rPr>
              <a:t>Fechas de inicio/fin, límites de impresiones y frecuencia</a:t>
            </a:r>
            <a:endParaRPr lang="en-US" sz="1000" dirty="0"/>
          </a:p>
        </p:txBody>
      </p:sp>
      <p:sp>
        <p:nvSpPr>
          <p:cNvPr id="26" name="Shape 21"/>
          <p:cNvSpPr/>
          <p:nvPr/>
        </p:nvSpPr>
        <p:spPr>
          <a:xfrm>
            <a:off x="6803136" y="1965960"/>
            <a:ext cx="2011680" cy="256032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27" name="Shape 22"/>
          <p:cNvSpPr/>
          <p:nvPr/>
        </p:nvSpPr>
        <p:spPr>
          <a:xfrm>
            <a:off x="6803136" y="1965960"/>
            <a:ext cx="2011680" cy="54864"/>
          </a:xfrm>
          <a:prstGeom prst="rect">
            <a:avLst/>
          </a:prstGeom>
          <a:solidFill>
            <a:srgbClr val="7F52A0"/>
          </a:solidFill>
          <a:ln w="12700">
            <a:solidFill>
              <a:srgbClr val="7F52A0"/>
            </a:solidFill>
            <a:prstDash val="solid"/>
          </a:ln>
        </p:spPr>
        <p:txBody>
          <a:bodyPr/>
          <a:lstStyle/>
          <a:p>
            <a:endParaRPr lang="es-MX"/>
          </a:p>
        </p:txBody>
      </p:sp>
      <p:grpSp>
        <p:nvGrpSpPr>
          <p:cNvPr id="37" name="Grupo 36">
            <a:extLst>
              <a:ext uri="{FF2B5EF4-FFF2-40B4-BE49-F238E27FC236}">
                <a16:creationId xmlns:a16="http://schemas.microsoft.com/office/drawing/2014/main" id="{1999DE09-8760-6F00-421F-B240A2CC6F10}"/>
              </a:ext>
            </a:extLst>
          </p:cNvPr>
          <p:cNvGrpSpPr/>
          <p:nvPr/>
        </p:nvGrpSpPr>
        <p:grpSpPr>
          <a:xfrm>
            <a:off x="7470648" y="2327562"/>
            <a:ext cx="676656" cy="676656"/>
            <a:chOff x="7470648" y="2057400"/>
            <a:chExt cx="676656" cy="676656"/>
          </a:xfrm>
        </p:grpSpPr>
        <p:sp>
          <p:nvSpPr>
            <p:cNvPr id="28" name="Shape 23"/>
            <p:cNvSpPr/>
            <p:nvPr/>
          </p:nvSpPr>
          <p:spPr>
            <a:xfrm>
              <a:off x="7470648" y="2057400"/>
              <a:ext cx="676656" cy="676656"/>
            </a:xfrm>
            <a:prstGeom prst="ellipse">
              <a:avLst/>
            </a:prstGeom>
            <a:solidFill>
              <a:srgbClr val="E8E0F5"/>
            </a:solidFill>
            <a:ln w="12700">
              <a:solidFill>
                <a:srgbClr val="7F52A0"/>
              </a:solidFill>
              <a:prstDash val="solid"/>
            </a:ln>
          </p:spPr>
          <p:txBody>
            <a:bodyPr/>
            <a:lstStyle/>
            <a:p>
              <a:endParaRPr lang="es-MX"/>
            </a:p>
          </p:txBody>
        </p:sp>
        <p:pic>
          <p:nvPicPr>
            <p:cNvPr id="29" name="Image 3" descr="preencoded.png"/>
            <p:cNvPicPr>
              <a:picLocks noChangeAspect="1"/>
            </p:cNvPicPr>
            <p:nvPr/>
          </p:nvPicPr>
          <p:blipFill>
            <a:blip r:embed="rId6"/>
            <a:stretch>
              <a:fillRect/>
            </a:stretch>
          </p:blipFill>
          <p:spPr>
            <a:xfrm>
              <a:off x="7598664" y="2167128"/>
              <a:ext cx="420624" cy="420624"/>
            </a:xfrm>
            <a:prstGeom prst="rect">
              <a:avLst/>
            </a:prstGeom>
          </p:spPr>
        </p:pic>
      </p:grpSp>
      <p:sp>
        <p:nvSpPr>
          <p:cNvPr id="30" name="Text 24"/>
          <p:cNvSpPr/>
          <p:nvPr/>
        </p:nvSpPr>
        <p:spPr>
          <a:xfrm>
            <a:off x="6894576" y="3104802"/>
            <a:ext cx="1828800" cy="347472"/>
          </a:xfrm>
          <a:prstGeom prst="rect">
            <a:avLst/>
          </a:prstGeom>
          <a:noFill/>
          <a:ln/>
        </p:spPr>
        <p:txBody>
          <a:bodyPr wrap="square" lIns="0" tIns="0" rIns="0" bIns="0" rtlCol="0" anchor="ctr"/>
          <a:lstStyle/>
          <a:p>
            <a:pPr marL="0" indent="0" algn="ctr">
              <a:buNone/>
            </a:pPr>
            <a:r>
              <a:rPr lang="en-US" sz="1300" b="1" dirty="0">
                <a:solidFill>
                  <a:srgbClr val="263980"/>
                </a:solidFill>
              </a:rPr>
              <a:t>¿A dónde lleva?</a:t>
            </a:r>
            <a:endParaRPr lang="en-US" sz="1300" dirty="0"/>
          </a:p>
        </p:txBody>
      </p:sp>
      <p:sp>
        <p:nvSpPr>
          <p:cNvPr id="31" name="Text 25"/>
          <p:cNvSpPr/>
          <p:nvPr/>
        </p:nvSpPr>
        <p:spPr>
          <a:xfrm>
            <a:off x="6894576" y="3200400"/>
            <a:ext cx="1828800" cy="1188720"/>
          </a:xfrm>
          <a:prstGeom prst="rect">
            <a:avLst/>
          </a:prstGeom>
          <a:noFill/>
          <a:ln/>
        </p:spPr>
        <p:txBody>
          <a:bodyPr wrap="square" lIns="0" tIns="0" rIns="0" bIns="0" rtlCol="0" anchor="ctr"/>
          <a:lstStyle/>
          <a:p>
            <a:pPr marL="0" indent="0" algn="ctr">
              <a:buNone/>
            </a:pPr>
            <a:r>
              <a:rPr lang="en-US" sz="1000" dirty="0">
                <a:solidFill>
                  <a:srgbClr val="64748B"/>
                </a:solidFill>
              </a:rPr>
              <a:t>URL de destino del cliente con parámetros UTM</a:t>
            </a:r>
            <a:endParaRPr lang="en-US" sz="1000" dirty="0"/>
          </a:p>
        </p:txBody>
      </p:sp>
      <p:sp>
        <p:nvSpPr>
          <p:cNvPr id="32" name="Shape 26"/>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33" name="Text 27"/>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38" name="Gráfico 37">
            <a:extLst>
              <a:ext uri="{FF2B5EF4-FFF2-40B4-BE49-F238E27FC236}">
                <a16:creationId xmlns:a16="http://schemas.microsoft.com/office/drawing/2014/main" id="{68B95DAF-B15C-71F3-F326-42C979BE58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80533" y="4731536"/>
            <a:ext cx="1393444" cy="54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C1A56"/>
          </a:solidFill>
          <a:ln w="12700">
            <a:solidFill>
              <a:srgbClr val="2C1A56"/>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rPr>
              <a:t>Jerarquía del Sistema</a:t>
            </a:r>
            <a:endParaRPr lang="en-US" sz="2200" dirty="0"/>
          </a:p>
        </p:txBody>
      </p:sp>
      <p:sp>
        <p:nvSpPr>
          <p:cNvPr id="5" name="Shape 3"/>
          <p:cNvSpPr/>
          <p:nvPr/>
        </p:nvSpPr>
        <p:spPr>
          <a:xfrm>
            <a:off x="274320" y="914400"/>
            <a:ext cx="7498080" cy="566928"/>
          </a:xfrm>
          <a:prstGeom prst="rect">
            <a:avLst/>
          </a:prstGeom>
          <a:solidFill>
            <a:srgbClr val="3A2A6A"/>
          </a:solidFill>
          <a:ln w="19050">
            <a:solidFill>
              <a:srgbClr val="2C1A56"/>
            </a:solidFill>
            <a:prstDash val="solid"/>
          </a:ln>
        </p:spPr>
        <p:txBody>
          <a:bodyPr/>
          <a:lstStyle/>
          <a:p>
            <a:endParaRPr lang="es-MX"/>
          </a:p>
        </p:txBody>
      </p:sp>
      <p:sp>
        <p:nvSpPr>
          <p:cNvPr id="6" name="Shape 4"/>
          <p:cNvSpPr/>
          <p:nvPr/>
        </p:nvSpPr>
        <p:spPr>
          <a:xfrm>
            <a:off x="274320" y="914400"/>
            <a:ext cx="91440" cy="566928"/>
          </a:xfrm>
          <a:prstGeom prst="rect">
            <a:avLst/>
          </a:prstGeom>
          <a:solidFill>
            <a:srgbClr val="2C1A56"/>
          </a:solidFill>
          <a:ln w="12700">
            <a:solidFill>
              <a:srgbClr val="2C1A56"/>
            </a:solidFill>
            <a:prstDash val="solid"/>
          </a:ln>
        </p:spPr>
        <p:txBody>
          <a:bodyPr/>
          <a:lstStyle/>
          <a:p>
            <a:endParaRPr lang="es-MX"/>
          </a:p>
        </p:txBody>
      </p:sp>
      <p:sp>
        <p:nvSpPr>
          <p:cNvPr id="7" name="Text 5"/>
          <p:cNvSpPr/>
          <p:nvPr/>
        </p:nvSpPr>
        <p:spPr>
          <a:xfrm>
            <a:off x="868680" y="960120"/>
            <a:ext cx="6400800" cy="256032"/>
          </a:xfrm>
          <a:prstGeom prst="rect">
            <a:avLst/>
          </a:prstGeom>
          <a:noFill/>
          <a:ln/>
        </p:spPr>
        <p:txBody>
          <a:bodyPr wrap="square" lIns="0" tIns="0" rIns="0" bIns="0" rtlCol="0" anchor="ctr"/>
          <a:lstStyle/>
          <a:p>
            <a:pPr marL="0" indent="0">
              <a:buNone/>
            </a:pPr>
            <a:r>
              <a:rPr lang="en-US" sz="1200" b="1" dirty="0">
                <a:solidFill>
                  <a:srgbClr val="FFFFFF"/>
                </a:solidFill>
              </a:rPr>
              <a:t>RED PUBLICITARIA</a:t>
            </a:r>
            <a:endParaRPr lang="en-US" sz="1200" dirty="0"/>
          </a:p>
        </p:txBody>
      </p:sp>
      <p:sp>
        <p:nvSpPr>
          <p:cNvPr id="8" name="Text 6"/>
          <p:cNvSpPr/>
          <p:nvPr/>
        </p:nvSpPr>
        <p:spPr>
          <a:xfrm>
            <a:off x="868680" y="1188720"/>
            <a:ext cx="6400800" cy="219456"/>
          </a:xfrm>
          <a:prstGeom prst="rect">
            <a:avLst/>
          </a:prstGeom>
          <a:noFill/>
          <a:ln/>
        </p:spPr>
        <p:txBody>
          <a:bodyPr wrap="square" lIns="0" tIns="0" rIns="0" bIns="0" rtlCol="0" anchor="ctr"/>
          <a:lstStyle/>
          <a:p>
            <a:pPr marL="0" indent="0">
              <a:buNone/>
            </a:pPr>
            <a:r>
              <a:rPr lang="en-US" sz="950" dirty="0">
                <a:solidFill>
                  <a:srgbClr val="CCEEF2"/>
                </a:solidFill>
              </a:rPr>
              <a:t>ID: 33036438 — La cuenta completa de Ad Manager</a:t>
            </a:r>
            <a:endParaRPr lang="en-US" sz="950" dirty="0"/>
          </a:p>
        </p:txBody>
      </p:sp>
      <p:sp>
        <p:nvSpPr>
          <p:cNvPr id="9" name="Shape 7"/>
          <p:cNvSpPr/>
          <p:nvPr/>
        </p:nvSpPr>
        <p:spPr>
          <a:xfrm>
            <a:off x="274320" y="1005840"/>
            <a:ext cx="384048" cy="384048"/>
          </a:xfrm>
          <a:prstGeom prst="ellipse">
            <a:avLst/>
          </a:prstGeom>
          <a:solidFill>
            <a:srgbClr val="2C1A56"/>
          </a:solidFill>
          <a:ln w="12700">
            <a:solidFill>
              <a:srgbClr val="2C1A56"/>
            </a:solidFill>
            <a:prstDash val="solid"/>
          </a:ln>
        </p:spPr>
        <p:txBody>
          <a:bodyPr/>
          <a:lstStyle/>
          <a:p>
            <a:endParaRPr lang="es-MX"/>
          </a:p>
        </p:txBody>
      </p:sp>
      <p:sp>
        <p:nvSpPr>
          <p:cNvPr id="10" name="Text 8"/>
          <p:cNvSpPr/>
          <p:nvPr/>
        </p:nvSpPr>
        <p:spPr>
          <a:xfrm>
            <a:off x="274320" y="100584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11" name="Shape 9"/>
          <p:cNvSpPr/>
          <p:nvPr/>
        </p:nvSpPr>
        <p:spPr>
          <a:xfrm>
            <a:off x="758952" y="1536192"/>
            <a:ext cx="36576" cy="182880"/>
          </a:xfrm>
          <a:prstGeom prst="rect">
            <a:avLst/>
          </a:prstGeom>
          <a:solidFill>
            <a:srgbClr val="263980"/>
          </a:solidFill>
          <a:ln w="12700">
            <a:solidFill>
              <a:srgbClr val="263980"/>
            </a:solidFill>
            <a:prstDash val="solid"/>
          </a:ln>
        </p:spPr>
        <p:txBody>
          <a:bodyPr/>
          <a:lstStyle/>
          <a:p>
            <a:endParaRPr lang="es-MX"/>
          </a:p>
        </p:txBody>
      </p:sp>
      <p:sp>
        <p:nvSpPr>
          <p:cNvPr id="12" name="Shape 10"/>
          <p:cNvSpPr/>
          <p:nvPr/>
        </p:nvSpPr>
        <p:spPr>
          <a:xfrm>
            <a:off x="228600" y="1536192"/>
            <a:ext cx="566928" cy="36576"/>
          </a:xfrm>
          <a:prstGeom prst="rect">
            <a:avLst/>
          </a:prstGeom>
          <a:solidFill>
            <a:srgbClr val="263980"/>
          </a:solidFill>
          <a:ln w="12700">
            <a:solidFill>
              <a:srgbClr val="263980"/>
            </a:solidFill>
            <a:prstDash val="solid"/>
          </a:ln>
        </p:spPr>
        <p:txBody>
          <a:bodyPr/>
          <a:lstStyle/>
          <a:p>
            <a:endParaRPr lang="es-MX"/>
          </a:p>
        </p:txBody>
      </p:sp>
      <p:sp>
        <p:nvSpPr>
          <p:cNvPr id="13" name="Shape 11"/>
          <p:cNvSpPr/>
          <p:nvPr/>
        </p:nvSpPr>
        <p:spPr>
          <a:xfrm>
            <a:off x="822960" y="1673352"/>
            <a:ext cx="6949440" cy="566928"/>
          </a:xfrm>
          <a:prstGeom prst="rect">
            <a:avLst/>
          </a:prstGeom>
          <a:solidFill>
            <a:srgbClr val="1E2E6A"/>
          </a:solidFill>
          <a:ln w="19050">
            <a:solidFill>
              <a:srgbClr val="263980"/>
            </a:solidFill>
            <a:prstDash val="solid"/>
          </a:ln>
        </p:spPr>
        <p:txBody>
          <a:bodyPr/>
          <a:lstStyle/>
          <a:p>
            <a:endParaRPr lang="es-MX"/>
          </a:p>
        </p:txBody>
      </p:sp>
      <p:sp>
        <p:nvSpPr>
          <p:cNvPr id="14" name="Shape 12"/>
          <p:cNvSpPr/>
          <p:nvPr/>
        </p:nvSpPr>
        <p:spPr>
          <a:xfrm>
            <a:off x="822960" y="1673352"/>
            <a:ext cx="91440" cy="566928"/>
          </a:xfrm>
          <a:prstGeom prst="rect">
            <a:avLst/>
          </a:prstGeom>
          <a:solidFill>
            <a:srgbClr val="263980"/>
          </a:solidFill>
          <a:ln w="12700">
            <a:solidFill>
              <a:srgbClr val="263980"/>
            </a:solidFill>
            <a:prstDash val="solid"/>
          </a:ln>
        </p:spPr>
        <p:txBody>
          <a:bodyPr/>
          <a:lstStyle/>
          <a:p>
            <a:endParaRPr lang="es-MX"/>
          </a:p>
        </p:txBody>
      </p:sp>
      <p:sp>
        <p:nvSpPr>
          <p:cNvPr id="15" name="Text 13"/>
          <p:cNvSpPr/>
          <p:nvPr/>
        </p:nvSpPr>
        <p:spPr>
          <a:xfrm>
            <a:off x="1417320" y="1719072"/>
            <a:ext cx="5852160" cy="256032"/>
          </a:xfrm>
          <a:prstGeom prst="rect">
            <a:avLst/>
          </a:prstGeom>
          <a:noFill/>
          <a:ln/>
        </p:spPr>
        <p:txBody>
          <a:bodyPr wrap="square" lIns="0" tIns="0" rIns="0" bIns="0" rtlCol="0" anchor="ctr"/>
          <a:lstStyle/>
          <a:p>
            <a:pPr marL="0" indent="0">
              <a:buNone/>
            </a:pPr>
            <a:r>
              <a:rPr lang="en-US" sz="1200" b="1" dirty="0">
                <a:solidFill>
                  <a:srgbClr val="FFFFFF"/>
                </a:solidFill>
              </a:rPr>
              <a:t>ANUNCIANTE</a:t>
            </a:r>
            <a:endParaRPr lang="en-US" sz="1200" dirty="0"/>
          </a:p>
        </p:txBody>
      </p:sp>
      <p:sp>
        <p:nvSpPr>
          <p:cNvPr id="16" name="Text 14"/>
          <p:cNvSpPr/>
          <p:nvPr/>
        </p:nvSpPr>
        <p:spPr>
          <a:xfrm>
            <a:off x="1417320" y="1947672"/>
            <a:ext cx="5852160" cy="219456"/>
          </a:xfrm>
          <a:prstGeom prst="rect">
            <a:avLst/>
          </a:prstGeom>
          <a:noFill/>
          <a:ln/>
        </p:spPr>
        <p:txBody>
          <a:bodyPr wrap="square" lIns="0" tIns="0" rIns="0" bIns="0" rtlCol="0" anchor="ctr"/>
          <a:lstStyle/>
          <a:p>
            <a:pPr marL="0" indent="0">
              <a:buNone/>
            </a:pPr>
            <a:r>
              <a:rPr lang="en-US" sz="950" dirty="0">
                <a:solidFill>
                  <a:srgbClr val="CCEEF2"/>
                </a:solidFill>
              </a:rPr>
              <a:t>Sfera Media Group — Siempre usar este</a:t>
            </a:r>
            <a:endParaRPr lang="en-US" sz="950" dirty="0"/>
          </a:p>
        </p:txBody>
      </p:sp>
      <p:sp>
        <p:nvSpPr>
          <p:cNvPr id="17" name="Shape 15"/>
          <p:cNvSpPr/>
          <p:nvPr/>
        </p:nvSpPr>
        <p:spPr>
          <a:xfrm>
            <a:off x="822960" y="1764792"/>
            <a:ext cx="384048" cy="384048"/>
          </a:xfrm>
          <a:prstGeom prst="ellipse">
            <a:avLst/>
          </a:prstGeom>
          <a:solidFill>
            <a:srgbClr val="263980"/>
          </a:solidFill>
          <a:ln w="12700">
            <a:solidFill>
              <a:srgbClr val="263980"/>
            </a:solidFill>
            <a:prstDash val="solid"/>
          </a:ln>
        </p:spPr>
        <p:txBody>
          <a:bodyPr/>
          <a:lstStyle/>
          <a:p>
            <a:endParaRPr lang="es-MX"/>
          </a:p>
        </p:txBody>
      </p:sp>
      <p:sp>
        <p:nvSpPr>
          <p:cNvPr id="18" name="Text 16"/>
          <p:cNvSpPr/>
          <p:nvPr/>
        </p:nvSpPr>
        <p:spPr>
          <a:xfrm>
            <a:off x="822960" y="176479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9" name="Shape 17"/>
          <p:cNvSpPr/>
          <p:nvPr/>
        </p:nvSpPr>
        <p:spPr>
          <a:xfrm>
            <a:off x="1307592" y="2295144"/>
            <a:ext cx="36576" cy="182880"/>
          </a:xfrm>
          <a:prstGeom prst="rect">
            <a:avLst/>
          </a:prstGeom>
          <a:solidFill>
            <a:srgbClr val="7F52A0"/>
          </a:solidFill>
          <a:ln w="12700">
            <a:solidFill>
              <a:srgbClr val="7F52A0"/>
            </a:solidFill>
            <a:prstDash val="solid"/>
          </a:ln>
        </p:spPr>
        <p:txBody>
          <a:bodyPr/>
          <a:lstStyle/>
          <a:p>
            <a:endParaRPr lang="es-MX"/>
          </a:p>
        </p:txBody>
      </p:sp>
      <p:sp>
        <p:nvSpPr>
          <p:cNvPr id="20" name="Shape 18"/>
          <p:cNvSpPr/>
          <p:nvPr/>
        </p:nvSpPr>
        <p:spPr>
          <a:xfrm>
            <a:off x="777240" y="2295144"/>
            <a:ext cx="566928" cy="36576"/>
          </a:xfrm>
          <a:prstGeom prst="rect">
            <a:avLst/>
          </a:prstGeom>
          <a:solidFill>
            <a:srgbClr val="7F52A0"/>
          </a:solidFill>
          <a:ln w="12700">
            <a:solidFill>
              <a:srgbClr val="7F52A0"/>
            </a:solidFill>
            <a:prstDash val="solid"/>
          </a:ln>
        </p:spPr>
        <p:txBody>
          <a:bodyPr/>
          <a:lstStyle/>
          <a:p>
            <a:endParaRPr lang="es-MX"/>
          </a:p>
        </p:txBody>
      </p:sp>
      <p:sp>
        <p:nvSpPr>
          <p:cNvPr id="21" name="Shape 19"/>
          <p:cNvSpPr/>
          <p:nvPr/>
        </p:nvSpPr>
        <p:spPr>
          <a:xfrm>
            <a:off x="1371600" y="2432304"/>
            <a:ext cx="6400800" cy="566928"/>
          </a:xfrm>
          <a:prstGeom prst="rect">
            <a:avLst/>
          </a:prstGeom>
          <a:solidFill>
            <a:srgbClr val="6A4090"/>
          </a:solidFill>
          <a:ln w="19050">
            <a:solidFill>
              <a:srgbClr val="7F52A0"/>
            </a:solidFill>
            <a:prstDash val="solid"/>
          </a:ln>
        </p:spPr>
        <p:txBody>
          <a:bodyPr/>
          <a:lstStyle/>
          <a:p>
            <a:endParaRPr lang="es-MX"/>
          </a:p>
        </p:txBody>
      </p:sp>
      <p:sp>
        <p:nvSpPr>
          <p:cNvPr id="22" name="Shape 20"/>
          <p:cNvSpPr/>
          <p:nvPr/>
        </p:nvSpPr>
        <p:spPr>
          <a:xfrm>
            <a:off x="1371600" y="2432304"/>
            <a:ext cx="91440" cy="566928"/>
          </a:xfrm>
          <a:prstGeom prst="rect">
            <a:avLst/>
          </a:prstGeom>
          <a:solidFill>
            <a:srgbClr val="7F52A0"/>
          </a:solidFill>
          <a:ln w="12700">
            <a:solidFill>
              <a:srgbClr val="7F52A0"/>
            </a:solidFill>
            <a:prstDash val="solid"/>
          </a:ln>
        </p:spPr>
        <p:txBody>
          <a:bodyPr/>
          <a:lstStyle/>
          <a:p>
            <a:endParaRPr lang="es-MX"/>
          </a:p>
        </p:txBody>
      </p:sp>
      <p:sp>
        <p:nvSpPr>
          <p:cNvPr id="23" name="Text 21"/>
          <p:cNvSpPr/>
          <p:nvPr/>
        </p:nvSpPr>
        <p:spPr>
          <a:xfrm>
            <a:off x="1965960" y="2478024"/>
            <a:ext cx="5303520" cy="256032"/>
          </a:xfrm>
          <a:prstGeom prst="rect">
            <a:avLst/>
          </a:prstGeom>
          <a:noFill/>
          <a:ln/>
        </p:spPr>
        <p:txBody>
          <a:bodyPr wrap="square" lIns="0" tIns="0" rIns="0" bIns="0" rtlCol="0" anchor="ctr"/>
          <a:lstStyle/>
          <a:p>
            <a:pPr marL="0" indent="0">
              <a:buNone/>
            </a:pPr>
            <a:r>
              <a:rPr lang="en-US" sz="1200" b="1" dirty="0">
                <a:solidFill>
                  <a:srgbClr val="FFFFFF"/>
                </a:solidFill>
              </a:rPr>
              <a:t>PEDIDO (Order)</a:t>
            </a:r>
            <a:endParaRPr lang="en-US" sz="1200" dirty="0"/>
          </a:p>
        </p:txBody>
      </p:sp>
      <p:sp>
        <p:nvSpPr>
          <p:cNvPr id="24" name="Text 22"/>
          <p:cNvSpPr/>
          <p:nvPr/>
        </p:nvSpPr>
        <p:spPr>
          <a:xfrm>
            <a:off x="1965960" y="2706624"/>
            <a:ext cx="5303520" cy="219456"/>
          </a:xfrm>
          <a:prstGeom prst="rect">
            <a:avLst/>
          </a:prstGeom>
          <a:noFill/>
          <a:ln/>
        </p:spPr>
        <p:txBody>
          <a:bodyPr wrap="square" lIns="0" tIns="0" rIns="0" bIns="0" rtlCol="0" anchor="ctr"/>
          <a:lstStyle/>
          <a:p>
            <a:pPr marL="0" indent="0">
              <a:buNone/>
            </a:pPr>
            <a:r>
              <a:rPr lang="en-US" sz="950" dirty="0">
                <a:solidFill>
                  <a:srgbClr val="CCEEF2"/>
                </a:solidFill>
              </a:rPr>
              <a:t>Ej: MX - Benedual — La 'carpeta' del cliente</a:t>
            </a:r>
            <a:endParaRPr lang="en-US" sz="950" dirty="0"/>
          </a:p>
        </p:txBody>
      </p:sp>
      <p:sp>
        <p:nvSpPr>
          <p:cNvPr id="25" name="Shape 23"/>
          <p:cNvSpPr/>
          <p:nvPr/>
        </p:nvSpPr>
        <p:spPr>
          <a:xfrm>
            <a:off x="1371600" y="2523744"/>
            <a:ext cx="384048" cy="384048"/>
          </a:xfrm>
          <a:prstGeom prst="ellipse">
            <a:avLst/>
          </a:prstGeom>
          <a:solidFill>
            <a:srgbClr val="7F52A0"/>
          </a:solidFill>
          <a:ln w="12700">
            <a:solidFill>
              <a:srgbClr val="7F52A0"/>
            </a:solidFill>
            <a:prstDash val="solid"/>
          </a:ln>
        </p:spPr>
        <p:txBody>
          <a:bodyPr/>
          <a:lstStyle/>
          <a:p>
            <a:endParaRPr lang="es-MX"/>
          </a:p>
        </p:txBody>
      </p:sp>
      <p:sp>
        <p:nvSpPr>
          <p:cNvPr id="26" name="Text 24"/>
          <p:cNvSpPr/>
          <p:nvPr/>
        </p:nvSpPr>
        <p:spPr>
          <a:xfrm>
            <a:off x="1371600" y="252374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27" name="Shape 25"/>
          <p:cNvSpPr/>
          <p:nvPr/>
        </p:nvSpPr>
        <p:spPr>
          <a:xfrm>
            <a:off x="1856232" y="3054096"/>
            <a:ext cx="36576" cy="182880"/>
          </a:xfrm>
          <a:prstGeom prst="rect">
            <a:avLst/>
          </a:prstGeom>
          <a:solidFill>
            <a:srgbClr val="46C2CE"/>
          </a:solidFill>
          <a:ln w="12700">
            <a:solidFill>
              <a:srgbClr val="46C2CE"/>
            </a:solidFill>
            <a:prstDash val="solid"/>
          </a:ln>
        </p:spPr>
        <p:txBody>
          <a:bodyPr/>
          <a:lstStyle/>
          <a:p>
            <a:endParaRPr lang="es-MX"/>
          </a:p>
        </p:txBody>
      </p:sp>
      <p:sp>
        <p:nvSpPr>
          <p:cNvPr id="28" name="Shape 26"/>
          <p:cNvSpPr/>
          <p:nvPr/>
        </p:nvSpPr>
        <p:spPr>
          <a:xfrm>
            <a:off x="1325880" y="3054096"/>
            <a:ext cx="566928" cy="36576"/>
          </a:xfrm>
          <a:prstGeom prst="rect">
            <a:avLst/>
          </a:prstGeom>
          <a:solidFill>
            <a:srgbClr val="46C2CE"/>
          </a:solidFill>
          <a:ln w="12700">
            <a:solidFill>
              <a:srgbClr val="46C2CE"/>
            </a:solidFill>
            <a:prstDash val="solid"/>
          </a:ln>
        </p:spPr>
        <p:txBody>
          <a:bodyPr/>
          <a:lstStyle/>
          <a:p>
            <a:endParaRPr lang="es-MX"/>
          </a:p>
        </p:txBody>
      </p:sp>
      <p:sp>
        <p:nvSpPr>
          <p:cNvPr id="29" name="Shape 27"/>
          <p:cNvSpPr/>
          <p:nvPr/>
        </p:nvSpPr>
        <p:spPr>
          <a:xfrm>
            <a:off x="1920240" y="3191256"/>
            <a:ext cx="5852160" cy="566928"/>
          </a:xfrm>
          <a:prstGeom prst="rect">
            <a:avLst/>
          </a:prstGeom>
          <a:solidFill>
            <a:srgbClr val="3AAAB8"/>
          </a:solidFill>
          <a:ln w="19050">
            <a:solidFill>
              <a:srgbClr val="46C2CE"/>
            </a:solidFill>
            <a:prstDash val="solid"/>
          </a:ln>
        </p:spPr>
        <p:txBody>
          <a:bodyPr/>
          <a:lstStyle/>
          <a:p>
            <a:endParaRPr lang="es-MX"/>
          </a:p>
        </p:txBody>
      </p:sp>
      <p:sp>
        <p:nvSpPr>
          <p:cNvPr id="30" name="Shape 28"/>
          <p:cNvSpPr/>
          <p:nvPr/>
        </p:nvSpPr>
        <p:spPr>
          <a:xfrm>
            <a:off x="1920240" y="3191256"/>
            <a:ext cx="91440" cy="566928"/>
          </a:xfrm>
          <a:prstGeom prst="rect">
            <a:avLst/>
          </a:prstGeom>
          <a:solidFill>
            <a:srgbClr val="46C2CE"/>
          </a:solidFill>
          <a:ln w="12700">
            <a:solidFill>
              <a:srgbClr val="46C2CE"/>
            </a:solidFill>
            <a:prstDash val="solid"/>
          </a:ln>
        </p:spPr>
        <p:txBody>
          <a:bodyPr/>
          <a:lstStyle/>
          <a:p>
            <a:endParaRPr lang="es-MX"/>
          </a:p>
        </p:txBody>
      </p:sp>
      <p:sp>
        <p:nvSpPr>
          <p:cNvPr id="31" name="Text 29"/>
          <p:cNvSpPr/>
          <p:nvPr/>
        </p:nvSpPr>
        <p:spPr>
          <a:xfrm>
            <a:off x="2514600" y="3236976"/>
            <a:ext cx="4754880" cy="256032"/>
          </a:xfrm>
          <a:prstGeom prst="rect">
            <a:avLst/>
          </a:prstGeom>
          <a:noFill/>
          <a:ln/>
        </p:spPr>
        <p:txBody>
          <a:bodyPr wrap="square" lIns="0" tIns="0" rIns="0" bIns="0" rtlCol="0" anchor="ctr"/>
          <a:lstStyle/>
          <a:p>
            <a:pPr marL="0" indent="0">
              <a:buNone/>
            </a:pPr>
            <a:r>
              <a:rPr lang="en-US" sz="1200" b="1" dirty="0">
                <a:solidFill>
                  <a:srgbClr val="2C1A56"/>
                </a:solidFill>
              </a:rPr>
              <a:t>LÍNEA DE PEDIDO (Line Item)</a:t>
            </a:r>
            <a:endParaRPr lang="en-US" sz="1200" dirty="0"/>
          </a:p>
        </p:txBody>
      </p:sp>
      <p:sp>
        <p:nvSpPr>
          <p:cNvPr id="32" name="Text 30"/>
          <p:cNvSpPr/>
          <p:nvPr/>
        </p:nvSpPr>
        <p:spPr>
          <a:xfrm>
            <a:off x="2514600" y="3465576"/>
            <a:ext cx="4754880" cy="219456"/>
          </a:xfrm>
          <a:prstGeom prst="rect">
            <a:avLst/>
          </a:prstGeom>
          <a:noFill/>
          <a:ln/>
        </p:spPr>
        <p:txBody>
          <a:bodyPr wrap="square" lIns="0" tIns="0" rIns="0" bIns="0" rtlCol="0" anchor="ctr"/>
          <a:lstStyle/>
          <a:p>
            <a:pPr marL="0" indent="0">
              <a:buNone/>
            </a:pPr>
            <a:r>
              <a:rPr lang="en-US" sz="950" dirty="0">
                <a:solidFill>
                  <a:srgbClr val="2C1A56"/>
                </a:solidFill>
              </a:rPr>
              <a:t>Ej: AGE Benedual 050326 — Cuándo, dónde y cómo</a:t>
            </a:r>
            <a:endParaRPr lang="en-US" sz="950" dirty="0"/>
          </a:p>
        </p:txBody>
      </p:sp>
      <p:sp>
        <p:nvSpPr>
          <p:cNvPr id="33" name="Shape 31"/>
          <p:cNvSpPr/>
          <p:nvPr/>
        </p:nvSpPr>
        <p:spPr>
          <a:xfrm>
            <a:off x="1920240" y="3282696"/>
            <a:ext cx="384048" cy="384048"/>
          </a:xfrm>
          <a:prstGeom prst="ellipse">
            <a:avLst/>
          </a:prstGeom>
          <a:solidFill>
            <a:srgbClr val="46C2CE"/>
          </a:solidFill>
          <a:ln w="12700">
            <a:solidFill>
              <a:srgbClr val="46C2CE"/>
            </a:solidFill>
            <a:prstDash val="solid"/>
          </a:ln>
        </p:spPr>
        <p:txBody>
          <a:bodyPr/>
          <a:lstStyle/>
          <a:p>
            <a:endParaRPr lang="es-MX"/>
          </a:p>
        </p:txBody>
      </p:sp>
      <p:sp>
        <p:nvSpPr>
          <p:cNvPr id="34" name="Text 32"/>
          <p:cNvSpPr/>
          <p:nvPr/>
        </p:nvSpPr>
        <p:spPr>
          <a:xfrm>
            <a:off x="1920240" y="3282696"/>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35" name="Shape 33"/>
          <p:cNvSpPr/>
          <p:nvPr/>
        </p:nvSpPr>
        <p:spPr>
          <a:xfrm>
            <a:off x="2404872" y="3813048"/>
            <a:ext cx="36576" cy="182880"/>
          </a:xfrm>
          <a:prstGeom prst="rect">
            <a:avLst/>
          </a:prstGeom>
          <a:solidFill>
            <a:srgbClr val="64748B"/>
          </a:solidFill>
          <a:ln w="12700">
            <a:solidFill>
              <a:srgbClr val="64748B"/>
            </a:solidFill>
            <a:prstDash val="solid"/>
          </a:ln>
        </p:spPr>
        <p:txBody>
          <a:bodyPr/>
          <a:lstStyle/>
          <a:p>
            <a:endParaRPr lang="es-MX"/>
          </a:p>
        </p:txBody>
      </p:sp>
      <p:sp>
        <p:nvSpPr>
          <p:cNvPr id="36" name="Shape 34"/>
          <p:cNvSpPr/>
          <p:nvPr/>
        </p:nvSpPr>
        <p:spPr>
          <a:xfrm>
            <a:off x="1874520" y="3813048"/>
            <a:ext cx="566928" cy="36576"/>
          </a:xfrm>
          <a:prstGeom prst="rect">
            <a:avLst/>
          </a:prstGeom>
          <a:solidFill>
            <a:srgbClr val="64748B"/>
          </a:solidFill>
          <a:ln w="12700">
            <a:solidFill>
              <a:srgbClr val="64748B"/>
            </a:solidFill>
            <a:prstDash val="solid"/>
          </a:ln>
        </p:spPr>
        <p:txBody>
          <a:bodyPr/>
          <a:lstStyle/>
          <a:p>
            <a:endParaRPr lang="es-MX"/>
          </a:p>
        </p:txBody>
      </p:sp>
      <p:sp>
        <p:nvSpPr>
          <p:cNvPr id="37" name="Shape 35"/>
          <p:cNvSpPr/>
          <p:nvPr/>
        </p:nvSpPr>
        <p:spPr>
          <a:xfrm>
            <a:off x="2468880" y="3950208"/>
            <a:ext cx="5303520" cy="566928"/>
          </a:xfrm>
          <a:prstGeom prst="rect">
            <a:avLst/>
          </a:prstGeom>
          <a:solidFill>
            <a:srgbClr val="8896AA"/>
          </a:solidFill>
          <a:ln w="19050">
            <a:solidFill>
              <a:srgbClr val="64748B"/>
            </a:solidFill>
            <a:prstDash val="solid"/>
          </a:ln>
        </p:spPr>
        <p:txBody>
          <a:bodyPr/>
          <a:lstStyle/>
          <a:p>
            <a:endParaRPr lang="es-MX"/>
          </a:p>
        </p:txBody>
      </p:sp>
      <p:sp>
        <p:nvSpPr>
          <p:cNvPr id="38" name="Shape 36"/>
          <p:cNvSpPr/>
          <p:nvPr/>
        </p:nvSpPr>
        <p:spPr>
          <a:xfrm>
            <a:off x="2468880" y="3950208"/>
            <a:ext cx="91440" cy="566928"/>
          </a:xfrm>
          <a:prstGeom prst="rect">
            <a:avLst/>
          </a:prstGeom>
          <a:solidFill>
            <a:srgbClr val="64748B"/>
          </a:solidFill>
          <a:ln w="12700">
            <a:solidFill>
              <a:srgbClr val="64748B"/>
            </a:solidFill>
            <a:prstDash val="solid"/>
          </a:ln>
        </p:spPr>
        <p:txBody>
          <a:bodyPr/>
          <a:lstStyle/>
          <a:p>
            <a:endParaRPr lang="es-MX"/>
          </a:p>
        </p:txBody>
      </p:sp>
      <p:sp>
        <p:nvSpPr>
          <p:cNvPr id="39" name="Text 37"/>
          <p:cNvSpPr/>
          <p:nvPr/>
        </p:nvSpPr>
        <p:spPr>
          <a:xfrm>
            <a:off x="3063240" y="3995928"/>
            <a:ext cx="4206240" cy="256032"/>
          </a:xfrm>
          <a:prstGeom prst="rect">
            <a:avLst/>
          </a:prstGeom>
          <a:noFill/>
          <a:ln/>
        </p:spPr>
        <p:txBody>
          <a:bodyPr wrap="square" lIns="0" tIns="0" rIns="0" bIns="0" rtlCol="0" anchor="ctr"/>
          <a:lstStyle/>
          <a:p>
            <a:pPr marL="0" indent="0">
              <a:buNone/>
            </a:pPr>
            <a:r>
              <a:rPr lang="en-US" sz="1200" b="1" dirty="0">
                <a:solidFill>
                  <a:srgbClr val="FFFFFF"/>
                </a:solidFill>
              </a:rPr>
              <a:t>CREATIVIDAD (Creative)</a:t>
            </a:r>
            <a:endParaRPr lang="en-US" sz="1200" dirty="0"/>
          </a:p>
        </p:txBody>
      </p:sp>
      <p:sp>
        <p:nvSpPr>
          <p:cNvPr id="40" name="Text 38"/>
          <p:cNvSpPr/>
          <p:nvPr/>
        </p:nvSpPr>
        <p:spPr>
          <a:xfrm>
            <a:off x="3063240" y="4224528"/>
            <a:ext cx="4206240" cy="219456"/>
          </a:xfrm>
          <a:prstGeom prst="rect">
            <a:avLst/>
          </a:prstGeom>
          <a:noFill/>
          <a:ln/>
        </p:spPr>
        <p:txBody>
          <a:bodyPr wrap="square" lIns="0" tIns="0" rIns="0" bIns="0" rtlCol="0" anchor="ctr"/>
          <a:lstStyle/>
          <a:p>
            <a:pPr marL="0" indent="0">
              <a:buNone/>
            </a:pPr>
            <a:r>
              <a:rPr lang="en-US" sz="950" dirty="0">
                <a:solidFill>
                  <a:srgbClr val="CCEEF2"/>
                </a:solidFill>
              </a:rPr>
              <a:t>El banner real: imagen + URL de destino</a:t>
            </a:r>
            <a:endParaRPr lang="en-US" sz="950" dirty="0"/>
          </a:p>
        </p:txBody>
      </p:sp>
      <p:sp>
        <p:nvSpPr>
          <p:cNvPr id="41" name="Shape 39"/>
          <p:cNvSpPr/>
          <p:nvPr/>
        </p:nvSpPr>
        <p:spPr>
          <a:xfrm>
            <a:off x="2468880" y="4041648"/>
            <a:ext cx="384048" cy="384048"/>
          </a:xfrm>
          <a:prstGeom prst="ellipse">
            <a:avLst/>
          </a:prstGeom>
          <a:solidFill>
            <a:srgbClr val="64748B"/>
          </a:solidFill>
          <a:ln w="12700">
            <a:solidFill>
              <a:srgbClr val="64748B"/>
            </a:solidFill>
            <a:prstDash val="solid"/>
          </a:ln>
        </p:spPr>
        <p:txBody>
          <a:bodyPr/>
          <a:lstStyle/>
          <a:p>
            <a:endParaRPr lang="es-MX"/>
          </a:p>
        </p:txBody>
      </p:sp>
      <p:sp>
        <p:nvSpPr>
          <p:cNvPr id="42" name="Text 40"/>
          <p:cNvSpPr/>
          <p:nvPr/>
        </p:nvSpPr>
        <p:spPr>
          <a:xfrm>
            <a:off x="2468880" y="404164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43" name="Shape 41"/>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44" name="Text 42"/>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47" name="Gráfico 46">
            <a:extLst>
              <a:ext uri="{FF2B5EF4-FFF2-40B4-BE49-F238E27FC236}">
                <a16:creationId xmlns:a16="http://schemas.microsoft.com/office/drawing/2014/main" id="{423C6C7F-7B1F-8B3B-B518-91D692409C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63980"/>
          </a:solidFill>
          <a:ln w="12700">
            <a:solidFill>
              <a:srgbClr val="26398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rPr>
              <a:t>Tipos de Banners que Manejamos</a:t>
            </a:r>
            <a:endParaRPr lang="en-US" sz="2200" dirty="0"/>
          </a:p>
        </p:txBody>
      </p:sp>
      <p:sp>
        <p:nvSpPr>
          <p:cNvPr id="5" name="Text 3"/>
          <p:cNvSpPr/>
          <p:nvPr/>
        </p:nvSpPr>
        <p:spPr>
          <a:xfrm>
            <a:off x="274320" y="914400"/>
            <a:ext cx="4206240" cy="320040"/>
          </a:xfrm>
          <a:prstGeom prst="rect">
            <a:avLst/>
          </a:prstGeom>
          <a:noFill/>
          <a:ln/>
        </p:spPr>
        <p:txBody>
          <a:bodyPr wrap="square" lIns="0" tIns="0" rIns="0" bIns="0" rtlCol="0" anchor="ctr"/>
          <a:lstStyle/>
          <a:p>
            <a:pPr marL="0" indent="0">
              <a:buNone/>
            </a:pPr>
            <a:r>
              <a:rPr lang="en-US" sz="1100" b="1" kern="0" spc="100" dirty="0">
                <a:solidFill>
                  <a:srgbClr val="263980"/>
                </a:solidFill>
              </a:rPr>
              <a:t>BANNERS WEB (Sitio)</a:t>
            </a:r>
            <a:endParaRPr lang="en-US" sz="1100" dirty="0"/>
          </a:p>
        </p:txBody>
      </p:sp>
      <p:sp>
        <p:nvSpPr>
          <p:cNvPr id="6" name="Shape 4"/>
          <p:cNvSpPr/>
          <p:nvPr/>
        </p:nvSpPr>
        <p:spPr>
          <a:xfrm>
            <a:off x="274320" y="1207008"/>
            <a:ext cx="4206240" cy="36576"/>
          </a:xfrm>
          <a:prstGeom prst="rect">
            <a:avLst/>
          </a:prstGeom>
          <a:solidFill>
            <a:srgbClr val="46C2CE"/>
          </a:solidFill>
          <a:ln w="12700">
            <a:solidFill>
              <a:srgbClr val="46C2CE"/>
            </a:solidFill>
            <a:prstDash val="solid"/>
          </a:ln>
        </p:spPr>
        <p:txBody>
          <a:bodyPr/>
          <a:lstStyle/>
          <a:p>
            <a:endParaRPr lang="es-MX"/>
          </a:p>
        </p:txBody>
      </p:sp>
      <p:sp>
        <p:nvSpPr>
          <p:cNvPr id="7" name="Text 5"/>
          <p:cNvSpPr/>
          <p:nvPr/>
        </p:nvSpPr>
        <p:spPr>
          <a:xfrm>
            <a:off x="4754880" y="914400"/>
            <a:ext cx="4114800" cy="320040"/>
          </a:xfrm>
          <a:prstGeom prst="rect">
            <a:avLst/>
          </a:prstGeom>
          <a:noFill/>
          <a:ln/>
        </p:spPr>
        <p:txBody>
          <a:bodyPr wrap="square" lIns="0" tIns="0" rIns="0" bIns="0" rtlCol="0" anchor="ctr"/>
          <a:lstStyle/>
          <a:p>
            <a:pPr marL="0" indent="0">
              <a:buNone/>
            </a:pPr>
            <a:r>
              <a:rPr lang="en-US" sz="1100" b="1" kern="0" spc="100" dirty="0">
                <a:solidFill>
                  <a:srgbClr val="7F52A0"/>
                </a:solidFill>
              </a:rPr>
              <a:t>BANNERS AGENDA (Patrocinio)</a:t>
            </a:r>
            <a:endParaRPr lang="en-US" sz="1100" dirty="0"/>
          </a:p>
        </p:txBody>
      </p:sp>
      <p:sp>
        <p:nvSpPr>
          <p:cNvPr id="8" name="Shape 6"/>
          <p:cNvSpPr/>
          <p:nvPr/>
        </p:nvSpPr>
        <p:spPr>
          <a:xfrm>
            <a:off x="4754880" y="1207008"/>
            <a:ext cx="4114800" cy="36576"/>
          </a:xfrm>
          <a:prstGeom prst="rect">
            <a:avLst/>
          </a:prstGeom>
          <a:solidFill>
            <a:srgbClr val="7F52A0"/>
          </a:solidFill>
          <a:ln w="12700">
            <a:solidFill>
              <a:srgbClr val="7F52A0"/>
            </a:solidFill>
            <a:prstDash val="solid"/>
          </a:ln>
        </p:spPr>
        <p:txBody>
          <a:bodyPr/>
          <a:lstStyle/>
          <a:p>
            <a:endParaRPr lang="es-MX"/>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1325880"/>
          <a:ext cx="4206240" cy="1524000"/>
        </p:xfrm>
        <a:graphic>
          <a:graphicData uri="http://schemas.openxmlformats.org/drawingml/2006/table">
            <a:tbl>
              <a:tblPr/>
              <a:tblGrid>
                <a:gridCol w="10972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0">
                <a:tc>
                  <a:txBody>
                    <a:bodyPr/>
                    <a:lstStyle/>
                    <a:p>
                      <a:pPr marL="0" indent="0" algn="l">
                        <a:buNone/>
                      </a:pPr>
                      <a:r>
                        <a:rPr lang="en-US" sz="1000" b="1" dirty="0">
                          <a:solidFill>
                            <a:srgbClr val="FFFFFF"/>
                          </a:solidFill>
                        </a:rPr>
                        <a:t>Tamaño</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263980"/>
                    </a:solidFill>
                  </a:tcPr>
                </a:tc>
                <a:tc>
                  <a:txBody>
                    <a:bodyPr/>
                    <a:lstStyle/>
                    <a:p>
                      <a:pPr marL="0" indent="0" algn="l">
                        <a:buNone/>
                      </a:pPr>
                      <a:r>
                        <a:rPr lang="en-US" sz="1000" b="1" dirty="0">
                          <a:solidFill>
                            <a:srgbClr val="FFFFFF"/>
                          </a:solidFill>
                        </a:rPr>
                        <a:t>Nombre</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263980"/>
                    </a:solidFill>
                  </a:tcPr>
                </a:tc>
                <a:tc>
                  <a:txBody>
                    <a:bodyPr/>
                    <a:lstStyle/>
                    <a:p>
                      <a:pPr marL="0" indent="0" algn="l">
                        <a:buNone/>
                      </a:pPr>
                      <a:r>
                        <a:rPr lang="en-US" sz="1000" b="1" dirty="0">
                          <a:solidFill>
                            <a:srgbClr val="FFFFFF"/>
                          </a:solidFill>
                        </a:rPr>
                        <a:t>Ubicación</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263980"/>
                    </a:solidFill>
                  </a:tcPr>
                </a:tc>
                <a:extLst>
                  <a:ext uri="{0D108BD9-81ED-4DB2-BD59-A6C34878D82A}">
                    <a16:rowId xmlns:a16="http://schemas.microsoft.com/office/drawing/2014/main" val="10000"/>
                  </a:ext>
                </a:extLst>
              </a:tr>
              <a:tr h="0">
                <a:tc>
                  <a:txBody>
                    <a:bodyPr/>
                    <a:lstStyle/>
                    <a:p>
                      <a:pPr marL="0" indent="0" algn="l">
                        <a:buNone/>
                      </a:pPr>
                      <a:r>
                        <a:rPr lang="en-US" sz="1000" dirty="0">
                          <a:solidFill>
                            <a:srgbClr val="1A1040"/>
                          </a:solidFill>
                        </a:rPr>
                        <a:t>728 × 90</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1A1040"/>
                          </a:solidFill>
                        </a:rPr>
                        <a:t>Leaderboard (LDB)</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1A1040"/>
                          </a:solidFill>
                        </a:rPr>
                        <a:t>Parte superior de la página</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000" dirty="0">
                          <a:solidFill>
                            <a:srgbClr val="1A1040"/>
                          </a:solidFill>
                        </a:rPr>
                        <a:t>300 × 600</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1A1040"/>
                          </a:solidFill>
                        </a:rPr>
                        <a:t>Skyscraper / Half Page</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1A1040"/>
                          </a:solidFill>
                        </a:rPr>
                        <a:t>Columna lateral derecha</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000" dirty="0">
                          <a:solidFill>
                            <a:srgbClr val="1A1040"/>
                          </a:solidFill>
                        </a:rPr>
                        <a:t>300 × 250</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1A1040"/>
                          </a:solidFill>
                        </a:rPr>
                        <a:t>Box Banner (MPU)</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1A1040"/>
                          </a:solidFill>
                        </a:rPr>
                        <a:t>Lateral o entre contenido</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1000" dirty="0">
                          <a:solidFill>
                            <a:srgbClr val="1A1040"/>
                          </a:solidFill>
                        </a:rPr>
                        <a:t>300 × 100</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1A1040"/>
                          </a:solidFill>
                        </a:rPr>
                        <a:t>Mobile Banner</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1A1040"/>
                          </a:solidFill>
                        </a:rPr>
                        <a:t>Parte superior en móvil</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754880" y="1325880"/>
          <a:ext cx="4114800" cy="1036320"/>
        </p:xfrm>
        <a:graphic>
          <a:graphicData uri="http://schemas.openxmlformats.org/drawingml/2006/table">
            <a:tbl>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rPr>
                        <a:t>Nombre</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7F52A0"/>
                    </a:solidFill>
                  </a:tcPr>
                </a:tc>
                <a:tc>
                  <a:txBody>
                    <a:bodyPr/>
                    <a:lstStyle/>
                    <a:p>
                      <a:pPr marL="0" indent="0">
                        <a:buNone/>
                      </a:pPr>
                      <a:r>
                        <a:rPr lang="en-US" sz="1000" b="1" dirty="0">
                          <a:solidFill>
                            <a:srgbClr val="FFFFFF"/>
                          </a:solidFill>
                        </a:rPr>
                        <a:t>Tamaño</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7F52A0"/>
                    </a:solidFill>
                  </a:tcPr>
                </a:tc>
                <a:tc>
                  <a:txBody>
                    <a:bodyPr/>
                    <a:lstStyle/>
                    <a:p>
                      <a:pPr marL="0" indent="0">
                        <a:buNone/>
                      </a:pPr>
                      <a:r>
                        <a:rPr lang="en-US" sz="1000" b="1" dirty="0">
                          <a:solidFill>
                            <a:srgbClr val="FFFFFF"/>
                          </a:solidFill>
                        </a:rPr>
                        <a:t>Ubicación</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7F52A0"/>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1A1040"/>
                          </a:solidFill>
                        </a:rPr>
                        <a:t>Head (head_age_emb)</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1A1040"/>
                          </a:solidFill>
                        </a:rPr>
                        <a:t>300 × 70</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1A1040"/>
                          </a:solidFill>
                        </a:rPr>
                        <a:t>"Patrocinado por" — parte superior</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1A1040"/>
                          </a:solidFill>
                        </a:rPr>
                        <a:t>Body (body_age_emb)</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1A1040"/>
                          </a:solidFill>
                        </a:rPr>
                        <a:t>750 × 200</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1A1040"/>
                          </a:solidFill>
                        </a:rPr>
                        <a:t>Banner central dentro del artículo</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Shape 7"/>
          <p:cNvSpPr/>
          <p:nvPr/>
        </p:nvSpPr>
        <p:spPr>
          <a:xfrm>
            <a:off x="274320" y="3154680"/>
            <a:ext cx="4206240" cy="1554480"/>
          </a:xfrm>
          <a:prstGeom prst="rect">
            <a:avLst/>
          </a:prstGeom>
          <a:solidFill>
            <a:srgbClr val="EEF2FF"/>
          </a:solidFill>
          <a:ln w="12700">
            <a:solidFill>
              <a:srgbClr val="CBD5E1"/>
            </a:solidFill>
            <a:prstDash val="solid"/>
          </a:ln>
        </p:spPr>
        <p:txBody>
          <a:bodyPr/>
          <a:lstStyle/>
          <a:p>
            <a:endParaRPr lang="es-MX"/>
          </a:p>
        </p:txBody>
      </p:sp>
      <p:sp>
        <p:nvSpPr>
          <p:cNvPr id="12" name="Text 8"/>
          <p:cNvSpPr/>
          <p:nvPr/>
        </p:nvSpPr>
        <p:spPr>
          <a:xfrm>
            <a:off x="274320" y="3154680"/>
            <a:ext cx="4206240" cy="274320"/>
          </a:xfrm>
          <a:prstGeom prst="rect">
            <a:avLst/>
          </a:prstGeom>
          <a:noFill/>
          <a:ln/>
        </p:spPr>
        <p:txBody>
          <a:bodyPr wrap="square" lIns="0" tIns="0" rIns="0" bIns="0" rtlCol="0" anchor="ctr"/>
          <a:lstStyle/>
          <a:p>
            <a:pPr marL="0" indent="0" algn="ctr">
              <a:buNone/>
            </a:pPr>
            <a:r>
              <a:rPr lang="en-US" sz="800" dirty="0">
                <a:solidFill>
                  <a:srgbClr val="64748B"/>
                </a:solidFill>
              </a:rPr>
              <a:t>Vista esquemática — Página web</a:t>
            </a:r>
            <a:endParaRPr lang="en-US" sz="800" dirty="0"/>
          </a:p>
        </p:txBody>
      </p:sp>
      <p:sp>
        <p:nvSpPr>
          <p:cNvPr id="10" name="Shape 9"/>
          <p:cNvSpPr/>
          <p:nvPr/>
        </p:nvSpPr>
        <p:spPr>
          <a:xfrm>
            <a:off x="365760" y="3447288"/>
            <a:ext cx="4023360" cy="201168"/>
          </a:xfrm>
          <a:prstGeom prst="rect">
            <a:avLst/>
          </a:prstGeom>
          <a:solidFill>
            <a:srgbClr val="46C2CE">
              <a:alpha val="70000"/>
            </a:srgbClr>
          </a:solidFill>
          <a:ln w="12700">
            <a:solidFill>
              <a:srgbClr val="46C2CE"/>
            </a:solidFill>
            <a:prstDash val="solid"/>
          </a:ln>
        </p:spPr>
        <p:txBody>
          <a:bodyPr/>
          <a:lstStyle/>
          <a:p>
            <a:endParaRPr lang="es-MX"/>
          </a:p>
        </p:txBody>
      </p:sp>
      <p:sp>
        <p:nvSpPr>
          <p:cNvPr id="14" name="Text 10"/>
          <p:cNvSpPr/>
          <p:nvPr/>
        </p:nvSpPr>
        <p:spPr>
          <a:xfrm>
            <a:off x="365760" y="3447288"/>
            <a:ext cx="4023360" cy="201168"/>
          </a:xfrm>
          <a:prstGeom prst="rect">
            <a:avLst/>
          </a:prstGeom>
          <a:noFill/>
          <a:ln/>
        </p:spPr>
        <p:txBody>
          <a:bodyPr wrap="square" lIns="0" tIns="0" rIns="0" bIns="0" rtlCol="0" anchor="ctr"/>
          <a:lstStyle/>
          <a:p>
            <a:pPr marL="0" indent="0" algn="ctr">
              <a:buNone/>
            </a:pPr>
            <a:r>
              <a:rPr lang="en-US" sz="700" dirty="0">
                <a:solidFill>
                  <a:srgbClr val="263980"/>
                </a:solidFill>
              </a:rPr>
              <a:t>LDB 728×90</a:t>
            </a:r>
            <a:endParaRPr lang="en-US" sz="700" dirty="0"/>
          </a:p>
        </p:txBody>
      </p:sp>
      <p:sp>
        <p:nvSpPr>
          <p:cNvPr id="15" name="Shape 11"/>
          <p:cNvSpPr/>
          <p:nvPr/>
        </p:nvSpPr>
        <p:spPr>
          <a:xfrm>
            <a:off x="365760" y="3703320"/>
            <a:ext cx="2743200" cy="822960"/>
          </a:xfrm>
          <a:prstGeom prst="rect">
            <a:avLst/>
          </a:prstGeom>
          <a:solidFill>
            <a:srgbClr val="E0E8F0"/>
          </a:solidFill>
          <a:ln w="12700">
            <a:solidFill>
              <a:srgbClr val="CBD5E1"/>
            </a:solidFill>
            <a:prstDash val="solid"/>
          </a:ln>
        </p:spPr>
        <p:txBody>
          <a:bodyPr/>
          <a:lstStyle/>
          <a:p>
            <a:endParaRPr lang="es-MX"/>
          </a:p>
        </p:txBody>
      </p:sp>
      <p:sp>
        <p:nvSpPr>
          <p:cNvPr id="16" name="Text 12"/>
          <p:cNvSpPr/>
          <p:nvPr/>
        </p:nvSpPr>
        <p:spPr>
          <a:xfrm>
            <a:off x="365760" y="3703320"/>
            <a:ext cx="2743200" cy="822960"/>
          </a:xfrm>
          <a:prstGeom prst="rect">
            <a:avLst/>
          </a:prstGeom>
          <a:noFill/>
          <a:ln/>
        </p:spPr>
        <p:txBody>
          <a:bodyPr wrap="square" lIns="0" tIns="0" rIns="0" bIns="0" rtlCol="0" anchor="ctr"/>
          <a:lstStyle/>
          <a:p>
            <a:pPr marL="0" indent="0" algn="ctr">
              <a:buNone/>
            </a:pPr>
            <a:r>
              <a:rPr lang="en-US" sz="800" dirty="0">
                <a:solidFill>
                  <a:srgbClr val="64748B"/>
                </a:solidFill>
              </a:rPr>
              <a:t>Contenido</a:t>
            </a:r>
            <a:endParaRPr lang="en-US" sz="800" dirty="0"/>
          </a:p>
          <a:p>
            <a:pPr marL="0" indent="0" algn="ctr">
              <a:buNone/>
            </a:pPr>
            <a:r>
              <a:rPr lang="en-US" sz="800" dirty="0">
                <a:solidFill>
                  <a:srgbClr val="64748B"/>
                </a:solidFill>
              </a:rPr>
              <a:t>del artículo</a:t>
            </a:r>
            <a:endParaRPr lang="en-US" sz="800" dirty="0"/>
          </a:p>
        </p:txBody>
      </p:sp>
      <p:sp>
        <p:nvSpPr>
          <p:cNvPr id="17" name="Shape 13"/>
          <p:cNvSpPr/>
          <p:nvPr/>
        </p:nvSpPr>
        <p:spPr>
          <a:xfrm>
            <a:off x="3200400" y="3703320"/>
            <a:ext cx="1097280" cy="822960"/>
          </a:xfrm>
          <a:prstGeom prst="rect">
            <a:avLst/>
          </a:prstGeom>
          <a:solidFill>
            <a:srgbClr val="7F52A0">
              <a:alpha val="40000"/>
            </a:srgbClr>
          </a:solidFill>
          <a:ln w="12700">
            <a:solidFill>
              <a:srgbClr val="7F52A0"/>
            </a:solidFill>
            <a:prstDash val="solid"/>
          </a:ln>
        </p:spPr>
        <p:txBody>
          <a:bodyPr/>
          <a:lstStyle/>
          <a:p>
            <a:endParaRPr lang="es-MX"/>
          </a:p>
        </p:txBody>
      </p:sp>
      <p:sp>
        <p:nvSpPr>
          <p:cNvPr id="18" name="Text 14"/>
          <p:cNvSpPr/>
          <p:nvPr/>
        </p:nvSpPr>
        <p:spPr>
          <a:xfrm>
            <a:off x="3200400" y="3703320"/>
            <a:ext cx="1097280" cy="822960"/>
          </a:xfrm>
          <a:prstGeom prst="rect">
            <a:avLst/>
          </a:prstGeom>
          <a:noFill/>
          <a:ln/>
        </p:spPr>
        <p:txBody>
          <a:bodyPr wrap="square" lIns="0" tIns="0" rIns="0" bIns="0" rtlCol="0" anchor="ctr"/>
          <a:lstStyle/>
          <a:p>
            <a:pPr marL="0" indent="0" algn="ctr">
              <a:buNone/>
            </a:pPr>
            <a:r>
              <a:rPr lang="en-US" sz="700" dirty="0">
                <a:solidFill>
                  <a:srgbClr val="2C1A56"/>
                </a:solidFill>
              </a:rPr>
              <a:t>SkyS</a:t>
            </a:r>
            <a:endParaRPr lang="en-US" sz="700" dirty="0"/>
          </a:p>
          <a:p>
            <a:pPr marL="0" indent="0" algn="ctr">
              <a:buNone/>
            </a:pPr>
            <a:r>
              <a:rPr lang="en-US" sz="700" dirty="0">
                <a:solidFill>
                  <a:srgbClr val="2C1A56"/>
                </a:solidFill>
              </a:rPr>
              <a:t>300×600</a:t>
            </a:r>
            <a:endParaRPr lang="en-US" sz="700" dirty="0"/>
          </a:p>
        </p:txBody>
      </p:sp>
      <p:sp>
        <p:nvSpPr>
          <p:cNvPr id="19" name="Shape 15"/>
          <p:cNvSpPr/>
          <p:nvPr/>
        </p:nvSpPr>
        <p:spPr>
          <a:xfrm>
            <a:off x="4754880" y="2971800"/>
            <a:ext cx="4114800" cy="1737360"/>
          </a:xfrm>
          <a:prstGeom prst="rect">
            <a:avLst/>
          </a:prstGeom>
          <a:solidFill>
            <a:srgbClr val="EEF2FF"/>
          </a:solidFill>
          <a:ln w="12700">
            <a:solidFill>
              <a:srgbClr val="CBD5E1"/>
            </a:solidFill>
            <a:prstDash val="solid"/>
          </a:ln>
        </p:spPr>
        <p:txBody>
          <a:bodyPr/>
          <a:lstStyle/>
          <a:p>
            <a:endParaRPr lang="es-MX"/>
          </a:p>
        </p:txBody>
      </p:sp>
      <p:sp>
        <p:nvSpPr>
          <p:cNvPr id="20" name="Text 16"/>
          <p:cNvSpPr/>
          <p:nvPr/>
        </p:nvSpPr>
        <p:spPr>
          <a:xfrm>
            <a:off x="4754880" y="2971800"/>
            <a:ext cx="4114800" cy="274320"/>
          </a:xfrm>
          <a:prstGeom prst="rect">
            <a:avLst/>
          </a:prstGeom>
          <a:noFill/>
          <a:ln/>
        </p:spPr>
        <p:txBody>
          <a:bodyPr wrap="square" lIns="0" tIns="0" rIns="0" bIns="0" rtlCol="0" anchor="ctr"/>
          <a:lstStyle/>
          <a:p>
            <a:pPr marL="0" indent="0" algn="ctr">
              <a:buNone/>
            </a:pPr>
            <a:r>
              <a:rPr lang="en-US" sz="800" dirty="0">
                <a:solidFill>
                  <a:srgbClr val="64748B"/>
                </a:solidFill>
              </a:rPr>
              <a:t>Vista esquemática — Agenda de embarazo</a:t>
            </a:r>
            <a:endParaRPr lang="en-US" sz="800" dirty="0"/>
          </a:p>
        </p:txBody>
      </p:sp>
      <p:sp>
        <p:nvSpPr>
          <p:cNvPr id="21" name="Shape 17"/>
          <p:cNvSpPr/>
          <p:nvPr/>
        </p:nvSpPr>
        <p:spPr>
          <a:xfrm>
            <a:off x="4846320" y="3273552"/>
            <a:ext cx="3931920" cy="274320"/>
          </a:xfrm>
          <a:prstGeom prst="rect">
            <a:avLst/>
          </a:prstGeom>
          <a:solidFill>
            <a:srgbClr val="7F52A0">
              <a:alpha val="50000"/>
            </a:srgbClr>
          </a:solidFill>
          <a:ln w="12700">
            <a:solidFill>
              <a:srgbClr val="7F52A0"/>
            </a:solidFill>
            <a:prstDash val="solid"/>
          </a:ln>
        </p:spPr>
        <p:txBody>
          <a:bodyPr/>
          <a:lstStyle/>
          <a:p>
            <a:endParaRPr lang="es-MX"/>
          </a:p>
        </p:txBody>
      </p:sp>
      <p:sp>
        <p:nvSpPr>
          <p:cNvPr id="22" name="Text 18"/>
          <p:cNvSpPr/>
          <p:nvPr/>
        </p:nvSpPr>
        <p:spPr>
          <a:xfrm>
            <a:off x="4846320" y="3273552"/>
            <a:ext cx="3931920" cy="274320"/>
          </a:xfrm>
          <a:prstGeom prst="rect">
            <a:avLst/>
          </a:prstGeom>
          <a:noFill/>
          <a:ln/>
        </p:spPr>
        <p:txBody>
          <a:bodyPr wrap="square" lIns="0" tIns="0" rIns="0" bIns="0" rtlCol="0" anchor="ctr"/>
          <a:lstStyle/>
          <a:p>
            <a:pPr marL="0" indent="0" algn="ctr">
              <a:buNone/>
            </a:pPr>
            <a:r>
              <a:rPr lang="en-US" sz="750" dirty="0">
                <a:solidFill>
                  <a:srgbClr val="2C1A56"/>
                </a:solidFill>
              </a:rPr>
              <a:t>Patrocinado por ▶  HEAD 300×70</a:t>
            </a:r>
            <a:endParaRPr lang="en-US" sz="750" dirty="0"/>
          </a:p>
        </p:txBody>
      </p:sp>
      <p:sp>
        <p:nvSpPr>
          <p:cNvPr id="23" name="Shape 19"/>
          <p:cNvSpPr/>
          <p:nvPr/>
        </p:nvSpPr>
        <p:spPr>
          <a:xfrm>
            <a:off x="4846320" y="3621024"/>
            <a:ext cx="3931920" cy="502920"/>
          </a:xfrm>
          <a:prstGeom prst="rect">
            <a:avLst/>
          </a:prstGeom>
          <a:solidFill>
            <a:srgbClr val="E0E8F0"/>
          </a:solidFill>
          <a:ln w="12700">
            <a:solidFill>
              <a:srgbClr val="CBD5E1"/>
            </a:solidFill>
            <a:prstDash val="solid"/>
          </a:ln>
        </p:spPr>
        <p:txBody>
          <a:bodyPr/>
          <a:lstStyle/>
          <a:p>
            <a:endParaRPr lang="es-MX"/>
          </a:p>
        </p:txBody>
      </p:sp>
      <p:sp>
        <p:nvSpPr>
          <p:cNvPr id="24" name="Text 20"/>
          <p:cNvSpPr/>
          <p:nvPr/>
        </p:nvSpPr>
        <p:spPr>
          <a:xfrm>
            <a:off x="4846320" y="3621024"/>
            <a:ext cx="3931920" cy="502920"/>
          </a:xfrm>
          <a:prstGeom prst="rect">
            <a:avLst/>
          </a:prstGeom>
          <a:noFill/>
          <a:ln/>
        </p:spPr>
        <p:txBody>
          <a:bodyPr wrap="square" lIns="0" tIns="0" rIns="0" bIns="0" rtlCol="0" anchor="ctr"/>
          <a:lstStyle/>
          <a:p>
            <a:pPr marL="0" indent="0" algn="ctr">
              <a:buNone/>
            </a:pPr>
            <a:r>
              <a:rPr lang="en-US" sz="800" dirty="0">
                <a:solidFill>
                  <a:srgbClr val="64748B"/>
                </a:solidFill>
              </a:rPr>
              <a:t>Contenido del artículo de la agenda</a:t>
            </a:r>
            <a:endParaRPr lang="en-US" sz="800" dirty="0"/>
          </a:p>
        </p:txBody>
      </p:sp>
      <p:sp>
        <p:nvSpPr>
          <p:cNvPr id="25" name="Shape 21"/>
          <p:cNvSpPr/>
          <p:nvPr/>
        </p:nvSpPr>
        <p:spPr>
          <a:xfrm>
            <a:off x="4846320" y="4187952"/>
            <a:ext cx="3931920" cy="402336"/>
          </a:xfrm>
          <a:prstGeom prst="rect">
            <a:avLst/>
          </a:prstGeom>
          <a:solidFill>
            <a:srgbClr val="46C2CE">
              <a:alpha val="60000"/>
            </a:srgbClr>
          </a:solidFill>
          <a:ln w="12700">
            <a:solidFill>
              <a:srgbClr val="46C2CE"/>
            </a:solidFill>
            <a:prstDash val="solid"/>
          </a:ln>
        </p:spPr>
        <p:txBody>
          <a:bodyPr/>
          <a:lstStyle/>
          <a:p>
            <a:endParaRPr lang="es-MX"/>
          </a:p>
        </p:txBody>
      </p:sp>
      <p:sp>
        <p:nvSpPr>
          <p:cNvPr id="26" name="Text 22"/>
          <p:cNvSpPr/>
          <p:nvPr/>
        </p:nvSpPr>
        <p:spPr>
          <a:xfrm>
            <a:off x="4846320" y="4187952"/>
            <a:ext cx="3931920" cy="402336"/>
          </a:xfrm>
          <a:prstGeom prst="rect">
            <a:avLst/>
          </a:prstGeom>
          <a:noFill/>
          <a:ln/>
        </p:spPr>
        <p:txBody>
          <a:bodyPr wrap="square" lIns="0" tIns="0" rIns="0" bIns="0" rtlCol="0" anchor="ctr"/>
          <a:lstStyle/>
          <a:p>
            <a:pPr marL="0" indent="0" algn="ctr">
              <a:buNone/>
            </a:pPr>
            <a:r>
              <a:rPr lang="en-US" sz="750" dirty="0">
                <a:solidFill>
                  <a:srgbClr val="2C1A56"/>
                </a:solidFill>
              </a:rPr>
              <a:t>BODY 750×200 — Banner central del artículo</a:t>
            </a:r>
            <a:endParaRPr lang="en-US" sz="750" dirty="0"/>
          </a:p>
        </p:txBody>
      </p:sp>
      <p:sp>
        <p:nvSpPr>
          <p:cNvPr id="27" name="Shape 23"/>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28" name="Text 24"/>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31" name="Gráfico 30">
            <a:extLst>
              <a:ext uri="{FF2B5EF4-FFF2-40B4-BE49-F238E27FC236}">
                <a16:creationId xmlns:a16="http://schemas.microsoft.com/office/drawing/2014/main" id="{90FB8E8D-816A-331B-DA18-E7E392CFF4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C1A56"/>
          </a:solidFill>
          <a:ln w="12700">
            <a:solidFill>
              <a:srgbClr val="2C1A56"/>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rPr>
              <a:t>Unidades de Anuncio (Ad Units)</a:t>
            </a:r>
            <a:endParaRPr lang="en-US" sz="2200" dirty="0"/>
          </a:p>
        </p:txBody>
      </p:sp>
      <p:sp>
        <p:nvSpPr>
          <p:cNvPr id="5" name="Shape 3"/>
          <p:cNvSpPr/>
          <p:nvPr/>
        </p:nvSpPr>
        <p:spPr>
          <a:xfrm>
            <a:off x="274320" y="868680"/>
            <a:ext cx="8595360" cy="685800"/>
          </a:xfrm>
          <a:prstGeom prst="rect">
            <a:avLst/>
          </a:prstGeom>
          <a:solidFill>
            <a:srgbClr val="263980"/>
          </a:solidFill>
          <a:ln w="12700">
            <a:solidFill>
              <a:srgbClr val="263980"/>
            </a:solidFill>
            <a:prstDash val="solid"/>
          </a:ln>
        </p:spPr>
        <p:txBody>
          <a:bodyPr/>
          <a:lstStyle/>
          <a:p>
            <a:endParaRPr lang="es-MX"/>
          </a:p>
        </p:txBody>
      </p:sp>
      <p:pic>
        <p:nvPicPr>
          <p:cNvPr id="6" name="Image 0" descr="preencoded.png"/>
          <p:cNvPicPr>
            <a:picLocks noChangeAspect="1"/>
          </p:cNvPicPr>
          <p:nvPr/>
        </p:nvPicPr>
        <p:blipFill>
          <a:blip r:embed="rId3"/>
          <a:stretch>
            <a:fillRect/>
          </a:stretch>
        </p:blipFill>
        <p:spPr>
          <a:xfrm>
            <a:off x="411480" y="960120"/>
            <a:ext cx="457200" cy="457200"/>
          </a:xfrm>
          <a:prstGeom prst="rect">
            <a:avLst/>
          </a:prstGeom>
        </p:spPr>
      </p:pic>
      <p:sp>
        <p:nvSpPr>
          <p:cNvPr id="7" name="Text 4"/>
          <p:cNvSpPr/>
          <p:nvPr/>
        </p:nvSpPr>
        <p:spPr>
          <a:xfrm>
            <a:off x="1005840" y="914400"/>
            <a:ext cx="7726680" cy="594360"/>
          </a:xfrm>
          <a:prstGeom prst="rect">
            <a:avLst/>
          </a:prstGeom>
          <a:noFill/>
          <a:ln/>
        </p:spPr>
        <p:txBody>
          <a:bodyPr wrap="square" lIns="0" tIns="0" rIns="0" bIns="0" rtlCol="0" anchor="ctr"/>
          <a:lstStyle/>
          <a:p>
            <a:pPr marL="0" indent="0">
              <a:buNone/>
            </a:pPr>
            <a:r>
              <a:rPr lang="en-US" sz="1100" dirty="0">
                <a:solidFill>
                  <a:srgbClr val="FFFFFF"/>
                </a:solidFill>
              </a:rPr>
              <a:t>💡  Analogía: Es como un marco de cuadro vacío colgado en la pared. Tú defines el tamaño y la posición; GAM pone la imagen (el anuncio) dentro. Cada página del sitio puede tener varios marcos.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691640"/>
          <a:ext cx="8595360" cy="2019300"/>
        </p:xfrm>
        <a:graphic>
          <a:graphicData uri="http://schemas.openxmlformats.org/drawingml/2006/table">
            <a:tbl>
              <a:tblPr/>
              <a:tblGrid>
                <a:gridCol w="12801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0">
                <a:tc>
                  <a:txBody>
                    <a:bodyPr/>
                    <a:lstStyle/>
                    <a:p>
                      <a:pPr marL="0" indent="0" algn="l">
                        <a:buNone/>
                      </a:pPr>
                      <a:r>
                        <a:rPr lang="en-US" sz="1100" b="1" dirty="0">
                          <a:solidFill>
                            <a:srgbClr val="FFFFFF"/>
                          </a:solidFill>
                        </a:rPr>
                        <a:t>Código</a:t>
                      </a:r>
                      <a:endParaRPr lang="en-US" sz="11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263980"/>
                    </a:solidFill>
                  </a:tcPr>
                </a:tc>
                <a:tc>
                  <a:txBody>
                    <a:bodyPr/>
                    <a:lstStyle/>
                    <a:p>
                      <a:pPr marL="0" indent="0" algn="l">
                        <a:buNone/>
                      </a:pPr>
                      <a:r>
                        <a:rPr lang="en-US" sz="1100" b="1" dirty="0">
                          <a:solidFill>
                            <a:srgbClr val="FFFFFF"/>
                          </a:solidFill>
                        </a:rPr>
                        <a:t>Nombre completo</a:t>
                      </a:r>
                      <a:endParaRPr lang="en-US" sz="11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263980"/>
                    </a:solidFill>
                  </a:tcPr>
                </a:tc>
                <a:tc>
                  <a:txBody>
                    <a:bodyPr/>
                    <a:lstStyle/>
                    <a:p>
                      <a:pPr marL="0" indent="0" algn="l">
                        <a:buNone/>
                      </a:pPr>
                      <a:r>
                        <a:rPr lang="en-US" sz="1100" b="1" dirty="0">
                          <a:solidFill>
                            <a:srgbClr val="FFFFFF"/>
                          </a:solidFill>
                        </a:rPr>
                        <a:t>Tipo</a:t>
                      </a:r>
                      <a:endParaRPr lang="en-US" sz="11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263980"/>
                    </a:solidFill>
                  </a:tcPr>
                </a:tc>
                <a:tc>
                  <a:txBody>
                    <a:bodyPr/>
                    <a:lstStyle/>
                    <a:p>
                      <a:pPr marL="0" indent="0" algn="l">
                        <a:buNone/>
                      </a:pPr>
                      <a:r>
                        <a:rPr lang="en-US" sz="1100" b="1" dirty="0">
                          <a:solidFill>
                            <a:srgbClr val="FFFFFF"/>
                          </a:solidFill>
                        </a:rPr>
                        <a:t>Dispositivo</a:t>
                      </a:r>
                      <a:endParaRPr lang="en-US" sz="11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263980"/>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A1040"/>
                          </a:solidFill>
                        </a:rPr>
                        <a:t>MX-BBD1</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Box Banner Desktop 1</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Box Banner (300×250)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Desktop</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A1040"/>
                          </a:solidFill>
                        </a:rPr>
                        <a:t>MX-BBM1</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Box Banner Mobile 1</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Box Banner (300×250)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Mobile</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A1040"/>
                          </a:solidFill>
                        </a:rPr>
                        <a:t>MX-BBM2</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Box Banner Mobile 2</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Box Banner (300×250)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Mobile (2da pos.)</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1A1040"/>
                          </a:solidFill>
                        </a:rPr>
                        <a:t>MX-LBD1</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Leaderboard Desktop 1</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Leaderboard (728×90)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Desktop</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1A1040"/>
                          </a:solidFill>
                        </a:rPr>
                        <a:t>MX-LBM1</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Leaderboard Mobile 1</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Leaderboard (300×100)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Mobile</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1050" dirty="0">
                          <a:solidFill>
                            <a:srgbClr val="1A1040"/>
                          </a:solidFill>
                        </a:rPr>
                        <a:t>MX-SCD1</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Skyscraper Desktop 1</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Skyscraper (300×600)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Desktop</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l">
                        <a:buNone/>
                      </a:pPr>
                      <a:r>
                        <a:rPr lang="en-US" sz="1050" dirty="0">
                          <a:solidFill>
                            <a:srgbClr val="1A1040"/>
                          </a:solidFill>
                        </a:rPr>
                        <a:t>MX-SCD3</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Skyscraper Desktop 3</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Skyscraper (300×600)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050" dirty="0">
                          <a:solidFill>
                            <a:srgbClr val="1A1040"/>
                          </a:solidFill>
                        </a:rPr>
                        <a:t>Desktop (3ra pos.)</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Shape 5"/>
          <p:cNvSpPr/>
          <p:nvPr/>
        </p:nvSpPr>
        <p:spPr>
          <a:xfrm>
            <a:off x="274320" y="4434840"/>
            <a:ext cx="8595360" cy="320040"/>
          </a:xfrm>
          <a:prstGeom prst="rect">
            <a:avLst/>
          </a:prstGeom>
          <a:solidFill>
            <a:srgbClr val="D0F4F7"/>
          </a:solidFill>
          <a:ln w="12700">
            <a:solidFill>
              <a:srgbClr val="46C2CE"/>
            </a:solidFill>
            <a:prstDash val="solid"/>
          </a:ln>
        </p:spPr>
        <p:txBody>
          <a:bodyPr/>
          <a:lstStyle/>
          <a:p>
            <a:endParaRPr lang="es-MX"/>
          </a:p>
        </p:txBody>
      </p:sp>
      <p:sp>
        <p:nvSpPr>
          <p:cNvPr id="10" name="Text 6"/>
          <p:cNvSpPr/>
          <p:nvPr/>
        </p:nvSpPr>
        <p:spPr>
          <a:xfrm>
            <a:off x="457200" y="4453128"/>
            <a:ext cx="8229600" cy="274320"/>
          </a:xfrm>
          <a:prstGeom prst="rect">
            <a:avLst/>
          </a:prstGeom>
          <a:noFill/>
          <a:ln/>
        </p:spPr>
        <p:txBody>
          <a:bodyPr wrap="square" lIns="0" tIns="0" rIns="0" bIns="0" rtlCol="0" anchor="ctr"/>
          <a:lstStyle/>
          <a:p>
            <a:pPr marL="0" indent="0">
              <a:buNone/>
            </a:pPr>
            <a:r>
              <a:rPr lang="en-US" sz="950" dirty="0">
                <a:solidFill>
                  <a:srgbClr val="263980"/>
                </a:solidFill>
              </a:rPr>
              <a:t>📌  Patrón de nomenclatura:  [País]-[Tipo de banner][Dispositivo][Número]  →  MX-BBD1 = México · Box Banner · Desktop · Posición 1</a:t>
            </a:r>
            <a:endParaRPr lang="en-US" sz="950" dirty="0"/>
          </a:p>
        </p:txBody>
      </p:sp>
      <p:sp>
        <p:nvSpPr>
          <p:cNvPr id="11" name="Shape 7"/>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12" name="Text 8"/>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15" name="Gráfico 14">
            <a:extLst>
              <a:ext uri="{FF2B5EF4-FFF2-40B4-BE49-F238E27FC236}">
                <a16:creationId xmlns:a16="http://schemas.microsoft.com/office/drawing/2014/main" id="{337E59AE-7352-2767-7924-DB87F70840C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80533" y="4731536"/>
            <a:ext cx="1393444" cy="54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63980"/>
          </a:solidFill>
          <a:ln w="12700">
            <a:solidFill>
              <a:srgbClr val="26398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rPr>
              <a:t>Flujo de Trabajo Mensual</a:t>
            </a:r>
            <a:endParaRPr lang="en-US" sz="2200" dirty="0"/>
          </a:p>
        </p:txBody>
      </p:sp>
      <p:sp>
        <p:nvSpPr>
          <p:cNvPr id="5" name="Shape 3"/>
          <p:cNvSpPr/>
          <p:nvPr/>
        </p:nvSpPr>
        <p:spPr>
          <a:xfrm>
            <a:off x="274320" y="914400"/>
            <a:ext cx="4206240" cy="1188720"/>
          </a:xfrm>
          <a:prstGeom prst="rect">
            <a:avLst/>
          </a:prstGeom>
          <a:solidFill>
            <a:srgbClr val="FFFFFF"/>
          </a:solidFill>
          <a:ln w="12700">
            <a:solidFill>
              <a:srgbClr val="46C2CE"/>
            </a:solidFill>
            <a:prstDash val="solid"/>
          </a:ln>
          <a:effectLst>
            <a:outerShdw blurRad="76200" dist="25400" dir="8100000" algn="bl" rotWithShape="0">
              <a:srgbClr val="000000">
                <a:alpha val="7000"/>
              </a:srgbClr>
            </a:outerShdw>
          </a:effectLst>
        </p:spPr>
        <p:txBody>
          <a:bodyPr/>
          <a:lstStyle/>
          <a:p>
            <a:endParaRPr lang="es-MX"/>
          </a:p>
        </p:txBody>
      </p:sp>
      <p:sp>
        <p:nvSpPr>
          <p:cNvPr id="6" name="Shape 4"/>
          <p:cNvSpPr/>
          <p:nvPr/>
        </p:nvSpPr>
        <p:spPr>
          <a:xfrm>
            <a:off x="274320" y="914400"/>
            <a:ext cx="73152" cy="1188720"/>
          </a:xfrm>
          <a:prstGeom prst="rect">
            <a:avLst/>
          </a:prstGeom>
          <a:solidFill>
            <a:srgbClr val="46C2CE"/>
          </a:solidFill>
          <a:ln w="12700">
            <a:solidFill>
              <a:srgbClr val="46C2CE"/>
            </a:solidFill>
            <a:prstDash val="solid"/>
          </a:ln>
        </p:spPr>
        <p:txBody>
          <a:bodyPr/>
          <a:lstStyle/>
          <a:p>
            <a:endParaRPr lang="es-MX"/>
          </a:p>
        </p:txBody>
      </p:sp>
      <p:sp>
        <p:nvSpPr>
          <p:cNvPr id="7" name="Shape 5"/>
          <p:cNvSpPr/>
          <p:nvPr/>
        </p:nvSpPr>
        <p:spPr>
          <a:xfrm>
            <a:off x="438912" y="1005840"/>
            <a:ext cx="502920" cy="502920"/>
          </a:xfrm>
          <a:prstGeom prst="ellipse">
            <a:avLst/>
          </a:prstGeom>
          <a:solidFill>
            <a:srgbClr val="46C2CE"/>
          </a:solidFill>
          <a:ln w="12700">
            <a:solidFill>
              <a:srgbClr val="46C2CE"/>
            </a:solidFill>
            <a:prstDash val="solid"/>
          </a:ln>
        </p:spPr>
        <p:txBody>
          <a:bodyPr/>
          <a:lstStyle/>
          <a:p>
            <a:endParaRPr lang="es-MX"/>
          </a:p>
        </p:txBody>
      </p:sp>
      <p:sp>
        <p:nvSpPr>
          <p:cNvPr id="8" name="Text 6"/>
          <p:cNvSpPr/>
          <p:nvPr/>
        </p:nvSpPr>
        <p:spPr>
          <a:xfrm>
            <a:off x="438912" y="1005840"/>
            <a:ext cx="502920" cy="502920"/>
          </a:xfrm>
          <a:prstGeom prst="rect">
            <a:avLst/>
          </a:prstGeom>
          <a:noFill/>
          <a:ln/>
        </p:spPr>
        <p:txBody>
          <a:bodyPr wrap="square" lIns="0" tIns="0" rIns="0" bIns="0" rtlCol="0" anchor="ctr"/>
          <a:lstStyle/>
          <a:p>
            <a:pPr marL="0" indent="0" algn="ctr">
              <a:buNone/>
            </a:pPr>
            <a:r>
              <a:rPr lang="en-US" sz="1500" b="1" dirty="0">
                <a:solidFill>
                  <a:srgbClr val="2C1A56"/>
                </a:solidFill>
              </a:rPr>
              <a:t>1</a:t>
            </a:r>
            <a:endParaRPr lang="en-US" sz="1500" dirty="0"/>
          </a:p>
        </p:txBody>
      </p:sp>
      <p:sp>
        <p:nvSpPr>
          <p:cNvPr id="9" name="Text 7"/>
          <p:cNvSpPr/>
          <p:nvPr/>
        </p:nvSpPr>
        <p:spPr>
          <a:xfrm>
            <a:off x="1051560" y="1005840"/>
            <a:ext cx="3291840" cy="347472"/>
          </a:xfrm>
          <a:prstGeom prst="rect">
            <a:avLst/>
          </a:prstGeom>
          <a:noFill/>
          <a:ln/>
        </p:spPr>
        <p:txBody>
          <a:bodyPr wrap="square" lIns="0" tIns="0" rIns="0" bIns="0" rtlCol="0" anchor="ctr"/>
          <a:lstStyle/>
          <a:p>
            <a:pPr marL="0" indent="0">
              <a:buNone/>
            </a:pPr>
            <a:r>
              <a:rPr lang="en-US" sz="1200" b="1" dirty="0">
                <a:solidFill>
                  <a:srgbClr val="263980"/>
                </a:solidFill>
              </a:rPr>
              <a:t>Revisar planeación mensual</a:t>
            </a:r>
            <a:endParaRPr lang="en-US" sz="1200" dirty="0"/>
          </a:p>
        </p:txBody>
      </p:sp>
      <p:sp>
        <p:nvSpPr>
          <p:cNvPr id="10" name="Text 8"/>
          <p:cNvSpPr/>
          <p:nvPr/>
        </p:nvSpPr>
        <p:spPr>
          <a:xfrm>
            <a:off x="457200" y="1597424"/>
            <a:ext cx="3840480" cy="347472"/>
          </a:xfrm>
          <a:prstGeom prst="rect">
            <a:avLst/>
          </a:prstGeom>
          <a:noFill/>
          <a:ln/>
        </p:spPr>
        <p:txBody>
          <a:bodyPr wrap="square" lIns="0" tIns="0" rIns="0" bIns="0" rtlCol="0" anchor="t"/>
          <a:lstStyle/>
          <a:p>
            <a:pPr marL="0" indent="0">
              <a:buNone/>
            </a:pPr>
            <a:r>
              <a:rPr lang="en-US" sz="950" dirty="0">
                <a:solidFill>
                  <a:srgbClr val="64748B"/>
                </a:solidFill>
              </a:rPr>
              <a:t>Consultar Google Drive: qué clientes entran, cuáles salen y en qué semanas</a:t>
            </a:r>
            <a:endParaRPr lang="en-US" sz="950" dirty="0"/>
          </a:p>
        </p:txBody>
      </p:sp>
      <p:sp>
        <p:nvSpPr>
          <p:cNvPr id="11" name="Shape 9"/>
          <p:cNvSpPr/>
          <p:nvPr/>
        </p:nvSpPr>
        <p:spPr>
          <a:xfrm>
            <a:off x="274320" y="2212848"/>
            <a:ext cx="4206240" cy="1188720"/>
          </a:xfrm>
          <a:prstGeom prst="rect">
            <a:avLst/>
          </a:prstGeom>
          <a:solidFill>
            <a:srgbClr val="FFFFFF"/>
          </a:solidFill>
          <a:ln w="12700">
            <a:solidFill>
              <a:srgbClr val="7F52A0"/>
            </a:solidFill>
            <a:prstDash val="solid"/>
          </a:ln>
          <a:effectLst>
            <a:outerShdw blurRad="76200" dist="25400" dir="8100000" algn="bl" rotWithShape="0">
              <a:srgbClr val="000000">
                <a:alpha val="7000"/>
              </a:srgbClr>
            </a:outerShdw>
          </a:effectLst>
        </p:spPr>
        <p:txBody>
          <a:bodyPr/>
          <a:lstStyle/>
          <a:p>
            <a:endParaRPr lang="es-MX"/>
          </a:p>
        </p:txBody>
      </p:sp>
      <p:sp>
        <p:nvSpPr>
          <p:cNvPr id="12" name="Shape 10"/>
          <p:cNvSpPr/>
          <p:nvPr/>
        </p:nvSpPr>
        <p:spPr>
          <a:xfrm>
            <a:off x="274320" y="2212848"/>
            <a:ext cx="73152" cy="1188720"/>
          </a:xfrm>
          <a:prstGeom prst="rect">
            <a:avLst/>
          </a:prstGeom>
          <a:solidFill>
            <a:srgbClr val="7F52A0"/>
          </a:solidFill>
          <a:ln w="12700">
            <a:solidFill>
              <a:srgbClr val="7F52A0"/>
            </a:solidFill>
            <a:prstDash val="solid"/>
          </a:ln>
        </p:spPr>
        <p:txBody>
          <a:bodyPr/>
          <a:lstStyle/>
          <a:p>
            <a:endParaRPr lang="es-MX"/>
          </a:p>
        </p:txBody>
      </p:sp>
      <p:sp>
        <p:nvSpPr>
          <p:cNvPr id="13" name="Shape 11"/>
          <p:cNvSpPr/>
          <p:nvPr/>
        </p:nvSpPr>
        <p:spPr>
          <a:xfrm>
            <a:off x="438912" y="2304288"/>
            <a:ext cx="502920" cy="502920"/>
          </a:xfrm>
          <a:prstGeom prst="ellipse">
            <a:avLst/>
          </a:prstGeom>
          <a:solidFill>
            <a:srgbClr val="7F52A0"/>
          </a:solidFill>
          <a:ln w="12700">
            <a:solidFill>
              <a:srgbClr val="7F52A0"/>
            </a:solidFill>
            <a:prstDash val="solid"/>
          </a:ln>
        </p:spPr>
        <p:txBody>
          <a:bodyPr/>
          <a:lstStyle/>
          <a:p>
            <a:endParaRPr lang="es-MX"/>
          </a:p>
        </p:txBody>
      </p:sp>
      <p:sp>
        <p:nvSpPr>
          <p:cNvPr id="14" name="Text 12"/>
          <p:cNvSpPr/>
          <p:nvPr/>
        </p:nvSpPr>
        <p:spPr>
          <a:xfrm>
            <a:off x="438912" y="23042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5" name="Text 13"/>
          <p:cNvSpPr/>
          <p:nvPr/>
        </p:nvSpPr>
        <p:spPr>
          <a:xfrm>
            <a:off x="1051560" y="2304288"/>
            <a:ext cx="3291840" cy="347472"/>
          </a:xfrm>
          <a:prstGeom prst="rect">
            <a:avLst/>
          </a:prstGeom>
          <a:noFill/>
          <a:ln/>
        </p:spPr>
        <p:txBody>
          <a:bodyPr wrap="square" lIns="0" tIns="0" rIns="0" bIns="0" rtlCol="0" anchor="ctr"/>
          <a:lstStyle/>
          <a:p>
            <a:pPr marL="0" indent="0">
              <a:buNone/>
            </a:pPr>
            <a:r>
              <a:rPr lang="en-US" sz="1200" b="1" dirty="0">
                <a:solidFill>
                  <a:srgbClr val="263980"/>
                </a:solidFill>
              </a:rPr>
              <a:t>Pausar clientes que salen</a:t>
            </a:r>
            <a:endParaRPr lang="en-US" sz="1200" dirty="0"/>
          </a:p>
        </p:txBody>
      </p:sp>
      <p:sp>
        <p:nvSpPr>
          <p:cNvPr id="16" name="Text 14"/>
          <p:cNvSpPr/>
          <p:nvPr/>
        </p:nvSpPr>
        <p:spPr>
          <a:xfrm>
            <a:off x="457200" y="2895872"/>
            <a:ext cx="3840480" cy="347472"/>
          </a:xfrm>
          <a:prstGeom prst="rect">
            <a:avLst/>
          </a:prstGeom>
          <a:noFill/>
          <a:ln/>
        </p:spPr>
        <p:txBody>
          <a:bodyPr wrap="square" lIns="0" tIns="0" rIns="0" bIns="0" rtlCol="0" anchor="t"/>
          <a:lstStyle/>
          <a:p>
            <a:pPr marL="0" indent="0">
              <a:buNone/>
            </a:pPr>
            <a:r>
              <a:rPr lang="en-US" sz="950" dirty="0">
                <a:solidFill>
                  <a:srgbClr val="64748B"/>
                </a:solidFill>
              </a:rPr>
              <a:t>Desactivar líneas de pedido de marcas que no corren este mes</a:t>
            </a:r>
            <a:endParaRPr lang="en-US" sz="950" dirty="0"/>
          </a:p>
        </p:txBody>
      </p:sp>
      <p:sp>
        <p:nvSpPr>
          <p:cNvPr id="17" name="Shape 15"/>
          <p:cNvSpPr/>
          <p:nvPr/>
        </p:nvSpPr>
        <p:spPr>
          <a:xfrm>
            <a:off x="274320" y="3511296"/>
            <a:ext cx="4206240" cy="1188720"/>
          </a:xfrm>
          <a:prstGeom prst="rect">
            <a:avLst/>
          </a:prstGeom>
          <a:solidFill>
            <a:srgbClr val="FFFFFF"/>
          </a:solidFill>
          <a:ln w="12700">
            <a:solidFill>
              <a:srgbClr val="263980"/>
            </a:solidFill>
            <a:prstDash val="solid"/>
          </a:ln>
          <a:effectLst>
            <a:outerShdw blurRad="76200" dist="25400" dir="8100000" algn="bl" rotWithShape="0">
              <a:srgbClr val="000000">
                <a:alpha val="7000"/>
              </a:srgbClr>
            </a:outerShdw>
          </a:effectLst>
        </p:spPr>
        <p:txBody>
          <a:bodyPr/>
          <a:lstStyle/>
          <a:p>
            <a:endParaRPr lang="es-MX"/>
          </a:p>
        </p:txBody>
      </p:sp>
      <p:sp>
        <p:nvSpPr>
          <p:cNvPr id="18" name="Shape 16"/>
          <p:cNvSpPr/>
          <p:nvPr/>
        </p:nvSpPr>
        <p:spPr>
          <a:xfrm>
            <a:off x="274320" y="3511296"/>
            <a:ext cx="73152" cy="1188720"/>
          </a:xfrm>
          <a:prstGeom prst="rect">
            <a:avLst/>
          </a:prstGeom>
          <a:solidFill>
            <a:srgbClr val="263980"/>
          </a:solidFill>
          <a:ln w="12700">
            <a:solidFill>
              <a:srgbClr val="263980"/>
            </a:solidFill>
            <a:prstDash val="solid"/>
          </a:ln>
        </p:spPr>
        <p:txBody>
          <a:bodyPr/>
          <a:lstStyle/>
          <a:p>
            <a:endParaRPr lang="es-MX"/>
          </a:p>
        </p:txBody>
      </p:sp>
      <p:sp>
        <p:nvSpPr>
          <p:cNvPr id="19" name="Shape 17"/>
          <p:cNvSpPr/>
          <p:nvPr/>
        </p:nvSpPr>
        <p:spPr>
          <a:xfrm>
            <a:off x="438912" y="3602736"/>
            <a:ext cx="502920" cy="502920"/>
          </a:xfrm>
          <a:prstGeom prst="ellipse">
            <a:avLst/>
          </a:prstGeom>
          <a:solidFill>
            <a:srgbClr val="263980"/>
          </a:solidFill>
          <a:ln w="12700">
            <a:solidFill>
              <a:srgbClr val="263980"/>
            </a:solidFill>
            <a:prstDash val="solid"/>
          </a:ln>
        </p:spPr>
        <p:txBody>
          <a:bodyPr/>
          <a:lstStyle/>
          <a:p>
            <a:endParaRPr lang="es-MX"/>
          </a:p>
        </p:txBody>
      </p:sp>
      <p:sp>
        <p:nvSpPr>
          <p:cNvPr id="20" name="Text 18"/>
          <p:cNvSpPr/>
          <p:nvPr/>
        </p:nvSpPr>
        <p:spPr>
          <a:xfrm>
            <a:off x="438912" y="3602736"/>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21" name="Text 19"/>
          <p:cNvSpPr/>
          <p:nvPr/>
        </p:nvSpPr>
        <p:spPr>
          <a:xfrm>
            <a:off x="1051560" y="3602736"/>
            <a:ext cx="3291840" cy="347472"/>
          </a:xfrm>
          <a:prstGeom prst="rect">
            <a:avLst/>
          </a:prstGeom>
          <a:noFill/>
          <a:ln/>
        </p:spPr>
        <p:txBody>
          <a:bodyPr wrap="square" lIns="0" tIns="0" rIns="0" bIns="0" rtlCol="0" anchor="ctr"/>
          <a:lstStyle/>
          <a:p>
            <a:pPr marL="0" indent="0">
              <a:buNone/>
            </a:pPr>
            <a:r>
              <a:rPr lang="en-US" sz="1200" b="1" dirty="0">
                <a:solidFill>
                  <a:srgbClr val="263980"/>
                </a:solidFill>
              </a:rPr>
              <a:t>Clientes nuevos sin materiales</a:t>
            </a:r>
            <a:endParaRPr lang="en-US" sz="1200" dirty="0"/>
          </a:p>
        </p:txBody>
      </p:sp>
      <p:sp>
        <p:nvSpPr>
          <p:cNvPr id="22" name="Text 20"/>
          <p:cNvSpPr/>
          <p:nvPr/>
        </p:nvSpPr>
        <p:spPr>
          <a:xfrm>
            <a:off x="457200" y="4194320"/>
            <a:ext cx="3840480" cy="347472"/>
          </a:xfrm>
          <a:prstGeom prst="rect">
            <a:avLst/>
          </a:prstGeom>
          <a:noFill/>
          <a:ln/>
        </p:spPr>
        <p:txBody>
          <a:bodyPr wrap="square" lIns="0" tIns="0" rIns="0" bIns="0" rtlCol="0" anchor="t"/>
          <a:lstStyle/>
          <a:p>
            <a:pPr marL="0" indent="0">
              <a:buNone/>
            </a:pPr>
            <a:r>
              <a:rPr lang="en-US" sz="950" dirty="0">
                <a:solidFill>
                  <a:srgbClr val="64748B"/>
                </a:solidFill>
              </a:rPr>
              <a:t>Crear keyword → ligar a banners temporales (Expo) mientras llegan materiales</a:t>
            </a:r>
            <a:endParaRPr lang="en-US" sz="950" dirty="0"/>
          </a:p>
        </p:txBody>
      </p:sp>
      <p:sp>
        <p:nvSpPr>
          <p:cNvPr id="23" name="Shape 21"/>
          <p:cNvSpPr/>
          <p:nvPr/>
        </p:nvSpPr>
        <p:spPr>
          <a:xfrm>
            <a:off x="4709160" y="914400"/>
            <a:ext cx="4206240" cy="1188720"/>
          </a:xfrm>
          <a:prstGeom prst="rect">
            <a:avLst/>
          </a:prstGeom>
          <a:solidFill>
            <a:srgbClr val="FFFFFF"/>
          </a:solidFill>
          <a:ln w="12700">
            <a:solidFill>
              <a:srgbClr val="46C2CE"/>
            </a:solidFill>
            <a:prstDash val="solid"/>
          </a:ln>
          <a:effectLst>
            <a:outerShdw blurRad="76200" dist="25400" dir="8100000" algn="bl" rotWithShape="0">
              <a:srgbClr val="000000">
                <a:alpha val="7000"/>
              </a:srgbClr>
            </a:outerShdw>
          </a:effectLst>
        </p:spPr>
        <p:txBody>
          <a:bodyPr/>
          <a:lstStyle/>
          <a:p>
            <a:endParaRPr lang="es-MX"/>
          </a:p>
        </p:txBody>
      </p:sp>
      <p:sp>
        <p:nvSpPr>
          <p:cNvPr id="24" name="Shape 22"/>
          <p:cNvSpPr/>
          <p:nvPr/>
        </p:nvSpPr>
        <p:spPr>
          <a:xfrm>
            <a:off x="4709160" y="914400"/>
            <a:ext cx="73152" cy="1188720"/>
          </a:xfrm>
          <a:prstGeom prst="rect">
            <a:avLst/>
          </a:prstGeom>
          <a:solidFill>
            <a:srgbClr val="46C2CE"/>
          </a:solidFill>
          <a:ln w="12700">
            <a:solidFill>
              <a:srgbClr val="46C2CE"/>
            </a:solidFill>
            <a:prstDash val="solid"/>
          </a:ln>
        </p:spPr>
        <p:txBody>
          <a:bodyPr/>
          <a:lstStyle/>
          <a:p>
            <a:endParaRPr lang="es-MX"/>
          </a:p>
        </p:txBody>
      </p:sp>
      <p:sp>
        <p:nvSpPr>
          <p:cNvPr id="25" name="Shape 23"/>
          <p:cNvSpPr/>
          <p:nvPr/>
        </p:nvSpPr>
        <p:spPr>
          <a:xfrm>
            <a:off x="4873752" y="1005840"/>
            <a:ext cx="502920" cy="502920"/>
          </a:xfrm>
          <a:prstGeom prst="ellipse">
            <a:avLst/>
          </a:prstGeom>
          <a:solidFill>
            <a:srgbClr val="46C2CE"/>
          </a:solidFill>
          <a:ln w="12700">
            <a:solidFill>
              <a:srgbClr val="46C2CE"/>
            </a:solidFill>
            <a:prstDash val="solid"/>
          </a:ln>
        </p:spPr>
        <p:txBody>
          <a:bodyPr/>
          <a:lstStyle/>
          <a:p>
            <a:endParaRPr lang="es-MX"/>
          </a:p>
        </p:txBody>
      </p:sp>
      <p:sp>
        <p:nvSpPr>
          <p:cNvPr id="26" name="Text 24"/>
          <p:cNvSpPr/>
          <p:nvPr/>
        </p:nvSpPr>
        <p:spPr>
          <a:xfrm>
            <a:off x="4873752" y="1005840"/>
            <a:ext cx="502920" cy="502920"/>
          </a:xfrm>
          <a:prstGeom prst="rect">
            <a:avLst/>
          </a:prstGeom>
          <a:noFill/>
          <a:ln/>
        </p:spPr>
        <p:txBody>
          <a:bodyPr wrap="square" lIns="0" tIns="0" rIns="0" bIns="0" rtlCol="0" anchor="ctr"/>
          <a:lstStyle/>
          <a:p>
            <a:pPr marL="0" indent="0" algn="ctr">
              <a:buNone/>
            </a:pPr>
            <a:r>
              <a:rPr lang="en-US" sz="1500" b="1" dirty="0">
                <a:solidFill>
                  <a:srgbClr val="2C1A56"/>
                </a:solidFill>
              </a:rPr>
              <a:t>4</a:t>
            </a:r>
            <a:endParaRPr lang="en-US" sz="1500" dirty="0"/>
          </a:p>
        </p:txBody>
      </p:sp>
      <p:sp>
        <p:nvSpPr>
          <p:cNvPr id="27" name="Text 25"/>
          <p:cNvSpPr/>
          <p:nvPr/>
        </p:nvSpPr>
        <p:spPr>
          <a:xfrm>
            <a:off x="5486400" y="1005840"/>
            <a:ext cx="3291840" cy="347472"/>
          </a:xfrm>
          <a:prstGeom prst="rect">
            <a:avLst/>
          </a:prstGeom>
          <a:noFill/>
          <a:ln/>
        </p:spPr>
        <p:txBody>
          <a:bodyPr wrap="square" lIns="0" tIns="0" rIns="0" bIns="0" rtlCol="0" anchor="ctr"/>
          <a:lstStyle/>
          <a:p>
            <a:pPr marL="0" indent="0">
              <a:buNone/>
            </a:pPr>
            <a:r>
              <a:rPr lang="en-US" sz="1200" b="1" dirty="0">
                <a:solidFill>
                  <a:srgbClr val="263980"/>
                </a:solidFill>
              </a:rPr>
              <a:t>Clientes nuevos con materiales</a:t>
            </a:r>
            <a:endParaRPr lang="en-US" sz="1200" dirty="0"/>
          </a:p>
        </p:txBody>
      </p:sp>
      <p:sp>
        <p:nvSpPr>
          <p:cNvPr id="28" name="Text 26"/>
          <p:cNvSpPr/>
          <p:nvPr/>
        </p:nvSpPr>
        <p:spPr>
          <a:xfrm>
            <a:off x="4892040" y="1597424"/>
            <a:ext cx="3840480" cy="347472"/>
          </a:xfrm>
          <a:prstGeom prst="rect">
            <a:avLst/>
          </a:prstGeom>
          <a:noFill/>
          <a:ln/>
        </p:spPr>
        <p:txBody>
          <a:bodyPr wrap="square" lIns="0" tIns="0" rIns="0" bIns="0" rtlCol="0" anchor="t"/>
          <a:lstStyle/>
          <a:p>
            <a:pPr marL="0" indent="0">
              <a:buNone/>
            </a:pPr>
            <a:r>
              <a:rPr lang="en-US" sz="950" dirty="0">
                <a:solidFill>
                  <a:srgbClr val="64748B"/>
                </a:solidFill>
              </a:rPr>
              <a:t>Crear keyword → crear pedido → copiar líneas base → configurar → subir creatividades → aprobar</a:t>
            </a:r>
            <a:endParaRPr lang="en-US" sz="950" dirty="0"/>
          </a:p>
        </p:txBody>
      </p:sp>
      <p:sp>
        <p:nvSpPr>
          <p:cNvPr id="29" name="Shape 27"/>
          <p:cNvSpPr/>
          <p:nvPr/>
        </p:nvSpPr>
        <p:spPr>
          <a:xfrm>
            <a:off x="4709160" y="2212848"/>
            <a:ext cx="4206240" cy="1188720"/>
          </a:xfrm>
          <a:prstGeom prst="rect">
            <a:avLst/>
          </a:prstGeom>
          <a:solidFill>
            <a:srgbClr val="FFFFFF"/>
          </a:solidFill>
          <a:ln w="12700">
            <a:solidFill>
              <a:srgbClr val="7F52A0"/>
            </a:solidFill>
            <a:prstDash val="solid"/>
          </a:ln>
          <a:effectLst>
            <a:outerShdw blurRad="76200" dist="25400" dir="8100000" algn="bl" rotWithShape="0">
              <a:srgbClr val="000000">
                <a:alpha val="7000"/>
              </a:srgbClr>
            </a:outerShdw>
          </a:effectLst>
        </p:spPr>
        <p:txBody>
          <a:bodyPr/>
          <a:lstStyle/>
          <a:p>
            <a:endParaRPr lang="es-MX"/>
          </a:p>
        </p:txBody>
      </p:sp>
      <p:sp>
        <p:nvSpPr>
          <p:cNvPr id="30" name="Shape 28"/>
          <p:cNvSpPr/>
          <p:nvPr/>
        </p:nvSpPr>
        <p:spPr>
          <a:xfrm>
            <a:off x="4709160" y="2212848"/>
            <a:ext cx="73152" cy="1188720"/>
          </a:xfrm>
          <a:prstGeom prst="rect">
            <a:avLst/>
          </a:prstGeom>
          <a:solidFill>
            <a:srgbClr val="7F52A0"/>
          </a:solidFill>
          <a:ln w="12700">
            <a:solidFill>
              <a:srgbClr val="7F52A0"/>
            </a:solidFill>
            <a:prstDash val="solid"/>
          </a:ln>
        </p:spPr>
        <p:txBody>
          <a:bodyPr/>
          <a:lstStyle/>
          <a:p>
            <a:endParaRPr lang="es-MX"/>
          </a:p>
        </p:txBody>
      </p:sp>
      <p:sp>
        <p:nvSpPr>
          <p:cNvPr id="31" name="Shape 29"/>
          <p:cNvSpPr/>
          <p:nvPr/>
        </p:nvSpPr>
        <p:spPr>
          <a:xfrm>
            <a:off x="4873752" y="2304288"/>
            <a:ext cx="502920" cy="502920"/>
          </a:xfrm>
          <a:prstGeom prst="ellipse">
            <a:avLst/>
          </a:prstGeom>
          <a:solidFill>
            <a:srgbClr val="7F52A0"/>
          </a:solidFill>
          <a:ln w="12700">
            <a:solidFill>
              <a:srgbClr val="7F52A0"/>
            </a:solidFill>
            <a:prstDash val="solid"/>
          </a:ln>
        </p:spPr>
        <p:txBody>
          <a:bodyPr/>
          <a:lstStyle/>
          <a:p>
            <a:endParaRPr lang="es-MX"/>
          </a:p>
        </p:txBody>
      </p:sp>
      <p:sp>
        <p:nvSpPr>
          <p:cNvPr id="32" name="Text 30"/>
          <p:cNvSpPr/>
          <p:nvPr/>
        </p:nvSpPr>
        <p:spPr>
          <a:xfrm>
            <a:off x="4873752" y="23042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33" name="Text 31"/>
          <p:cNvSpPr/>
          <p:nvPr/>
        </p:nvSpPr>
        <p:spPr>
          <a:xfrm>
            <a:off x="5486400" y="2304288"/>
            <a:ext cx="3291840" cy="347472"/>
          </a:xfrm>
          <a:prstGeom prst="rect">
            <a:avLst/>
          </a:prstGeom>
          <a:noFill/>
          <a:ln/>
        </p:spPr>
        <p:txBody>
          <a:bodyPr wrap="square" lIns="0" tIns="0" rIns="0" bIns="0" rtlCol="0" anchor="ctr"/>
          <a:lstStyle/>
          <a:p>
            <a:pPr marL="0" indent="0">
              <a:buNone/>
            </a:pPr>
            <a:r>
              <a:rPr lang="en-US" sz="1200" b="1" dirty="0">
                <a:solidFill>
                  <a:srgbClr val="263980"/>
                </a:solidFill>
              </a:rPr>
              <a:t>Actualizar Patrocinio Agendas</a:t>
            </a:r>
            <a:endParaRPr lang="en-US" sz="1200" dirty="0"/>
          </a:p>
        </p:txBody>
      </p:sp>
      <p:sp>
        <p:nvSpPr>
          <p:cNvPr id="34" name="Text 32"/>
          <p:cNvSpPr/>
          <p:nvPr/>
        </p:nvSpPr>
        <p:spPr>
          <a:xfrm>
            <a:off x="4892040" y="2895872"/>
            <a:ext cx="3840480" cy="347472"/>
          </a:xfrm>
          <a:prstGeom prst="rect">
            <a:avLst/>
          </a:prstGeom>
          <a:noFill/>
          <a:ln/>
        </p:spPr>
        <p:txBody>
          <a:bodyPr wrap="square" lIns="0" tIns="0" rIns="0" bIns="0" rtlCol="0" anchor="t"/>
          <a:lstStyle/>
          <a:p>
            <a:pPr marL="0" indent="0">
              <a:buNone/>
            </a:pPr>
            <a:r>
              <a:rPr lang="en-US" sz="950" dirty="0">
                <a:solidFill>
                  <a:srgbClr val="64748B"/>
                </a:solidFill>
              </a:rPr>
              <a:t>Pausar marcas inactivas, activar nuevas, configurar keywords de semanas</a:t>
            </a:r>
            <a:endParaRPr lang="en-US" sz="950" dirty="0"/>
          </a:p>
        </p:txBody>
      </p:sp>
      <p:sp>
        <p:nvSpPr>
          <p:cNvPr id="35" name="Shape 33"/>
          <p:cNvSpPr/>
          <p:nvPr/>
        </p:nvSpPr>
        <p:spPr>
          <a:xfrm>
            <a:off x="4709160" y="3511296"/>
            <a:ext cx="4206240" cy="1188720"/>
          </a:xfrm>
          <a:prstGeom prst="rect">
            <a:avLst/>
          </a:prstGeom>
          <a:solidFill>
            <a:srgbClr val="FFFFFF"/>
          </a:solidFill>
          <a:ln w="12700">
            <a:solidFill>
              <a:srgbClr val="263980"/>
            </a:solidFill>
            <a:prstDash val="solid"/>
          </a:ln>
          <a:effectLst>
            <a:outerShdw blurRad="76200" dist="25400" dir="8100000" algn="bl" rotWithShape="0">
              <a:srgbClr val="000000">
                <a:alpha val="7000"/>
              </a:srgbClr>
            </a:outerShdw>
          </a:effectLst>
        </p:spPr>
        <p:txBody>
          <a:bodyPr/>
          <a:lstStyle/>
          <a:p>
            <a:endParaRPr lang="es-MX"/>
          </a:p>
        </p:txBody>
      </p:sp>
      <p:sp>
        <p:nvSpPr>
          <p:cNvPr id="36" name="Shape 34"/>
          <p:cNvSpPr/>
          <p:nvPr/>
        </p:nvSpPr>
        <p:spPr>
          <a:xfrm>
            <a:off x="4709160" y="3511296"/>
            <a:ext cx="73152" cy="1188720"/>
          </a:xfrm>
          <a:prstGeom prst="rect">
            <a:avLst/>
          </a:prstGeom>
          <a:solidFill>
            <a:srgbClr val="263980"/>
          </a:solidFill>
          <a:ln w="12700">
            <a:solidFill>
              <a:srgbClr val="263980"/>
            </a:solidFill>
            <a:prstDash val="solid"/>
          </a:ln>
        </p:spPr>
        <p:txBody>
          <a:bodyPr/>
          <a:lstStyle/>
          <a:p>
            <a:endParaRPr lang="es-MX"/>
          </a:p>
        </p:txBody>
      </p:sp>
      <p:sp>
        <p:nvSpPr>
          <p:cNvPr id="37" name="Shape 35"/>
          <p:cNvSpPr/>
          <p:nvPr/>
        </p:nvSpPr>
        <p:spPr>
          <a:xfrm>
            <a:off x="4873752" y="3602736"/>
            <a:ext cx="502920" cy="502920"/>
          </a:xfrm>
          <a:prstGeom prst="ellipse">
            <a:avLst/>
          </a:prstGeom>
          <a:solidFill>
            <a:srgbClr val="263980"/>
          </a:solidFill>
          <a:ln w="12700">
            <a:solidFill>
              <a:srgbClr val="263980"/>
            </a:solidFill>
            <a:prstDash val="solid"/>
          </a:ln>
        </p:spPr>
        <p:txBody>
          <a:bodyPr/>
          <a:lstStyle/>
          <a:p>
            <a:endParaRPr lang="es-MX"/>
          </a:p>
        </p:txBody>
      </p:sp>
      <p:sp>
        <p:nvSpPr>
          <p:cNvPr id="38" name="Text 36"/>
          <p:cNvSpPr/>
          <p:nvPr/>
        </p:nvSpPr>
        <p:spPr>
          <a:xfrm>
            <a:off x="4873752" y="3602736"/>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rPr>
              <a:t>6</a:t>
            </a:r>
            <a:endParaRPr lang="en-US" sz="1500" dirty="0"/>
          </a:p>
        </p:txBody>
      </p:sp>
      <p:sp>
        <p:nvSpPr>
          <p:cNvPr id="39" name="Text 37"/>
          <p:cNvSpPr/>
          <p:nvPr/>
        </p:nvSpPr>
        <p:spPr>
          <a:xfrm>
            <a:off x="5486400" y="3602736"/>
            <a:ext cx="3291840" cy="347472"/>
          </a:xfrm>
          <a:prstGeom prst="rect">
            <a:avLst/>
          </a:prstGeom>
          <a:noFill/>
          <a:ln/>
        </p:spPr>
        <p:txBody>
          <a:bodyPr wrap="square" lIns="0" tIns="0" rIns="0" bIns="0" rtlCol="0" anchor="ctr"/>
          <a:lstStyle/>
          <a:p>
            <a:pPr marL="0" indent="0">
              <a:buNone/>
            </a:pPr>
            <a:r>
              <a:rPr lang="en-US" sz="1200" b="1" dirty="0">
                <a:solidFill>
                  <a:srgbClr val="263980"/>
                </a:solidFill>
              </a:rPr>
              <a:t>Verificar entrega</a:t>
            </a:r>
            <a:endParaRPr lang="en-US" sz="1200" dirty="0"/>
          </a:p>
        </p:txBody>
      </p:sp>
      <p:sp>
        <p:nvSpPr>
          <p:cNvPr id="40" name="Text 38"/>
          <p:cNvSpPr/>
          <p:nvPr/>
        </p:nvSpPr>
        <p:spPr>
          <a:xfrm>
            <a:off x="4892040" y="4194320"/>
            <a:ext cx="3840480" cy="347472"/>
          </a:xfrm>
          <a:prstGeom prst="rect">
            <a:avLst/>
          </a:prstGeom>
          <a:noFill/>
          <a:ln/>
        </p:spPr>
        <p:txBody>
          <a:bodyPr wrap="square" lIns="0" tIns="0" rIns="0" bIns="0" rtlCol="0" anchor="t"/>
          <a:lstStyle/>
          <a:p>
            <a:pPr marL="0" indent="0">
              <a:buNone/>
            </a:pPr>
            <a:r>
              <a:rPr lang="en-US" sz="950" dirty="0">
                <a:solidFill>
                  <a:srgbClr val="64748B"/>
                </a:solidFill>
              </a:rPr>
              <a:t>Esperar 5-10 min tras aprobar y confirmar que los banners aparecen en el sitio</a:t>
            </a:r>
            <a:endParaRPr lang="en-US" sz="950" dirty="0"/>
          </a:p>
        </p:txBody>
      </p:sp>
      <p:sp>
        <p:nvSpPr>
          <p:cNvPr id="41" name="Shape 39"/>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42" name="Text 40"/>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45" name="Gráfico 44">
            <a:extLst>
              <a:ext uri="{FF2B5EF4-FFF2-40B4-BE49-F238E27FC236}">
                <a16:creationId xmlns:a16="http://schemas.microsoft.com/office/drawing/2014/main" id="{B11F0AB9-2EDD-4306-57CD-F910472C5B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C1A56"/>
        </a:solidFill>
        <a:effectLst/>
      </p:bgPr>
    </p:bg>
    <p:spTree>
      <p:nvGrpSpPr>
        <p:cNvPr id="1" name=""/>
        <p:cNvGrpSpPr/>
        <p:nvPr/>
      </p:nvGrpSpPr>
      <p:grpSpPr>
        <a:xfrm>
          <a:off x="0" y="0"/>
          <a:ext cx="0" cy="0"/>
          <a:chOff x="0" y="0"/>
          <a:chExt cx="0" cy="0"/>
        </a:xfrm>
      </p:grpSpPr>
      <p:sp>
        <p:nvSpPr>
          <p:cNvPr id="2" name="Shape 0"/>
          <p:cNvSpPr/>
          <p:nvPr/>
        </p:nvSpPr>
        <p:spPr>
          <a:xfrm>
            <a:off x="-1097280" y="-1097280"/>
            <a:ext cx="4572000" cy="4572000"/>
          </a:xfrm>
          <a:prstGeom prst="ellipse">
            <a:avLst/>
          </a:prstGeom>
          <a:solidFill>
            <a:srgbClr val="263980">
              <a:alpha val="70000"/>
            </a:srgbClr>
          </a:solidFill>
          <a:ln w="12700">
            <a:solidFill>
              <a:srgbClr val="26398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6583680" y="2560320"/>
            <a:ext cx="4114800" cy="4114800"/>
          </a:xfrm>
          <a:prstGeom prst="ellipse">
            <a:avLst/>
          </a:prstGeom>
          <a:solidFill>
            <a:srgbClr val="46C2CE">
              <a:alpha val="25000"/>
            </a:srgbClr>
          </a:solidFill>
          <a:ln w="12700">
            <a:solidFill>
              <a:srgbClr val="46C2CE">
                <a:alpha val="2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5943600" y="-731520"/>
            <a:ext cx="2743200" cy="2743200"/>
          </a:xfrm>
          <a:prstGeom prst="ellipse">
            <a:avLst/>
          </a:prstGeom>
          <a:solidFill>
            <a:srgbClr val="7F52A0">
              <a:alpha val="40000"/>
            </a:srgbClr>
          </a:solidFill>
          <a:ln w="12700">
            <a:solidFill>
              <a:srgbClr val="7F52A0">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4846320"/>
            <a:ext cx="9144000" cy="297180"/>
          </a:xfrm>
          <a:prstGeom prst="rect">
            <a:avLst/>
          </a:prstGeom>
          <a:solidFill>
            <a:srgbClr val="263980"/>
          </a:solidFill>
          <a:ln w="12700">
            <a:solidFill>
              <a:srgbClr val="2639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0" y="4846320"/>
            <a:ext cx="3200400" cy="297180"/>
          </a:xfrm>
          <a:prstGeom prst="rect">
            <a:avLst/>
          </a:prstGeom>
          <a:solidFill>
            <a:srgbClr val="46C2CE"/>
          </a:solidFill>
          <a:ln w="12700">
            <a:solidFill>
              <a:srgbClr val="46C2C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731520" y="457200"/>
            <a:ext cx="27432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0" b="1" i="0" u="none" strike="noStrike" kern="1200" cap="none" spc="0" normalizeH="0" baseline="0" noProof="0" dirty="0">
                <a:ln>
                  <a:noFill/>
                </a:ln>
                <a:solidFill>
                  <a:srgbClr val="46C2CE">
                    <a:alpha val="75000"/>
                  </a:srgbClr>
                </a:solidFill>
                <a:effectLst/>
                <a:uLnTx/>
                <a:uFillTx/>
                <a:latin typeface="Calibri" pitchFamily="34" charset="0"/>
                <a:ea typeface="Calibri" pitchFamily="34" charset="-122"/>
                <a:cs typeface="Calibri" pitchFamily="34" charset="-120"/>
              </a:rPr>
              <a:t>02</a:t>
            </a:r>
            <a:endParaRPr kumimoji="0" lang="en-US" sz="1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7315200" y="1645920"/>
            <a:ext cx="1188720" cy="1188720"/>
          </a:xfrm>
          <a:prstGeom prst="ellipse">
            <a:avLst/>
          </a:prstGeom>
          <a:solidFill>
            <a:srgbClr val="46C2CE">
              <a:alpha val="80000"/>
            </a:srgbClr>
          </a:solidFill>
          <a:ln w="12700">
            <a:solidFill>
              <a:srgbClr val="46C2CE">
                <a:alpha val="8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r:embed="rId3"/>
          <a:stretch>
            <a:fillRect/>
          </a:stretch>
        </p:blipFill>
        <p:spPr>
          <a:xfrm>
            <a:off x="7571232" y="1901952"/>
            <a:ext cx="685800" cy="685800"/>
          </a:xfrm>
          <a:prstGeom prst="rect">
            <a:avLst/>
          </a:prstGeom>
        </p:spPr>
      </p:pic>
      <p:sp>
        <p:nvSpPr>
          <p:cNvPr id="11" name="Text 7"/>
          <p:cNvSpPr/>
          <p:nvPr/>
        </p:nvSpPr>
        <p:spPr>
          <a:xfrm>
            <a:off x="731520" y="1783080"/>
            <a:ext cx="77724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Procesos</a:t>
            </a: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Clave</a:t>
            </a:r>
          </a:p>
        </p:txBody>
      </p:sp>
      <p:sp>
        <p:nvSpPr>
          <p:cNvPr id="12" name="Text 8"/>
          <p:cNvSpPr/>
          <p:nvPr/>
        </p:nvSpPr>
        <p:spPr>
          <a:xfrm>
            <a:off x="731520" y="2651760"/>
            <a:ext cx="68580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err="1">
                <a:ln>
                  <a:noFill/>
                </a:ln>
                <a:solidFill>
                  <a:srgbClr val="46C2CE"/>
                </a:solidFill>
                <a:effectLst/>
                <a:uLnTx/>
                <a:uFillTx/>
                <a:latin typeface="Calibri" pitchFamily="34" charset="0"/>
                <a:ea typeface="Calibri" pitchFamily="34" charset="-122"/>
                <a:cs typeface="Calibri" pitchFamily="34" charset="-120"/>
              </a:rPr>
              <a:t>Keywords</a:t>
            </a:r>
            <a:r>
              <a:rPr kumimoji="0" lang="es-MX" sz="1600" b="0" i="0" u="none" strike="noStrike" kern="1200" cap="none" spc="0" normalizeH="0" baseline="0" noProof="0" dirty="0">
                <a:ln>
                  <a:noFill/>
                </a:ln>
                <a:solidFill>
                  <a:srgbClr val="46C2CE"/>
                </a:solidFill>
                <a:effectLst/>
                <a:uLnTx/>
                <a:uFillTx/>
                <a:latin typeface="Calibri" pitchFamily="34" charset="0"/>
                <a:ea typeface="Calibri" pitchFamily="34" charset="-122"/>
                <a:cs typeface="Calibri" pitchFamily="34" charset="-120"/>
              </a:rPr>
              <a:t>, pedidos, creatividades y </a:t>
            </a:r>
            <a:r>
              <a:rPr kumimoji="0" lang="es-MX" sz="1600" b="0" i="0" u="none" strike="noStrike" kern="1200" cap="none" spc="0" normalizeH="0" baseline="0" noProof="0" dirty="0" err="1">
                <a:ln>
                  <a:noFill/>
                </a:ln>
                <a:solidFill>
                  <a:srgbClr val="46C2CE"/>
                </a:solidFill>
                <a:effectLst/>
                <a:uLnTx/>
                <a:uFillTx/>
                <a:latin typeface="Calibri" pitchFamily="34" charset="0"/>
                <a:ea typeface="Calibri" pitchFamily="34" charset="-122"/>
                <a:cs typeface="Calibri" pitchFamily="34" charset="-120"/>
              </a:rPr>
              <a:t>UTMs</a:t>
            </a:r>
            <a:r>
              <a:rPr kumimoji="0" lang="es-MX" sz="1600" b="0" i="0" u="none" strike="noStrike" kern="1200" cap="none" spc="0" normalizeH="0" baseline="0" noProof="0" dirty="0">
                <a:ln>
                  <a:noFill/>
                </a:ln>
                <a:solidFill>
                  <a:srgbClr val="46C2CE"/>
                </a:solidFill>
                <a:effectLst/>
                <a:uLnTx/>
                <a:uFillTx/>
                <a:latin typeface="Calibri" pitchFamily="34" charset="0"/>
                <a:ea typeface="Calibri" pitchFamily="34" charset="-122"/>
                <a:cs typeface="Calibri" pitchFamily="34" charset="-120"/>
              </a:rPr>
              <a:t> paso a paso</a:t>
            </a:r>
          </a:p>
        </p:txBody>
      </p:sp>
      <p:sp>
        <p:nvSpPr>
          <p:cNvPr id="13" name="Shape 9"/>
          <p:cNvSpPr/>
          <p:nvPr/>
        </p:nvSpPr>
        <p:spPr>
          <a:xfrm>
            <a:off x="731520" y="3246120"/>
            <a:ext cx="2286000" cy="45720"/>
          </a:xfrm>
          <a:prstGeom prst="rect">
            <a:avLst/>
          </a:prstGeom>
          <a:solidFill>
            <a:srgbClr val="FFFFFF">
              <a:alpha val="40000"/>
            </a:srgbClr>
          </a:solidFill>
          <a:ln w="12700">
            <a:solidFill>
              <a:srgbClr val="FFFFFF">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Gráfico 13">
            <a:extLst>
              <a:ext uri="{FF2B5EF4-FFF2-40B4-BE49-F238E27FC236}">
                <a16:creationId xmlns:a16="http://schemas.microsoft.com/office/drawing/2014/main" id="{38893E48-A0DF-AEB6-A3AF-48447EDA15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7819" y="4731536"/>
            <a:ext cx="1393444" cy="54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63980"/>
          </a:solidFill>
          <a:ln w="12700">
            <a:solidFill>
              <a:srgbClr val="26398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Proceso 1 — Crear una Keyword (Par Clave-Valor)</a:t>
            </a:r>
            <a:endParaRPr lang="en-US" sz="2000" dirty="0"/>
          </a:p>
        </p:txBody>
      </p:sp>
      <p:sp>
        <p:nvSpPr>
          <p:cNvPr id="5" name="Text 3"/>
          <p:cNvSpPr/>
          <p:nvPr/>
        </p:nvSpPr>
        <p:spPr>
          <a:xfrm>
            <a:off x="274320" y="896112"/>
            <a:ext cx="4114800" cy="320040"/>
          </a:xfrm>
          <a:prstGeom prst="rect">
            <a:avLst/>
          </a:prstGeom>
          <a:noFill/>
          <a:ln/>
        </p:spPr>
        <p:txBody>
          <a:bodyPr wrap="square" lIns="0" tIns="0" rIns="0" bIns="0" rtlCol="0" anchor="ctr"/>
          <a:lstStyle/>
          <a:p>
            <a:pPr marL="0" indent="0">
              <a:buNone/>
            </a:pPr>
            <a:r>
              <a:rPr lang="en-US" sz="1400" b="1" dirty="0">
                <a:solidFill>
                  <a:srgbClr val="263980"/>
                </a:solidFill>
              </a:rPr>
              <a:t>¿Para qué sirve?</a:t>
            </a:r>
            <a:endParaRPr lang="en-US" sz="1400" dirty="0"/>
          </a:p>
        </p:txBody>
      </p:sp>
      <p:sp>
        <p:nvSpPr>
          <p:cNvPr id="6" name="Text 4"/>
          <p:cNvSpPr/>
          <p:nvPr/>
        </p:nvSpPr>
        <p:spPr>
          <a:xfrm>
            <a:off x="274320" y="1234440"/>
            <a:ext cx="4114800" cy="640080"/>
          </a:xfrm>
          <a:prstGeom prst="rect">
            <a:avLst/>
          </a:prstGeom>
          <a:noFill/>
          <a:ln/>
        </p:spPr>
        <p:txBody>
          <a:bodyPr wrap="square" lIns="0" tIns="0" rIns="0" bIns="0" rtlCol="0" anchor="ctr"/>
          <a:lstStyle/>
          <a:p>
            <a:pPr marL="0" indent="0">
              <a:buNone/>
            </a:pPr>
            <a:r>
              <a:rPr lang="en-US" sz="1100" dirty="0">
                <a:solidFill>
                  <a:srgbClr val="64748B"/>
                </a:solidFill>
              </a:rPr>
              <a:t>La keyword es el 'puente' entre el banner y el sistema. Sin keyword, el banner no sabe cuándo ni dónde aparecer. Se crea UNA vez por cliente y se reutiliza mientras esté activo.</a:t>
            </a:r>
            <a:endParaRPr lang="en-US" sz="1100" dirty="0"/>
          </a:p>
        </p:txBody>
      </p:sp>
      <p:sp>
        <p:nvSpPr>
          <p:cNvPr id="7" name="Shape 5"/>
          <p:cNvSpPr/>
          <p:nvPr/>
        </p:nvSpPr>
        <p:spPr>
          <a:xfrm>
            <a:off x="274320" y="1920240"/>
            <a:ext cx="4114800" cy="1188720"/>
          </a:xfrm>
          <a:prstGeom prst="rect">
            <a:avLst/>
          </a:prstGeom>
          <a:solidFill>
            <a:srgbClr val="2C1A56"/>
          </a:solidFill>
          <a:ln w="12700">
            <a:solidFill>
              <a:srgbClr val="2C1A56"/>
            </a:solidFill>
            <a:prstDash val="solid"/>
          </a:ln>
        </p:spPr>
        <p:txBody>
          <a:bodyPr/>
          <a:lstStyle/>
          <a:p>
            <a:endParaRPr lang="es-MX"/>
          </a:p>
        </p:txBody>
      </p:sp>
      <p:sp>
        <p:nvSpPr>
          <p:cNvPr id="8" name="Text 6"/>
          <p:cNvSpPr/>
          <p:nvPr/>
        </p:nvSpPr>
        <p:spPr>
          <a:xfrm>
            <a:off x="457200" y="1917471"/>
            <a:ext cx="3657600" cy="274320"/>
          </a:xfrm>
          <a:prstGeom prst="rect">
            <a:avLst/>
          </a:prstGeom>
          <a:noFill/>
          <a:ln/>
        </p:spPr>
        <p:txBody>
          <a:bodyPr wrap="square" lIns="0" tIns="0" rIns="0" bIns="0" rtlCol="0" anchor="ctr"/>
          <a:lstStyle/>
          <a:p>
            <a:pPr marL="0" indent="0">
              <a:buNone/>
            </a:pPr>
            <a:r>
              <a:rPr lang="en-US" sz="1200" b="1" dirty="0">
                <a:solidFill>
                  <a:srgbClr val="46C2CE"/>
                </a:solidFill>
              </a:rPr>
              <a:t>Nomenclatura</a:t>
            </a:r>
            <a:endParaRPr lang="en-US" sz="1200" dirty="0"/>
          </a:p>
        </p:txBody>
      </p:sp>
      <p:grpSp>
        <p:nvGrpSpPr>
          <p:cNvPr id="47" name="Grupo 46">
            <a:extLst>
              <a:ext uri="{FF2B5EF4-FFF2-40B4-BE49-F238E27FC236}">
                <a16:creationId xmlns:a16="http://schemas.microsoft.com/office/drawing/2014/main" id="{9A40D579-6394-87BE-646C-F54DD7FB5F8F}"/>
              </a:ext>
            </a:extLst>
          </p:cNvPr>
          <p:cNvGrpSpPr/>
          <p:nvPr/>
        </p:nvGrpSpPr>
        <p:grpSpPr>
          <a:xfrm>
            <a:off x="411480" y="2229337"/>
            <a:ext cx="3749040" cy="320040"/>
            <a:chOff x="411480" y="2216730"/>
            <a:chExt cx="3749040" cy="320040"/>
          </a:xfrm>
        </p:grpSpPr>
        <p:sp>
          <p:nvSpPr>
            <p:cNvPr id="9" name="Shape 7"/>
            <p:cNvSpPr/>
            <p:nvPr/>
          </p:nvSpPr>
          <p:spPr>
            <a:xfrm>
              <a:off x="411480" y="2216730"/>
              <a:ext cx="3749040" cy="320040"/>
            </a:xfrm>
            <a:prstGeom prst="rect">
              <a:avLst/>
            </a:prstGeom>
            <a:solidFill>
              <a:srgbClr val="263980"/>
            </a:solidFill>
            <a:ln w="12700">
              <a:solidFill>
                <a:srgbClr val="46C2CE"/>
              </a:solidFill>
              <a:prstDash val="solid"/>
            </a:ln>
          </p:spPr>
          <p:txBody>
            <a:bodyPr/>
            <a:lstStyle/>
            <a:p>
              <a:endParaRPr lang="es-MX"/>
            </a:p>
          </p:txBody>
        </p:sp>
        <p:sp>
          <p:nvSpPr>
            <p:cNvPr id="10" name="Text 8"/>
            <p:cNvSpPr/>
            <p:nvPr/>
          </p:nvSpPr>
          <p:spPr>
            <a:xfrm>
              <a:off x="411480" y="2216730"/>
              <a:ext cx="3749040" cy="320040"/>
            </a:xfrm>
            <a:prstGeom prst="rect">
              <a:avLst/>
            </a:prstGeom>
            <a:noFill/>
            <a:ln/>
          </p:spPr>
          <p:txBody>
            <a:bodyPr wrap="square" lIns="0" tIns="0" rIns="0" bIns="0" rtlCol="0" anchor="ctr"/>
            <a:lstStyle/>
            <a:p>
              <a:pPr marL="0" indent="0" algn="ctr">
                <a:buNone/>
              </a:pPr>
              <a:r>
                <a:rPr lang="en-US" sz="1200" b="1" dirty="0">
                  <a:solidFill>
                    <a:srgbClr val="46C2CE"/>
                  </a:solidFill>
                </a:rPr>
                <a:t>AGE-[NombreCortoCliente]-[MesAño]</a:t>
              </a:r>
              <a:endParaRPr lang="en-US" sz="1200" dirty="0"/>
            </a:p>
          </p:txBody>
        </p:sp>
      </p:grpSp>
      <p:sp>
        <p:nvSpPr>
          <p:cNvPr id="11" name="Text 9"/>
          <p:cNvSpPr/>
          <p:nvPr/>
        </p:nvSpPr>
        <p:spPr>
          <a:xfrm>
            <a:off x="438912" y="2614632"/>
            <a:ext cx="3657600" cy="502920"/>
          </a:xfrm>
          <a:prstGeom prst="rect">
            <a:avLst/>
          </a:prstGeom>
          <a:noFill/>
          <a:ln/>
        </p:spPr>
        <p:txBody>
          <a:bodyPr wrap="square" lIns="0" tIns="0" rIns="0" bIns="0" rtlCol="0" anchor="ctr"/>
          <a:lstStyle/>
          <a:p>
            <a:pPr marL="0" indent="0">
              <a:buNone/>
            </a:pPr>
            <a:r>
              <a:rPr lang="en-US" sz="950" b="1" dirty="0">
                <a:solidFill>
                  <a:srgbClr val="FFFFFF"/>
                </a:solidFill>
              </a:rPr>
              <a:t>AGE-Colgate-0106</a:t>
            </a:r>
            <a:r>
              <a:rPr lang="en-US" sz="950" dirty="0">
                <a:solidFill>
                  <a:srgbClr val="FFFFFF"/>
                </a:solidFill>
              </a:rPr>
              <a:t>  →  Colgate, enero 2006</a:t>
            </a:r>
            <a:endParaRPr lang="en-US" sz="950" dirty="0"/>
          </a:p>
          <a:p>
            <a:pPr marL="0" indent="0">
              <a:buNone/>
            </a:pPr>
            <a:r>
              <a:rPr lang="en-US" sz="950" b="1" dirty="0">
                <a:solidFill>
                  <a:srgbClr val="FFFFFF"/>
                </a:solidFill>
              </a:rPr>
              <a:t>AGE-HKeeper-0623</a:t>
            </a:r>
            <a:r>
              <a:rPr lang="en-US" sz="950" dirty="0">
                <a:solidFill>
                  <a:srgbClr val="FFFFFF"/>
                </a:solidFill>
              </a:rPr>
              <a:t>  →  Honey Keeper, junio 2023</a:t>
            </a:r>
            <a:endParaRPr lang="en-US" sz="950" dirty="0"/>
          </a:p>
          <a:p>
            <a:pPr marL="0" indent="0">
              <a:buNone/>
            </a:pPr>
            <a:r>
              <a:rPr lang="en-US" sz="950" b="1" dirty="0">
                <a:solidFill>
                  <a:srgbClr val="FFFFFF"/>
                </a:solidFill>
              </a:rPr>
              <a:t>AGE-TestCliente-0326</a:t>
            </a:r>
            <a:r>
              <a:rPr lang="en-US" sz="950" dirty="0">
                <a:solidFill>
                  <a:srgbClr val="FFFFFF"/>
                </a:solidFill>
              </a:rPr>
              <a:t>  →  Marzo 2026</a:t>
            </a:r>
            <a:endParaRPr lang="en-US" sz="950" dirty="0"/>
          </a:p>
        </p:txBody>
      </p:sp>
      <p:sp>
        <p:nvSpPr>
          <p:cNvPr id="12" name="Text 10"/>
          <p:cNvSpPr/>
          <p:nvPr/>
        </p:nvSpPr>
        <p:spPr>
          <a:xfrm>
            <a:off x="4663440" y="896112"/>
            <a:ext cx="4114800" cy="320040"/>
          </a:xfrm>
          <a:prstGeom prst="rect">
            <a:avLst/>
          </a:prstGeom>
          <a:noFill/>
          <a:ln/>
        </p:spPr>
        <p:txBody>
          <a:bodyPr wrap="square" lIns="0" tIns="0" rIns="0" bIns="0" rtlCol="0" anchor="ctr"/>
          <a:lstStyle/>
          <a:p>
            <a:pPr marL="0" indent="0">
              <a:buNone/>
            </a:pPr>
            <a:r>
              <a:rPr lang="en-US" sz="1400" b="1" dirty="0">
                <a:solidFill>
                  <a:srgbClr val="263980"/>
                </a:solidFill>
              </a:rPr>
              <a:t>Pasos para crear la keyword:</a:t>
            </a:r>
            <a:endParaRPr lang="en-US" sz="1400" dirty="0"/>
          </a:p>
        </p:txBody>
      </p:sp>
      <p:sp>
        <p:nvSpPr>
          <p:cNvPr id="13" name="Shape 11"/>
          <p:cNvSpPr/>
          <p:nvPr/>
        </p:nvSpPr>
        <p:spPr>
          <a:xfrm>
            <a:off x="4663440" y="1280160"/>
            <a:ext cx="347472" cy="347472"/>
          </a:xfrm>
          <a:prstGeom prst="ellipse">
            <a:avLst/>
          </a:prstGeom>
          <a:solidFill>
            <a:srgbClr val="46C2CE"/>
          </a:solidFill>
          <a:ln w="12700">
            <a:solidFill>
              <a:srgbClr val="46C2CE"/>
            </a:solidFill>
            <a:prstDash val="solid"/>
          </a:ln>
        </p:spPr>
        <p:txBody>
          <a:bodyPr/>
          <a:lstStyle/>
          <a:p>
            <a:endParaRPr lang="es-MX"/>
          </a:p>
        </p:txBody>
      </p:sp>
      <p:sp>
        <p:nvSpPr>
          <p:cNvPr id="14" name="Text 12"/>
          <p:cNvSpPr/>
          <p:nvPr/>
        </p:nvSpPr>
        <p:spPr>
          <a:xfrm>
            <a:off x="4663440" y="1280160"/>
            <a:ext cx="347472" cy="347472"/>
          </a:xfrm>
          <a:prstGeom prst="rect">
            <a:avLst/>
          </a:prstGeom>
          <a:noFill/>
          <a:ln/>
        </p:spPr>
        <p:txBody>
          <a:bodyPr wrap="square" lIns="0" tIns="0" rIns="0" bIns="0" rtlCol="0" anchor="ctr"/>
          <a:lstStyle/>
          <a:p>
            <a:pPr marL="0" indent="0" algn="ctr">
              <a:buNone/>
            </a:pPr>
            <a:r>
              <a:rPr lang="en-US" sz="1100" b="1" dirty="0">
                <a:solidFill>
                  <a:srgbClr val="2C1A56"/>
                </a:solidFill>
              </a:rPr>
              <a:t>1</a:t>
            </a:r>
            <a:endParaRPr lang="en-US" sz="1100" dirty="0"/>
          </a:p>
        </p:txBody>
      </p:sp>
      <p:sp>
        <p:nvSpPr>
          <p:cNvPr id="15" name="Text 13"/>
          <p:cNvSpPr/>
          <p:nvPr/>
        </p:nvSpPr>
        <p:spPr>
          <a:xfrm>
            <a:off x="5120640" y="1280160"/>
            <a:ext cx="3703320" cy="347472"/>
          </a:xfrm>
          <a:prstGeom prst="rect">
            <a:avLst/>
          </a:prstGeom>
          <a:noFill/>
          <a:ln/>
        </p:spPr>
        <p:txBody>
          <a:bodyPr wrap="square" lIns="0" tIns="0" rIns="0" bIns="0" rtlCol="0" anchor="ctr"/>
          <a:lstStyle/>
          <a:p>
            <a:pPr marL="0" indent="0">
              <a:buNone/>
            </a:pPr>
            <a:r>
              <a:rPr lang="en-US" sz="1000" dirty="0">
                <a:solidFill>
                  <a:srgbClr val="1A1040"/>
                </a:solidFill>
              </a:rPr>
              <a:t>Ir a  Inventario → Pares clave-valor</a:t>
            </a:r>
            <a:endParaRPr lang="en-US" sz="1000" dirty="0"/>
          </a:p>
        </p:txBody>
      </p:sp>
      <p:sp>
        <p:nvSpPr>
          <p:cNvPr id="16" name="Shape 14"/>
          <p:cNvSpPr/>
          <p:nvPr/>
        </p:nvSpPr>
        <p:spPr>
          <a:xfrm>
            <a:off x="4663440" y="1764792"/>
            <a:ext cx="347472" cy="347472"/>
          </a:xfrm>
          <a:prstGeom prst="ellipse">
            <a:avLst/>
          </a:prstGeom>
          <a:solidFill>
            <a:srgbClr val="46C2CE"/>
          </a:solidFill>
          <a:ln w="12700">
            <a:solidFill>
              <a:srgbClr val="46C2CE"/>
            </a:solidFill>
            <a:prstDash val="solid"/>
          </a:ln>
        </p:spPr>
        <p:txBody>
          <a:bodyPr/>
          <a:lstStyle/>
          <a:p>
            <a:endParaRPr lang="es-MX"/>
          </a:p>
        </p:txBody>
      </p:sp>
      <p:sp>
        <p:nvSpPr>
          <p:cNvPr id="17" name="Text 15"/>
          <p:cNvSpPr/>
          <p:nvPr/>
        </p:nvSpPr>
        <p:spPr>
          <a:xfrm>
            <a:off x="4663440" y="1764792"/>
            <a:ext cx="347472" cy="347472"/>
          </a:xfrm>
          <a:prstGeom prst="rect">
            <a:avLst/>
          </a:prstGeom>
          <a:noFill/>
          <a:ln/>
        </p:spPr>
        <p:txBody>
          <a:bodyPr wrap="square" lIns="0" tIns="0" rIns="0" bIns="0" rtlCol="0" anchor="ctr"/>
          <a:lstStyle/>
          <a:p>
            <a:pPr marL="0" indent="0" algn="ctr">
              <a:buNone/>
            </a:pPr>
            <a:r>
              <a:rPr lang="en-US" sz="1100" b="1" dirty="0">
                <a:solidFill>
                  <a:srgbClr val="2C1A56"/>
                </a:solidFill>
              </a:rPr>
              <a:t>2</a:t>
            </a:r>
            <a:endParaRPr lang="en-US" sz="1100" dirty="0"/>
          </a:p>
        </p:txBody>
      </p:sp>
      <p:sp>
        <p:nvSpPr>
          <p:cNvPr id="18" name="Text 16"/>
          <p:cNvSpPr/>
          <p:nvPr/>
        </p:nvSpPr>
        <p:spPr>
          <a:xfrm>
            <a:off x="5120640" y="1764792"/>
            <a:ext cx="3703320" cy="347472"/>
          </a:xfrm>
          <a:prstGeom prst="rect">
            <a:avLst/>
          </a:prstGeom>
          <a:noFill/>
          <a:ln/>
        </p:spPr>
        <p:txBody>
          <a:bodyPr wrap="square" lIns="0" tIns="0" rIns="0" bIns="0" rtlCol="0" anchor="ctr"/>
          <a:lstStyle/>
          <a:p>
            <a:pPr marL="0" indent="0">
              <a:buNone/>
            </a:pPr>
            <a:r>
              <a:rPr lang="en-US" sz="1000" dirty="0">
                <a:solidFill>
                  <a:srgbClr val="1A1040"/>
                </a:solidFill>
              </a:rPr>
              <a:t>Clic en  Nuevo par clave-valor</a:t>
            </a:r>
            <a:endParaRPr lang="en-US" sz="1000" dirty="0"/>
          </a:p>
        </p:txBody>
      </p:sp>
      <p:sp>
        <p:nvSpPr>
          <p:cNvPr id="19" name="Shape 17"/>
          <p:cNvSpPr/>
          <p:nvPr/>
        </p:nvSpPr>
        <p:spPr>
          <a:xfrm>
            <a:off x="4663440" y="2249424"/>
            <a:ext cx="347472" cy="347472"/>
          </a:xfrm>
          <a:prstGeom prst="ellipse">
            <a:avLst/>
          </a:prstGeom>
          <a:solidFill>
            <a:srgbClr val="46C2CE"/>
          </a:solidFill>
          <a:ln w="12700">
            <a:solidFill>
              <a:srgbClr val="46C2CE"/>
            </a:solidFill>
            <a:prstDash val="solid"/>
          </a:ln>
        </p:spPr>
        <p:txBody>
          <a:bodyPr/>
          <a:lstStyle/>
          <a:p>
            <a:endParaRPr lang="es-MX"/>
          </a:p>
        </p:txBody>
      </p:sp>
      <p:sp>
        <p:nvSpPr>
          <p:cNvPr id="20" name="Text 18"/>
          <p:cNvSpPr/>
          <p:nvPr/>
        </p:nvSpPr>
        <p:spPr>
          <a:xfrm>
            <a:off x="4663440" y="2249424"/>
            <a:ext cx="347472" cy="347472"/>
          </a:xfrm>
          <a:prstGeom prst="rect">
            <a:avLst/>
          </a:prstGeom>
          <a:noFill/>
          <a:ln/>
        </p:spPr>
        <p:txBody>
          <a:bodyPr wrap="square" lIns="0" tIns="0" rIns="0" bIns="0" rtlCol="0" anchor="ctr"/>
          <a:lstStyle/>
          <a:p>
            <a:pPr marL="0" indent="0" algn="ctr">
              <a:buNone/>
            </a:pPr>
            <a:r>
              <a:rPr lang="en-US" sz="1100" b="1" dirty="0">
                <a:solidFill>
                  <a:srgbClr val="2C1A56"/>
                </a:solidFill>
              </a:rPr>
              <a:t>3</a:t>
            </a:r>
            <a:endParaRPr lang="en-US" sz="1100" dirty="0"/>
          </a:p>
        </p:txBody>
      </p:sp>
      <p:sp>
        <p:nvSpPr>
          <p:cNvPr id="21" name="Text 19"/>
          <p:cNvSpPr/>
          <p:nvPr/>
        </p:nvSpPr>
        <p:spPr>
          <a:xfrm>
            <a:off x="5120640" y="2249424"/>
            <a:ext cx="3703320" cy="347472"/>
          </a:xfrm>
          <a:prstGeom prst="rect">
            <a:avLst/>
          </a:prstGeom>
          <a:noFill/>
          <a:ln/>
        </p:spPr>
        <p:txBody>
          <a:bodyPr wrap="square" lIns="0" tIns="0" rIns="0" bIns="0" rtlCol="0" anchor="ctr"/>
          <a:lstStyle/>
          <a:p>
            <a:pPr marL="0" indent="0">
              <a:buNone/>
            </a:pPr>
            <a:r>
              <a:rPr lang="en-US" sz="1000" dirty="0">
                <a:solidFill>
                  <a:srgbClr val="1A1040"/>
                </a:solidFill>
              </a:rPr>
              <a:t>Escribir el nombre (sin espacios ni caracteres especiales)</a:t>
            </a:r>
            <a:endParaRPr lang="en-US" sz="1000" dirty="0"/>
          </a:p>
        </p:txBody>
      </p:sp>
      <p:sp>
        <p:nvSpPr>
          <p:cNvPr id="22" name="Shape 20"/>
          <p:cNvSpPr/>
          <p:nvPr/>
        </p:nvSpPr>
        <p:spPr>
          <a:xfrm>
            <a:off x="4663440" y="2734056"/>
            <a:ext cx="347472" cy="347472"/>
          </a:xfrm>
          <a:prstGeom prst="ellipse">
            <a:avLst/>
          </a:prstGeom>
          <a:solidFill>
            <a:srgbClr val="46C2CE"/>
          </a:solidFill>
          <a:ln w="12700">
            <a:solidFill>
              <a:srgbClr val="46C2CE"/>
            </a:solidFill>
            <a:prstDash val="solid"/>
          </a:ln>
        </p:spPr>
        <p:txBody>
          <a:bodyPr/>
          <a:lstStyle/>
          <a:p>
            <a:endParaRPr lang="es-MX"/>
          </a:p>
        </p:txBody>
      </p:sp>
      <p:sp>
        <p:nvSpPr>
          <p:cNvPr id="23" name="Text 21"/>
          <p:cNvSpPr/>
          <p:nvPr/>
        </p:nvSpPr>
        <p:spPr>
          <a:xfrm>
            <a:off x="4663440" y="2734056"/>
            <a:ext cx="347472" cy="347472"/>
          </a:xfrm>
          <a:prstGeom prst="rect">
            <a:avLst/>
          </a:prstGeom>
          <a:noFill/>
          <a:ln/>
        </p:spPr>
        <p:txBody>
          <a:bodyPr wrap="square" lIns="0" tIns="0" rIns="0" bIns="0" rtlCol="0" anchor="ctr"/>
          <a:lstStyle/>
          <a:p>
            <a:pPr marL="0" indent="0" algn="ctr">
              <a:buNone/>
            </a:pPr>
            <a:r>
              <a:rPr lang="en-US" sz="1100" b="1" dirty="0">
                <a:solidFill>
                  <a:srgbClr val="2C1A56"/>
                </a:solidFill>
              </a:rPr>
              <a:t>4</a:t>
            </a:r>
            <a:endParaRPr lang="en-US" sz="1100" dirty="0"/>
          </a:p>
        </p:txBody>
      </p:sp>
      <p:sp>
        <p:nvSpPr>
          <p:cNvPr id="24" name="Text 22"/>
          <p:cNvSpPr/>
          <p:nvPr/>
        </p:nvSpPr>
        <p:spPr>
          <a:xfrm>
            <a:off x="5120640" y="2734056"/>
            <a:ext cx="3703320" cy="347472"/>
          </a:xfrm>
          <a:prstGeom prst="rect">
            <a:avLst/>
          </a:prstGeom>
          <a:noFill/>
          <a:ln/>
        </p:spPr>
        <p:txBody>
          <a:bodyPr wrap="square" lIns="0" tIns="0" rIns="0" bIns="0" rtlCol="0" anchor="ctr"/>
          <a:lstStyle/>
          <a:p>
            <a:pPr marL="0" indent="0">
              <a:buNone/>
            </a:pPr>
            <a:r>
              <a:rPr lang="en-US" sz="1000" dirty="0">
                <a:solidFill>
                  <a:srgbClr val="1A1040"/>
                </a:solidFill>
              </a:rPr>
              <a:t>Clic en  Nuevos valores  y agregar los tamaños</a:t>
            </a:r>
            <a:endParaRPr lang="en-US" sz="1000" dirty="0"/>
          </a:p>
        </p:txBody>
      </p:sp>
      <p:sp>
        <p:nvSpPr>
          <p:cNvPr id="25" name="Shape 23"/>
          <p:cNvSpPr/>
          <p:nvPr/>
        </p:nvSpPr>
        <p:spPr>
          <a:xfrm>
            <a:off x="4663440" y="3218688"/>
            <a:ext cx="347472" cy="347472"/>
          </a:xfrm>
          <a:prstGeom prst="ellipse">
            <a:avLst/>
          </a:prstGeom>
          <a:solidFill>
            <a:srgbClr val="46C2CE"/>
          </a:solidFill>
          <a:ln w="12700">
            <a:solidFill>
              <a:srgbClr val="46C2CE"/>
            </a:solidFill>
            <a:prstDash val="solid"/>
          </a:ln>
        </p:spPr>
        <p:txBody>
          <a:bodyPr/>
          <a:lstStyle/>
          <a:p>
            <a:endParaRPr lang="es-MX"/>
          </a:p>
        </p:txBody>
      </p:sp>
      <p:sp>
        <p:nvSpPr>
          <p:cNvPr id="26" name="Text 24"/>
          <p:cNvSpPr/>
          <p:nvPr/>
        </p:nvSpPr>
        <p:spPr>
          <a:xfrm>
            <a:off x="4663440" y="3218688"/>
            <a:ext cx="347472" cy="347472"/>
          </a:xfrm>
          <a:prstGeom prst="rect">
            <a:avLst/>
          </a:prstGeom>
          <a:noFill/>
          <a:ln/>
        </p:spPr>
        <p:txBody>
          <a:bodyPr wrap="square" lIns="0" tIns="0" rIns="0" bIns="0" rtlCol="0" anchor="ctr"/>
          <a:lstStyle/>
          <a:p>
            <a:pPr marL="0" indent="0" algn="ctr">
              <a:buNone/>
            </a:pPr>
            <a:r>
              <a:rPr lang="en-US" sz="1100" b="1" dirty="0">
                <a:solidFill>
                  <a:srgbClr val="2C1A56"/>
                </a:solidFill>
              </a:rPr>
              <a:t>5</a:t>
            </a:r>
            <a:endParaRPr lang="en-US" sz="1100" dirty="0"/>
          </a:p>
        </p:txBody>
      </p:sp>
      <p:sp>
        <p:nvSpPr>
          <p:cNvPr id="27" name="Text 25"/>
          <p:cNvSpPr/>
          <p:nvPr/>
        </p:nvSpPr>
        <p:spPr>
          <a:xfrm>
            <a:off x="5120640" y="3218688"/>
            <a:ext cx="3703320" cy="347472"/>
          </a:xfrm>
          <a:prstGeom prst="rect">
            <a:avLst/>
          </a:prstGeom>
          <a:noFill/>
          <a:ln/>
        </p:spPr>
        <p:txBody>
          <a:bodyPr wrap="square" lIns="0" tIns="0" rIns="0" bIns="0" rtlCol="0" anchor="ctr"/>
          <a:lstStyle/>
          <a:p>
            <a:pPr marL="0" indent="0">
              <a:buNone/>
            </a:pPr>
            <a:r>
              <a:rPr lang="en-US" sz="1000" dirty="0">
                <a:solidFill>
                  <a:srgbClr val="1A1040"/>
                </a:solidFill>
              </a:rPr>
              <a:t>Clic en  Guardar</a:t>
            </a:r>
            <a:endParaRPr lang="en-US" sz="1000" dirty="0"/>
          </a:p>
        </p:txBody>
      </p:sp>
      <p:sp>
        <p:nvSpPr>
          <p:cNvPr id="28" name="Shape 26"/>
          <p:cNvSpPr/>
          <p:nvPr/>
        </p:nvSpPr>
        <p:spPr>
          <a:xfrm>
            <a:off x="4663440" y="3703320"/>
            <a:ext cx="347472" cy="347472"/>
          </a:xfrm>
          <a:prstGeom prst="ellipse">
            <a:avLst/>
          </a:prstGeom>
          <a:solidFill>
            <a:srgbClr val="46C2CE"/>
          </a:solidFill>
          <a:ln w="12700">
            <a:solidFill>
              <a:srgbClr val="46C2CE"/>
            </a:solidFill>
            <a:prstDash val="solid"/>
          </a:ln>
        </p:spPr>
        <p:txBody>
          <a:bodyPr/>
          <a:lstStyle/>
          <a:p>
            <a:endParaRPr lang="es-MX"/>
          </a:p>
        </p:txBody>
      </p:sp>
      <p:sp>
        <p:nvSpPr>
          <p:cNvPr id="29" name="Text 27"/>
          <p:cNvSpPr/>
          <p:nvPr/>
        </p:nvSpPr>
        <p:spPr>
          <a:xfrm>
            <a:off x="4663440" y="3703320"/>
            <a:ext cx="347472" cy="347472"/>
          </a:xfrm>
          <a:prstGeom prst="rect">
            <a:avLst/>
          </a:prstGeom>
          <a:noFill/>
          <a:ln/>
        </p:spPr>
        <p:txBody>
          <a:bodyPr wrap="square" lIns="0" tIns="0" rIns="0" bIns="0" rtlCol="0" anchor="ctr"/>
          <a:lstStyle/>
          <a:p>
            <a:pPr marL="0" indent="0" algn="ctr">
              <a:buNone/>
            </a:pPr>
            <a:r>
              <a:rPr lang="en-US" sz="1100" b="1" dirty="0">
                <a:solidFill>
                  <a:srgbClr val="2C1A56"/>
                </a:solidFill>
              </a:rPr>
              <a:t>6</a:t>
            </a:r>
            <a:endParaRPr lang="en-US" sz="1100" dirty="0"/>
          </a:p>
        </p:txBody>
      </p:sp>
      <p:sp>
        <p:nvSpPr>
          <p:cNvPr id="30" name="Text 28"/>
          <p:cNvSpPr/>
          <p:nvPr/>
        </p:nvSpPr>
        <p:spPr>
          <a:xfrm>
            <a:off x="5120640" y="3703320"/>
            <a:ext cx="3703320" cy="347472"/>
          </a:xfrm>
          <a:prstGeom prst="rect">
            <a:avLst/>
          </a:prstGeom>
          <a:noFill/>
          <a:ln/>
        </p:spPr>
        <p:txBody>
          <a:bodyPr wrap="square" lIns="0" tIns="0" rIns="0" bIns="0" rtlCol="0" anchor="ctr"/>
          <a:lstStyle/>
          <a:p>
            <a:pPr marL="0" indent="0">
              <a:buNone/>
            </a:pPr>
            <a:r>
              <a:rPr lang="en-US" sz="1000" dirty="0">
                <a:solidFill>
                  <a:srgbClr val="7F52A0"/>
                </a:solidFill>
              </a:rPr>
              <a:t>⚠️  CRÍTICO: Recargar la página (F5) antes de usar</a:t>
            </a:r>
            <a:endParaRPr lang="en-US" sz="1000" dirty="0"/>
          </a:p>
        </p:txBody>
      </p:sp>
      <p:sp>
        <p:nvSpPr>
          <p:cNvPr id="31" name="Text 29"/>
          <p:cNvSpPr/>
          <p:nvPr/>
        </p:nvSpPr>
        <p:spPr>
          <a:xfrm>
            <a:off x="274320" y="3246120"/>
            <a:ext cx="4023360" cy="274320"/>
          </a:xfrm>
          <a:prstGeom prst="rect">
            <a:avLst/>
          </a:prstGeom>
          <a:noFill/>
          <a:ln/>
        </p:spPr>
        <p:txBody>
          <a:bodyPr wrap="square" lIns="0" tIns="0" rIns="0" bIns="0" rtlCol="0" anchor="ctr"/>
          <a:lstStyle/>
          <a:p>
            <a:pPr marL="0" indent="0">
              <a:buNone/>
            </a:pPr>
            <a:r>
              <a:rPr lang="en-US" sz="1100" b="1" dirty="0">
                <a:solidFill>
                  <a:srgbClr val="263980"/>
                </a:solidFill>
              </a:rPr>
              <a:t>Tamaños para campaña WEB:</a:t>
            </a:r>
            <a:endParaRPr lang="en-US" sz="1100" dirty="0"/>
          </a:p>
        </p:txBody>
      </p:sp>
      <p:sp>
        <p:nvSpPr>
          <p:cNvPr id="32" name="Shape 30"/>
          <p:cNvSpPr/>
          <p:nvPr/>
        </p:nvSpPr>
        <p:spPr>
          <a:xfrm>
            <a:off x="274320" y="3547872"/>
            <a:ext cx="868680" cy="320040"/>
          </a:xfrm>
          <a:prstGeom prst="rect">
            <a:avLst/>
          </a:prstGeom>
          <a:solidFill>
            <a:srgbClr val="263980"/>
          </a:solidFill>
          <a:ln w="12700">
            <a:solidFill>
              <a:srgbClr val="46C2CE"/>
            </a:solidFill>
            <a:prstDash val="solid"/>
          </a:ln>
        </p:spPr>
        <p:txBody>
          <a:bodyPr/>
          <a:lstStyle/>
          <a:p>
            <a:endParaRPr lang="es-MX"/>
          </a:p>
        </p:txBody>
      </p:sp>
      <p:sp>
        <p:nvSpPr>
          <p:cNvPr id="33" name="Text 31"/>
          <p:cNvSpPr/>
          <p:nvPr/>
        </p:nvSpPr>
        <p:spPr>
          <a:xfrm>
            <a:off x="274320" y="3547872"/>
            <a:ext cx="868680" cy="320040"/>
          </a:xfrm>
          <a:prstGeom prst="rect">
            <a:avLst/>
          </a:prstGeom>
          <a:noFill/>
          <a:ln/>
        </p:spPr>
        <p:txBody>
          <a:bodyPr wrap="square" lIns="0" tIns="0" rIns="0" bIns="0" rtlCol="0" anchor="ctr"/>
          <a:lstStyle/>
          <a:p>
            <a:pPr marL="0" indent="0" algn="ctr">
              <a:buNone/>
            </a:pPr>
            <a:r>
              <a:rPr lang="en-US" sz="900" b="1" dirty="0">
                <a:solidFill>
                  <a:srgbClr val="46C2CE"/>
                </a:solidFill>
              </a:rPr>
              <a:t>728x90</a:t>
            </a:r>
            <a:endParaRPr lang="en-US" sz="900" dirty="0"/>
          </a:p>
        </p:txBody>
      </p:sp>
      <p:sp>
        <p:nvSpPr>
          <p:cNvPr id="34" name="Shape 32"/>
          <p:cNvSpPr/>
          <p:nvPr/>
        </p:nvSpPr>
        <p:spPr>
          <a:xfrm>
            <a:off x="1280160" y="3547872"/>
            <a:ext cx="868680" cy="320040"/>
          </a:xfrm>
          <a:prstGeom prst="rect">
            <a:avLst/>
          </a:prstGeom>
          <a:solidFill>
            <a:srgbClr val="263980"/>
          </a:solidFill>
          <a:ln w="12700">
            <a:solidFill>
              <a:srgbClr val="46C2CE"/>
            </a:solidFill>
            <a:prstDash val="solid"/>
          </a:ln>
        </p:spPr>
        <p:txBody>
          <a:bodyPr/>
          <a:lstStyle/>
          <a:p>
            <a:endParaRPr lang="es-MX"/>
          </a:p>
        </p:txBody>
      </p:sp>
      <p:sp>
        <p:nvSpPr>
          <p:cNvPr id="35" name="Text 33"/>
          <p:cNvSpPr/>
          <p:nvPr/>
        </p:nvSpPr>
        <p:spPr>
          <a:xfrm>
            <a:off x="1280160" y="3547872"/>
            <a:ext cx="868680" cy="320040"/>
          </a:xfrm>
          <a:prstGeom prst="rect">
            <a:avLst/>
          </a:prstGeom>
          <a:noFill/>
          <a:ln/>
        </p:spPr>
        <p:txBody>
          <a:bodyPr wrap="square" lIns="0" tIns="0" rIns="0" bIns="0" rtlCol="0" anchor="ctr"/>
          <a:lstStyle/>
          <a:p>
            <a:pPr marL="0" indent="0" algn="ctr">
              <a:buNone/>
            </a:pPr>
            <a:r>
              <a:rPr lang="en-US" sz="900" b="1" dirty="0">
                <a:solidFill>
                  <a:srgbClr val="46C2CE"/>
                </a:solidFill>
              </a:rPr>
              <a:t>300x100</a:t>
            </a:r>
            <a:endParaRPr lang="en-US" sz="900" dirty="0"/>
          </a:p>
        </p:txBody>
      </p:sp>
      <p:sp>
        <p:nvSpPr>
          <p:cNvPr id="36" name="Shape 34"/>
          <p:cNvSpPr/>
          <p:nvPr/>
        </p:nvSpPr>
        <p:spPr>
          <a:xfrm>
            <a:off x="2286000" y="3547872"/>
            <a:ext cx="868680" cy="320040"/>
          </a:xfrm>
          <a:prstGeom prst="rect">
            <a:avLst/>
          </a:prstGeom>
          <a:solidFill>
            <a:srgbClr val="263980"/>
          </a:solidFill>
          <a:ln w="12700">
            <a:solidFill>
              <a:srgbClr val="46C2CE"/>
            </a:solidFill>
            <a:prstDash val="solid"/>
          </a:ln>
        </p:spPr>
        <p:txBody>
          <a:bodyPr/>
          <a:lstStyle/>
          <a:p>
            <a:endParaRPr lang="es-MX"/>
          </a:p>
        </p:txBody>
      </p:sp>
      <p:sp>
        <p:nvSpPr>
          <p:cNvPr id="37" name="Text 35"/>
          <p:cNvSpPr/>
          <p:nvPr/>
        </p:nvSpPr>
        <p:spPr>
          <a:xfrm>
            <a:off x="2286000" y="3547872"/>
            <a:ext cx="868680" cy="320040"/>
          </a:xfrm>
          <a:prstGeom prst="rect">
            <a:avLst/>
          </a:prstGeom>
          <a:noFill/>
          <a:ln/>
        </p:spPr>
        <p:txBody>
          <a:bodyPr wrap="square" lIns="0" tIns="0" rIns="0" bIns="0" rtlCol="0" anchor="ctr"/>
          <a:lstStyle/>
          <a:p>
            <a:pPr marL="0" indent="0" algn="ctr">
              <a:buNone/>
            </a:pPr>
            <a:r>
              <a:rPr lang="en-US" sz="900" b="1" dirty="0">
                <a:solidFill>
                  <a:srgbClr val="46C2CE"/>
                </a:solidFill>
              </a:rPr>
              <a:t>300x250</a:t>
            </a:r>
            <a:endParaRPr lang="en-US" sz="900" dirty="0"/>
          </a:p>
        </p:txBody>
      </p:sp>
      <p:sp>
        <p:nvSpPr>
          <p:cNvPr id="38" name="Shape 36"/>
          <p:cNvSpPr/>
          <p:nvPr/>
        </p:nvSpPr>
        <p:spPr>
          <a:xfrm>
            <a:off x="3291840" y="3547872"/>
            <a:ext cx="868680" cy="320040"/>
          </a:xfrm>
          <a:prstGeom prst="rect">
            <a:avLst/>
          </a:prstGeom>
          <a:solidFill>
            <a:srgbClr val="263980"/>
          </a:solidFill>
          <a:ln w="12700">
            <a:solidFill>
              <a:srgbClr val="46C2CE"/>
            </a:solidFill>
            <a:prstDash val="solid"/>
          </a:ln>
        </p:spPr>
        <p:txBody>
          <a:bodyPr/>
          <a:lstStyle/>
          <a:p>
            <a:endParaRPr lang="es-MX"/>
          </a:p>
        </p:txBody>
      </p:sp>
      <p:sp>
        <p:nvSpPr>
          <p:cNvPr id="39" name="Text 37"/>
          <p:cNvSpPr/>
          <p:nvPr/>
        </p:nvSpPr>
        <p:spPr>
          <a:xfrm>
            <a:off x="3291840" y="3547872"/>
            <a:ext cx="868680" cy="320040"/>
          </a:xfrm>
          <a:prstGeom prst="rect">
            <a:avLst/>
          </a:prstGeom>
          <a:noFill/>
          <a:ln/>
        </p:spPr>
        <p:txBody>
          <a:bodyPr wrap="square" lIns="0" tIns="0" rIns="0" bIns="0" rtlCol="0" anchor="ctr"/>
          <a:lstStyle/>
          <a:p>
            <a:pPr marL="0" indent="0" algn="ctr">
              <a:buNone/>
            </a:pPr>
            <a:r>
              <a:rPr lang="en-US" sz="900" b="1" dirty="0">
                <a:solidFill>
                  <a:srgbClr val="46C2CE"/>
                </a:solidFill>
              </a:rPr>
              <a:t>300x600</a:t>
            </a:r>
            <a:endParaRPr lang="en-US" sz="900" dirty="0"/>
          </a:p>
        </p:txBody>
      </p:sp>
      <p:sp>
        <p:nvSpPr>
          <p:cNvPr id="40" name="Text 38"/>
          <p:cNvSpPr/>
          <p:nvPr/>
        </p:nvSpPr>
        <p:spPr>
          <a:xfrm>
            <a:off x="274320" y="3950208"/>
            <a:ext cx="4023360" cy="274320"/>
          </a:xfrm>
          <a:prstGeom prst="rect">
            <a:avLst/>
          </a:prstGeom>
          <a:noFill/>
          <a:ln/>
        </p:spPr>
        <p:txBody>
          <a:bodyPr wrap="square" lIns="0" tIns="0" rIns="0" bIns="0" rtlCol="0" anchor="ctr"/>
          <a:lstStyle/>
          <a:p>
            <a:pPr marL="0" indent="0">
              <a:buNone/>
            </a:pPr>
            <a:r>
              <a:rPr lang="en-US" sz="1100" b="1" dirty="0">
                <a:solidFill>
                  <a:srgbClr val="7F52A0"/>
                </a:solidFill>
              </a:rPr>
              <a:t>Tamaños para AGENDA:</a:t>
            </a:r>
            <a:endParaRPr lang="en-US" sz="1100" dirty="0"/>
          </a:p>
        </p:txBody>
      </p:sp>
      <p:sp>
        <p:nvSpPr>
          <p:cNvPr id="41" name="Shape 39"/>
          <p:cNvSpPr/>
          <p:nvPr/>
        </p:nvSpPr>
        <p:spPr>
          <a:xfrm>
            <a:off x="274320" y="4251960"/>
            <a:ext cx="868680" cy="320040"/>
          </a:xfrm>
          <a:prstGeom prst="rect">
            <a:avLst/>
          </a:prstGeom>
          <a:solidFill>
            <a:srgbClr val="2C1A56"/>
          </a:solidFill>
          <a:ln w="12700">
            <a:solidFill>
              <a:srgbClr val="7F52A0"/>
            </a:solidFill>
            <a:prstDash val="solid"/>
          </a:ln>
        </p:spPr>
        <p:txBody>
          <a:bodyPr/>
          <a:lstStyle/>
          <a:p>
            <a:endParaRPr lang="es-MX"/>
          </a:p>
        </p:txBody>
      </p:sp>
      <p:sp>
        <p:nvSpPr>
          <p:cNvPr id="42" name="Text 40"/>
          <p:cNvSpPr/>
          <p:nvPr/>
        </p:nvSpPr>
        <p:spPr>
          <a:xfrm>
            <a:off x="274320" y="4251960"/>
            <a:ext cx="868680" cy="320040"/>
          </a:xfrm>
          <a:prstGeom prst="rect">
            <a:avLst/>
          </a:prstGeom>
          <a:noFill/>
          <a:ln/>
        </p:spPr>
        <p:txBody>
          <a:bodyPr wrap="square" lIns="0" tIns="0" rIns="0" bIns="0" rtlCol="0" anchor="ctr"/>
          <a:lstStyle/>
          <a:p>
            <a:pPr marL="0" indent="0" algn="ctr">
              <a:buNone/>
            </a:pPr>
            <a:r>
              <a:rPr lang="en-US" sz="900" b="1" dirty="0">
                <a:solidFill>
                  <a:srgbClr val="46C2CE"/>
                </a:solidFill>
              </a:rPr>
              <a:t>300x70</a:t>
            </a:r>
            <a:endParaRPr lang="en-US" sz="900" dirty="0"/>
          </a:p>
        </p:txBody>
      </p:sp>
      <p:sp>
        <p:nvSpPr>
          <p:cNvPr id="43" name="Shape 41"/>
          <p:cNvSpPr/>
          <p:nvPr/>
        </p:nvSpPr>
        <p:spPr>
          <a:xfrm>
            <a:off x="1280160" y="4251960"/>
            <a:ext cx="868680" cy="320040"/>
          </a:xfrm>
          <a:prstGeom prst="rect">
            <a:avLst/>
          </a:prstGeom>
          <a:solidFill>
            <a:srgbClr val="2C1A56"/>
          </a:solidFill>
          <a:ln w="12700">
            <a:solidFill>
              <a:srgbClr val="7F52A0"/>
            </a:solidFill>
            <a:prstDash val="solid"/>
          </a:ln>
        </p:spPr>
        <p:txBody>
          <a:bodyPr/>
          <a:lstStyle/>
          <a:p>
            <a:endParaRPr lang="es-MX"/>
          </a:p>
        </p:txBody>
      </p:sp>
      <p:sp>
        <p:nvSpPr>
          <p:cNvPr id="44" name="Text 42"/>
          <p:cNvSpPr/>
          <p:nvPr/>
        </p:nvSpPr>
        <p:spPr>
          <a:xfrm>
            <a:off x="1280160" y="4251960"/>
            <a:ext cx="868680" cy="320040"/>
          </a:xfrm>
          <a:prstGeom prst="rect">
            <a:avLst/>
          </a:prstGeom>
          <a:noFill/>
          <a:ln/>
        </p:spPr>
        <p:txBody>
          <a:bodyPr wrap="square" lIns="0" tIns="0" rIns="0" bIns="0" rtlCol="0" anchor="ctr"/>
          <a:lstStyle/>
          <a:p>
            <a:pPr marL="0" indent="0" algn="ctr">
              <a:buNone/>
            </a:pPr>
            <a:r>
              <a:rPr lang="en-US" sz="900" b="1" dirty="0">
                <a:solidFill>
                  <a:srgbClr val="46C2CE"/>
                </a:solidFill>
              </a:rPr>
              <a:t>750x200</a:t>
            </a:r>
            <a:endParaRPr lang="en-US" sz="900" dirty="0"/>
          </a:p>
        </p:txBody>
      </p:sp>
      <p:sp>
        <p:nvSpPr>
          <p:cNvPr id="45" name="Shape 43"/>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46" name="Text 44"/>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49" name="Gráfico 48">
            <a:extLst>
              <a:ext uri="{FF2B5EF4-FFF2-40B4-BE49-F238E27FC236}">
                <a16:creationId xmlns:a16="http://schemas.microsoft.com/office/drawing/2014/main" id="{58393605-FEB1-756A-5585-A88A605E5E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C1A56"/>
          </a:solidFill>
          <a:ln w="12700">
            <a:solidFill>
              <a:srgbClr val="2C1A56"/>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Proceso 2 — Crear Pedido y Configurar Banners</a:t>
            </a:r>
            <a:endParaRPr lang="en-US" sz="2000" dirty="0"/>
          </a:p>
        </p:txBody>
      </p:sp>
      <p:sp>
        <p:nvSpPr>
          <p:cNvPr id="6" name="Shape 4"/>
          <p:cNvSpPr/>
          <p:nvPr/>
        </p:nvSpPr>
        <p:spPr>
          <a:xfrm>
            <a:off x="274320" y="969549"/>
            <a:ext cx="2011680" cy="320040"/>
          </a:xfrm>
          <a:prstGeom prst="rect">
            <a:avLst/>
          </a:prstGeom>
          <a:solidFill>
            <a:srgbClr val="46C2CE"/>
          </a:solidFill>
          <a:ln w="12700">
            <a:solidFill>
              <a:srgbClr val="46C2CE"/>
            </a:solidFill>
            <a:prstDash val="solid"/>
          </a:ln>
        </p:spPr>
        <p:txBody>
          <a:bodyPr/>
          <a:lstStyle/>
          <a:p>
            <a:endParaRPr lang="es-MX"/>
          </a:p>
        </p:txBody>
      </p:sp>
      <p:sp>
        <p:nvSpPr>
          <p:cNvPr id="7" name="Text 5"/>
          <p:cNvSpPr/>
          <p:nvPr/>
        </p:nvSpPr>
        <p:spPr>
          <a:xfrm>
            <a:off x="274320" y="969549"/>
            <a:ext cx="2011680" cy="320040"/>
          </a:xfrm>
          <a:prstGeom prst="rect">
            <a:avLst/>
          </a:prstGeom>
          <a:noFill/>
          <a:ln/>
        </p:spPr>
        <p:txBody>
          <a:bodyPr wrap="square" lIns="0" tIns="0" rIns="0" bIns="0" rtlCol="0" anchor="ctr"/>
          <a:lstStyle/>
          <a:p>
            <a:pPr marL="0" indent="0" algn="ctr">
              <a:buNone/>
            </a:pPr>
            <a:r>
              <a:rPr lang="en-US" sz="900" b="1" dirty="0">
                <a:solidFill>
                  <a:srgbClr val="2C1A56"/>
                </a:solidFill>
              </a:rPr>
              <a:t>A: Crear el pedido</a:t>
            </a:r>
            <a:endParaRPr lang="en-US" sz="900" dirty="0"/>
          </a:p>
        </p:txBody>
      </p:sp>
      <p:sp>
        <p:nvSpPr>
          <p:cNvPr id="8" name="Shape 6"/>
          <p:cNvSpPr/>
          <p:nvPr/>
        </p:nvSpPr>
        <p:spPr>
          <a:xfrm>
            <a:off x="2468880" y="969549"/>
            <a:ext cx="2011680" cy="320040"/>
          </a:xfrm>
          <a:prstGeom prst="rect">
            <a:avLst/>
          </a:prstGeom>
          <a:solidFill>
            <a:srgbClr val="7F52A0"/>
          </a:solidFill>
          <a:ln w="12700">
            <a:solidFill>
              <a:srgbClr val="7F52A0"/>
            </a:solidFill>
            <a:prstDash val="solid"/>
          </a:ln>
        </p:spPr>
        <p:txBody>
          <a:bodyPr/>
          <a:lstStyle/>
          <a:p>
            <a:endParaRPr lang="es-MX"/>
          </a:p>
        </p:txBody>
      </p:sp>
      <p:sp>
        <p:nvSpPr>
          <p:cNvPr id="9" name="Text 7"/>
          <p:cNvSpPr/>
          <p:nvPr/>
        </p:nvSpPr>
        <p:spPr>
          <a:xfrm>
            <a:off x="2468880" y="969549"/>
            <a:ext cx="2011680" cy="320040"/>
          </a:xfrm>
          <a:prstGeom prst="rect">
            <a:avLst/>
          </a:prstGeom>
          <a:noFill/>
          <a:ln/>
        </p:spPr>
        <p:txBody>
          <a:bodyPr wrap="square" lIns="0" tIns="0" rIns="0" bIns="0" rtlCol="0" anchor="ctr"/>
          <a:lstStyle/>
          <a:p>
            <a:pPr marL="0" indent="0" algn="ctr">
              <a:buNone/>
            </a:pPr>
            <a:r>
              <a:rPr lang="en-US" sz="900" b="1" dirty="0">
                <a:solidFill>
                  <a:srgbClr val="FFFFFF"/>
                </a:solidFill>
              </a:rPr>
              <a:t>B: Encontrar línea base</a:t>
            </a:r>
            <a:endParaRPr lang="en-US" sz="900" dirty="0"/>
          </a:p>
        </p:txBody>
      </p:sp>
      <p:sp>
        <p:nvSpPr>
          <p:cNvPr id="10" name="Shape 8"/>
          <p:cNvSpPr/>
          <p:nvPr/>
        </p:nvSpPr>
        <p:spPr>
          <a:xfrm>
            <a:off x="4663440" y="969549"/>
            <a:ext cx="2011680" cy="320040"/>
          </a:xfrm>
          <a:prstGeom prst="rect">
            <a:avLst/>
          </a:prstGeom>
          <a:solidFill>
            <a:srgbClr val="263980"/>
          </a:solidFill>
          <a:ln w="12700">
            <a:solidFill>
              <a:srgbClr val="263980"/>
            </a:solidFill>
            <a:prstDash val="solid"/>
          </a:ln>
        </p:spPr>
        <p:txBody>
          <a:bodyPr/>
          <a:lstStyle/>
          <a:p>
            <a:endParaRPr lang="es-MX"/>
          </a:p>
        </p:txBody>
      </p:sp>
      <p:sp>
        <p:nvSpPr>
          <p:cNvPr id="11" name="Text 9"/>
          <p:cNvSpPr/>
          <p:nvPr/>
        </p:nvSpPr>
        <p:spPr>
          <a:xfrm>
            <a:off x="4663440" y="969549"/>
            <a:ext cx="2011680" cy="320040"/>
          </a:xfrm>
          <a:prstGeom prst="rect">
            <a:avLst/>
          </a:prstGeom>
          <a:noFill/>
          <a:ln/>
        </p:spPr>
        <p:txBody>
          <a:bodyPr wrap="square" lIns="0" tIns="0" rIns="0" bIns="0" rtlCol="0" anchor="ctr"/>
          <a:lstStyle/>
          <a:p>
            <a:pPr marL="0" indent="0" algn="ctr">
              <a:buNone/>
            </a:pPr>
            <a:r>
              <a:rPr lang="en-US" sz="900" b="1" dirty="0">
                <a:solidFill>
                  <a:srgbClr val="FFFFFF"/>
                </a:solidFill>
              </a:rPr>
              <a:t>C: Copiar líneas</a:t>
            </a:r>
            <a:endParaRPr lang="en-US" sz="900" dirty="0"/>
          </a:p>
        </p:txBody>
      </p:sp>
      <p:sp>
        <p:nvSpPr>
          <p:cNvPr id="12" name="Shape 10"/>
          <p:cNvSpPr/>
          <p:nvPr/>
        </p:nvSpPr>
        <p:spPr>
          <a:xfrm>
            <a:off x="6858000" y="969549"/>
            <a:ext cx="2011680" cy="320040"/>
          </a:xfrm>
          <a:prstGeom prst="rect">
            <a:avLst/>
          </a:prstGeom>
          <a:solidFill>
            <a:srgbClr val="46C2CE"/>
          </a:solidFill>
          <a:ln w="12700">
            <a:solidFill>
              <a:srgbClr val="46C2CE"/>
            </a:solidFill>
            <a:prstDash val="solid"/>
          </a:ln>
        </p:spPr>
        <p:txBody>
          <a:bodyPr/>
          <a:lstStyle/>
          <a:p>
            <a:endParaRPr lang="es-MX"/>
          </a:p>
        </p:txBody>
      </p:sp>
      <p:sp>
        <p:nvSpPr>
          <p:cNvPr id="13" name="Text 11"/>
          <p:cNvSpPr/>
          <p:nvPr/>
        </p:nvSpPr>
        <p:spPr>
          <a:xfrm>
            <a:off x="6858000" y="969549"/>
            <a:ext cx="2011680" cy="320040"/>
          </a:xfrm>
          <a:prstGeom prst="rect">
            <a:avLst/>
          </a:prstGeom>
          <a:noFill/>
          <a:ln/>
        </p:spPr>
        <p:txBody>
          <a:bodyPr wrap="square" lIns="0" tIns="0" rIns="0" bIns="0" rtlCol="0" anchor="ctr"/>
          <a:lstStyle/>
          <a:p>
            <a:pPr marL="0" indent="0" algn="ctr">
              <a:buNone/>
            </a:pPr>
            <a:r>
              <a:rPr lang="en-US" sz="900" b="1" dirty="0">
                <a:solidFill>
                  <a:srgbClr val="2C1A56"/>
                </a:solidFill>
              </a:rPr>
              <a:t>D: Verificar y configurar</a:t>
            </a:r>
            <a:endParaRPr lang="en-US" sz="900" dirty="0"/>
          </a:p>
        </p:txBody>
      </p:sp>
      <p:sp>
        <p:nvSpPr>
          <p:cNvPr id="14" name="Shape 12"/>
          <p:cNvSpPr/>
          <p:nvPr/>
        </p:nvSpPr>
        <p:spPr>
          <a:xfrm>
            <a:off x="274320" y="1381029"/>
            <a:ext cx="2011680" cy="320040"/>
          </a:xfrm>
          <a:prstGeom prst="rect">
            <a:avLst/>
          </a:prstGeom>
          <a:solidFill>
            <a:srgbClr val="7F52A0"/>
          </a:solidFill>
          <a:ln w="12700">
            <a:solidFill>
              <a:srgbClr val="7F52A0"/>
            </a:solidFill>
            <a:prstDash val="solid"/>
          </a:ln>
        </p:spPr>
        <p:txBody>
          <a:bodyPr/>
          <a:lstStyle/>
          <a:p>
            <a:endParaRPr lang="es-MX"/>
          </a:p>
        </p:txBody>
      </p:sp>
      <p:sp>
        <p:nvSpPr>
          <p:cNvPr id="15" name="Text 13"/>
          <p:cNvSpPr/>
          <p:nvPr/>
        </p:nvSpPr>
        <p:spPr>
          <a:xfrm>
            <a:off x="274320" y="1381029"/>
            <a:ext cx="2011680" cy="320040"/>
          </a:xfrm>
          <a:prstGeom prst="rect">
            <a:avLst/>
          </a:prstGeom>
          <a:noFill/>
          <a:ln/>
        </p:spPr>
        <p:txBody>
          <a:bodyPr wrap="square" lIns="0" tIns="0" rIns="0" bIns="0" rtlCol="0" anchor="ctr"/>
          <a:lstStyle/>
          <a:p>
            <a:pPr marL="0" indent="0" algn="ctr">
              <a:buNone/>
            </a:pPr>
            <a:r>
              <a:rPr lang="en-US" sz="900" b="1" dirty="0">
                <a:solidFill>
                  <a:srgbClr val="FFFFFF"/>
                </a:solidFill>
              </a:rPr>
              <a:t>E: Actualizar segmentación</a:t>
            </a:r>
            <a:endParaRPr lang="en-US" sz="900" dirty="0"/>
          </a:p>
        </p:txBody>
      </p:sp>
      <p:sp>
        <p:nvSpPr>
          <p:cNvPr id="16" name="Shape 14"/>
          <p:cNvSpPr/>
          <p:nvPr/>
        </p:nvSpPr>
        <p:spPr>
          <a:xfrm>
            <a:off x="2468880" y="1381029"/>
            <a:ext cx="2011680" cy="320040"/>
          </a:xfrm>
          <a:prstGeom prst="rect">
            <a:avLst/>
          </a:prstGeom>
          <a:solidFill>
            <a:srgbClr val="263980"/>
          </a:solidFill>
          <a:ln w="12700">
            <a:solidFill>
              <a:srgbClr val="263980"/>
            </a:solidFill>
            <a:prstDash val="solid"/>
          </a:ln>
        </p:spPr>
        <p:txBody>
          <a:bodyPr/>
          <a:lstStyle/>
          <a:p>
            <a:endParaRPr lang="es-MX"/>
          </a:p>
        </p:txBody>
      </p:sp>
      <p:sp>
        <p:nvSpPr>
          <p:cNvPr id="17" name="Text 15"/>
          <p:cNvSpPr/>
          <p:nvPr/>
        </p:nvSpPr>
        <p:spPr>
          <a:xfrm>
            <a:off x="2468880" y="1381029"/>
            <a:ext cx="2011680" cy="320040"/>
          </a:xfrm>
          <a:prstGeom prst="rect">
            <a:avLst/>
          </a:prstGeom>
          <a:noFill/>
          <a:ln/>
        </p:spPr>
        <p:txBody>
          <a:bodyPr wrap="square" lIns="0" tIns="0" rIns="0" bIns="0" rtlCol="0" anchor="ctr"/>
          <a:lstStyle/>
          <a:p>
            <a:pPr marL="0" indent="0" algn="ctr">
              <a:buNone/>
            </a:pPr>
            <a:r>
              <a:rPr lang="en-US" sz="900" b="1" dirty="0">
                <a:solidFill>
                  <a:srgbClr val="FFFFFF"/>
                </a:solidFill>
              </a:rPr>
              <a:t>F: Subir creatividades</a:t>
            </a:r>
            <a:endParaRPr lang="en-US" sz="900" dirty="0"/>
          </a:p>
        </p:txBody>
      </p:sp>
      <p:sp>
        <p:nvSpPr>
          <p:cNvPr id="18" name="Shape 16"/>
          <p:cNvSpPr/>
          <p:nvPr/>
        </p:nvSpPr>
        <p:spPr>
          <a:xfrm>
            <a:off x="4663440" y="1381029"/>
            <a:ext cx="2011680" cy="320040"/>
          </a:xfrm>
          <a:prstGeom prst="rect">
            <a:avLst/>
          </a:prstGeom>
          <a:solidFill>
            <a:srgbClr val="46C2CE"/>
          </a:solidFill>
          <a:ln w="12700">
            <a:solidFill>
              <a:srgbClr val="46C2CE"/>
            </a:solidFill>
            <a:prstDash val="solid"/>
          </a:ln>
        </p:spPr>
        <p:txBody>
          <a:bodyPr/>
          <a:lstStyle/>
          <a:p>
            <a:endParaRPr lang="es-MX"/>
          </a:p>
        </p:txBody>
      </p:sp>
      <p:sp>
        <p:nvSpPr>
          <p:cNvPr id="19" name="Text 17"/>
          <p:cNvSpPr/>
          <p:nvPr/>
        </p:nvSpPr>
        <p:spPr>
          <a:xfrm>
            <a:off x="4663440" y="1381029"/>
            <a:ext cx="2011680" cy="320040"/>
          </a:xfrm>
          <a:prstGeom prst="rect">
            <a:avLst/>
          </a:prstGeom>
          <a:noFill/>
          <a:ln/>
        </p:spPr>
        <p:txBody>
          <a:bodyPr wrap="square" lIns="0" tIns="0" rIns="0" bIns="0" rtlCol="0" anchor="ctr"/>
          <a:lstStyle/>
          <a:p>
            <a:pPr marL="0" indent="0" algn="ctr">
              <a:buNone/>
            </a:pPr>
            <a:r>
              <a:rPr lang="en-US" sz="900" b="1" dirty="0">
                <a:solidFill>
                  <a:srgbClr val="2C1A56"/>
                </a:solidFill>
              </a:rPr>
              <a:t>G: Aprobar y publicar</a:t>
            </a:r>
            <a:endParaRPr lang="en-US" sz="900" dirty="0"/>
          </a:p>
        </p:txBody>
      </p:sp>
      <p:sp>
        <p:nvSpPr>
          <p:cNvPr id="20" name="Shape 18"/>
          <p:cNvSpPr/>
          <p:nvPr/>
        </p:nvSpPr>
        <p:spPr>
          <a:xfrm>
            <a:off x="274320" y="1902237"/>
            <a:ext cx="4114800" cy="2743200"/>
          </a:xfrm>
          <a:prstGeom prst="rect">
            <a:avLst/>
          </a:prstGeom>
          <a:solidFill>
            <a:srgbClr val="FFFFFF"/>
          </a:solidFill>
          <a:ln w="12700">
            <a:solidFill>
              <a:srgbClr val="CBD5E1"/>
            </a:solidFill>
            <a:prstDash val="solid"/>
          </a:ln>
        </p:spPr>
        <p:txBody>
          <a:bodyPr/>
          <a:lstStyle/>
          <a:p>
            <a:endParaRPr lang="es-MX"/>
          </a:p>
        </p:txBody>
      </p:sp>
      <p:sp>
        <p:nvSpPr>
          <p:cNvPr id="21" name="Shape 19"/>
          <p:cNvSpPr/>
          <p:nvPr/>
        </p:nvSpPr>
        <p:spPr>
          <a:xfrm>
            <a:off x="274320" y="1902237"/>
            <a:ext cx="4114800" cy="320040"/>
          </a:xfrm>
          <a:prstGeom prst="rect">
            <a:avLst/>
          </a:prstGeom>
          <a:solidFill>
            <a:srgbClr val="263980"/>
          </a:solidFill>
          <a:ln w="12700">
            <a:solidFill>
              <a:srgbClr val="263980"/>
            </a:solidFill>
            <a:prstDash val="solid"/>
          </a:ln>
        </p:spPr>
        <p:txBody>
          <a:bodyPr/>
          <a:lstStyle/>
          <a:p>
            <a:endParaRPr lang="es-MX"/>
          </a:p>
        </p:txBody>
      </p:sp>
      <p:sp>
        <p:nvSpPr>
          <p:cNvPr id="22" name="Text 20"/>
          <p:cNvSpPr/>
          <p:nvPr/>
        </p:nvSpPr>
        <p:spPr>
          <a:xfrm>
            <a:off x="411480" y="1929669"/>
            <a:ext cx="3840480" cy="256032"/>
          </a:xfrm>
          <a:prstGeom prst="rect">
            <a:avLst/>
          </a:prstGeom>
          <a:noFill/>
          <a:ln/>
        </p:spPr>
        <p:txBody>
          <a:bodyPr wrap="square" lIns="0" tIns="0" rIns="0" bIns="0" rtlCol="0" anchor="ctr"/>
          <a:lstStyle/>
          <a:p>
            <a:pPr marL="0" indent="0">
              <a:buNone/>
            </a:pPr>
            <a:r>
              <a:rPr lang="en-US" sz="1100" b="1" dirty="0">
                <a:solidFill>
                  <a:srgbClr val="FFFFFF"/>
                </a:solidFill>
              </a:rPr>
              <a:t>PARTE A — Crear el Pedido</a:t>
            </a:r>
            <a:endParaRPr lang="en-US" sz="1100" dirty="0"/>
          </a:p>
        </p:txBody>
      </p:sp>
      <p:sp>
        <p:nvSpPr>
          <p:cNvPr id="23" name="Shape 21"/>
          <p:cNvSpPr/>
          <p:nvPr/>
        </p:nvSpPr>
        <p:spPr>
          <a:xfrm>
            <a:off x="384048" y="2295429"/>
            <a:ext cx="256032" cy="256032"/>
          </a:xfrm>
          <a:prstGeom prst="ellipse">
            <a:avLst/>
          </a:prstGeom>
          <a:solidFill>
            <a:srgbClr val="46C2CE"/>
          </a:solidFill>
          <a:ln w="12700">
            <a:solidFill>
              <a:srgbClr val="46C2CE"/>
            </a:solidFill>
            <a:prstDash val="solid"/>
          </a:ln>
        </p:spPr>
        <p:txBody>
          <a:bodyPr/>
          <a:lstStyle/>
          <a:p>
            <a:endParaRPr lang="es-MX"/>
          </a:p>
        </p:txBody>
      </p:sp>
      <p:sp>
        <p:nvSpPr>
          <p:cNvPr id="24" name="Text 22"/>
          <p:cNvSpPr/>
          <p:nvPr/>
        </p:nvSpPr>
        <p:spPr>
          <a:xfrm>
            <a:off x="384048" y="2295429"/>
            <a:ext cx="256032" cy="256032"/>
          </a:xfrm>
          <a:prstGeom prst="rect">
            <a:avLst/>
          </a:prstGeom>
          <a:noFill/>
          <a:ln/>
        </p:spPr>
        <p:txBody>
          <a:bodyPr wrap="square" lIns="0" tIns="0" rIns="0" bIns="0" rtlCol="0" anchor="ctr"/>
          <a:lstStyle/>
          <a:p>
            <a:pPr marL="0" indent="0" algn="ctr">
              <a:buNone/>
            </a:pPr>
            <a:r>
              <a:rPr lang="en-US" sz="800" b="1" dirty="0">
                <a:solidFill>
                  <a:srgbClr val="2C1A56"/>
                </a:solidFill>
              </a:rPr>
              <a:t>1</a:t>
            </a:r>
            <a:endParaRPr lang="en-US" sz="800" dirty="0"/>
          </a:p>
        </p:txBody>
      </p:sp>
      <p:sp>
        <p:nvSpPr>
          <p:cNvPr id="25" name="Text 23"/>
          <p:cNvSpPr/>
          <p:nvPr/>
        </p:nvSpPr>
        <p:spPr>
          <a:xfrm>
            <a:off x="749808" y="2286285"/>
            <a:ext cx="3520440" cy="310896"/>
          </a:xfrm>
          <a:prstGeom prst="rect">
            <a:avLst/>
          </a:prstGeom>
          <a:noFill/>
          <a:ln/>
        </p:spPr>
        <p:txBody>
          <a:bodyPr wrap="square" lIns="0" tIns="0" rIns="0" bIns="0" rtlCol="0" anchor="ctr"/>
          <a:lstStyle/>
          <a:p>
            <a:pPr marL="0" indent="0">
              <a:buNone/>
            </a:pPr>
            <a:r>
              <a:rPr lang="en-US" sz="950" dirty="0">
                <a:solidFill>
                  <a:srgbClr val="1A1040"/>
                </a:solidFill>
              </a:rPr>
              <a:t>Publicación → Pedidos → Nuevo pedido</a:t>
            </a:r>
            <a:endParaRPr lang="en-US" sz="950" dirty="0"/>
          </a:p>
        </p:txBody>
      </p:sp>
      <p:sp>
        <p:nvSpPr>
          <p:cNvPr id="26" name="Shape 24"/>
          <p:cNvSpPr/>
          <p:nvPr/>
        </p:nvSpPr>
        <p:spPr>
          <a:xfrm>
            <a:off x="384048" y="2706909"/>
            <a:ext cx="256032" cy="256032"/>
          </a:xfrm>
          <a:prstGeom prst="ellipse">
            <a:avLst/>
          </a:prstGeom>
          <a:solidFill>
            <a:srgbClr val="46C2CE"/>
          </a:solidFill>
          <a:ln w="12700">
            <a:solidFill>
              <a:srgbClr val="46C2CE"/>
            </a:solidFill>
            <a:prstDash val="solid"/>
          </a:ln>
        </p:spPr>
        <p:txBody>
          <a:bodyPr/>
          <a:lstStyle/>
          <a:p>
            <a:endParaRPr lang="es-MX"/>
          </a:p>
        </p:txBody>
      </p:sp>
      <p:sp>
        <p:nvSpPr>
          <p:cNvPr id="27" name="Text 25"/>
          <p:cNvSpPr/>
          <p:nvPr/>
        </p:nvSpPr>
        <p:spPr>
          <a:xfrm>
            <a:off x="384048" y="2706909"/>
            <a:ext cx="256032" cy="256032"/>
          </a:xfrm>
          <a:prstGeom prst="rect">
            <a:avLst/>
          </a:prstGeom>
          <a:noFill/>
          <a:ln/>
        </p:spPr>
        <p:txBody>
          <a:bodyPr wrap="square" lIns="0" tIns="0" rIns="0" bIns="0" rtlCol="0" anchor="ctr"/>
          <a:lstStyle/>
          <a:p>
            <a:pPr marL="0" indent="0" algn="ctr">
              <a:buNone/>
            </a:pPr>
            <a:r>
              <a:rPr lang="en-US" sz="800" b="1" dirty="0">
                <a:solidFill>
                  <a:srgbClr val="2C1A56"/>
                </a:solidFill>
              </a:rPr>
              <a:t>2</a:t>
            </a:r>
            <a:endParaRPr lang="en-US" sz="800" dirty="0"/>
          </a:p>
        </p:txBody>
      </p:sp>
      <p:sp>
        <p:nvSpPr>
          <p:cNvPr id="28" name="Text 26"/>
          <p:cNvSpPr/>
          <p:nvPr/>
        </p:nvSpPr>
        <p:spPr>
          <a:xfrm>
            <a:off x="749808" y="2697765"/>
            <a:ext cx="3520440" cy="310896"/>
          </a:xfrm>
          <a:prstGeom prst="rect">
            <a:avLst/>
          </a:prstGeom>
          <a:noFill/>
          <a:ln/>
        </p:spPr>
        <p:txBody>
          <a:bodyPr wrap="square" lIns="0" tIns="0" rIns="0" bIns="0" rtlCol="0" anchor="ctr"/>
          <a:lstStyle/>
          <a:p>
            <a:pPr marL="0" indent="0">
              <a:buNone/>
            </a:pPr>
            <a:r>
              <a:rPr lang="en-US" sz="950" dirty="0">
                <a:solidFill>
                  <a:srgbClr val="1A1040"/>
                </a:solidFill>
              </a:rPr>
              <a:t>Nombre: formato  "MX - [NombreCliente]"</a:t>
            </a:r>
            <a:endParaRPr lang="en-US" sz="950" dirty="0"/>
          </a:p>
        </p:txBody>
      </p:sp>
      <p:sp>
        <p:nvSpPr>
          <p:cNvPr id="29" name="Shape 27"/>
          <p:cNvSpPr/>
          <p:nvPr/>
        </p:nvSpPr>
        <p:spPr>
          <a:xfrm>
            <a:off x="384048" y="3118389"/>
            <a:ext cx="256032" cy="256032"/>
          </a:xfrm>
          <a:prstGeom prst="ellipse">
            <a:avLst/>
          </a:prstGeom>
          <a:solidFill>
            <a:srgbClr val="46C2CE"/>
          </a:solidFill>
          <a:ln w="12700">
            <a:solidFill>
              <a:srgbClr val="46C2CE"/>
            </a:solidFill>
            <a:prstDash val="solid"/>
          </a:ln>
        </p:spPr>
        <p:txBody>
          <a:bodyPr/>
          <a:lstStyle/>
          <a:p>
            <a:endParaRPr lang="es-MX"/>
          </a:p>
        </p:txBody>
      </p:sp>
      <p:sp>
        <p:nvSpPr>
          <p:cNvPr id="30" name="Text 28"/>
          <p:cNvSpPr/>
          <p:nvPr/>
        </p:nvSpPr>
        <p:spPr>
          <a:xfrm>
            <a:off x="384048" y="3118389"/>
            <a:ext cx="256032" cy="256032"/>
          </a:xfrm>
          <a:prstGeom prst="rect">
            <a:avLst/>
          </a:prstGeom>
          <a:noFill/>
          <a:ln/>
        </p:spPr>
        <p:txBody>
          <a:bodyPr wrap="square" lIns="0" tIns="0" rIns="0" bIns="0" rtlCol="0" anchor="ctr"/>
          <a:lstStyle/>
          <a:p>
            <a:pPr marL="0" indent="0" algn="ctr">
              <a:buNone/>
            </a:pPr>
            <a:r>
              <a:rPr lang="en-US" sz="800" b="1" dirty="0">
                <a:solidFill>
                  <a:srgbClr val="2C1A56"/>
                </a:solidFill>
              </a:rPr>
              <a:t>3</a:t>
            </a:r>
            <a:endParaRPr lang="en-US" sz="800" dirty="0"/>
          </a:p>
        </p:txBody>
      </p:sp>
      <p:sp>
        <p:nvSpPr>
          <p:cNvPr id="31" name="Text 29"/>
          <p:cNvSpPr/>
          <p:nvPr/>
        </p:nvSpPr>
        <p:spPr>
          <a:xfrm>
            <a:off x="749808" y="3109245"/>
            <a:ext cx="3520440" cy="310896"/>
          </a:xfrm>
          <a:prstGeom prst="rect">
            <a:avLst/>
          </a:prstGeom>
          <a:noFill/>
          <a:ln/>
        </p:spPr>
        <p:txBody>
          <a:bodyPr wrap="square" lIns="0" tIns="0" rIns="0" bIns="0" rtlCol="0" anchor="ctr"/>
          <a:lstStyle/>
          <a:p>
            <a:pPr marL="0" indent="0">
              <a:buNone/>
            </a:pPr>
            <a:r>
              <a:rPr lang="en-US" sz="950" dirty="0">
                <a:solidFill>
                  <a:srgbClr val="1A1040"/>
                </a:solidFill>
              </a:rPr>
              <a:t>Anunciante: seleccionar  Sfera Media Group</a:t>
            </a:r>
            <a:endParaRPr lang="en-US" sz="950" dirty="0"/>
          </a:p>
        </p:txBody>
      </p:sp>
      <p:sp>
        <p:nvSpPr>
          <p:cNvPr id="32" name="Shape 30"/>
          <p:cNvSpPr/>
          <p:nvPr/>
        </p:nvSpPr>
        <p:spPr>
          <a:xfrm>
            <a:off x="384048" y="3529869"/>
            <a:ext cx="256032" cy="256032"/>
          </a:xfrm>
          <a:prstGeom prst="ellipse">
            <a:avLst/>
          </a:prstGeom>
          <a:solidFill>
            <a:srgbClr val="46C2CE"/>
          </a:solidFill>
          <a:ln w="12700">
            <a:solidFill>
              <a:srgbClr val="46C2CE"/>
            </a:solidFill>
            <a:prstDash val="solid"/>
          </a:ln>
        </p:spPr>
        <p:txBody>
          <a:bodyPr/>
          <a:lstStyle/>
          <a:p>
            <a:endParaRPr lang="es-MX"/>
          </a:p>
        </p:txBody>
      </p:sp>
      <p:sp>
        <p:nvSpPr>
          <p:cNvPr id="33" name="Text 31"/>
          <p:cNvSpPr/>
          <p:nvPr/>
        </p:nvSpPr>
        <p:spPr>
          <a:xfrm>
            <a:off x="384048" y="3529869"/>
            <a:ext cx="256032" cy="256032"/>
          </a:xfrm>
          <a:prstGeom prst="rect">
            <a:avLst/>
          </a:prstGeom>
          <a:noFill/>
          <a:ln/>
        </p:spPr>
        <p:txBody>
          <a:bodyPr wrap="square" lIns="0" tIns="0" rIns="0" bIns="0" rtlCol="0" anchor="ctr"/>
          <a:lstStyle/>
          <a:p>
            <a:pPr marL="0" indent="0" algn="ctr">
              <a:buNone/>
            </a:pPr>
            <a:r>
              <a:rPr lang="en-US" sz="800" b="1" dirty="0">
                <a:solidFill>
                  <a:srgbClr val="2C1A56"/>
                </a:solidFill>
              </a:rPr>
              <a:t>4</a:t>
            </a:r>
            <a:endParaRPr lang="en-US" sz="800" dirty="0"/>
          </a:p>
        </p:txBody>
      </p:sp>
      <p:sp>
        <p:nvSpPr>
          <p:cNvPr id="34" name="Text 32"/>
          <p:cNvSpPr/>
          <p:nvPr/>
        </p:nvSpPr>
        <p:spPr>
          <a:xfrm>
            <a:off x="749808" y="3520725"/>
            <a:ext cx="3520440" cy="310896"/>
          </a:xfrm>
          <a:prstGeom prst="rect">
            <a:avLst/>
          </a:prstGeom>
          <a:noFill/>
          <a:ln/>
        </p:spPr>
        <p:txBody>
          <a:bodyPr wrap="square" lIns="0" tIns="0" rIns="0" bIns="0" rtlCol="0" anchor="ctr"/>
          <a:lstStyle/>
          <a:p>
            <a:pPr marL="0" indent="0">
              <a:buNone/>
            </a:pPr>
            <a:r>
              <a:rPr lang="en-US" sz="950" dirty="0">
                <a:solidFill>
                  <a:srgbClr val="1A1040"/>
                </a:solidFill>
              </a:rPr>
              <a:t>Dejar demás campos predeterminados</a:t>
            </a:r>
            <a:endParaRPr lang="en-US" sz="950" dirty="0"/>
          </a:p>
        </p:txBody>
      </p:sp>
      <p:sp>
        <p:nvSpPr>
          <p:cNvPr id="35" name="Shape 33"/>
          <p:cNvSpPr/>
          <p:nvPr/>
        </p:nvSpPr>
        <p:spPr>
          <a:xfrm>
            <a:off x="384048" y="3941349"/>
            <a:ext cx="256032" cy="256032"/>
          </a:xfrm>
          <a:prstGeom prst="ellipse">
            <a:avLst/>
          </a:prstGeom>
          <a:solidFill>
            <a:srgbClr val="46C2CE"/>
          </a:solidFill>
          <a:ln w="12700">
            <a:solidFill>
              <a:srgbClr val="46C2CE"/>
            </a:solidFill>
            <a:prstDash val="solid"/>
          </a:ln>
        </p:spPr>
        <p:txBody>
          <a:bodyPr/>
          <a:lstStyle/>
          <a:p>
            <a:endParaRPr lang="es-MX"/>
          </a:p>
        </p:txBody>
      </p:sp>
      <p:sp>
        <p:nvSpPr>
          <p:cNvPr id="36" name="Text 34"/>
          <p:cNvSpPr/>
          <p:nvPr/>
        </p:nvSpPr>
        <p:spPr>
          <a:xfrm>
            <a:off x="384048" y="3941349"/>
            <a:ext cx="256032" cy="256032"/>
          </a:xfrm>
          <a:prstGeom prst="rect">
            <a:avLst/>
          </a:prstGeom>
          <a:noFill/>
          <a:ln/>
        </p:spPr>
        <p:txBody>
          <a:bodyPr wrap="square" lIns="0" tIns="0" rIns="0" bIns="0" rtlCol="0" anchor="ctr"/>
          <a:lstStyle/>
          <a:p>
            <a:pPr marL="0" indent="0" algn="ctr">
              <a:buNone/>
            </a:pPr>
            <a:r>
              <a:rPr lang="en-US" sz="800" b="1" dirty="0">
                <a:solidFill>
                  <a:srgbClr val="2C1A56"/>
                </a:solidFill>
              </a:rPr>
              <a:t>5</a:t>
            </a:r>
            <a:endParaRPr lang="en-US" sz="800" dirty="0"/>
          </a:p>
        </p:txBody>
      </p:sp>
      <p:sp>
        <p:nvSpPr>
          <p:cNvPr id="37" name="Text 35"/>
          <p:cNvSpPr/>
          <p:nvPr/>
        </p:nvSpPr>
        <p:spPr>
          <a:xfrm>
            <a:off x="749808" y="3932205"/>
            <a:ext cx="3520440" cy="310896"/>
          </a:xfrm>
          <a:prstGeom prst="rect">
            <a:avLst/>
          </a:prstGeom>
          <a:noFill/>
          <a:ln/>
        </p:spPr>
        <p:txBody>
          <a:bodyPr wrap="square" lIns="0" tIns="0" rIns="0" bIns="0" rtlCol="0" anchor="ctr"/>
          <a:lstStyle/>
          <a:p>
            <a:pPr marL="0" indent="0">
              <a:buNone/>
            </a:pPr>
            <a:r>
              <a:rPr lang="en-US" sz="950" dirty="0">
                <a:solidFill>
                  <a:srgbClr val="1A1040"/>
                </a:solidFill>
              </a:rPr>
              <a:t>Clic en  Guardar</a:t>
            </a:r>
            <a:endParaRPr lang="en-US" sz="950" dirty="0"/>
          </a:p>
        </p:txBody>
      </p:sp>
      <p:sp>
        <p:nvSpPr>
          <p:cNvPr id="38" name="Shape 36"/>
          <p:cNvSpPr/>
          <p:nvPr/>
        </p:nvSpPr>
        <p:spPr>
          <a:xfrm>
            <a:off x="4663440" y="1902237"/>
            <a:ext cx="4206240" cy="2743200"/>
          </a:xfrm>
          <a:prstGeom prst="rect">
            <a:avLst/>
          </a:prstGeom>
          <a:solidFill>
            <a:srgbClr val="FFFFFF"/>
          </a:solidFill>
          <a:ln w="12700">
            <a:solidFill>
              <a:srgbClr val="CBD5E1"/>
            </a:solidFill>
            <a:prstDash val="solid"/>
          </a:ln>
        </p:spPr>
        <p:txBody>
          <a:bodyPr/>
          <a:lstStyle/>
          <a:p>
            <a:endParaRPr lang="es-MX"/>
          </a:p>
        </p:txBody>
      </p:sp>
      <p:sp>
        <p:nvSpPr>
          <p:cNvPr id="39" name="Shape 37"/>
          <p:cNvSpPr/>
          <p:nvPr/>
        </p:nvSpPr>
        <p:spPr>
          <a:xfrm>
            <a:off x="4663440" y="1902237"/>
            <a:ext cx="4206240" cy="320040"/>
          </a:xfrm>
          <a:prstGeom prst="rect">
            <a:avLst/>
          </a:prstGeom>
          <a:solidFill>
            <a:srgbClr val="7F52A0"/>
          </a:solidFill>
          <a:ln w="12700">
            <a:solidFill>
              <a:srgbClr val="7F52A0"/>
            </a:solidFill>
            <a:prstDash val="solid"/>
          </a:ln>
        </p:spPr>
        <p:txBody>
          <a:bodyPr/>
          <a:lstStyle/>
          <a:p>
            <a:endParaRPr lang="es-MX"/>
          </a:p>
        </p:txBody>
      </p:sp>
      <p:sp>
        <p:nvSpPr>
          <p:cNvPr id="40" name="Text 38"/>
          <p:cNvSpPr/>
          <p:nvPr/>
        </p:nvSpPr>
        <p:spPr>
          <a:xfrm>
            <a:off x="4800600" y="1929669"/>
            <a:ext cx="3931920" cy="256032"/>
          </a:xfrm>
          <a:prstGeom prst="rect">
            <a:avLst/>
          </a:prstGeom>
          <a:noFill/>
          <a:ln/>
        </p:spPr>
        <p:txBody>
          <a:bodyPr wrap="square" lIns="0" tIns="0" rIns="0" bIns="0" rtlCol="0" anchor="ctr"/>
          <a:lstStyle/>
          <a:p>
            <a:pPr marL="0" indent="0">
              <a:buNone/>
            </a:pPr>
            <a:r>
              <a:rPr lang="en-US" sz="1100" b="1" dirty="0">
                <a:solidFill>
                  <a:srgbClr val="FFFFFF"/>
                </a:solidFill>
              </a:rPr>
              <a:t>PARTE E — Actualizar Segmentación</a:t>
            </a:r>
            <a:endParaRPr lang="en-US" sz="1100" dirty="0"/>
          </a:p>
        </p:txBody>
      </p:sp>
      <p:grpSp>
        <p:nvGrpSpPr>
          <p:cNvPr id="74" name="Grupo 73">
            <a:extLst>
              <a:ext uri="{FF2B5EF4-FFF2-40B4-BE49-F238E27FC236}">
                <a16:creationId xmlns:a16="http://schemas.microsoft.com/office/drawing/2014/main" id="{96BEFBA2-52E7-F8F7-EB58-F62E27106601}"/>
              </a:ext>
            </a:extLst>
          </p:cNvPr>
          <p:cNvGrpSpPr/>
          <p:nvPr/>
        </p:nvGrpSpPr>
        <p:grpSpPr>
          <a:xfrm>
            <a:off x="4773168" y="2286285"/>
            <a:ext cx="3977640" cy="310896"/>
            <a:chOff x="4773168" y="2487168"/>
            <a:chExt cx="3977640" cy="310896"/>
          </a:xfrm>
        </p:grpSpPr>
        <p:sp>
          <p:nvSpPr>
            <p:cNvPr id="41" name="Shape 39"/>
            <p:cNvSpPr/>
            <p:nvPr/>
          </p:nvSpPr>
          <p:spPr>
            <a:xfrm>
              <a:off x="4773168" y="2496312"/>
              <a:ext cx="256032" cy="256032"/>
            </a:xfrm>
            <a:prstGeom prst="ellipse">
              <a:avLst/>
            </a:prstGeom>
            <a:solidFill>
              <a:srgbClr val="7F52A0"/>
            </a:solidFill>
            <a:ln w="12700">
              <a:solidFill>
                <a:srgbClr val="7F52A0"/>
              </a:solidFill>
              <a:prstDash val="solid"/>
            </a:ln>
          </p:spPr>
          <p:txBody>
            <a:bodyPr/>
            <a:lstStyle/>
            <a:p>
              <a:endParaRPr lang="es-MX"/>
            </a:p>
          </p:txBody>
        </p:sp>
        <p:sp>
          <p:nvSpPr>
            <p:cNvPr id="42" name="Text 40"/>
            <p:cNvSpPr/>
            <p:nvPr/>
          </p:nvSpPr>
          <p:spPr>
            <a:xfrm>
              <a:off x="4773168" y="249631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43" name="Text 41"/>
            <p:cNvSpPr/>
            <p:nvPr/>
          </p:nvSpPr>
          <p:spPr>
            <a:xfrm>
              <a:off x="5138928" y="2487168"/>
              <a:ext cx="3611880" cy="310896"/>
            </a:xfrm>
            <a:prstGeom prst="rect">
              <a:avLst/>
            </a:prstGeom>
            <a:noFill/>
            <a:ln/>
          </p:spPr>
          <p:txBody>
            <a:bodyPr wrap="square" lIns="0" tIns="0" rIns="0" bIns="0" rtlCol="0" anchor="ctr"/>
            <a:lstStyle/>
            <a:p>
              <a:pPr marL="0" indent="0">
                <a:buNone/>
              </a:pPr>
              <a:r>
                <a:rPr lang="en-US" sz="950" dirty="0">
                  <a:solidFill>
                    <a:srgbClr val="1A1040"/>
                  </a:solidFill>
                </a:rPr>
                <a:t>Ir a sección  Agregar segmentación</a:t>
              </a:r>
              <a:endParaRPr lang="en-US" sz="950" dirty="0"/>
            </a:p>
          </p:txBody>
        </p:sp>
      </p:grpSp>
      <p:grpSp>
        <p:nvGrpSpPr>
          <p:cNvPr id="73" name="Grupo 72">
            <a:extLst>
              <a:ext uri="{FF2B5EF4-FFF2-40B4-BE49-F238E27FC236}">
                <a16:creationId xmlns:a16="http://schemas.microsoft.com/office/drawing/2014/main" id="{3EBDE3B5-498C-1C6B-2B60-58866DE7B7FA}"/>
              </a:ext>
            </a:extLst>
          </p:cNvPr>
          <p:cNvGrpSpPr/>
          <p:nvPr/>
        </p:nvGrpSpPr>
        <p:grpSpPr>
          <a:xfrm>
            <a:off x="4773168" y="2688621"/>
            <a:ext cx="3977640" cy="310896"/>
            <a:chOff x="4773168" y="2889504"/>
            <a:chExt cx="3977640" cy="310896"/>
          </a:xfrm>
        </p:grpSpPr>
        <p:sp>
          <p:nvSpPr>
            <p:cNvPr id="44" name="Shape 42"/>
            <p:cNvSpPr/>
            <p:nvPr/>
          </p:nvSpPr>
          <p:spPr>
            <a:xfrm>
              <a:off x="4773168" y="2898648"/>
              <a:ext cx="256032" cy="256032"/>
            </a:xfrm>
            <a:prstGeom prst="ellipse">
              <a:avLst/>
            </a:prstGeom>
            <a:solidFill>
              <a:srgbClr val="7F52A0"/>
            </a:solidFill>
            <a:ln w="12700">
              <a:solidFill>
                <a:srgbClr val="7F52A0"/>
              </a:solidFill>
              <a:prstDash val="solid"/>
            </a:ln>
          </p:spPr>
          <p:txBody>
            <a:bodyPr/>
            <a:lstStyle/>
            <a:p>
              <a:endParaRPr lang="es-MX"/>
            </a:p>
          </p:txBody>
        </p:sp>
        <p:sp>
          <p:nvSpPr>
            <p:cNvPr id="45" name="Text 43"/>
            <p:cNvSpPr/>
            <p:nvPr/>
          </p:nvSpPr>
          <p:spPr>
            <a:xfrm>
              <a:off x="4773168" y="2898648"/>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46" name="Text 44"/>
            <p:cNvSpPr/>
            <p:nvPr/>
          </p:nvSpPr>
          <p:spPr>
            <a:xfrm>
              <a:off x="5138928" y="2889504"/>
              <a:ext cx="3611880" cy="310896"/>
            </a:xfrm>
            <a:prstGeom prst="rect">
              <a:avLst/>
            </a:prstGeom>
            <a:noFill/>
            <a:ln/>
          </p:spPr>
          <p:txBody>
            <a:bodyPr wrap="square" lIns="0" tIns="0" rIns="0" bIns="0" rtlCol="0" anchor="ctr"/>
            <a:lstStyle/>
            <a:p>
              <a:pPr marL="0" indent="0">
                <a:buNone/>
              </a:pPr>
              <a:r>
                <a:rPr lang="en-US" sz="950" dirty="0">
                  <a:solidFill>
                    <a:srgbClr val="1A1040"/>
                  </a:solidFill>
                </a:rPr>
                <a:t>Ver keyword del cliente base (ej. Chicco)</a:t>
              </a:r>
              <a:endParaRPr lang="en-US" sz="950" dirty="0"/>
            </a:p>
          </p:txBody>
        </p:sp>
      </p:grpSp>
      <p:grpSp>
        <p:nvGrpSpPr>
          <p:cNvPr id="72" name="Grupo 71">
            <a:extLst>
              <a:ext uri="{FF2B5EF4-FFF2-40B4-BE49-F238E27FC236}">
                <a16:creationId xmlns:a16="http://schemas.microsoft.com/office/drawing/2014/main" id="{FF19AA1F-2336-A670-B4F0-8A52441C19F4}"/>
              </a:ext>
            </a:extLst>
          </p:cNvPr>
          <p:cNvGrpSpPr/>
          <p:nvPr/>
        </p:nvGrpSpPr>
        <p:grpSpPr>
          <a:xfrm>
            <a:off x="4773168" y="3090957"/>
            <a:ext cx="3977640" cy="310896"/>
            <a:chOff x="4773168" y="3291840"/>
            <a:chExt cx="3977640" cy="310896"/>
          </a:xfrm>
        </p:grpSpPr>
        <p:sp>
          <p:nvSpPr>
            <p:cNvPr id="47" name="Shape 45"/>
            <p:cNvSpPr/>
            <p:nvPr/>
          </p:nvSpPr>
          <p:spPr>
            <a:xfrm>
              <a:off x="4773168" y="3300984"/>
              <a:ext cx="256032" cy="256032"/>
            </a:xfrm>
            <a:prstGeom prst="ellipse">
              <a:avLst/>
            </a:prstGeom>
            <a:solidFill>
              <a:srgbClr val="7F52A0"/>
            </a:solidFill>
            <a:ln w="12700">
              <a:solidFill>
                <a:srgbClr val="7F52A0"/>
              </a:solidFill>
              <a:prstDash val="solid"/>
            </a:ln>
          </p:spPr>
          <p:txBody>
            <a:bodyPr/>
            <a:lstStyle/>
            <a:p>
              <a:endParaRPr lang="es-MX"/>
            </a:p>
          </p:txBody>
        </p:sp>
        <p:sp>
          <p:nvSpPr>
            <p:cNvPr id="48" name="Text 46"/>
            <p:cNvSpPr/>
            <p:nvPr/>
          </p:nvSpPr>
          <p:spPr>
            <a:xfrm>
              <a:off x="4773168" y="3300984"/>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49" name="Text 47"/>
            <p:cNvSpPr/>
            <p:nvPr/>
          </p:nvSpPr>
          <p:spPr>
            <a:xfrm>
              <a:off x="5138928" y="3291840"/>
              <a:ext cx="3611880" cy="310896"/>
            </a:xfrm>
            <a:prstGeom prst="rect">
              <a:avLst/>
            </a:prstGeom>
            <a:noFill/>
            <a:ln/>
          </p:spPr>
          <p:txBody>
            <a:bodyPr wrap="square" lIns="0" tIns="0" rIns="0" bIns="0" rtlCol="0" anchor="ctr"/>
            <a:lstStyle/>
            <a:p>
              <a:pPr marL="0" indent="0">
                <a:buNone/>
              </a:pPr>
              <a:r>
                <a:rPr lang="en-US" sz="950" dirty="0">
                  <a:solidFill>
                    <a:srgbClr val="1A1040"/>
                  </a:solidFill>
                </a:rPr>
                <a:t>Clic en  Agregar nueva segmentación</a:t>
              </a:r>
              <a:endParaRPr lang="en-US" sz="950" dirty="0"/>
            </a:p>
          </p:txBody>
        </p:sp>
      </p:grpSp>
      <p:grpSp>
        <p:nvGrpSpPr>
          <p:cNvPr id="71" name="Grupo 70">
            <a:extLst>
              <a:ext uri="{FF2B5EF4-FFF2-40B4-BE49-F238E27FC236}">
                <a16:creationId xmlns:a16="http://schemas.microsoft.com/office/drawing/2014/main" id="{65863FB3-D80C-8C58-A6D0-D87A215186D0}"/>
              </a:ext>
            </a:extLst>
          </p:cNvPr>
          <p:cNvGrpSpPr/>
          <p:nvPr/>
        </p:nvGrpSpPr>
        <p:grpSpPr>
          <a:xfrm>
            <a:off x="4773168" y="3493293"/>
            <a:ext cx="3977640" cy="310896"/>
            <a:chOff x="4773168" y="3694176"/>
            <a:chExt cx="3977640" cy="310896"/>
          </a:xfrm>
        </p:grpSpPr>
        <p:grpSp>
          <p:nvGrpSpPr>
            <p:cNvPr id="70" name="Grupo 69">
              <a:extLst>
                <a:ext uri="{FF2B5EF4-FFF2-40B4-BE49-F238E27FC236}">
                  <a16:creationId xmlns:a16="http://schemas.microsoft.com/office/drawing/2014/main" id="{0EB7D8B9-D491-4318-79CF-0831C7017613}"/>
                </a:ext>
              </a:extLst>
            </p:cNvPr>
            <p:cNvGrpSpPr/>
            <p:nvPr/>
          </p:nvGrpSpPr>
          <p:grpSpPr>
            <a:xfrm>
              <a:off x="4773168" y="3703320"/>
              <a:ext cx="256032" cy="256032"/>
              <a:chOff x="4773168" y="3703320"/>
              <a:chExt cx="256032" cy="256032"/>
            </a:xfrm>
          </p:grpSpPr>
          <p:sp>
            <p:nvSpPr>
              <p:cNvPr id="50" name="Shape 48"/>
              <p:cNvSpPr/>
              <p:nvPr/>
            </p:nvSpPr>
            <p:spPr>
              <a:xfrm>
                <a:off x="4773168" y="3703320"/>
                <a:ext cx="256032" cy="256032"/>
              </a:xfrm>
              <a:prstGeom prst="ellipse">
                <a:avLst/>
              </a:prstGeom>
              <a:solidFill>
                <a:srgbClr val="7F52A0"/>
              </a:solidFill>
              <a:ln w="12700">
                <a:solidFill>
                  <a:srgbClr val="7F52A0"/>
                </a:solidFill>
                <a:prstDash val="solid"/>
              </a:ln>
            </p:spPr>
            <p:txBody>
              <a:bodyPr/>
              <a:lstStyle/>
              <a:p>
                <a:endParaRPr lang="es-MX"/>
              </a:p>
            </p:txBody>
          </p:sp>
          <p:sp>
            <p:nvSpPr>
              <p:cNvPr id="51" name="Text 49"/>
              <p:cNvSpPr/>
              <p:nvPr/>
            </p:nvSpPr>
            <p:spPr>
              <a:xfrm>
                <a:off x="4773168" y="3703320"/>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grpSp>
        <p:sp>
          <p:nvSpPr>
            <p:cNvPr id="52" name="Text 50"/>
            <p:cNvSpPr/>
            <p:nvPr/>
          </p:nvSpPr>
          <p:spPr>
            <a:xfrm>
              <a:off x="5138928" y="3694176"/>
              <a:ext cx="3611880" cy="310896"/>
            </a:xfrm>
            <a:prstGeom prst="rect">
              <a:avLst/>
            </a:prstGeom>
            <a:noFill/>
            <a:ln/>
          </p:spPr>
          <p:txBody>
            <a:bodyPr wrap="square" lIns="0" tIns="0" rIns="0" bIns="0" rtlCol="0" anchor="ctr"/>
            <a:lstStyle/>
            <a:p>
              <a:pPr marL="0" indent="0">
                <a:buNone/>
              </a:pPr>
              <a:r>
                <a:rPr lang="en-US" sz="950" dirty="0">
                  <a:solidFill>
                    <a:srgbClr val="1A1040"/>
                  </a:solidFill>
                </a:rPr>
                <a:t>Buscar y seleccionar keyword del nuevo cliente</a:t>
              </a:r>
              <a:endParaRPr lang="en-US" sz="950" dirty="0"/>
            </a:p>
          </p:txBody>
        </p:sp>
      </p:grpSp>
      <p:grpSp>
        <p:nvGrpSpPr>
          <p:cNvPr id="69" name="Grupo 68">
            <a:extLst>
              <a:ext uri="{FF2B5EF4-FFF2-40B4-BE49-F238E27FC236}">
                <a16:creationId xmlns:a16="http://schemas.microsoft.com/office/drawing/2014/main" id="{46E93D27-356A-80CB-61E8-459D8A4B12F3}"/>
              </a:ext>
            </a:extLst>
          </p:cNvPr>
          <p:cNvGrpSpPr/>
          <p:nvPr/>
        </p:nvGrpSpPr>
        <p:grpSpPr>
          <a:xfrm>
            <a:off x="4773168" y="3895629"/>
            <a:ext cx="3977640" cy="310896"/>
            <a:chOff x="4773168" y="4096512"/>
            <a:chExt cx="3977640" cy="310896"/>
          </a:xfrm>
        </p:grpSpPr>
        <p:sp>
          <p:nvSpPr>
            <p:cNvPr id="53" name="Shape 51"/>
            <p:cNvSpPr/>
            <p:nvPr/>
          </p:nvSpPr>
          <p:spPr>
            <a:xfrm>
              <a:off x="4773168" y="4105656"/>
              <a:ext cx="256032" cy="256032"/>
            </a:xfrm>
            <a:prstGeom prst="ellipse">
              <a:avLst/>
            </a:prstGeom>
            <a:solidFill>
              <a:srgbClr val="7F52A0"/>
            </a:solidFill>
            <a:ln w="12700">
              <a:solidFill>
                <a:srgbClr val="7F52A0"/>
              </a:solidFill>
              <a:prstDash val="solid"/>
            </a:ln>
          </p:spPr>
          <p:txBody>
            <a:bodyPr/>
            <a:lstStyle/>
            <a:p>
              <a:endParaRPr lang="es-MX"/>
            </a:p>
          </p:txBody>
        </p:sp>
        <p:sp>
          <p:nvSpPr>
            <p:cNvPr id="54" name="Text 52"/>
            <p:cNvSpPr/>
            <p:nvPr/>
          </p:nvSpPr>
          <p:spPr>
            <a:xfrm>
              <a:off x="4773168" y="4105656"/>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55" name="Text 53"/>
            <p:cNvSpPr/>
            <p:nvPr/>
          </p:nvSpPr>
          <p:spPr>
            <a:xfrm>
              <a:off x="5138928" y="4096512"/>
              <a:ext cx="3611880" cy="310896"/>
            </a:xfrm>
            <a:prstGeom prst="rect">
              <a:avLst/>
            </a:prstGeom>
            <a:noFill/>
            <a:ln/>
          </p:spPr>
          <p:txBody>
            <a:bodyPr wrap="square" lIns="0" tIns="0" rIns="0" bIns="0" rtlCol="0" anchor="ctr"/>
            <a:lstStyle/>
            <a:p>
              <a:pPr marL="0" indent="0">
                <a:buNone/>
              </a:pPr>
              <a:r>
                <a:rPr lang="en-US" sz="950" dirty="0">
                  <a:solidFill>
                    <a:srgbClr val="1A1040"/>
                  </a:solidFill>
                </a:rPr>
                <a:t>Eliminar la keyword anterior con su  ✕</a:t>
              </a:r>
              <a:endParaRPr lang="en-US" sz="950" dirty="0"/>
            </a:p>
          </p:txBody>
        </p:sp>
      </p:grpSp>
      <p:grpSp>
        <p:nvGrpSpPr>
          <p:cNvPr id="68" name="Grupo 67">
            <a:extLst>
              <a:ext uri="{FF2B5EF4-FFF2-40B4-BE49-F238E27FC236}">
                <a16:creationId xmlns:a16="http://schemas.microsoft.com/office/drawing/2014/main" id="{32F935C2-BCF9-1837-464C-A31736CCD13F}"/>
              </a:ext>
            </a:extLst>
          </p:cNvPr>
          <p:cNvGrpSpPr/>
          <p:nvPr/>
        </p:nvGrpSpPr>
        <p:grpSpPr>
          <a:xfrm>
            <a:off x="4773168" y="4297965"/>
            <a:ext cx="3977640" cy="310896"/>
            <a:chOff x="4773168" y="4498848"/>
            <a:chExt cx="3977640" cy="310896"/>
          </a:xfrm>
        </p:grpSpPr>
        <p:sp>
          <p:nvSpPr>
            <p:cNvPr id="56" name="Shape 54"/>
            <p:cNvSpPr/>
            <p:nvPr/>
          </p:nvSpPr>
          <p:spPr>
            <a:xfrm>
              <a:off x="4773168" y="4507992"/>
              <a:ext cx="256032" cy="256032"/>
            </a:xfrm>
            <a:prstGeom prst="ellipse">
              <a:avLst/>
            </a:prstGeom>
            <a:solidFill>
              <a:srgbClr val="7F52A0"/>
            </a:solidFill>
            <a:ln w="12700">
              <a:solidFill>
                <a:srgbClr val="7F52A0"/>
              </a:solidFill>
              <a:prstDash val="solid"/>
            </a:ln>
          </p:spPr>
          <p:txBody>
            <a:bodyPr/>
            <a:lstStyle/>
            <a:p>
              <a:endParaRPr lang="es-MX"/>
            </a:p>
          </p:txBody>
        </p:sp>
        <p:sp>
          <p:nvSpPr>
            <p:cNvPr id="57" name="Text 55"/>
            <p:cNvSpPr/>
            <p:nvPr/>
          </p:nvSpPr>
          <p:spPr>
            <a:xfrm>
              <a:off x="4773168" y="450799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rPr>
                <a:t>6</a:t>
              </a:r>
              <a:endParaRPr lang="en-US" sz="800" dirty="0"/>
            </a:p>
          </p:txBody>
        </p:sp>
        <p:sp>
          <p:nvSpPr>
            <p:cNvPr id="58" name="Text 56"/>
            <p:cNvSpPr/>
            <p:nvPr/>
          </p:nvSpPr>
          <p:spPr>
            <a:xfrm>
              <a:off x="5138928" y="4498848"/>
              <a:ext cx="3611880" cy="310896"/>
            </a:xfrm>
            <a:prstGeom prst="rect">
              <a:avLst/>
            </a:prstGeom>
            <a:noFill/>
            <a:ln/>
          </p:spPr>
          <p:txBody>
            <a:bodyPr wrap="square" lIns="0" tIns="0" rIns="0" bIns="0" rtlCol="0" anchor="ctr"/>
            <a:lstStyle/>
            <a:p>
              <a:pPr marL="0" indent="0">
                <a:buNone/>
              </a:pPr>
              <a:r>
                <a:rPr lang="en-US" sz="950" dirty="0">
                  <a:solidFill>
                    <a:srgbClr val="1A1040"/>
                  </a:solidFill>
                </a:rPr>
                <a:t>Resultado: solo la keyword del nuevo cliente</a:t>
              </a:r>
              <a:endParaRPr lang="en-US" sz="950" dirty="0"/>
            </a:p>
          </p:txBody>
        </p:sp>
      </p:grpSp>
      <p:sp>
        <p:nvSpPr>
          <p:cNvPr id="61" name="Shape 59"/>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62" name="Text 60"/>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65" name="Gráfico 64">
            <a:extLst>
              <a:ext uri="{FF2B5EF4-FFF2-40B4-BE49-F238E27FC236}">
                <a16:creationId xmlns:a16="http://schemas.microsoft.com/office/drawing/2014/main" id="{8D2A3BF7-7114-B128-9AA5-E74599C5C1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63980"/>
          </a:solidFill>
          <a:ln w="12700">
            <a:solidFill>
              <a:srgbClr val="26398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Proceso 3 — Anatomía de una Línea de Pedido</a:t>
            </a:r>
            <a:endParaRPr lang="en-US" sz="2000" dirty="0"/>
          </a:p>
        </p:txBody>
      </p:sp>
      <p:sp>
        <p:nvSpPr>
          <p:cNvPr id="5" name="Shape 3"/>
          <p:cNvSpPr/>
          <p:nvPr/>
        </p:nvSpPr>
        <p:spPr>
          <a:xfrm>
            <a:off x="274320" y="886692"/>
            <a:ext cx="4206240" cy="77724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6" name="Shape 4"/>
          <p:cNvSpPr/>
          <p:nvPr/>
        </p:nvSpPr>
        <p:spPr>
          <a:xfrm>
            <a:off x="274320" y="886692"/>
            <a:ext cx="64008" cy="777240"/>
          </a:xfrm>
          <a:prstGeom prst="rect">
            <a:avLst/>
          </a:prstGeom>
          <a:solidFill>
            <a:srgbClr val="46C2CE"/>
          </a:solidFill>
          <a:ln w="12700">
            <a:solidFill>
              <a:srgbClr val="46C2CE"/>
            </a:solidFill>
            <a:prstDash val="solid"/>
          </a:ln>
        </p:spPr>
        <p:txBody>
          <a:bodyPr/>
          <a:lstStyle/>
          <a:p>
            <a:endParaRPr lang="es-MX"/>
          </a:p>
        </p:txBody>
      </p:sp>
      <p:pic>
        <p:nvPicPr>
          <p:cNvPr id="7" name="Image 0" descr="preencoded.png"/>
          <p:cNvPicPr>
            <a:picLocks noChangeAspect="1"/>
          </p:cNvPicPr>
          <p:nvPr/>
        </p:nvPicPr>
        <p:blipFill>
          <a:blip r:embed="rId3"/>
          <a:stretch>
            <a:fillRect/>
          </a:stretch>
        </p:blipFill>
        <p:spPr>
          <a:xfrm>
            <a:off x="438912" y="1005564"/>
            <a:ext cx="347472" cy="347472"/>
          </a:xfrm>
          <a:prstGeom prst="rect">
            <a:avLst/>
          </a:prstGeom>
        </p:spPr>
      </p:pic>
      <p:sp>
        <p:nvSpPr>
          <p:cNvPr id="8" name="Text 5"/>
          <p:cNvSpPr/>
          <p:nvPr/>
        </p:nvSpPr>
        <p:spPr>
          <a:xfrm>
            <a:off x="868680" y="959844"/>
            <a:ext cx="3520440" cy="320040"/>
          </a:xfrm>
          <a:prstGeom prst="rect">
            <a:avLst/>
          </a:prstGeom>
          <a:noFill/>
          <a:ln/>
        </p:spPr>
        <p:txBody>
          <a:bodyPr wrap="square" lIns="0" tIns="0" rIns="0" bIns="0" rtlCol="0" anchor="ctr"/>
          <a:lstStyle/>
          <a:p>
            <a:pPr marL="0" indent="0">
              <a:buNone/>
            </a:pPr>
            <a:r>
              <a:rPr lang="en-US" sz="1200" b="1" dirty="0">
                <a:solidFill>
                  <a:srgbClr val="263980"/>
                </a:solidFill>
              </a:rPr>
              <a:t>Nombre</a:t>
            </a:r>
            <a:endParaRPr lang="en-US" sz="1200" dirty="0"/>
          </a:p>
        </p:txBody>
      </p:sp>
      <p:sp>
        <p:nvSpPr>
          <p:cNvPr id="9" name="Text 6"/>
          <p:cNvSpPr/>
          <p:nvPr/>
        </p:nvSpPr>
        <p:spPr>
          <a:xfrm>
            <a:off x="438912" y="1376317"/>
            <a:ext cx="3931920" cy="228600"/>
          </a:xfrm>
          <a:prstGeom prst="rect">
            <a:avLst/>
          </a:prstGeom>
          <a:noFill/>
          <a:ln/>
        </p:spPr>
        <p:txBody>
          <a:bodyPr wrap="square" lIns="0" tIns="0" rIns="0" bIns="0" rtlCol="0" anchor="t"/>
          <a:lstStyle/>
          <a:p>
            <a:pPr marL="0" indent="0">
              <a:buNone/>
            </a:pPr>
            <a:r>
              <a:rPr lang="en-US" sz="1000" dirty="0">
                <a:solidFill>
                  <a:srgbClr val="64748B"/>
                </a:solidFill>
              </a:rPr>
              <a:t>Identificador. Ej: AGE Chanchito 050326</a:t>
            </a:r>
            <a:endParaRPr lang="en-US" sz="1000" dirty="0"/>
          </a:p>
        </p:txBody>
      </p:sp>
      <p:sp>
        <p:nvSpPr>
          <p:cNvPr id="10" name="Shape 7"/>
          <p:cNvSpPr/>
          <p:nvPr/>
        </p:nvSpPr>
        <p:spPr>
          <a:xfrm>
            <a:off x="4709160" y="886692"/>
            <a:ext cx="4206240" cy="77724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11" name="Shape 8"/>
          <p:cNvSpPr/>
          <p:nvPr/>
        </p:nvSpPr>
        <p:spPr>
          <a:xfrm>
            <a:off x="4709160" y="886692"/>
            <a:ext cx="64008" cy="777240"/>
          </a:xfrm>
          <a:prstGeom prst="rect">
            <a:avLst/>
          </a:prstGeom>
          <a:solidFill>
            <a:srgbClr val="7F52A0"/>
          </a:solidFill>
          <a:ln w="12700">
            <a:solidFill>
              <a:srgbClr val="7F52A0"/>
            </a:solidFill>
            <a:prstDash val="solid"/>
          </a:ln>
        </p:spPr>
        <p:txBody>
          <a:bodyPr/>
          <a:lstStyle/>
          <a:p>
            <a:endParaRPr lang="es-MX"/>
          </a:p>
        </p:txBody>
      </p:sp>
      <p:pic>
        <p:nvPicPr>
          <p:cNvPr id="12" name="Image 1" descr="preencoded.png"/>
          <p:cNvPicPr>
            <a:picLocks noChangeAspect="1"/>
          </p:cNvPicPr>
          <p:nvPr/>
        </p:nvPicPr>
        <p:blipFill>
          <a:blip r:embed="rId4"/>
          <a:stretch>
            <a:fillRect/>
          </a:stretch>
        </p:blipFill>
        <p:spPr>
          <a:xfrm>
            <a:off x="4873752" y="1005564"/>
            <a:ext cx="347472" cy="347472"/>
          </a:xfrm>
          <a:prstGeom prst="rect">
            <a:avLst/>
          </a:prstGeom>
        </p:spPr>
      </p:pic>
      <p:sp>
        <p:nvSpPr>
          <p:cNvPr id="13" name="Text 9"/>
          <p:cNvSpPr/>
          <p:nvPr/>
        </p:nvSpPr>
        <p:spPr>
          <a:xfrm>
            <a:off x="5303520" y="959844"/>
            <a:ext cx="3520440" cy="320040"/>
          </a:xfrm>
          <a:prstGeom prst="rect">
            <a:avLst/>
          </a:prstGeom>
          <a:noFill/>
          <a:ln/>
        </p:spPr>
        <p:txBody>
          <a:bodyPr wrap="square" lIns="0" tIns="0" rIns="0" bIns="0" rtlCol="0" anchor="ctr"/>
          <a:lstStyle/>
          <a:p>
            <a:pPr marL="0" indent="0">
              <a:buNone/>
            </a:pPr>
            <a:r>
              <a:rPr lang="en-US" sz="1200" b="1" dirty="0">
                <a:solidFill>
                  <a:srgbClr val="263980"/>
                </a:solidFill>
              </a:rPr>
              <a:t>Tipo de anuncio</a:t>
            </a:r>
            <a:endParaRPr lang="en-US" sz="1200" dirty="0"/>
          </a:p>
        </p:txBody>
      </p:sp>
      <p:sp>
        <p:nvSpPr>
          <p:cNvPr id="14" name="Text 10"/>
          <p:cNvSpPr/>
          <p:nvPr/>
        </p:nvSpPr>
        <p:spPr>
          <a:xfrm>
            <a:off x="4873752" y="1376317"/>
            <a:ext cx="3931920" cy="228600"/>
          </a:xfrm>
          <a:prstGeom prst="rect">
            <a:avLst/>
          </a:prstGeom>
          <a:noFill/>
          <a:ln/>
        </p:spPr>
        <p:txBody>
          <a:bodyPr wrap="square" lIns="0" tIns="0" rIns="0" bIns="0" rtlCol="0" anchor="t"/>
          <a:lstStyle/>
          <a:p>
            <a:pPr marL="0" indent="0">
              <a:buNone/>
            </a:pPr>
            <a:r>
              <a:rPr lang="en-US" sz="1000" dirty="0">
                <a:solidFill>
                  <a:srgbClr val="64748B"/>
                </a:solidFill>
              </a:rPr>
              <a:t>Siempre: Anuncio gráfico (estándar)</a:t>
            </a:r>
            <a:endParaRPr lang="en-US" sz="1000" dirty="0"/>
          </a:p>
        </p:txBody>
      </p:sp>
      <p:sp>
        <p:nvSpPr>
          <p:cNvPr id="15" name="Shape 11"/>
          <p:cNvSpPr/>
          <p:nvPr/>
        </p:nvSpPr>
        <p:spPr>
          <a:xfrm>
            <a:off x="274320" y="1801092"/>
            <a:ext cx="4206240" cy="77724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16" name="Shape 12"/>
          <p:cNvSpPr/>
          <p:nvPr/>
        </p:nvSpPr>
        <p:spPr>
          <a:xfrm>
            <a:off x="274320" y="1801092"/>
            <a:ext cx="64008" cy="777240"/>
          </a:xfrm>
          <a:prstGeom prst="rect">
            <a:avLst/>
          </a:prstGeom>
          <a:solidFill>
            <a:srgbClr val="263980"/>
          </a:solidFill>
          <a:ln w="12700">
            <a:solidFill>
              <a:srgbClr val="263980"/>
            </a:solidFill>
            <a:prstDash val="solid"/>
          </a:ln>
        </p:spPr>
        <p:txBody>
          <a:bodyPr/>
          <a:lstStyle/>
          <a:p>
            <a:endParaRPr lang="es-MX"/>
          </a:p>
        </p:txBody>
      </p:sp>
      <p:pic>
        <p:nvPicPr>
          <p:cNvPr id="17" name="Image 2" descr="preencoded.png"/>
          <p:cNvPicPr>
            <a:picLocks noChangeAspect="1"/>
          </p:cNvPicPr>
          <p:nvPr/>
        </p:nvPicPr>
        <p:blipFill>
          <a:blip r:embed="rId5"/>
          <a:stretch>
            <a:fillRect/>
          </a:stretch>
        </p:blipFill>
        <p:spPr>
          <a:xfrm>
            <a:off x="438912" y="1919964"/>
            <a:ext cx="347472" cy="347472"/>
          </a:xfrm>
          <a:prstGeom prst="rect">
            <a:avLst/>
          </a:prstGeom>
        </p:spPr>
      </p:pic>
      <p:sp>
        <p:nvSpPr>
          <p:cNvPr id="18" name="Text 13"/>
          <p:cNvSpPr/>
          <p:nvPr/>
        </p:nvSpPr>
        <p:spPr>
          <a:xfrm>
            <a:off x="868680" y="1874244"/>
            <a:ext cx="3520440" cy="320040"/>
          </a:xfrm>
          <a:prstGeom prst="rect">
            <a:avLst/>
          </a:prstGeom>
          <a:noFill/>
          <a:ln/>
        </p:spPr>
        <p:txBody>
          <a:bodyPr wrap="square" lIns="0" tIns="0" rIns="0" bIns="0" rtlCol="0" anchor="ctr"/>
          <a:lstStyle/>
          <a:p>
            <a:pPr marL="0" indent="0">
              <a:buNone/>
            </a:pPr>
            <a:r>
              <a:rPr lang="en-US" sz="1200" b="1" dirty="0">
                <a:solidFill>
                  <a:srgbClr val="263980"/>
                </a:solidFill>
              </a:rPr>
              <a:t>Tipo de línea de pedido</a:t>
            </a:r>
            <a:endParaRPr lang="en-US" sz="1200" dirty="0"/>
          </a:p>
        </p:txBody>
      </p:sp>
      <p:sp>
        <p:nvSpPr>
          <p:cNvPr id="19" name="Text 14"/>
          <p:cNvSpPr/>
          <p:nvPr/>
        </p:nvSpPr>
        <p:spPr>
          <a:xfrm>
            <a:off x="438912" y="2290717"/>
            <a:ext cx="3931920" cy="228600"/>
          </a:xfrm>
          <a:prstGeom prst="rect">
            <a:avLst/>
          </a:prstGeom>
          <a:noFill/>
          <a:ln/>
        </p:spPr>
        <p:txBody>
          <a:bodyPr wrap="square" lIns="0" tIns="0" rIns="0" bIns="0" rtlCol="0" anchor="t"/>
          <a:lstStyle/>
          <a:p>
            <a:pPr marL="0" indent="0">
              <a:buNone/>
            </a:pPr>
            <a:r>
              <a:rPr lang="en-US" sz="1000" dirty="0">
                <a:solidFill>
                  <a:srgbClr val="64748B"/>
                </a:solidFill>
              </a:rPr>
              <a:t>Define la prioridad. Usamos: Prioridad de precios (12)</a:t>
            </a:r>
            <a:endParaRPr lang="en-US" sz="1000" dirty="0"/>
          </a:p>
        </p:txBody>
      </p:sp>
      <p:sp>
        <p:nvSpPr>
          <p:cNvPr id="20" name="Shape 15"/>
          <p:cNvSpPr/>
          <p:nvPr/>
        </p:nvSpPr>
        <p:spPr>
          <a:xfrm>
            <a:off x="4709160" y="1801092"/>
            <a:ext cx="4206240" cy="77724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21" name="Shape 16"/>
          <p:cNvSpPr/>
          <p:nvPr/>
        </p:nvSpPr>
        <p:spPr>
          <a:xfrm>
            <a:off x="4709160" y="1801092"/>
            <a:ext cx="64008" cy="777240"/>
          </a:xfrm>
          <a:prstGeom prst="rect">
            <a:avLst/>
          </a:prstGeom>
          <a:solidFill>
            <a:srgbClr val="46C2CE"/>
          </a:solidFill>
          <a:ln w="12700">
            <a:solidFill>
              <a:srgbClr val="46C2CE"/>
            </a:solidFill>
            <a:prstDash val="solid"/>
          </a:ln>
        </p:spPr>
        <p:txBody>
          <a:bodyPr/>
          <a:lstStyle/>
          <a:p>
            <a:endParaRPr lang="es-MX"/>
          </a:p>
        </p:txBody>
      </p:sp>
      <p:pic>
        <p:nvPicPr>
          <p:cNvPr id="22" name="Image 3" descr="preencoded.png"/>
          <p:cNvPicPr>
            <a:picLocks noChangeAspect="1"/>
          </p:cNvPicPr>
          <p:nvPr/>
        </p:nvPicPr>
        <p:blipFill>
          <a:blip r:embed="rId6"/>
          <a:stretch>
            <a:fillRect/>
          </a:stretch>
        </p:blipFill>
        <p:spPr>
          <a:xfrm>
            <a:off x="4873752" y="1919964"/>
            <a:ext cx="347472" cy="347472"/>
          </a:xfrm>
          <a:prstGeom prst="rect">
            <a:avLst/>
          </a:prstGeom>
        </p:spPr>
      </p:pic>
      <p:sp>
        <p:nvSpPr>
          <p:cNvPr id="23" name="Text 17"/>
          <p:cNvSpPr/>
          <p:nvPr/>
        </p:nvSpPr>
        <p:spPr>
          <a:xfrm>
            <a:off x="5303520" y="1874244"/>
            <a:ext cx="3520440" cy="320040"/>
          </a:xfrm>
          <a:prstGeom prst="rect">
            <a:avLst/>
          </a:prstGeom>
          <a:noFill/>
          <a:ln/>
        </p:spPr>
        <p:txBody>
          <a:bodyPr wrap="square" lIns="0" tIns="0" rIns="0" bIns="0" rtlCol="0" anchor="ctr"/>
          <a:lstStyle/>
          <a:p>
            <a:pPr marL="0" indent="0">
              <a:buNone/>
            </a:pPr>
            <a:r>
              <a:rPr lang="en-US" sz="1200" b="1" dirty="0">
                <a:solidFill>
                  <a:srgbClr val="263980"/>
                </a:solidFill>
              </a:rPr>
              <a:t>Creatividades esperadas</a:t>
            </a:r>
            <a:endParaRPr lang="en-US" sz="1200" dirty="0"/>
          </a:p>
        </p:txBody>
      </p:sp>
      <p:sp>
        <p:nvSpPr>
          <p:cNvPr id="24" name="Text 18"/>
          <p:cNvSpPr/>
          <p:nvPr/>
        </p:nvSpPr>
        <p:spPr>
          <a:xfrm>
            <a:off x="4873752" y="2290717"/>
            <a:ext cx="3931920" cy="228600"/>
          </a:xfrm>
          <a:prstGeom prst="rect">
            <a:avLst/>
          </a:prstGeom>
          <a:noFill/>
          <a:ln/>
        </p:spPr>
        <p:txBody>
          <a:bodyPr wrap="square" lIns="0" tIns="0" rIns="0" bIns="0" rtlCol="0" anchor="t"/>
          <a:lstStyle/>
          <a:p>
            <a:pPr marL="0" indent="0">
              <a:buNone/>
            </a:pPr>
            <a:r>
              <a:rPr lang="en-US" sz="1000" dirty="0">
                <a:solidFill>
                  <a:srgbClr val="64748B"/>
                </a:solidFill>
              </a:rPr>
              <a:t>Tamaños que recibirá: 728x90, 300x600, 300x250, 300x100</a:t>
            </a:r>
            <a:endParaRPr lang="en-US" sz="1000" dirty="0"/>
          </a:p>
        </p:txBody>
      </p:sp>
      <p:sp>
        <p:nvSpPr>
          <p:cNvPr id="25" name="Shape 19"/>
          <p:cNvSpPr/>
          <p:nvPr/>
        </p:nvSpPr>
        <p:spPr>
          <a:xfrm>
            <a:off x="274320" y="2715492"/>
            <a:ext cx="4206240" cy="77724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26" name="Shape 20"/>
          <p:cNvSpPr/>
          <p:nvPr/>
        </p:nvSpPr>
        <p:spPr>
          <a:xfrm>
            <a:off x="274320" y="2715492"/>
            <a:ext cx="64008" cy="777240"/>
          </a:xfrm>
          <a:prstGeom prst="rect">
            <a:avLst/>
          </a:prstGeom>
          <a:solidFill>
            <a:srgbClr val="7F52A0"/>
          </a:solidFill>
          <a:ln w="12700">
            <a:solidFill>
              <a:srgbClr val="7F52A0"/>
            </a:solidFill>
            <a:prstDash val="solid"/>
          </a:ln>
        </p:spPr>
        <p:txBody>
          <a:bodyPr/>
          <a:lstStyle/>
          <a:p>
            <a:endParaRPr lang="es-MX"/>
          </a:p>
        </p:txBody>
      </p:sp>
      <p:pic>
        <p:nvPicPr>
          <p:cNvPr id="27" name="Image 4" descr="preencoded.png"/>
          <p:cNvPicPr>
            <a:picLocks noChangeAspect="1"/>
          </p:cNvPicPr>
          <p:nvPr/>
        </p:nvPicPr>
        <p:blipFill>
          <a:blip r:embed="rId7"/>
          <a:stretch>
            <a:fillRect/>
          </a:stretch>
        </p:blipFill>
        <p:spPr>
          <a:xfrm>
            <a:off x="438912" y="2834364"/>
            <a:ext cx="347472" cy="347472"/>
          </a:xfrm>
          <a:prstGeom prst="rect">
            <a:avLst/>
          </a:prstGeom>
        </p:spPr>
      </p:pic>
      <p:sp>
        <p:nvSpPr>
          <p:cNvPr id="28" name="Text 21"/>
          <p:cNvSpPr/>
          <p:nvPr/>
        </p:nvSpPr>
        <p:spPr>
          <a:xfrm>
            <a:off x="868680" y="2788644"/>
            <a:ext cx="3520440" cy="320040"/>
          </a:xfrm>
          <a:prstGeom prst="rect">
            <a:avLst/>
          </a:prstGeom>
          <a:noFill/>
          <a:ln/>
        </p:spPr>
        <p:txBody>
          <a:bodyPr wrap="square" lIns="0" tIns="0" rIns="0" bIns="0" rtlCol="0" anchor="ctr"/>
          <a:lstStyle/>
          <a:p>
            <a:pPr marL="0" indent="0">
              <a:buNone/>
            </a:pPr>
            <a:r>
              <a:rPr lang="en-US" sz="1200" b="1" dirty="0">
                <a:solidFill>
                  <a:srgbClr val="263980"/>
                </a:solidFill>
              </a:rPr>
              <a:t>Configuración de publicación</a:t>
            </a:r>
            <a:endParaRPr lang="en-US" sz="1200" dirty="0"/>
          </a:p>
        </p:txBody>
      </p:sp>
      <p:sp>
        <p:nvSpPr>
          <p:cNvPr id="29" name="Text 22"/>
          <p:cNvSpPr/>
          <p:nvPr/>
        </p:nvSpPr>
        <p:spPr>
          <a:xfrm>
            <a:off x="438912" y="3205117"/>
            <a:ext cx="3931920" cy="228600"/>
          </a:xfrm>
          <a:prstGeom prst="rect">
            <a:avLst/>
          </a:prstGeom>
          <a:noFill/>
          <a:ln/>
        </p:spPr>
        <p:txBody>
          <a:bodyPr wrap="square" lIns="0" tIns="0" rIns="0" bIns="0" rtlCol="0" anchor="t"/>
          <a:lstStyle/>
          <a:p>
            <a:pPr marL="0" indent="0">
              <a:buNone/>
            </a:pPr>
            <a:r>
              <a:rPr lang="en-US" sz="1000" dirty="0">
                <a:solidFill>
                  <a:srgbClr val="64748B"/>
                </a:solidFill>
              </a:rPr>
              <a:t>Inicio/fin de campaña, límite de impresiones, tarifa CPM</a:t>
            </a:r>
            <a:endParaRPr lang="en-US" sz="1000" dirty="0"/>
          </a:p>
        </p:txBody>
      </p:sp>
      <p:sp>
        <p:nvSpPr>
          <p:cNvPr id="30" name="Shape 23"/>
          <p:cNvSpPr/>
          <p:nvPr/>
        </p:nvSpPr>
        <p:spPr>
          <a:xfrm>
            <a:off x="4709160" y="2715492"/>
            <a:ext cx="4206240" cy="77724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31" name="Shape 24"/>
          <p:cNvSpPr/>
          <p:nvPr/>
        </p:nvSpPr>
        <p:spPr>
          <a:xfrm>
            <a:off x="4709160" y="2715492"/>
            <a:ext cx="64008" cy="777240"/>
          </a:xfrm>
          <a:prstGeom prst="rect">
            <a:avLst/>
          </a:prstGeom>
          <a:solidFill>
            <a:srgbClr val="263980"/>
          </a:solidFill>
          <a:ln w="12700">
            <a:solidFill>
              <a:srgbClr val="263980"/>
            </a:solidFill>
            <a:prstDash val="solid"/>
          </a:ln>
        </p:spPr>
        <p:txBody>
          <a:bodyPr/>
          <a:lstStyle/>
          <a:p>
            <a:endParaRPr lang="es-MX"/>
          </a:p>
        </p:txBody>
      </p:sp>
      <p:pic>
        <p:nvPicPr>
          <p:cNvPr id="32" name="Image 5" descr="preencoded.png"/>
          <p:cNvPicPr>
            <a:picLocks noChangeAspect="1"/>
          </p:cNvPicPr>
          <p:nvPr/>
        </p:nvPicPr>
        <p:blipFill>
          <a:blip r:embed="rId4"/>
          <a:stretch>
            <a:fillRect/>
          </a:stretch>
        </p:blipFill>
        <p:spPr>
          <a:xfrm>
            <a:off x="4873752" y="2834364"/>
            <a:ext cx="347472" cy="347472"/>
          </a:xfrm>
          <a:prstGeom prst="rect">
            <a:avLst/>
          </a:prstGeom>
        </p:spPr>
      </p:pic>
      <p:sp>
        <p:nvSpPr>
          <p:cNvPr id="33" name="Text 25"/>
          <p:cNvSpPr/>
          <p:nvPr/>
        </p:nvSpPr>
        <p:spPr>
          <a:xfrm>
            <a:off x="5303520" y="2788644"/>
            <a:ext cx="3520440" cy="320040"/>
          </a:xfrm>
          <a:prstGeom prst="rect">
            <a:avLst/>
          </a:prstGeom>
          <a:noFill/>
          <a:ln/>
        </p:spPr>
        <p:txBody>
          <a:bodyPr wrap="square" lIns="0" tIns="0" rIns="0" bIns="0" rtlCol="0" anchor="ctr"/>
          <a:lstStyle/>
          <a:p>
            <a:pPr marL="0" indent="0">
              <a:buNone/>
            </a:pPr>
            <a:r>
              <a:rPr lang="en-US" sz="1200" b="1" dirty="0">
                <a:solidFill>
                  <a:srgbClr val="263980"/>
                </a:solidFill>
              </a:rPr>
              <a:t>Ajustar publicación</a:t>
            </a:r>
            <a:endParaRPr lang="en-US" sz="1200" dirty="0"/>
          </a:p>
        </p:txBody>
      </p:sp>
      <p:sp>
        <p:nvSpPr>
          <p:cNvPr id="34" name="Text 26"/>
          <p:cNvSpPr/>
          <p:nvPr/>
        </p:nvSpPr>
        <p:spPr>
          <a:xfrm>
            <a:off x="4873752" y="3205117"/>
            <a:ext cx="3931920" cy="228600"/>
          </a:xfrm>
          <a:prstGeom prst="rect">
            <a:avLst/>
          </a:prstGeom>
          <a:noFill/>
          <a:ln/>
        </p:spPr>
        <p:txBody>
          <a:bodyPr wrap="square" lIns="0" tIns="0" rIns="0" bIns="0" rtlCol="0" anchor="t"/>
          <a:lstStyle/>
          <a:p>
            <a:pPr marL="0" indent="0">
              <a:buNone/>
            </a:pPr>
            <a:r>
              <a:rPr lang="en-US" sz="1000" dirty="0">
                <a:solidFill>
                  <a:srgbClr val="64748B"/>
                </a:solidFill>
              </a:rPr>
              <a:t>Rotación de creatividades, días/horarios, frecuencia (Frequency Cap)</a:t>
            </a:r>
            <a:endParaRPr lang="en-US" sz="1000" dirty="0"/>
          </a:p>
        </p:txBody>
      </p:sp>
      <p:sp>
        <p:nvSpPr>
          <p:cNvPr id="35" name="Shape 27"/>
          <p:cNvSpPr/>
          <p:nvPr/>
        </p:nvSpPr>
        <p:spPr>
          <a:xfrm>
            <a:off x="274320" y="3629892"/>
            <a:ext cx="8595360" cy="777240"/>
          </a:xfrm>
          <a:prstGeom prst="rect">
            <a:avLst/>
          </a:prstGeom>
          <a:solidFill>
            <a:srgbClr val="FFFFFF"/>
          </a:solidFill>
          <a:ln w="12700">
            <a:solidFill>
              <a:srgbClr val="CBD5E1"/>
            </a:solidFill>
            <a:prstDash val="solid"/>
          </a:ln>
          <a:effectLst>
            <a:outerShdw blurRad="101600" dist="38100" dir="8100000" algn="bl" rotWithShape="0">
              <a:srgbClr val="000000">
                <a:alpha val="8000"/>
              </a:srgbClr>
            </a:outerShdw>
          </a:effectLst>
        </p:spPr>
        <p:txBody>
          <a:bodyPr/>
          <a:lstStyle/>
          <a:p>
            <a:endParaRPr lang="es-MX"/>
          </a:p>
        </p:txBody>
      </p:sp>
      <p:sp>
        <p:nvSpPr>
          <p:cNvPr id="36" name="Shape 28"/>
          <p:cNvSpPr/>
          <p:nvPr/>
        </p:nvSpPr>
        <p:spPr>
          <a:xfrm>
            <a:off x="274320" y="3629892"/>
            <a:ext cx="64008" cy="777240"/>
          </a:xfrm>
          <a:prstGeom prst="rect">
            <a:avLst/>
          </a:prstGeom>
          <a:solidFill>
            <a:srgbClr val="46C2CE"/>
          </a:solidFill>
          <a:ln w="12700">
            <a:solidFill>
              <a:srgbClr val="46C2CE"/>
            </a:solidFill>
            <a:prstDash val="solid"/>
          </a:ln>
        </p:spPr>
        <p:txBody>
          <a:bodyPr/>
          <a:lstStyle/>
          <a:p>
            <a:endParaRPr lang="es-MX"/>
          </a:p>
        </p:txBody>
      </p:sp>
      <p:pic>
        <p:nvPicPr>
          <p:cNvPr id="37" name="Image 6" descr="preencoded.png"/>
          <p:cNvPicPr>
            <a:picLocks noChangeAspect="1"/>
          </p:cNvPicPr>
          <p:nvPr/>
        </p:nvPicPr>
        <p:blipFill>
          <a:blip r:embed="rId8"/>
          <a:stretch>
            <a:fillRect/>
          </a:stretch>
        </p:blipFill>
        <p:spPr>
          <a:xfrm>
            <a:off x="438912" y="3748764"/>
            <a:ext cx="347472" cy="347472"/>
          </a:xfrm>
          <a:prstGeom prst="rect">
            <a:avLst/>
          </a:prstGeom>
        </p:spPr>
      </p:pic>
      <p:sp>
        <p:nvSpPr>
          <p:cNvPr id="38" name="Text 29"/>
          <p:cNvSpPr/>
          <p:nvPr/>
        </p:nvSpPr>
        <p:spPr>
          <a:xfrm>
            <a:off x="868680" y="3703044"/>
            <a:ext cx="7909560" cy="320040"/>
          </a:xfrm>
          <a:prstGeom prst="rect">
            <a:avLst/>
          </a:prstGeom>
          <a:noFill/>
          <a:ln/>
        </p:spPr>
        <p:txBody>
          <a:bodyPr wrap="square" lIns="0" tIns="0" rIns="0" bIns="0" rtlCol="0" anchor="ctr"/>
          <a:lstStyle/>
          <a:p>
            <a:pPr marL="0" indent="0">
              <a:buNone/>
            </a:pPr>
            <a:r>
              <a:rPr lang="en-US" sz="1200" b="1" dirty="0">
                <a:solidFill>
                  <a:srgbClr val="263980"/>
                </a:solidFill>
              </a:rPr>
              <a:t>Agregar segmentación</a:t>
            </a:r>
            <a:endParaRPr lang="en-US" sz="1200" dirty="0"/>
          </a:p>
        </p:txBody>
      </p:sp>
      <p:sp>
        <p:nvSpPr>
          <p:cNvPr id="39" name="Text 30"/>
          <p:cNvSpPr/>
          <p:nvPr/>
        </p:nvSpPr>
        <p:spPr>
          <a:xfrm>
            <a:off x="438912" y="4119517"/>
            <a:ext cx="8321040" cy="228600"/>
          </a:xfrm>
          <a:prstGeom prst="rect">
            <a:avLst/>
          </a:prstGeom>
          <a:noFill/>
          <a:ln/>
        </p:spPr>
        <p:txBody>
          <a:bodyPr wrap="square" lIns="0" tIns="0" rIns="0" bIns="0" rtlCol="0" anchor="t"/>
          <a:lstStyle/>
          <a:p>
            <a:pPr marL="0" indent="0">
              <a:buNone/>
            </a:pPr>
            <a:r>
              <a:rPr lang="en-US" sz="1000" dirty="0">
                <a:solidFill>
                  <a:srgbClr val="64748B"/>
                </a:solidFill>
              </a:rPr>
              <a:t>DÓNDE y PARA QUIÉN: keyword del cliente + secciones del sitio</a:t>
            </a:r>
            <a:endParaRPr lang="en-US" sz="1000" dirty="0"/>
          </a:p>
        </p:txBody>
      </p:sp>
      <p:sp>
        <p:nvSpPr>
          <p:cNvPr id="42" name="Shape 33"/>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43" name="Text 34"/>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46" name="Gráfico 45">
            <a:extLst>
              <a:ext uri="{FF2B5EF4-FFF2-40B4-BE49-F238E27FC236}">
                <a16:creationId xmlns:a16="http://schemas.microsoft.com/office/drawing/2014/main" id="{6FEB2F7E-0451-48ED-376E-CB902883E10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80533" y="4731536"/>
            <a:ext cx="1393444" cy="540000"/>
          </a:xfrm>
          <a:prstGeom prst="rect">
            <a:avLst/>
          </a:prstGeom>
        </p:spPr>
      </p:pic>
      <p:grpSp>
        <p:nvGrpSpPr>
          <p:cNvPr id="45" name="Grupo 44">
            <a:extLst>
              <a:ext uri="{FF2B5EF4-FFF2-40B4-BE49-F238E27FC236}">
                <a16:creationId xmlns:a16="http://schemas.microsoft.com/office/drawing/2014/main" id="{7C60A64E-1F7C-4FA6-9ECD-28C20231DBCB}"/>
              </a:ext>
            </a:extLst>
          </p:cNvPr>
          <p:cNvGrpSpPr/>
          <p:nvPr/>
        </p:nvGrpSpPr>
        <p:grpSpPr>
          <a:xfrm>
            <a:off x="274320" y="4508268"/>
            <a:ext cx="8595360" cy="274320"/>
            <a:chOff x="274320" y="4315968"/>
            <a:chExt cx="8595360" cy="438912"/>
          </a:xfrm>
        </p:grpSpPr>
        <p:sp>
          <p:nvSpPr>
            <p:cNvPr id="47" name="Shape 31"/>
            <p:cNvSpPr/>
            <p:nvPr/>
          </p:nvSpPr>
          <p:spPr>
            <a:xfrm>
              <a:off x="274320" y="4315968"/>
              <a:ext cx="8595360" cy="438912"/>
            </a:xfrm>
            <a:prstGeom prst="rect">
              <a:avLst/>
            </a:prstGeom>
            <a:solidFill>
              <a:srgbClr val="E8E0F5"/>
            </a:solidFill>
            <a:ln w="12700">
              <a:solidFill>
                <a:srgbClr val="7F52A0"/>
              </a:solidFill>
              <a:prstDash val="solid"/>
            </a:ln>
          </p:spPr>
          <p:txBody>
            <a:bodyPr/>
            <a:lstStyle/>
            <a:p>
              <a:endParaRPr lang="es-MX"/>
            </a:p>
          </p:txBody>
        </p:sp>
        <p:sp>
          <p:nvSpPr>
            <p:cNvPr id="48" name="Text 32"/>
            <p:cNvSpPr/>
            <p:nvPr/>
          </p:nvSpPr>
          <p:spPr>
            <a:xfrm>
              <a:off x="457200" y="4343400"/>
              <a:ext cx="8229600" cy="384048"/>
            </a:xfrm>
            <a:prstGeom prst="rect">
              <a:avLst/>
            </a:prstGeom>
            <a:noFill/>
            <a:ln/>
          </p:spPr>
          <p:txBody>
            <a:bodyPr wrap="square" lIns="0" tIns="0" rIns="0" bIns="0" rtlCol="0" anchor="ctr"/>
            <a:lstStyle/>
            <a:p>
              <a:pPr marL="0" indent="0">
                <a:buNone/>
              </a:pPr>
              <a:r>
                <a:rPr lang="en-US" sz="1000" dirty="0">
                  <a:solidFill>
                    <a:srgbClr val="2C1A56"/>
                  </a:solidFill>
                </a:rPr>
                <a:t>🏆  Prioridades:  Patrocinio (4) &gt; Estándar (6-10) &gt; Prioridad de precios (12) &gt; Propia (16)  —  Número más bajo = mayor prioridad</a:t>
              </a:r>
              <a:endParaRPr lang="en-US" sz="10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C1A56"/>
          </a:solidFill>
          <a:ln w="12700">
            <a:solidFill>
              <a:srgbClr val="2C1A56"/>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Proceso 4 — Generar URLs con UTM</a:t>
            </a:r>
            <a:endParaRPr lang="en-US" sz="2000" dirty="0"/>
          </a:p>
        </p:txBody>
      </p:sp>
      <p:sp>
        <p:nvSpPr>
          <p:cNvPr id="5" name="Text 3"/>
          <p:cNvSpPr/>
          <p:nvPr/>
        </p:nvSpPr>
        <p:spPr>
          <a:xfrm>
            <a:off x="274320" y="896112"/>
            <a:ext cx="8595360" cy="320040"/>
          </a:xfrm>
          <a:prstGeom prst="rect">
            <a:avLst/>
          </a:prstGeom>
          <a:noFill/>
          <a:ln/>
        </p:spPr>
        <p:txBody>
          <a:bodyPr wrap="square" lIns="0" tIns="0" rIns="0" bIns="0" rtlCol="0" anchor="ctr"/>
          <a:lstStyle/>
          <a:p>
            <a:pPr marL="0" indent="0">
              <a:buNone/>
            </a:pPr>
            <a:r>
              <a:rPr lang="en-US" sz="1400" b="1" dirty="0">
                <a:solidFill>
                  <a:srgbClr val="263980"/>
                </a:solidFill>
              </a:rPr>
              <a:t>¿Qué es un UTM?</a:t>
            </a:r>
            <a:endParaRPr lang="en-US" sz="1400" dirty="0"/>
          </a:p>
        </p:txBody>
      </p:sp>
      <p:sp>
        <p:nvSpPr>
          <p:cNvPr id="6" name="Text 4"/>
          <p:cNvSpPr/>
          <p:nvPr/>
        </p:nvSpPr>
        <p:spPr>
          <a:xfrm>
            <a:off x="274320" y="1234440"/>
            <a:ext cx="8595360" cy="411480"/>
          </a:xfrm>
          <a:prstGeom prst="rect">
            <a:avLst/>
          </a:prstGeom>
          <a:noFill/>
          <a:ln/>
        </p:spPr>
        <p:txBody>
          <a:bodyPr wrap="square" lIns="0" tIns="0" rIns="0" bIns="0" rtlCol="0" anchor="ctr"/>
          <a:lstStyle/>
          <a:p>
            <a:pPr marL="0" indent="0">
              <a:buNone/>
            </a:pPr>
            <a:r>
              <a:rPr lang="en-US" sz="1100" dirty="0">
                <a:solidFill>
                  <a:srgbClr val="64748B"/>
                </a:solidFill>
              </a:rPr>
              <a:t>Un UTM es un código añadido al final de una URL para que Google Analytics sepa de dónde viene el usuario que hizo clic en el banner. Sin UTM, ese tráfico llega como 'directo' y no puedes rastrearlo.</a:t>
            </a:r>
            <a:endParaRPr lang="en-US" sz="1100" dirty="0"/>
          </a:p>
        </p:txBody>
      </p:sp>
      <p:sp>
        <p:nvSpPr>
          <p:cNvPr id="7" name="Shape 5"/>
          <p:cNvSpPr/>
          <p:nvPr/>
        </p:nvSpPr>
        <p:spPr>
          <a:xfrm>
            <a:off x="274320" y="1719072"/>
            <a:ext cx="4114800" cy="868680"/>
          </a:xfrm>
          <a:prstGeom prst="rect">
            <a:avLst/>
          </a:prstGeom>
          <a:solidFill>
            <a:srgbClr val="FFE8E8"/>
          </a:solidFill>
          <a:ln w="12700">
            <a:solidFill>
              <a:srgbClr val="FF6B6B"/>
            </a:solidFill>
            <a:prstDash val="solid"/>
          </a:ln>
        </p:spPr>
        <p:txBody>
          <a:bodyPr/>
          <a:lstStyle/>
          <a:p>
            <a:endParaRPr lang="es-MX"/>
          </a:p>
        </p:txBody>
      </p:sp>
      <p:sp>
        <p:nvSpPr>
          <p:cNvPr id="8" name="Text 6"/>
          <p:cNvSpPr/>
          <p:nvPr/>
        </p:nvSpPr>
        <p:spPr>
          <a:xfrm>
            <a:off x="411480" y="1755648"/>
            <a:ext cx="3840480" cy="256032"/>
          </a:xfrm>
          <a:prstGeom prst="rect">
            <a:avLst/>
          </a:prstGeom>
          <a:noFill/>
          <a:ln/>
        </p:spPr>
        <p:txBody>
          <a:bodyPr wrap="square" lIns="0" tIns="0" rIns="0" bIns="0" rtlCol="0" anchor="ctr"/>
          <a:lstStyle/>
          <a:p>
            <a:pPr marL="0" indent="0">
              <a:buNone/>
            </a:pPr>
            <a:r>
              <a:rPr lang="en-US" sz="1000" b="1" dirty="0">
                <a:solidFill>
                  <a:srgbClr val="CC0000"/>
                </a:solidFill>
              </a:rPr>
              <a:t>❌  SIN UTM</a:t>
            </a:r>
            <a:endParaRPr lang="en-US" sz="1000" dirty="0"/>
          </a:p>
        </p:txBody>
      </p:sp>
      <p:sp>
        <p:nvSpPr>
          <p:cNvPr id="9" name="Text 7"/>
          <p:cNvSpPr/>
          <p:nvPr/>
        </p:nvSpPr>
        <p:spPr>
          <a:xfrm>
            <a:off x="411480" y="2029968"/>
            <a:ext cx="3840480" cy="457200"/>
          </a:xfrm>
          <a:prstGeom prst="rect">
            <a:avLst/>
          </a:prstGeom>
          <a:noFill/>
          <a:ln/>
        </p:spPr>
        <p:txBody>
          <a:bodyPr wrap="square" lIns="0" tIns="0" rIns="0" bIns="0" rtlCol="0" anchor="ctr"/>
          <a:lstStyle/>
          <a:p>
            <a:pPr marL="0" indent="0">
              <a:buNone/>
            </a:pPr>
            <a:r>
              <a:rPr lang="en-US" sz="900" dirty="0">
                <a:solidFill>
                  <a:srgbClr val="993333"/>
                </a:solidFill>
                <a:latin typeface="Consolas" pitchFamily="34" charset="0"/>
                <a:ea typeface="Consolas" pitchFamily="34" charset="-122"/>
                <a:cs typeface="Consolas" pitchFamily="34" charset="-120"/>
              </a:rPr>
              <a:t>https://www.benedual.com/producto</a:t>
            </a:r>
            <a:endParaRPr lang="en-US" sz="900" dirty="0"/>
          </a:p>
        </p:txBody>
      </p:sp>
      <p:sp>
        <p:nvSpPr>
          <p:cNvPr id="10" name="Shape 8"/>
          <p:cNvSpPr/>
          <p:nvPr/>
        </p:nvSpPr>
        <p:spPr>
          <a:xfrm>
            <a:off x="4663440" y="1719072"/>
            <a:ext cx="4206240" cy="868680"/>
          </a:xfrm>
          <a:prstGeom prst="rect">
            <a:avLst/>
          </a:prstGeom>
          <a:solidFill>
            <a:srgbClr val="E8F5E9"/>
          </a:solidFill>
          <a:ln w="12700">
            <a:solidFill>
              <a:srgbClr val="4CAF50"/>
            </a:solidFill>
            <a:prstDash val="solid"/>
          </a:ln>
        </p:spPr>
        <p:txBody>
          <a:bodyPr/>
          <a:lstStyle/>
          <a:p>
            <a:endParaRPr lang="es-MX"/>
          </a:p>
        </p:txBody>
      </p:sp>
      <p:sp>
        <p:nvSpPr>
          <p:cNvPr id="11" name="Text 9"/>
          <p:cNvSpPr/>
          <p:nvPr/>
        </p:nvSpPr>
        <p:spPr>
          <a:xfrm>
            <a:off x="4800600" y="1755648"/>
            <a:ext cx="3840480" cy="256032"/>
          </a:xfrm>
          <a:prstGeom prst="rect">
            <a:avLst/>
          </a:prstGeom>
          <a:noFill/>
          <a:ln/>
        </p:spPr>
        <p:txBody>
          <a:bodyPr wrap="square" lIns="0" tIns="0" rIns="0" bIns="0" rtlCol="0" anchor="ctr"/>
          <a:lstStyle/>
          <a:p>
            <a:pPr marL="0" indent="0">
              <a:buNone/>
            </a:pPr>
            <a:r>
              <a:rPr lang="en-US" sz="1000" b="1" dirty="0">
                <a:solidFill>
                  <a:srgbClr val="2E7D32"/>
                </a:solidFill>
              </a:rPr>
              <a:t>✅  CON UTM</a:t>
            </a:r>
            <a:endParaRPr lang="en-US" sz="1000" dirty="0"/>
          </a:p>
        </p:txBody>
      </p:sp>
      <p:sp>
        <p:nvSpPr>
          <p:cNvPr id="12" name="Text 10"/>
          <p:cNvSpPr/>
          <p:nvPr/>
        </p:nvSpPr>
        <p:spPr>
          <a:xfrm>
            <a:off x="4800600" y="2029968"/>
            <a:ext cx="3931920" cy="502920"/>
          </a:xfrm>
          <a:prstGeom prst="rect">
            <a:avLst/>
          </a:prstGeom>
          <a:noFill/>
          <a:ln/>
        </p:spPr>
        <p:txBody>
          <a:bodyPr wrap="square" lIns="0" tIns="0" rIns="0" bIns="0" rtlCol="0" anchor="ctr"/>
          <a:lstStyle/>
          <a:p>
            <a:pPr marL="0" indent="0">
              <a:buNone/>
            </a:pPr>
            <a:r>
              <a:rPr lang="en-US" sz="800" dirty="0">
                <a:solidFill>
                  <a:srgbClr val="1B5E20"/>
                </a:solidFill>
                <a:latin typeface="Consolas" pitchFamily="34" charset="0"/>
                <a:ea typeface="Consolas" pitchFamily="34" charset="-122"/>
                <a:cs typeface="Consolas" pitchFamily="34" charset="-120"/>
              </a:rPr>
              <a:t>https://benedual.com/producto?utm_source=mibebeyyo</a:t>
            </a:r>
            <a:endParaRPr lang="en-US" sz="800" dirty="0"/>
          </a:p>
          <a:p>
            <a:pPr marL="0" indent="0">
              <a:buNone/>
            </a:pPr>
            <a:r>
              <a:rPr lang="en-US" sz="800" dirty="0">
                <a:solidFill>
                  <a:srgbClr val="1B5E20"/>
                </a:solidFill>
                <a:latin typeface="Consolas" pitchFamily="34" charset="0"/>
                <a:ea typeface="Consolas" pitchFamily="34" charset="-122"/>
                <a:cs typeface="Consolas" pitchFamily="34" charset="-120"/>
              </a:rPr>
              <a:t>&amp;utm_medium=display&amp;utm_campaign=benedual-jun2026</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2743200"/>
          <a:ext cx="8595360" cy="1257300"/>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rPr>
                        <a:t>Campo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263980"/>
                    </a:solidFill>
                  </a:tcPr>
                </a:tc>
                <a:tc>
                  <a:txBody>
                    <a:bodyPr/>
                    <a:lstStyle/>
                    <a:p>
                      <a:pPr marL="0" indent="0">
                        <a:buNone/>
                      </a:pPr>
                      <a:r>
                        <a:rPr lang="en-US" sz="1050" b="1" dirty="0">
                          <a:solidFill>
                            <a:srgbClr val="FFFFFF"/>
                          </a:solidFill>
                        </a:rPr>
                        <a:t>Qué poner</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263980"/>
                    </a:solidFill>
                  </a:tcPr>
                </a:tc>
                <a:tc>
                  <a:txBody>
                    <a:bodyPr/>
                    <a:lstStyle/>
                    <a:p>
                      <a:pPr marL="0" indent="0">
                        <a:buNone/>
                      </a:pPr>
                      <a:r>
                        <a:rPr lang="en-US" sz="1050" b="1" dirty="0">
                          <a:solidFill>
                            <a:srgbClr val="FFFFFF"/>
                          </a:solidFill>
                        </a:rPr>
                        <a:t>Ejemplo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263980"/>
                    </a:solidFill>
                  </a:tcPr>
                </a:tc>
                <a:extLst>
                  <a:ext uri="{0D108BD9-81ED-4DB2-BD59-A6C34878D82A}">
                    <a16:rowId xmlns:a16="http://schemas.microsoft.com/office/drawing/2014/main" val="10000"/>
                  </a:ext>
                </a:extLst>
              </a:tr>
              <a:tr h="0">
                <a:tc>
                  <a:txBody>
                    <a:bodyPr/>
                    <a:lstStyle/>
                    <a:p>
                      <a:pPr marL="0" indent="0">
                        <a:buNone/>
                      </a:pPr>
                      <a:r>
                        <a:rPr lang="en-US" sz="1050" dirty="0">
                          <a:solidFill>
                            <a:srgbClr val="1A1040"/>
                          </a:solidFill>
                        </a:rPr>
                        <a:t>Website URL</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1A1040"/>
                          </a:solidFill>
                        </a:rPr>
                        <a:t>La URL base del cliente</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1A1040"/>
                          </a:solidFill>
                        </a:rPr>
                        <a:t>https://www.benedual.com</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dirty="0">
                          <a:solidFill>
                            <a:srgbClr val="1A1040"/>
                          </a:solidFill>
                        </a:rPr>
                        <a:t>Campaign Source</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1A1040"/>
                          </a:solidFill>
                        </a:rPr>
                        <a:t>De dónde viene el tráfico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1A1040"/>
                          </a:solidFill>
                        </a:rPr>
                        <a:t>mibebeyyo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dirty="0">
                          <a:solidFill>
                            <a:srgbClr val="1A1040"/>
                          </a:solidFill>
                        </a:rPr>
                        <a:t>Campaign Medium</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1A1040"/>
                          </a:solidFill>
                        </a:rPr>
                        <a:t>Tipo de anuncio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1A1040"/>
                          </a:solidFill>
                        </a:rPr>
                        <a:t>display</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50" dirty="0">
                          <a:solidFill>
                            <a:srgbClr val="1A1040"/>
                          </a:solidFill>
                        </a:rPr>
                        <a:t>Campaign Name</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1A1040"/>
                          </a:solidFill>
                        </a:rPr>
                        <a:t>Nombre de la campaña</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1A1040"/>
                          </a:solidFill>
                        </a:rPr>
                        <a:t>benedual-jun2026</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Shape 11"/>
          <p:cNvSpPr/>
          <p:nvPr/>
        </p:nvSpPr>
        <p:spPr>
          <a:xfrm>
            <a:off x="274320" y="4178808"/>
            <a:ext cx="8595360" cy="320040"/>
          </a:xfrm>
          <a:prstGeom prst="rect">
            <a:avLst/>
          </a:prstGeom>
          <a:solidFill>
            <a:srgbClr val="D0F4F7"/>
          </a:solidFill>
          <a:ln w="12700">
            <a:solidFill>
              <a:srgbClr val="46C2CE"/>
            </a:solidFill>
            <a:prstDash val="solid"/>
          </a:ln>
        </p:spPr>
        <p:txBody>
          <a:bodyPr/>
          <a:lstStyle/>
          <a:p>
            <a:endParaRPr lang="es-MX"/>
          </a:p>
        </p:txBody>
      </p:sp>
      <p:sp>
        <p:nvSpPr>
          <p:cNvPr id="15" name="Text 12"/>
          <p:cNvSpPr/>
          <p:nvPr/>
        </p:nvSpPr>
        <p:spPr>
          <a:xfrm>
            <a:off x="457200" y="4197096"/>
            <a:ext cx="8229600" cy="274320"/>
          </a:xfrm>
          <a:prstGeom prst="rect">
            <a:avLst/>
          </a:prstGeom>
          <a:noFill/>
          <a:ln/>
        </p:spPr>
        <p:txBody>
          <a:bodyPr wrap="square" lIns="0" tIns="0" rIns="0" bIns="0" rtlCol="0" anchor="ctr"/>
          <a:lstStyle/>
          <a:p>
            <a:pPr marL="0" indent="0">
              <a:buNone/>
            </a:pPr>
            <a:r>
              <a:rPr lang="en-US" sz="950" dirty="0">
                <a:solidFill>
                  <a:srgbClr val="263980"/>
                </a:solidFill>
              </a:rPr>
              <a:t>🔗  Herramienta:  https://ga-dev-tools.google/campaign-url-builder/  —  Genera la URL automáticamente llenando los campos</a:t>
            </a:r>
            <a:endParaRPr lang="en-US" sz="950" dirty="0"/>
          </a:p>
        </p:txBody>
      </p:sp>
      <p:sp>
        <p:nvSpPr>
          <p:cNvPr id="16" name="Shape 13"/>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17" name="Text 14"/>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20" name="Gráfico 19">
            <a:extLst>
              <a:ext uri="{FF2B5EF4-FFF2-40B4-BE49-F238E27FC236}">
                <a16:creationId xmlns:a16="http://schemas.microsoft.com/office/drawing/2014/main" id="{F91A17A2-14CF-A92A-C0E4-436B6FC6CA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C1A56"/>
        </a:solidFill>
        <a:effectLst/>
      </p:bgPr>
    </p:bg>
    <p:spTree>
      <p:nvGrpSpPr>
        <p:cNvPr id="1" name=""/>
        <p:cNvGrpSpPr/>
        <p:nvPr/>
      </p:nvGrpSpPr>
      <p:grpSpPr>
        <a:xfrm>
          <a:off x="0" y="0"/>
          <a:ext cx="0" cy="0"/>
          <a:chOff x="0" y="0"/>
          <a:chExt cx="0" cy="0"/>
        </a:xfrm>
      </p:grpSpPr>
      <p:sp>
        <p:nvSpPr>
          <p:cNvPr id="2" name="Shape 0"/>
          <p:cNvSpPr/>
          <p:nvPr/>
        </p:nvSpPr>
        <p:spPr>
          <a:xfrm>
            <a:off x="-1097280" y="-1097280"/>
            <a:ext cx="4572000" cy="4572000"/>
          </a:xfrm>
          <a:prstGeom prst="ellipse">
            <a:avLst/>
          </a:prstGeom>
          <a:solidFill>
            <a:srgbClr val="263980">
              <a:alpha val="70000"/>
            </a:srgbClr>
          </a:solidFill>
          <a:ln w="12700">
            <a:solidFill>
              <a:srgbClr val="26398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6583680" y="2560320"/>
            <a:ext cx="4114800" cy="4114800"/>
          </a:xfrm>
          <a:prstGeom prst="ellipse">
            <a:avLst/>
          </a:prstGeom>
          <a:solidFill>
            <a:srgbClr val="46C2CE">
              <a:alpha val="25000"/>
            </a:srgbClr>
          </a:solidFill>
          <a:ln w="12700">
            <a:solidFill>
              <a:srgbClr val="46C2CE">
                <a:alpha val="2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5943600" y="-731520"/>
            <a:ext cx="2743200" cy="2743200"/>
          </a:xfrm>
          <a:prstGeom prst="ellipse">
            <a:avLst/>
          </a:prstGeom>
          <a:solidFill>
            <a:srgbClr val="7F52A0">
              <a:alpha val="40000"/>
            </a:srgbClr>
          </a:solidFill>
          <a:ln w="12700">
            <a:solidFill>
              <a:srgbClr val="7F52A0">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4846320"/>
            <a:ext cx="9144000" cy="297180"/>
          </a:xfrm>
          <a:prstGeom prst="rect">
            <a:avLst/>
          </a:prstGeom>
          <a:solidFill>
            <a:srgbClr val="263980"/>
          </a:solidFill>
          <a:ln w="12700">
            <a:solidFill>
              <a:srgbClr val="2639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0" y="4846320"/>
            <a:ext cx="3200400" cy="297180"/>
          </a:xfrm>
          <a:prstGeom prst="rect">
            <a:avLst/>
          </a:prstGeom>
          <a:solidFill>
            <a:srgbClr val="46C2CE"/>
          </a:solidFill>
          <a:ln w="12700">
            <a:solidFill>
              <a:srgbClr val="46C2C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731520" y="457200"/>
            <a:ext cx="27432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0" b="1" i="0" u="none" strike="noStrike" kern="1200" cap="none" spc="0" normalizeH="0" baseline="0" noProof="0" dirty="0">
                <a:ln>
                  <a:noFill/>
                </a:ln>
                <a:solidFill>
                  <a:srgbClr val="46C2CE">
                    <a:alpha val="75000"/>
                  </a:srgbClr>
                </a:solidFill>
                <a:effectLst/>
                <a:uLnTx/>
                <a:uFillTx/>
                <a:latin typeface="Calibri" pitchFamily="34" charset="0"/>
                <a:ea typeface="Calibri" pitchFamily="34" charset="-122"/>
                <a:cs typeface="Calibri" pitchFamily="34" charset="-120"/>
              </a:rPr>
              <a:t>03</a:t>
            </a:r>
            <a:endParaRPr kumimoji="0" lang="en-US" sz="1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7315200" y="1645920"/>
            <a:ext cx="1188720" cy="1188720"/>
          </a:xfrm>
          <a:prstGeom prst="ellipse">
            <a:avLst/>
          </a:prstGeom>
          <a:solidFill>
            <a:srgbClr val="46C2CE">
              <a:alpha val="80000"/>
            </a:srgbClr>
          </a:solidFill>
          <a:ln w="12700">
            <a:solidFill>
              <a:srgbClr val="46C2CE">
                <a:alpha val="8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r:embed="rId3"/>
          <a:stretch>
            <a:fillRect/>
          </a:stretch>
        </p:blipFill>
        <p:spPr>
          <a:xfrm>
            <a:off x="7571232" y="1901952"/>
            <a:ext cx="685800" cy="685800"/>
          </a:xfrm>
          <a:prstGeom prst="rect">
            <a:avLst/>
          </a:prstGeom>
        </p:spPr>
      </p:pic>
      <p:sp>
        <p:nvSpPr>
          <p:cNvPr id="11" name="Text 7"/>
          <p:cNvSpPr/>
          <p:nvPr/>
        </p:nvSpPr>
        <p:spPr>
          <a:xfrm>
            <a:off x="731520" y="1783080"/>
            <a:ext cx="77724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Campañas</a:t>
            </a: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y </a:t>
            </a:r>
            <a:r>
              <a:rPr kumimoji="0" lang="en-US" sz="40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Patrocinios</a:t>
            </a:r>
            <a:endPar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p:txBody>
      </p:sp>
      <p:sp>
        <p:nvSpPr>
          <p:cNvPr id="12" name="Text 8"/>
          <p:cNvSpPr/>
          <p:nvPr/>
        </p:nvSpPr>
        <p:spPr>
          <a:xfrm>
            <a:off x="731520" y="2651760"/>
            <a:ext cx="68580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srgbClr val="46C2CE"/>
                </a:solidFill>
                <a:effectLst/>
                <a:uLnTx/>
                <a:uFillTx/>
                <a:latin typeface="Calibri" pitchFamily="34" charset="0"/>
                <a:ea typeface="Calibri" pitchFamily="34" charset="-122"/>
                <a:cs typeface="Calibri" pitchFamily="34" charset="-120"/>
              </a:rPr>
              <a:t>Agendas, Programática, THP y Regístrate y Gana</a:t>
            </a:r>
          </a:p>
        </p:txBody>
      </p:sp>
      <p:sp>
        <p:nvSpPr>
          <p:cNvPr id="13" name="Shape 9"/>
          <p:cNvSpPr/>
          <p:nvPr/>
        </p:nvSpPr>
        <p:spPr>
          <a:xfrm>
            <a:off x="731520" y="3246120"/>
            <a:ext cx="2286000" cy="45720"/>
          </a:xfrm>
          <a:prstGeom prst="rect">
            <a:avLst/>
          </a:prstGeom>
          <a:solidFill>
            <a:srgbClr val="FFFFFF">
              <a:alpha val="40000"/>
            </a:srgbClr>
          </a:solidFill>
          <a:ln w="12700">
            <a:solidFill>
              <a:srgbClr val="FFFFFF">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Gráfico 13">
            <a:extLst>
              <a:ext uri="{FF2B5EF4-FFF2-40B4-BE49-F238E27FC236}">
                <a16:creationId xmlns:a16="http://schemas.microsoft.com/office/drawing/2014/main" id="{CA04583A-5722-8C7B-7944-E178BB14413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7819" y="4731536"/>
            <a:ext cx="1393444" cy="54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7F52A0"/>
          </a:solidFill>
          <a:ln w="12700">
            <a:solidFill>
              <a:srgbClr val="7F52A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Proceso 6 — Patrocinio de Agendas</a:t>
            </a:r>
            <a:endParaRPr lang="en-US" sz="2000" dirty="0"/>
          </a:p>
        </p:txBody>
      </p:sp>
      <p:sp>
        <p:nvSpPr>
          <p:cNvPr id="5" name="Text 3"/>
          <p:cNvSpPr/>
          <p:nvPr/>
        </p:nvSpPr>
        <p:spPr>
          <a:xfrm>
            <a:off x="274320" y="896112"/>
            <a:ext cx="4114800" cy="301752"/>
          </a:xfrm>
          <a:prstGeom prst="rect">
            <a:avLst/>
          </a:prstGeom>
          <a:noFill/>
          <a:ln/>
        </p:spPr>
        <p:txBody>
          <a:bodyPr wrap="square" lIns="0" tIns="0" rIns="0" bIns="0" rtlCol="0" anchor="ctr"/>
          <a:lstStyle/>
          <a:p>
            <a:pPr marL="0" indent="0">
              <a:buNone/>
            </a:pPr>
            <a:r>
              <a:rPr lang="en-US" sz="1400" b="1" dirty="0">
                <a:solidFill>
                  <a:srgbClr val="263980"/>
                </a:solidFill>
              </a:rPr>
              <a:t>¿Qué son las Agendas?</a:t>
            </a:r>
            <a:endParaRPr lang="en-US" sz="1400" dirty="0"/>
          </a:p>
        </p:txBody>
      </p:sp>
      <p:sp>
        <p:nvSpPr>
          <p:cNvPr id="6" name="Text 4"/>
          <p:cNvSpPr/>
          <p:nvPr/>
        </p:nvSpPr>
        <p:spPr>
          <a:xfrm>
            <a:off x="274320" y="1216152"/>
            <a:ext cx="4114800" cy="594360"/>
          </a:xfrm>
          <a:prstGeom prst="rect">
            <a:avLst/>
          </a:prstGeom>
          <a:noFill/>
          <a:ln/>
        </p:spPr>
        <p:txBody>
          <a:bodyPr wrap="square" lIns="0" tIns="0" rIns="0" bIns="0" rtlCol="0" anchor="ctr"/>
          <a:lstStyle/>
          <a:p>
            <a:pPr marL="0" indent="0">
              <a:buNone/>
            </a:pPr>
            <a:r>
              <a:rPr lang="en-US" sz="1050" dirty="0">
                <a:solidFill>
                  <a:srgbClr val="64748B"/>
                </a:solidFill>
              </a:rPr>
              <a:t>Son correos personalizados enviados semanalmente a mamás y papás según su mes de embarazo o la edad de su bebé. Incluyen artículos y dos espacios publicitarios especiales.</a:t>
            </a:r>
            <a:endParaRPr lang="en-US" sz="1050" dirty="0"/>
          </a:p>
        </p:txBody>
      </p:sp>
      <p:sp>
        <p:nvSpPr>
          <p:cNvPr id="7" name="Shape 5"/>
          <p:cNvSpPr/>
          <p:nvPr/>
        </p:nvSpPr>
        <p:spPr>
          <a:xfrm>
            <a:off x="274320" y="1874520"/>
            <a:ext cx="1920240" cy="1234440"/>
          </a:xfrm>
          <a:prstGeom prst="rect">
            <a:avLst/>
          </a:prstGeom>
          <a:solidFill>
            <a:srgbClr val="FFFFFF"/>
          </a:solidFill>
          <a:ln w="25400">
            <a:solidFill>
              <a:srgbClr val="7F52A0"/>
            </a:solidFill>
            <a:prstDash val="solid"/>
          </a:ln>
        </p:spPr>
        <p:txBody>
          <a:bodyPr/>
          <a:lstStyle/>
          <a:p>
            <a:endParaRPr lang="es-MX"/>
          </a:p>
        </p:txBody>
      </p:sp>
      <p:sp>
        <p:nvSpPr>
          <p:cNvPr id="8" name="Shape 6"/>
          <p:cNvSpPr/>
          <p:nvPr/>
        </p:nvSpPr>
        <p:spPr>
          <a:xfrm>
            <a:off x="274320" y="1874520"/>
            <a:ext cx="1920240" cy="292608"/>
          </a:xfrm>
          <a:prstGeom prst="rect">
            <a:avLst/>
          </a:prstGeom>
          <a:solidFill>
            <a:srgbClr val="7F52A0"/>
          </a:solidFill>
          <a:ln w="12700">
            <a:solidFill>
              <a:srgbClr val="7F52A0"/>
            </a:solidFill>
            <a:prstDash val="solid"/>
          </a:ln>
        </p:spPr>
        <p:txBody>
          <a:bodyPr/>
          <a:lstStyle/>
          <a:p>
            <a:endParaRPr lang="es-MX"/>
          </a:p>
        </p:txBody>
      </p:sp>
      <p:sp>
        <p:nvSpPr>
          <p:cNvPr id="9" name="Text 7"/>
          <p:cNvSpPr/>
          <p:nvPr/>
        </p:nvSpPr>
        <p:spPr>
          <a:xfrm>
            <a:off x="274320" y="1874520"/>
            <a:ext cx="1920240" cy="292608"/>
          </a:xfrm>
          <a:prstGeom prst="rect">
            <a:avLst/>
          </a:prstGeom>
          <a:noFill/>
          <a:ln/>
        </p:spPr>
        <p:txBody>
          <a:bodyPr wrap="square" lIns="0" tIns="0" rIns="0" bIns="0" rtlCol="0" anchor="ctr"/>
          <a:lstStyle/>
          <a:p>
            <a:pPr marL="0" indent="0" algn="ctr">
              <a:buNone/>
            </a:pPr>
            <a:r>
              <a:rPr lang="en-US" sz="900" b="1" dirty="0">
                <a:solidFill>
                  <a:srgbClr val="FFFFFF"/>
                </a:solidFill>
              </a:rPr>
              <a:t>HEAD — 'Patrocinado por'</a:t>
            </a:r>
            <a:endParaRPr lang="en-US" sz="900" dirty="0"/>
          </a:p>
        </p:txBody>
      </p:sp>
      <p:sp>
        <p:nvSpPr>
          <p:cNvPr id="10" name="Shape 8"/>
          <p:cNvSpPr/>
          <p:nvPr/>
        </p:nvSpPr>
        <p:spPr>
          <a:xfrm>
            <a:off x="384048" y="2258568"/>
            <a:ext cx="1700784" cy="201168"/>
          </a:xfrm>
          <a:prstGeom prst="rect">
            <a:avLst/>
          </a:prstGeom>
          <a:solidFill>
            <a:srgbClr val="7F52A0">
              <a:alpha val="40000"/>
            </a:srgbClr>
          </a:solidFill>
          <a:ln w="12700">
            <a:solidFill>
              <a:srgbClr val="7F52A0"/>
            </a:solidFill>
            <a:prstDash val="solid"/>
          </a:ln>
        </p:spPr>
        <p:txBody>
          <a:bodyPr/>
          <a:lstStyle/>
          <a:p>
            <a:endParaRPr lang="es-MX"/>
          </a:p>
        </p:txBody>
      </p:sp>
      <p:sp>
        <p:nvSpPr>
          <p:cNvPr id="11" name="Text 9"/>
          <p:cNvSpPr/>
          <p:nvPr/>
        </p:nvSpPr>
        <p:spPr>
          <a:xfrm>
            <a:off x="384048" y="2258568"/>
            <a:ext cx="1700784" cy="201168"/>
          </a:xfrm>
          <a:prstGeom prst="rect">
            <a:avLst/>
          </a:prstGeom>
          <a:noFill/>
          <a:ln/>
        </p:spPr>
        <p:txBody>
          <a:bodyPr wrap="square" lIns="0" tIns="0" rIns="0" bIns="0" rtlCol="0" anchor="ctr"/>
          <a:lstStyle/>
          <a:p>
            <a:pPr marL="0" indent="0" algn="ctr">
              <a:buNone/>
            </a:pPr>
            <a:r>
              <a:rPr lang="en-US" sz="900" b="1" dirty="0">
                <a:solidFill>
                  <a:srgbClr val="2C1A56"/>
                </a:solidFill>
              </a:rPr>
              <a:t>300 × 70 px</a:t>
            </a:r>
            <a:endParaRPr lang="en-US" sz="900" dirty="0"/>
          </a:p>
        </p:txBody>
      </p:sp>
      <p:sp>
        <p:nvSpPr>
          <p:cNvPr id="12" name="Text 10"/>
          <p:cNvSpPr/>
          <p:nvPr/>
        </p:nvSpPr>
        <p:spPr>
          <a:xfrm>
            <a:off x="320040" y="2514600"/>
            <a:ext cx="1783080" cy="237744"/>
          </a:xfrm>
          <a:prstGeom prst="rect">
            <a:avLst/>
          </a:prstGeom>
          <a:noFill/>
          <a:ln/>
        </p:spPr>
        <p:txBody>
          <a:bodyPr wrap="square" lIns="0" tIns="0" rIns="0" bIns="0" rtlCol="0" anchor="ctr"/>
          <a:lstStyle/>
          <a:p>
            <a:pPr marL="0" indent="0" algn="ctr">
              <a:buNone/>
            </a:pPr>
            <a:r>
              <a:rPr lang="en-US" sz="850" b="1" dirty="0">
                <a:solidFill>
                  <a:srgbClr val="7F52A0"/>
                </a:solidFill>
              </a:rPr>
              <a:t>Keyword: head_age_emb</a:t>
            </a:r>
            <a:endParaRPr lang="en-US" sz="850" dirty="0"/>
          </a:p>
        </p:txBody>
      </p:sp>
      <p:sp>
        <p:nvSpPr>
          <p:cNvPr id="13" name="Text 11"/>
          <p:cNvSpPr/>
          <p:nvPr/>
        </p:nvSpPr>
        <p:spPr>
          <a:xfrm>
            <a:off x="320040" y="2761488"/>
            <a:ext cx="1783080" cy="274320"/>
          </a:xfrm>
          <a:prstGeom prst="rect">
            <a:avLst/>
          </a:prstGeom>
          <a:noFill/>
          <a:ln/>
        </p:spPr>
        <p:txBody>
          <a:bodyPr wrap="square" lIns="0" tIns="0" rIns="0" bIns="0" rtlCol="0" anchor="ctr"/>
          <a:lstStyle/>
          <a:p>
            <a:pPr marL="0" indent="0" algn="ctr">
              <a:buNone/>
            </a:pPr>
            <a:r>
              <a:rPr lang="en-US" sz="850" dirty="0">
                <a:solidFill>
                  <a:srgbClr val="64748B"/>
                </a:solidFill>
              </a:rPr>
              <a:t>Parte superior de la agenda</a:t>
            </a:r>
            <a:endParaRPr lang="en-US" sz="850" dirty="0"/>
          </a:p>
        </p:txBody>
      </p:sp>
      <p:sp>
        <p:nvSpPr>
          <p:cNvPr id="14" name="Shape 12"/>
          <p:cNvSpPr/>
          <p:nvPr/>
        </p:nvSpPr>
        <p:spPr>
          <a:xfrm>
            <a:off x="2377440" y="1874520"/>
            <a:ext cx="1920240" cy="1234440"/>
          </a:xfrm>
          <a:prstGeom prst="rect">
            <a:avLst/>
          </a:prstGeom>
          <a:solidFill>
            <a:srgbClr val="FFFFFF"/>
          </a:solidFill>
          <a:ln w="25400">
            <a:solidFill>
              <a:srgbClr val="46C2CE"/>
            </a:solidFill>
            <a:prstDash val="solid"/>
          </a:ln>
        </p:spPr>
        <p:txBody>
          <a:bodyPr/>
          <a:lstStyle/>
          <a:p>
            <a:endParaRPr lang="es-MX"/>
          </a:p>
        </p:txBody>
      </p:sp>
      <p:sp>
        <p:nvSpPr>
          <p:cNvPr id="15" name="Shape 13"/>
          <p:cNvSpPr/>
          <p:nvPr/>
        </p:nvSpPr>
        <p:spPr>
          <a:xfrm>
            <a:off x="2377440" y="1874520"/>
            <a:ext cx="1920240" cy="292608"/>
          </a:xfrm>
          <a:prstGeom prst="rect">
            <a:avLst/>
          </a:prstGeom>
          <a:solidFill>
            <a:srgbClr val="46C2CE"/>
          </a:solidFill>
          <a:ln w="12700">
            <a:solidFill>
              <a:srgbClr val="46C2CE"/>
            </a:solidFill>
            <a:prstDash val="solid"/>
          </a:ln>
        </p:spPr>
        <p:txBody>
          <a:bodyPr/>
          <a:lstStyle/>
          <a:p>
            <a:endParaRPr lang="es-MX"/>
          </a:p>
        </p:txBody>
      </p:sp>
      <p:sp>
        <p:nvSpPr>
          <p:cNvPr id="16" name="Text 14"/>
          <p:cNvSpPr/>
          <p:nvPr/>
        </p:nvSpPr>
        <p:spPr>
          <a:xfrm>
            <a:off x="2377440" y="1874520"/>
            <a:ext cx="1920240" cy="292608"/>
          </a:xfrm>
          <a:prstGeom prst="rect">
            <a:avLst/>
          </a:prstGeom>
          <a:noFill/>
          <a:ln/>
        </p:spPr>
        <p:txBody>
          <a:bodyPr wrap="square" lIns="0" tIns="0" rIns="0" bIns="0" rtlCol="0" anchor="ctr"/>
          <a:lstStyle/>
          <a:p>
            <a:pPr marL="0" indent="0" algn="ctr">
              <a:buNone/>
            </a:pPr>
            <a:r>
              <a:rPr lang="en-US" sz="900" b="1" dirty="0">
                <a:solidFill>
                  <a:srgbClr val="2C1A56"/>
                </a:solidFill>
              </a:rPr>
              <a:t>BODY — Banner central</a:t>
            </a:r>
            <a:endParaRPr lang="en-US" sz="900" dirty="0"/>
          </a:p>
        </p:txBody>
      </p:sp>
      <p:sp>
        <p:nvSpPr>
          <p:cNvPr id="17" name="Shape 15"/>
          <p:cNvSpPr/>
          <p:nvPr/>
        </p:nvSpPr>
        <p:spPr>
          <a:xfrm>
            <a:off x="2487168" y="2258568"/>
            <a:ext cx="1700784" cy="201168"/>
          </a:xfrm>
          <a:prstGeom prst="rect">
            <a:avLst/>
          </a:prstGeom>
          <a:solidFill>
            <a:srgbClr val="46C2CE">
              <a:alpha val="40000"/>
            </a:srgbClr>
          </a:solidFill>
          <a:ln w="12700">
            <a:solidFill>
              <a:srgbClr val="46C2CE"/>
            </a:solidFill>
            <a:prstDash val="solid"/>
          </a:ln>
        </p:spPr>
        <p:txBody>
          <a:bodyPr/>
          <a:lstStyle/>
          <a:p>
            <a:endParaRPr lang="es-MX"/>
          </a:p>
        </p:txBody>
      </p:sp>
      <p:sp>
        <p:nvSpPr>
          <p:cNvPr id="18" name="Text 16"/>
          <p:cNvSpPr/>
          <p:nvPr/>
        </p:nvSpPr>
        <p:spPr>
          <a:xfrm>
            <a:off x="2487168" y="2258568"/>
            <a:ext cx="1700784" cy="201168"/>
          </a:xfrm>
          <a:prstGeom prst="rect">
            <a:avLst/>
          </a:prstGeom>
          <a:noFill/>
          <a:ln/>
        </p:spPr>
        <p:txBody>
          <a:bodyPr wrap="square" lIns="0" tIns="0" rIns="0" bIns="0" rtlCol="0" anchor="ctr"/>
          <a:lstStyle/>
          <a:p>
            <a:pPr marL="0" indent="0" algn="ctr">
              <a:buNone/>
            </a:pPr>
            <a:r>
              <a:rPr lang="en-US" sz="900" b="1" dirty="0">
                <a:solidFill>
                  <a:srgbClr val="2C1A56"/>
                </a:solidFill>
              </a:rPr>
              <a:t>750 × 200 px</a:t>
            </a:r>
            <a:endParaRPr lang="en-US" sz="900" dirty="0"/>
          </a:p>
        </p:txBody>
      </p:sp>
      <p:sp>
        <p:nvSpPr>
          <p:cNvPr id="19" name="Text 17"/>
          <p:cNvSpPr/>
          <p:nvPr/>
        </p:nvSpPr>
        <p:spPr>
          <a:xfrm>
            <a:off x="2423160" y="2514600"/>
            <a:ext cx="1783080" cy="237744"/>
          </a:xfrm>
          <a:prstGeom prst="rect">
            <a:avLst/>
          </a:prstGeom>
          <a:noFill/>
          <a:ln/>
        </p:spPr>
        <p:txBody>
          <a:bodyPr wrap="square" lIns="0" tIns="0" rIns="0" bIns="0" rtlCol="0" anchor="ctr"/>
          <a:lstStyle/>
          <a:p>
            <a:pPr marL="0" indent="0" algn="ctr">
              <a:buNone/>
            </a:pPr>
            <a:r>
              <a:rPr lang="en-US" sz="850" b="1" dirty="0">
                <a:solidFill>
                  <a:srgbClr val="46C2CE"/>
                </a:solidFill>
              </a:rPr>
              <a:t>Keyword: body_age_emb</a:t>
            </a:r>
            <a:endParaRPr lang="en-US" sz="850" dirty="0"/>
          </a:p>
        </p:txBody>
      </p:sp>
      <p:sp>
        <p:nvSpPr>
          <p:cNvPr id="20" name="Text 18"/>
          <p:cNvSpPr/>
          <p:nvPr/>
        </p:nvSpPr>
        <p:spPr>
          <a:xfrm>
            <a:off x="2423160" y="2761488"/>
            <a:ext cx="1783080" cy="274320"/>
          </a:xfrm>
          <a:prstGeom prst="rect">
            <a:avLst/>
          </a:prstGeom>
          <a:noFill/>
          <a:ln/>
        </p:spPr>
        <p:txBody>
          <a:bodyPr wrap="square" lIns="0" tIns="0" rIns="0" bIns="0" rtlCol="0" anchor="ctr"/>
          <a:lstStyle/>
          <a:p>
            <a:pPr marL="0" indent="0" algn="ctr">
              <a:buNone/>
            </a:pPr>
            <a:r>
              <a:rPr lang="en-US" sz="850" dirty="0">
                <a:solidFill>
                  <a:srgbClr val="64748B"/>
                </a:solidFill>
              </a:rPr>
              <a:t>En medio del contenido del artículo</a:t>
            </a:r>
            <a:endParaRPr lang="en-US" sz="850" dirty="0"/>
          </a:p>
        </p:txBody>
      </p:sp>
      <p:sp>
        <p:nvSpPr>
          <p:cNvPr id="21" name="Text 19"/>
          <p:cNvSpPr/>
          <p:nvPr/>
        </p:nvSpPr>
        <p:spPr>
          <a:xfrm>
            <a:off x="4663440" y="896112"/>
            <a:ext cx="4206240" cy="301752"/>
          </a:xfrm>
          <a:prstGeom prst="rect">
            <a:avLst/>
          </a:prstGeom>
          <a:noFill/>
          <a:ln/>
        </p:spPr>
        <p:txBody>
          <a:bodyPr wrap="square" lIns="0" tIns="0" rIns="0" bIns="0" rtlCol="0" anchor="ctr"/>
          <a:lstStyle/>
          <a:p>
            <a:pPr marL="0" indent="0">
              <a:buNone/>
            </a:pPr>
            <a:r>
              <a:rPr lang="en-US" sz="1400" b="1" dirty="0">
                <a:solidFill>
                  <a:srgbClr val="263980"/>
                </a:solidFill>
              </a:rPr>
              <a:t>Rotación mensual — Pasos:</a:t>
            </a:r>
            <a:endParaRPr lang="en-US" sz="1400" dirty="0"/>
          </a:p>
        </p:txBody>
      </p:sp>
      <p:sp>
        <p:nvSpPr>
          <p:cNvPr id="22" name="Shape 20"/>
          <p:cNvSpPr/>
          <p:nvPr/>
        </p:nvSpPr>
        <p:spPr>
          <a:xfrm>
            <a:off x="4663440" y="1261872"/>
            <a:ext cx="4206240" cy="548640"/>
          </a:xfrm>
          <a:prstGeom prst="rect">
            <a:avLst/>
          </a:prstGeom>
          <a:solidFill>
            <a:srgbClr val="FFFFFF"/>
          </a:solidFill>
          <a:ln w="12700">
            <a:solidFill>
              <a:srgbClr val="CBD5E1"/>
            </a:solidFill>
            <a:prstDash val="solid"/>
          </a:ln>
        </p:spPr>
        <p:txBody>
          <a:bodyPr/>
          <a:lstStyle/>
          <a:p>
            <a:endParaRPr lang="es-MX"/>
          </a:p>
        </p:txBody>
      </p:sp>
      <p:sp>
        <p:nvSpPr>
          <p:cNvPr id="23" name="Shape 21"/>
          <p:cNvSpPr/>
          <p:nvPr/>
        </p:nvSpPr>
        <p:spPr>
          <a:xfrm>
            <a:off x="4736592" y="1316736"/>
            <a:ext cx="384048" cy="384048"/>
          </a:xfrm>
          <a:prstGeom prst="ellipse">
            <a:avLst/>
          </a:prstGeom>
          <a:solidFill>
            <a:srgbClr val="7F52A0"/>
          </a:solidFill>
          <a:ln w="12700">
            <a:solidFill>
              <a:srgbClr val="7F52A0"/>
            </a:solidFill>
            <a:prstDash val="solid"/>
          </a:ln>
        </p:spPr>
        <p:txBody>
          <a:bodyPr/>
          <a:lstStyle/>
          <a:p>
            <a:endParaRPr lang="es-MX"/>
          </a:p>
        </p:txBody>
      </p:sp>
      <p:sp>
        <p:nvSpPr>
          <p:cNvPr id="24" name="Text 22"/>
          <p:cNvSpPr/>
          <p:nvPr/>
        </p:nvSpPr>
        <p:spPr>
          <a:xfrm>
            <a:off x="4736592" y="1316736"/>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A</a:t>
            </a:r>
            <a:endParaRPr lang="en-US" sz="1100" dirty="0"/>
          </a:p>
        </p:txBody>
      </p:sp>
      <p:sp>
        <p:nvSpPr>
          <p:cNvPr id="25" name="Text 23"/>
          <p:cNvSpPr/>
          <p:nvPr/>
        </p:nvSpPr>
        <p:spPr>
          <a:xfrm>
            <a:off x="5230368" y="1316736"/>
            <a:ext cx="3520440" cy="182880"/>
          </a:xfrm>
          <a:prstGeom prst="rect">
            <a:avLst/>
          </a:prstGeom>
          <a:noFill/>
          <a:ln/>
        </p:spPr>
        <p:txBody>
          <a:bodyPr wrap="square" lIns="0" tIns="0" rIns="0" bIns="0" rtlCol="0" anchor="ctr"/>
          <a:lstStyle/>
          <a:p>
            <a:pPr marL="0" indent="0">
              <a:buNone/>
            </a:pPr>
            <a:r>
              <a:rPr lang="en-US" sz="1050" b="1" dirty="0">
                <a:solidFill>
                  <a:srgbClr val="263980"/>
                </a:solidFill>
              </a:rPr>
              <a:t>Pausar marcas inactivas</a:t>
            </a:r>
            <a:endParaRPr lang="en-US" sz="1050" dirty="0"/>
          </a:p>
        </p:txBody>
      </p:sp>
      <p:sp>
        <p:nvSpPr>
          <p:cNvPr id="26" name="Text 24"/>
          <p:cNvSpPr/>
          <p:nvPr/>
        </p:nvSpPr>
        <p:spPr>
          <a:xfrm>
            <a:off x="5230368" y="1499616"/>
            <a:ext cx="3520440" cy="256032"/>
          </a:xfrm>
          <a:prstGeom prst="rect">
            <a:avLst/>
          </a:prstGeom>
          <a:noFill/>
          <a:ln/>
        </p:spPr>
        <p:txBody>
          <a:bodyPr wrap="square" lIns="0" tIns="0" rIns="0" bIns="0" rtlCol="0" anchor="ctr"/>
          <a:lstStyle/>
          <a:p>
            <a:pPr marL="0" indent="0">
              <a:buNone/>
            </a:pPr>
            <a:r>
              <a:rPr lang="en-US" sz="900" dirty="0">
                <a:solidFill>
                  <a:srgbClr val="64748B"/>
                </a:solidFill>
              </a:rPr>
              <a:t>Revisar planeación en Drive → pausar líneas que no corren</a:t>
            </a:r>
            <a:endParaRPr lang="en-US" sz="900" dirty="0"/>
          </a:p>
        </p:txBody>
      </p:sp>
      <p:sp>
        <p:nvSpPr>
          <p:cNvPr id="27" name="Shape 25"/>
          <p:cNvSpPr/>
          <p:nvPr/>
        </p:nvSpPr>
        <p:spPr>
          <a:xfrm>
            <a:off x="4663440" y="1892808"/>
            <a:ext cx="4206240" cy="548640"/>
          </a:xfrm>
          <a:prstGeom prst="rect">
            <a:avLst/>
          </a:prstGeom>
          <a:solidFill>
            <a:srgbClr val="FFFFFF"/>
          </a:solidFill>
          <a:ln w="12700">
            <a:solidFill>
              <a:srgbClr val="CBD5E1"/>
            </a:solidFill>
            <a:prstDash val="solid"/>
          </a:ln>
        </p:spPr>
        <p:txBody>
          <a:bodyPr/>
          <a:lstStyle/>
          <a:p>
            <a:endParaRPr lang="es-MX"/>
          </a:p>
        </p:txBody>
      </p:sp>
      <p:sp>
        <p:nvSpPr>
          <p:cNvPr id="28" name="Shape 26"/>
          <p:cNvSpPr/>
          <p:nvPr/>
        </p:nvSpPr>
        <p:spPr>
          <a:xfrm>
            <a:off x="4736592" y="1947672"/>
            <a:ext cx="384048" cy="384048"/>
          </a:xfrm>
          <a:prstGeom prst="ellipse">
            <a:avLst/>
          </a:prstGeom>
          <a:solidFill>
            <a:srgbClr val="7F52A0"/>
          </a:solidFill>
          <a:ln w="12700">
            <a:solidFill>
              <a:srgbClr val="7F52A0"/>
            </a:solidFill>
            <a:prstDash val="solid"/>
          </a:ln>
        </p:spPr>
        <p:txBody>
          <a:bodyPr/>
          <a:lstStyle/>
          <a:p>
            <a:endParaRPr lang="es-MX"/>
          </a:p>
        </p:txBody>
      </p:sp>
      <p:sp>
        <p:nvSpPr>
          <p:cNvPr id="29" name="Text 27"/>
          <p:cNvSpPr/>
          <p:nvPr/>
        </p:nvSpPr>
        <p:spPr>
          <a:xfrm>
            <a:off x="4736592" y="194767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B</a:t>
            </a:r>
            <a:endParaRPr lang="en-US" sz="1100" dirty="0"/>
          </a:p>
        </p:txBody>
      </p:sp>
      <p:sp>
        <p:nvSpPr>
          <p:cNvPr id="30" name="Text 28"/>
          <p:cNvSpPr/>
          <p:nvPr/>
        </p:nvSpPr>
        <p:spPr>
          <a:xfrm>
            <a:off x="5230368" y="1947672"/>
            <a:ext cx="3520440" cy="182880"/>
          </a:xfrm>
          <a:prstGeom prst="rect">
            <a:avLst/>
          </a:prstGeom>
          <a:noFill/>
          <a:ln/>
        </p:spPr>
        <p:txBody>
          <a:bodyPr wrap="square" lIns="0" tIns="0" rIns="0" bIns="0" rtlCol="0" anchor="ctr"/>
          <a:lstStyle/>
          <a:p>
            <a:pPr marL="0" indent="0">
              <a:buNone/>
            </a:pPr>
            <a:r>
              <a:rPr lang="en-US" sz="1050" b="1" dirty="0">
                <a:solidFill>
                  <a:srgbClr val="263980"/>
                </a:solidFill>
              </a:rPr>
              <a:t>Crear nueva línea</a:t>
            </a:r>
            <a:endParaRPr lang="en-US" sz="1050" dirty="0"/>
          </a:p>
        </p:txBody>
      </p:sp>
      <p:sp>
        <p:nvSpPr>
          <p:cNvPr id="31" name="Text 29"/>
          <p:cNvSpPr/>
          <p:nvPr/>
        </p:nvSpPr>
        <p:spPr>
          <a:xfrm>
            <a:off x="5230368" y="2130552"/>
            <a:ext cx="3520440" cy="256032"/>
          </a:xfrm>
          <a:prstGeom prst="rect">
            <a:avLst/>
          </a:prstGeom>
          <a:noFill/>
          <a:ln/>
        </p:spPr>
        <p:txBody>
          <a:bodyPr wrap="square" lIns="0" tIns="0" rIns="0" bIns="0" rtlCol="0" anchor="ctr"/>
          <a:lstStyle/>
          <a:p>
            <a:pPr marL="0" indent="0">
              <a:buNone/>
            </a:pPr>
            <a:r>
              <a:rPr lang="en-US" sz="900" dirty="0">
                <a:solidFill>
                  <a:srgbClr val="64748B"/>
                </a:solidFill>
              </a:rPr>
              <a:t>Copiar línea existente (ej. Honey Keeper) → mismo pedido → cambiar nombre</a:t>
            </a:r>
            <a:endParaRPr lang="en-US" sz="900" dirty="0"/>
          </a:p>
        </p:txBody>
      </p:sp>
      <p:sp>
        <p:nvSpPr>
          <p:cNvPr id="32" name="Shape 30"/>
          <p:cNvSpPr/>
          <p:nvPr/>
        </p:nvSpPr>
        <p:spPr>
          <a:xfrm>
            <a:off x="4663440" y="2523744"/>
            <a:ext cx="4206240" cy="548640"/>
          </a:xfrm>
          <a:prstGeom prst="rect">
            <a:avLst/>
          </a:prstGeom>
          <a:solidFill>
            <a:srgbClr val="FFFFFF"/>
          </a:solidFill>
          <a:ln w="12700">
            <a:solidFill>
              <a:srgbClr val="CBD5E1"/>
            </a:solidFill>
            <a:prstDash val="solid"/>
          </a:ln>
        </p:spPr>
        <p:txBody>
          <a:bodyPr/>
          <a:lstStyle/>
          <a:p>
            <a:endParaRPr lang="es-MX"/>
          </a:p>
        </p:txBody>
      </p:sp>
      <p:sp>
        <p:nvSpPr>
          <p:cNvPr id="33" name="Shape 31"/>
          <p:cNvSpPr/>
          <p:nvPr/>
        </p:nvSpPr>
        <p:spPr>
          <a:xfrm>
            <a:off x="4736592" y="2578608"/>
            <a:ext cx="384048" cy="384048"/>
          </a:xfrm>
          <a:prstGeom prst="ellipse">
            <a:avLst/>
          </a:prstGeom>
          <a:solidFill>
            <a:srgbClr val="7F52A0"/>
          </a:solidFill>
          <a:ln w="12700">
            <a:solidFill>
              <a:srgbClr val="7F52A0"/>
            </a:solidFill>
            <a:prstDash val="solid"/>
          </a:ln>
        </p:spPr>
        <p:txBody>
          <a:bodyPr/>
          <a:lstStyle/>
          <a:p>
            <a:endParaRPr lang="es-MX"/>
          </a:p>
        </p:txBody>
      </p:sp>
      <p:sp>
        <p:nvSpPr>
          <p:cNvPr id="34" name="Text 32"/>
          <p:cNvSpPr/>
          <p:nvPr/>
        </p:nvSpPr>
        <p:spPr>
          <a:xfrm>
            <a:off x="4736592" y="257860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C</a:t>
            </a:r>
            <a:endParaRPr lang="en-US" sz="1100" dirty="0"/>
          </a:p>
        </p:txBody>
      </p:sp>
      <p:sp>
        <p:nvSpPr>
          <p:cNvPr id="35" name="Text 33"/>
          <p:cNvSpPr/>
          <p:nvPr/>
        </p:nvSpPr>
        <p:spPr>
          <a:xfrm>
            <a:off x="5230368" y="2578608"/>
            <a:ext cx="3520440" cy="182880"/>
          </a:xfrm>
          <a:prstGeom prst="rect">
            <a:avLst/>
          </a:prstGeom>
          <a:noFill/>
          <a:ln/>
        </p:spPr>
        <p:txBody>
          <a:bodyPr wrap="square" lIns="0" tIns="0" rIns="0" bIns="0" rtlCol="0" anchor="ctr"/>
          <a:lstStyle/>
          <a:p>
            <a:pPr marL="0" indent="0">
              <a:buNone/>
            </a:pPr>
            <a:r>
              <a:rPr lang="en-US" sz="1050" b="1" dirty="0">
                <a:solidFill>
                  <a:srgbClr val="263980"/>
                </a:solidFill>
              </a:rPr>
              <a:t>Configurar semanas</a:t>
            </a:r>
            <a:endParaRPr lang="en-US" sz="1050" dirty="0"/>
          </a:p>
        </p:txBody>
      </p:sp>
      <p:sp>
        <p:nvSpPr>
          <p:cNvPr id="36" name="Text 34"/>
          <p:cNvSpPr/>
          <p:nvPr/>
        </p:nvSpPr>
        <p:spPr>
          <a:xfrm>
            <a:off x="5230368" y="2761488"/>
            <a:ext cx="3520440" cy="256032"/>
          </a:xfrm>
          <a:prstGeom prst="rect">
            <a:avLst/>
          </a:prstGeom>
          <a:noFill/>
          <a:ln/>
        </p:spPr>
        <p:txBody>
          <a:bodyPr wrap="square" lIns="0" tIns="0" rIns="0" bIns="0" rtlCol="0" anchor="ctr"/>
          <a:lstStyle/>
          <a:p>
            <a:pPr marL="0" indent="0">
              <a:buNone/>
            </a:pPr>
            <a:r>
              <a:rPr lang="en-US" sz="900" dirty="0">
                <a:solidFill>
                  <a:srgbClr val="64748B"/>
                </a:solidFill>
              </a:rPr>
              <a:t>keyword head_age_emb y body_age_emb → borrar valores anteriores → agregar números de semana</a:t>
            </a:r>
            <a:endParaRPr lang="en-US" sz="900" dirty="0"/>
          </a:p>
        </p:txBody>
      </p:sp>
      <p:sp>
        <p:nvSpPr>
          <p:cNvPr id="37" name="Shape 35"/>
          <p:cNvSpPr/>
          <p:nvPr/>
        </p:nvSpPr>
        <p:spPr>
          <a:xfrm>
            <a:off x="4663440" y="3154680"/>
            <a:ext cx="4206240" cy="548640"/>
          </a:xfrm>
          <a:prstGeom prst="rect">
            <a:avLst/>
          </a:prstGeom>
          <a:solidFill>
            <a:srgbClr val="FFFFFF"/>
          </a:solidFill>
          <a:ln w="12700">
            <a:solidFill>
              <a:srgbClr val="CBD5E1"/>
            </a:solidFill>
            <a:prstDash val="solid"/>
          </a:ln>
        </p:spPr>
        <p:txBody>
          <a:bodyPr/>
          <a:lstStyle/>
          <a:p>
            <a:endParaRPr lang="es-MX"/>
          </a:p>
        </p:txBody>
      </p:sp>
      <p:sp>
        <p:nvSpPr>
          <p:cNvPr id="38" name="Shape 36"/>
          <p:cNvSpPr/>
          <p:nvPr/>
        </p:nvSpPr>
        <p:spPr>
          <a:xfrm>
            <a:off x="4736592" y="3209544"/>
            <a:ext cx="384048" cy="384048"/>
          </a:xfrm>
          <a:prstGeom prst="ellipse">
            <a:avLst/>
          </a:prstGeom>
          <a:solidFill>
            <a:srgbClr val="7F52A0"/>
          </a:solidFill>
          <a:ln w="12700">
            <a:solidFill>
              <a:srgbClr val="7F52A0"/>
            </a:solidFill>
            <a:prstDash val="solid"/>
          </a:ln>
        </p:spPr>
        <p:txBody>
          <a:bodyPr/>
          <a:lstStyle/>
          <a:p>
            <a:endParaRPr lang="es-MX"/>
          </a:p>
        </p:txBody>
      </p:sp>
      <p:sp>
        <p:nvSpPr>
          <p:cNvPr id="39" name="Text 37"/>
          <p:cNvSpPr/>
          <p:nvPr/>
        </p:nvSpPr>
        <p:spPr>
          <a:xfrm>
            <a:off x="4736592" y="320954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D</a:t>
            </a:r>
            <a:endParaRPr lang="en-US" sz="1100" dirty="0"/>
          </a:p>
        </p:txBody>
      </p:sp>
      <p:sp>
        <p:nvSpPr>
          <p:cNvPr id="40" name="Text 38"/>
          <p:cNvSpPr/>
          <p:nvPr/>
        </p:nvSpPr>
        <p:spPr>
          <a:xfrm>
            <a:off x="5230368" y="3209544"/>
            <a:ext cx="3520440" cy="182880"/>
          </a:xfrm>
          <a:prstGeom prst="rect">
            <a:avLst/>
          </a:prstGeom>
          <a:noFill/>
          <a:ln/>
        </p:spPr>
        <p:txBody>
          <a:bodyPr wrap="square" lIns="0" tIns="0" rIns="0" bIns="0" rtlCol="0" anchor="ctr"/>
          <a:lstStyle/>
          <a:p>
            <a:pPr marL="0" indent="0">
              <a:buNone/>
            </a:pPr>
            <a:r>
              <a:rPr lang="en-US" sz="1050" b="1" dirty="0">
                <a:solidFill>
                  <a:srgbClr val="263980"/>
                </a:solidFill>
              </a:rPr>
              <a:t>Actualizar creatividades</a:t>
            </a:r>
            <a:endParaRPr lang="en-US" sz="1050" dirty="0"/>
          </a:p>
        </p:txBody>
      </p:sp>
      <p:sp>
        <p:nvSpPr>
          <p:cNvPr id="41" name="Text 39"/>
          <p:cNvSpPr/>
          <p:nvPr/>
        </p:nvSpPr>
        <p:spPr>
          <a:xfrm>
            <a:off x="5230368" y="3392424"/>
            <a:ext cx="3520440" cy="256032"/>
          </a:xfrm>
          <a:prstGeom prst="rect">
            <a:avLst/>
          </a:prstGeom>
          <a:noFill/>
          <a:ln/>
        </p:spPr>
        <p:txBody>
          <a:bodyPr wrap="square" lIns="0" tIns="0" rIns="0" bIns="0" rtlCol="0" anchor="ctr"/>
          <a:lstStyle/>
          <a:p>
            <a:pPr marL="0" indent="0">
              <a:buNone/>
            </a:pPr>
            <a:r>
              <a:rPr lang="en-US" sz="900" dirty="0">
                <a:solidFill>
                  <a:srgbClr val="64748B"/>
                </a:solidFill>
              </a:rPr>
              <a:t>Nombre, URL con UTM e imagen para HEAD (300×70) y BODY (750×200)</a:t>
            </a:r>
            <a:endParaRPr lang="en-US" sz="900" dirty="0"/>
          </a:p>
        </p:txBody>
      </p:sp>
      <p:sp>
        <p:nvSpPr>
          <p:cNvPr id="42" name="Shape 40"/>
          <p:cNvSpPr/>
          <p:nvPr/>
        </p:nvSpPr>
        <p:spPr>
          <a:xfrm>
            <a:off x="4663440" y="3785616"/>
            <a:ext cx="4206240" cy="548640"/>
          </a:xfrm>
          <a:prstGeom prst="rect">
            <a:avLst/>
          </a:prstGeom>
          <a:solidFill>
            <a:srgbClr val="FFFFFF"/>
          </a:solidFill>
          <a:ln w="12700">
            <a:solidFill>
              <a:srgbClr val="CBD5E1"/>
            </a:solidFill>
            <a:prstDash val="solid"/>
          </a:ln>
        </p:spPr>
        <p:txBody>
          <a:bodyPr/>
          <a:lstStyle/>
          <a:p>
            <a:endParaRPr lang="es-MX"/>
          </a:p>
        </p:txBody>
      </p:sp>
      <p:sp>
        <p:nvSpPr>
          <p:cNvPr id="43" name="Shape 41"/>
          <p:cNvSpPr/>
          <p:nvPr/>
        </p:nvSpPr>
        <p:spPr>
          <a:xfrm>
            <a:off x="4736592" y="3840480"/>
            <a:ext cx="384048" cy="384048"/>
          </a:xfrm>
          <a:prstGeom prst="ellipse">
            <a:avLst/>
          </a:prstGeom>
          <a:solidFill>
            <a:srgbClr val="7F52A0"/>
          </a:solidFill>
          <a:ln w="12700">
            <a:solidFill>
              <a:srgbClr val="7F52A0"/>
            </a:solidFill>
            <a:prstDash val="solid"/>
          </a:ln>
        </p:spPr>
        <p:txBody>
          <a:bodyPr/>
          <a:lstStyle/>
          <a:p>
            <a:endParaRPr lang="es-MX"/>
          </a:p>
        </p:txBody>
      </p:sp>
      <p:sp>
        <p:nvSpPr>
          <p:cNvPr id="44" name="Text 42"/>
          <p:cNvSpPr/>
          <p:nvPr/>
        </p:nvSpPr>
        <p:spPr>
          <a:xfrm>
            <a:off x="4736592" y="384048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E</a:t>
            </a:r>
            <a:endParaRPr lang="en-US" sz="1100" dirty="0"/>
          </a:p>
        </p:txBody>
      </p:sp>
      <p:sp>
        <p:nvSpPr>
          <p:cNvPr id="45" name="Text 43"/>
          <p:cNvSpPr/>
          <p:nvPr/>
        </p:nvSpPr>
        <p:spPr>
          <a:xfrm>
            <a:off x="5230368" y="3840480"/>
            <a:ext cx="3520440" cy="182880"/>
          </a:xfrm>
          <a:prstGeom prst="rect">
            <a:avLst/>
          </a:prstGeom>
          <a:noFill/>
          <a:ln/>
        </p:spPr>
        <p:txBody>
          <a:bodyPr wrap="square" lIns="0" tIns="0" rIns="0" bIns="0" rtlCol="0" anchor="ctr"/>
          <a:lstStyle/>
          <a:p>
            <a:pPr marL="0" indent="0">
              <a:buNone/>
            </a:pPr>
            <a:r>
              <a:rPr lang="en-US" sz="1050" b="1" dirty="0">
                <a:solidFill>
                  <a:srgbClr val="263980"/>
                </a:solidFill>
              </a:rPr>
              <a:t>Reanudar y verificar</a:t>
            </a:r>
            <a:endParaRPr lang="en-US" sz="1050" dirty="0"/>
          </a:p>
        </p:txBody>
      </p:sp>
      <p:sp>
        <p:nvSpPr>
          <p:cNvPr id="46" name="Text 44"/>
          <p:cNvSpPr/>
          <p:nvPr/>
        </p:nvSpPr>
        <p:spPr>
          <a:xfrm>
            <a:off x="5230368" y="4023360"/>
            <a:ext cx="3520440" cy="256032"/>
          </a:xfrm>
          <a:prstGeom prst="rect">
            <a:avLst/>
          </a:prstGeom>
          <a:noFill/>
          <a:ln/>
        </p:spPr>
        <p:txBody>
          <a:bodyPr wrap="square" lIns="0" tIns="0" rIns="0" bIns="0" rtlCol="0" anchor="ctr"/>
          <a:lstStyle/>
          <a:p>
            <a:pPr marL="0" indent="0">
              <a:buNone/>
            </a:pPr>
            <a:r>
              <a:rPr lang="en-US" sz="900" dirty="0">
                <a:solidFill>
                  <a:srgbClr val="64748B"/>
                </a:solidFill>
              </a:rPr>
              <a:t>Clic en Reanudar → verificar en la agenda del sitio</a:t>
            </a:r>
            <a:endParaRPr lang="en-US" sz="900" dirty="0"/>
          </a:p>
        </p:txBody>
      </p:sp>
      <p:sp>
        <p:nvSpPr>
          <p:cNvPr id="47" name="Shape 45"/>
          <p:cNvSpPr/>
          <p:nvPr/>
        </p:nvSpPr>
        <p:spPr>
          <a:xfrm>
            <a:off x="274320" y="3182112"/>
            <a:ext cx="4114800" cy="457200"/>
          </a:xfrm>
          <a:prstGeom prst="rect">
            <a:avLst/>
          </a:prstGeom>
          <a:solidFill>
            <a:srgbClr val="2C1A56"/>
          </a:solidFill>
          <a:ln w="12700">
            <a:solidFill>
              <a:srgbClr val="7F52A0"/>
            </a:solidFill>
            <a:prstDash val="solid"/>
          </a:ln>
        </p:spPr>
        <p:txBody>
          <a:bodyPr/>
          <a:lstStyle/>
          <a:p>
            <a:endParaRPr lang="es-MX"/>
          </a:p>
        </p:txBody>
      </p:sp>
      <p:sp>
        <p:nvSpPr>
          <p:cNvPr id="48" name="Text 46"/>
          <p:cNvSpPr/>
          <p:nvPr/>
        </p:nvSpPr>
        <p:spPr>
          <a:xfrm>
            <a:off x="411480" y="3200400"/>
            <a:ext cx="3840480" cy="402336"/>
          </a:xfrm>
          <a:prstGeom prst="rect">
            <a:avLst/>
          </a:prstGeom>
          <a:noFill/>
          <a:ln/>
        </p:spPr>
        <p:txBody>
          <a:bodyPr wrap="square" lIns="0" tIns="0" rIns="0" bIns="0" rtlCol="0" anchor="ctr"/>
          <a:lstStyle/>
          <a:p>
            <a:pPr marL="0" indent="0">
              <a:buNone/>
            </a:pPr>
            <a:r>
              <a:rPr lang="en-US" sz="1000" b="1" dirty="0">
                <a:solidFill>
                  <a:srgbClr val="46C2CE"/>
                </a:solidFill>
              </a:rPr>
              <a:t>Pedido maestro:  MX - Patrocinio Agendas</a:t>
            </a:r>
            <a:endParaRPr lang="en-US" sz="1000" dirty="0"/>
          </a:p>
          <a:p>
            <a:pPr marL="0" indent="0">
              <a:buNone/>
            </a:pPr>
            <a:r>
              <a:rPr lang="en-US" sz="1000" b="1" dirty="0">
                <a:solidFill>
                  <a:srgbClr val="46C2CE"/>
                </a:solidFill>
              </a:rPr>
              <a:t>(todas las marcas se gestionan aquí)</a:t>
            </a:r>
            <a:endParaRPr lang="en-US" sz="1000" dirty="0"/>
          </a:p>
        </p:txBody>
      </p:sp>
      <p:sp>
        <p:nvSpPr>
          <p:cNvPr id="49" name="Shape 47"/>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50" name="Text 48"/>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53" name="Gráfico 52">
            <a:extLst>
              <a:ext uri="{FF2B5EF4-FFF2-40B4-BE49-F238E27FC236}">
                <a16:creationId xmlns:a16="http://schemas.microsoft.com/office/drawing/2014/main" id="{B5EB7106-9B12-00E2-2AF2-EA604FF60B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63980"/>
          </a:solidFill>
          <a:ln w="12700">
            <a:solidFill>
              <a:srgbClr val="26398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Proceso 7 — Programática por Sección Específica</a:t>
            </a:r>
            <a:endParaRPr lang="en-US" sz="2000" dirty="0"/>
          </a:p>
        </p:txBody>
      </p:sp>
      <p:sp>
        <p:nvSpPr>
          <p:cNvPr id="5" name="Shape 3"/>
          <p:cNvSpPr/>
          <p:nvPr/>
        </p:nvSpPr>
        <p:spPr>
          <a:xfrm>
            <a:off x="274320" y="868680"/>
            <a:ext cx="8595360" cy="548640"/>
          </a:xfrm>
          <a:prstGeom prst="rect">
            <a:avLst/>
          </a:prstGeom>
          <a:solidFill>
            <a:srgbClr val="2C1A56"/>
          </a:solidFill>
          <a:ln w="12700">
            <a:solidFill>
              <a:srgbClr val="2C1A56"/>
            </a:solidFill>
            <a:prstDash val="solid"/>
          </a:ln>
        </p:spPr>
        <p:txBody>
          <a:bodyPr/>
          <a:lstStyle/>
          <a:p>
            <a:endParaRPr lang="es-MX"/>
          </a:p>
        </p:txBody>
      </p:sp>
      <p:sp>
        <p:nvSpPr>
          <p:cNvPr id="6" name="Text 4"/>
          <p:cNvSpPr/>
          <p:nvPr/>
        </p:nvSpPr>
        <p:spPr>
          <a:xfrm>
            <a:off x="457200" y="886968"/>
            <a:ext cx="8229600" cy="512064"/>
          </a:xfrm>
          <a:prstGeom prst="rect">
            <a:avLst/>
          </a:prstGeom>
          <a:noFill/>
          <a:ln/>
        </p:spPr>
        <p:txBody>
          <a:bodyPr wrap="square" lIns="0" tIns="0" rIns="0" bIns="0" rtlCol="0" anchor="ctr"/>
          <a:lstStyle/>
          <a:p>
            <a:pPr marL="0" indent="0">
              <a:buNone/>
            </a:pPr>
            <a:r>
              <a:rPr lang="en-US" sz="1100" dirty="0">
                <a:solidFill>
                  <a:srgbClr val="FFFFFF"/>
                </a:solidFill>
              </a:rPr>
              <a:t>Cuándo usarlo: cuando un cliente tiene BAJAS impresiones y necesitas concentrar sus banners en la sección del sitio donde su audiencia es más relevante. (Ej: Sears en 'Quedar embarazada')</a:t>
            </a:r>
            <a:endParaRPr lang="en-US" sz="1100" dirty="0"/>
          </a:p>
        </p:txBody>
      </p:sp>
      <p:sp>
        <p:nvSpPr>
          <p:cNvPr id="7" name="Shape 5"/>
          <p:cNvSpPr/>
          <p:nvPr/>
        </p:nvSpPr>
        <p:spPr>
          <a:xfrm>
            <a:off x="274320" y="1554480"/>
            <a:ext cx="4206240" cy="402336"/>
          </a:xfrm>
          <a:prstGeom prst="rect">
            <a:avLst/>
          </a:prstGeom>
          <a:solidFill>
            <a:srgbClr val="FFFFFF"/>
          </a:solidFill>
          <a:ln w="12700">
            <a:solidFill>
              <a:srgbClr val="CBD5E1"/>
            </a:solidFill>
            <a:prstDash val="solid"/>
          </a:ln>
        </p:spPr>
        <p:txBody>
          <a:bodyPr/>
          <a:lstStyle/>
          <a:p>
            <a:endParaRPr lang="es-MX"/>
          </a:p>
        </p:txBody>
      </p:sp>
      <p:sp>
        <p:nvSpPr>
          <p:cNvPr id="8" name="Text 6"/>
          <p:cNvSpPr/>
          <p:nvPr/>
        </p:nvSpPr>
        <p:spPr>
          <a:xfrm>
            <a:off x="411480" y="1554480"/>
            <a:ext cx="1828800" cy="402336"/>
          </a:xfrm>
          <a:prstGeom prst="rect">
            <a:avLst/>
          </a:prstGeom>
          <a:noFill/>
          <a:ln/>
        </p:spPr>
        <p:txBody>
          <a:bodyPr wrap="square" lIns="0" tIns="0" rIns="0" bIns="0" rtlCol="0" anchor="ctr"/>
          <a:lstStyle/>
          <a:p>
            <a:pPr marL="0" indent="0">
              <a:buNone/>
            </a:pPr>
            <a:r>
              <a:rPr lang="en-US" sz="1000" b="1" dirty="0">
                <a:solidFill>
                  <a:srgbClr val="263980"/>
                </a:solidFill>
              </a:rPr>
              <a:t>Tipo de línea:</a:t>
            </a:r>
            <a:endParaRPr lang="en-US" sz="1000" dirty="0"/>
          </a:p>
        </p:txBody>
      </p:sp>
      <p:sp>
        <p:nvSpPr>
          <p:cNvPr id="9" name="Text 7"/>
          <p:cNvSpPr/>
          <p:nvPr/>
        </p:nvSpPr>
        <p:spPr>
          <a:xfrm>
            <a:off x="2194560" y="1554480"/>
            <a:ext cx="2194560" cy="402336"/>
          </a:xfrm>
          <a:prstGeom prst="rect">
            <a:avLst/>
          </a:prstGeom>
          <a:noFill/>
          <a:ln/>
        </p:spPr>
        <p:txBody>
          <a:bodyPr wrap="square" lIns="0" tIns="0" rIns="0" bIns="0" rtlCol="0" anchor="ctr"/>
          <a:lstStyle/>
          <a:p>
            <a:pPr marL="0" indent="0">
              <a:buNone/>
            </a:pPr>
            <a:r>
              <a:rPr lang="en-US" sz="1000" b="1" dirty="0">
                <a:solidFill>
                  <a:srgbClr val="2C1A56"/>
                </a:solidFill>
              </a:rPr>
              <a:t>Prioridad de precios (12)</a:t>
            </a:r>
            <a:endParaRPr lang="en-US" sz="1000" dirty="0"/>
          </a:p>
        </p:txBody>
      </p:sp>
      <p:sp>
        <p:nvSpPr>
          <p:cNvPr id="10" name="Shape 8"/>
          <p:cNvSpPr/>
          <p:nvPr/>
        </p:nvSpPr>
        <p:spPr>
          <a:xfrm>
            <a:off x="4709160" y="1554480"/>
            <a:ext cx="4206240" cy="402336"/>
          </a:xfrm>
          <a:prstGeom prst="rect">
            <a:avLst/>
          </a:prstGeom>
          <a:solidFill>
            <a:srgbClr val="FFFFFF"/>
          </a:solidFill>
          <a:ln w="12700">
            <a:solidFill>
              <a:srgbClr val="CBD5E1"/>
            </a:solidFill>
            <a:prstDash val="solid"/>
          </a:ln>
        </p:spPr>
        <p:txBody>
          <a:bodyPr/>
          <a:lstStyle/>
          <a:p>
            <a:endParaRPr lang="es-MX"/>
          </a:p>
        </p:txBody>
      </p:sp>
      <p:sp>
        <p:nvSpPr>
          <p:cNvPr id="11" name="Text 9"/>
          <p:cNvSpPr/>
          <p:nvPr/>
        </p:nvSpPr>
        <p:spPr>
          <a:xfrm>
            <a:off x="4846320" y="1554480"/>
            <a:ext cx="1828800" cy="402336"/>
          </a:xfrm>
          <a:prstGeom prst="rect">
            <a:avLst/>
          </a:prstGeom>
          <a:noFill/>
          <a:ln/>
        </p:spPr>
        <p:txBody>
          <a:bodyPr wrap="square" lIns="0" tIns="0" rIns="0" bIns="0" rtlCol="0" anchor="ctr"/>
          <a:lstStyle/>
          <a:p>
            <a:pPr marL="0" indent="0">
              <a:buNone/>
            </a:pPr>
            <a:r>
              <a:rPr lang="en-US" sz="1000" b="1" dirty="0">
                <a:solidFill>
                  <a:srgbClr val="263980"/>
                </a:solidFill>
              </a:rPr>
              <a:t>Creatividades:</a:t>
            </a:r>
            <a:endParaRPr lang="en-US" sz="1000" dirty="0"/>
          </a:p>
        </p:txBody>
      </p:sp>
      <p:sp>
        <p:nvSpPr>
          <p:cNvPr id="12" name="Text 10"/>
          <p:cNvSpPr/>
          <p:nvPr/>
        </p:nvSpPr>
        <p:spPr>
          <a:xfrm>
            <a:off x="6629400" y="1554480"/>
            <a:ext cx="2194560" cy="402336"/>
          </a:xfrm>
          <a:prstGeom prst="rect">
            <a:avLst/>
          </a:prstGeom>
          <a:noFill/>
          <a:ln/>
        </p:spPr>
        <p:txBody>
          <a:bodyPr wrap="square" lIns="0" tIns="0" rIns="0" bIns="0" rtlCol="0" anchor="ctr"/>
          <a:lstStyle/>
          <a:p>
            <a:pPr marL="0" indent="0">
              <a:buNone/>
            </a:pPr>
            <a:r>
              <a:rPr lang="en-US" sz="1000" b="1" dirty="0">
                <a:solidFill>
                  <a:srgbClr val="2C1A56"/>
                </a:solidFill>
              </a:rPr>
              <a:t>728x90, 300x600, 300x250, 300x100</a:t>
            </a:r>
            <a:endParaRPr lang="en-US" sz="1000" dirty="0"/>
          </a:p>
        </p:txBody>
      </p:sp>
      <p:sp>
        <p:nvSpPr>
          <p:cNvPr id="13" name="Shape 11"/>
          <p:cNvSpPr/>
          <p:nvPr/>
        </p:nvSpPr>
        <p:spPr>
          <a:xfrm>
            <a:off x="274320" y="2029968"/>
            <a:ext cx="4206240" cy="402336"/>
          </a:xfrm>
          <a:prstGeom prst="rect">
            <a:avLst/>
          </a:prstGeom>
          <a:solidFill>
            <a:srgbClr val="EEF2FF"/>
          </a:solidFill>
          <a:ln w="12700">
            <a:solidFill>
              <a:srgbClr val="CBD5E1"/>
            </a:solidFill>
            <a:prstDash val="solid"/>
          </a:ln>
        </p:spPr>
        <p:txBody>
          <a:bodyPr/>
          <a:lstStyle/>
          <a:p>
            <a:endParaRPr lang="es-MX"/>
          </a:p>
        </p:txBody>
      </p:sp>
      <p:sp>
        <p:nvSpPr>
          <p:cNvPr id="14" name="Text 12"/>
          <p:cNvSpPr/>
          <p:nvPr/>
        </p:nvSpPr>
        <p:spPr>
          <a:xfrm>
            <a:off x="411480" y="2029968"/>
            <a:ext cx="1828800" cy="402336"/>
          </a:xfrm>
          <a:prstGeom prst="rect">
            <a:avLst/>
          </a:prstGeom>
          <a:noFill/>
          <a:ln/>
        </p:spPr>
        <p:txBody>
          <a:bodyPr wrap="square" lIns="0" tIns="0" rIns="0" bIns="0" rtlCol="0" anchor="ctr"/>
          <a:lstStyle/>
          <a:p>
            <a:pPr marL="0" indent="0">
              <a:buNone/>
            </a:pPr>
            <a:r>
              <a:rPr lang="en-US" sz="1000" b="1" dirty="0">
                <a:solidFill>
                  <a:srgbClr val="263980"/>
                </a:solidFill>
              </a:rPr>
              <a:t>Inicio:</a:t>
            </a:r>
            <a:endParaRPr lang="en-US" sz="1000" dirty="0"/>
          </a:p>
        </p:txBody>
      </p:sp>
      <p:sp>
        <p:nvSpPr>
          <p:cNvPr id="15" name="Text 13"/>
          <p:cNvSpPr/>
          <p:nvPr/>
        </p:nvSpPr>
        <p:spPr>
          <a:xfrm>
            <a:off x="2194560" y="2029968"/>
            <a:ext cx="2194560" cy="402336"/>
          </a:xfrm>
          <a:prstGeom prst="rect">
            <a:avLst/>
          </a:prstGeom>
          <a:noFill/>
          <a:ln/>
        </p:spPr>
        <p:txBody>
          <a:bodyPr wrap="square" lIns="0" tIns="0" rIns="0" bIns="0" rtlCol="0" anchor="ctr"/>
          <a:lstStyle/>
          <a:p>
            <a:pPr marL="0" indent="0">
              <a:buNone/>
            </a:pPr>
            <a:r>
              <a:rPr lang="en-US" sz="1000" b="1" dirty="0">
                <a:solidFill>
                  <a:srgbClr val="2C1A56"/>
                </a:solidFill>
              </a:rPr>
              <a:t>Inmediato</a:t>
            </a:r>
            <a:endParaRPr lang="en-US" sz="1000" dirty="0"/>
          </a:p>
        </p:txBody>
      </p:sp>
      <p:sp>
        <p:nvSpPr>
          <p:cNvPr id="16" name="Shape 14"/>
          <p:cNvSpPr/>
          <p:nvPr/>
        </p:nvSpPr>
        <p:spPr>
          <a:xfrm>
            <a:off x="4709160" y="2029968"/>
            <a:ext cx="4206240" cy="402336"/>
          </a:xfrm>
          <a:prstGeom prst="rect">
            <a:avLst/>
          </a:prstGeom>
          <a:solidFill>
            <a:srgbClr val="EEF2FF"/>
          </a:solidFill>
          <a:ln w="12700">
            <a:solidFill>
              <a:srgbClr val="CBD5E1"/>
            </a:solidFill>
            <a:prstDash val="solid"/>
          </a:ln>
        </p:spPr>
        <p:txBody>
          <a:bodyPr/>
          <a:lstStyle/>
          <a:p>
            <a:endParaRPr lang="es-MX"/>
          </a:p>
        </p:txBody>
      </p:sp>
      <p:sp>
        <p:nvSpPr>
          <p:cNvPr id="17" name="Text 15"/>
          <p:cNvSpPr/>
          <p:nvPr/>
        </p:nvSpPr>
        <p:spPr>
          <a:xfrm>
            <a:off x="4846320" y="2029968"/>
            <a:ext cx="1828800" cy="402336"/>
          </a:xfrm>
          <a:prstGeom prst="rect">
            <a:avLst/>
          </a:prstGeom>
          <a:noFill/>
          <a:ln/>
        </p:spPr>
        <p:txBody>
          <a:bodyPr wrap="square" lIns="0" tIns="0" rIns="0" bIns="0" rtlCol="0" anchor="ctr"/>
          <a:lstStyle/>
          <a:p>
            <a:pPr marL="0" indent="0">
              <a:buNone/>
            </a:pPr>
            <a:r>
              <a:rPr lang="en-US" sz="1000" b="1" dirty="0">
                <a:solidFill>
                  <a:srgbClr val="263980"/>
                </a:solidFill>
              </a:rPr>
              <a:t>Límite impresiones:</a:t>
            </a:r>
            <a:endParaRPr lang="en-US" sz="1000" dirty="0"/>
          </a:p>
        </p:txBody>
      </p:sp>
      <p:sp>
        <p:nvSpPr>
          <p:cNvPr id="18" name="Text 16"/>
          <p:cNvSpPr/>
          <p:nvPr/>
        </p:nvSpPr>
        <p:spPr>
          <a:xfrm>
            <a:off x="6629400" y="2029968"/>
            <a:ext cx="2194560" cy="402336"/>
          </a:xfrm>
          <a:prstGeom prst="rect">
            <a:avLst/>
          </a:prstGeom>
          <a:noFill/>
          <a:ln/>
        </p:spPr>
        <p:txBody>
          <a:bodyPr wrap="square" lIns="0" tIns="0" rIns="0" bIns="0" rtlCol="0" anchor="ctr"/>
          <a:lstStyle/>
          <a:p>
            <a:pPr marL="0" indent="0">
              <a:buNone/>
            </a:pPr>
            <a:r>
              <a:rPr lang="en-US" sz="1000" b="1" dirty="0">
                <a:solidFill>
                  <a:srgbClr val="2C1A56"/>
                </a:solidFill>
              </a:rPr>
              <a:t>4,400,000</a:t>
            </a:r>
            <a:endParaRPr lang="en-US" sz="1000" dirty="0"/>
          </a:p>
        </p:txBody>
      </p:sp>
      <p:sp>
        <p:nvSpPr>
          <p:cNvPr id="19" name="Shape 17"/>
          <p:cNvSpPr/>
          <p:nvPr/>
        </p:nvSpPr>
        <p:spPr>
          <a:xfrm>
            <a:off x="274320" y="2505456"/>
            <a:ext cx="4206240" cy="402336"/>
          </a:xfrm>
          <a:prstGeom prst="rect">
            <a:avLst/>
          </a:prstGeom>
          <a:solidFill>
            <a:srgbClr val="FFFFFF"/>
          </a:solidFill>
          <a:ln w="12700">
            <a:solidFill>
              <a:srgbClr val="CBD5E1"/>
            </a:solidFill>
            <a:prstDash val="solid"/>
          </a:ln>
        </p:spPr>
        <p:txBody>
          <a:bodyPr/>
          <a:lstStyle/>
          <a:p>
            <a:endParaRPr lang="es-MX"/>
          </a:p>
        </p:txBody>
      </p:sp>
      <p:sp>
        <p:nvSpPr>
          <p:cNvPr id="20" name="Text 18"/>
          <p:cNvSpPr/>
          <p:nvPr/>
        </p:nvSpPr>
        <p:spPr>
          <a:xfrm>
            <a:off x="411480" y="2505456"/>
            <a:ext cx="1828800" cy="402336"/>
          </a:xfrm>
          <a:prstGeom prst="rect">
            <a:avLst/>
          </a:prstGeom>
          <a:noFill/>
          <a:ln/>
        </p:spPr>
        <p:txBody>
          <a:bodyPr wrap="square" lIns="0" tIns="0" rIns="0" bIns="0" rtlCol="0" anchor="ctr"/>
          <a:lstStyle/>
          <a:p>
            <a:pPr marL="0" indent="0">
              <a:buNone/>
            </a:pPr>
            <a:r>
              <a:rPr lang="en-US" sz="1000" b="1" dirty="0">
                <a:solidFill>
                  <a:srgbClr val="263980"/>
                </a:solidFill>
              </a:rPr>
              <a:t>Frecuencia:</a:t>
            </a:r>
            <a:endParaRPr lang="en-US" sz="1000" dirty="0"/>
          </a:p>
        </p:txBody>
      </p:sp>
      <p:sp>
        <p:nvSpPr>
          <p:cNvPr id="21" name="Text 19"/>
          <p:cNvSpPr/>
          <p:nvPr/>
        </p:nvSpPr>
        <p:spPr>
          <a:xfrm>
            <a:off x="2194560" y="2505456"/>
            <a:ext cx="2194560" cy="402336"/>
          </a:xfrm>
          <a:prstGeom prst="rect">
            <a:avLst/>
          </a:prstGeom>
          <a:noFill/>
          <a:ln/>
        </p:spPr>
        <p:txBody>
          <a:bodyPr wrap="square" lIns="0" tIns="0" rIns="0" bIns="0" rtlCol="0" anchor="ctr"/>
          <a:lstStyle/>
          <a:p>
            <a:pPr marL="0" indent="0">
              <a:buNone/>
            </a:pPr>
            <a:r>
              <a:rPr lang="en-US" sz="1000" b="1" dirty="0">
                <a:solidFill>
                  <a:srgbClr val="2C1A56"/>
                </a:solidFill>
              </a:rPr>
              <a:t>4 impresiones por hora</a:t>
            </a:r>
            <a:endParaRPr lang="en-US" sz="1000" dirty="0"/>
          </a:p>
        </p:txBody>
      </p:sp>
      <p:sp>
        <p:nvSpPr>
          <p:cNvPr id="22" name="Shape 20"/>
          <p:cNvSpPr/>
          <p:nvPr/>
        </p:nvSpPr>
        <p:spPr>
          <a:xfrm>
            <a:off x="4709160" y="2505456"/>
            <a:ext cx="4206240" cy="402336"/>
          </a:xfrm>
          <a:prstGeom prst="rect">
            <a:avLst/>
          </a:prstGeom>
          <a:solidFill>
            <a:srgbClr val="FFFFFF"/>
          </a:solidFill>
          <a:ln w="12700">
            <a:solidFill>
              <a:srgbClr val="CBD5E1"/>
            </a:solidFill>
            <a:prstDash val="solid"/>
          </a:ln>
        </p:spPr>
        <p:txBody>
          <a:bodyPr/>
          <a:lstStyle/>
          <a:p>
            <a:endParaRPr lang="es-MX"/>
          </a:p>
        </p:txBody>
      </p:sp>
      <p:sp>
        <p:nvSpPr>
          <p:cNvPr id="23" name="Text 21"/>
          <p:cNvSpPr/>
          <p:nvPr/>
        </p:nvSpPr>
        <p:spPr>
          <a:xfrm>
            <a:off x="4846320" y="2505456"/>
            <a:ext cx="1828800" cy="402336"/>
          </a:xfrm>
          <a:prstGeom prst="rect">
            <a:avLst/>
          </a:prstGeom>
          <a:noFill/>
          <a:ln/>
        </p:spPr>
        <p:txBody>
          <a:bodyPr wrap="square" lIns="0" tIns="0" rIns="0" bIns="0" rtlCol="0" anchor="ctr"/>
          <a:lstStyle/>
          <a:p>
            <a:pPr marL="0" indent="0">
              <a:buNone/>
            </a:pPr>
            <a:r>
              <a:rPr lang="en-US" sz="1000" b="1" dirty="0">
                <a:solidFill>
                  <a:srgbClr val="263980"/>
                </a:solidFill>
              </a:rPr>
              <a:t>Días y horarios:</a:t>
            </a:r>
            <a:endParaRPr lang="en-US" sz="1000" dirty="0"/>
          </a:p>
        </p:txBody>
      </p:sp>
      <p:sp>
        <p:nvSpPr>
          <p:cNvPr id="24" name="Text 22"/>
          <p:cNvSpPr/>
          <p:nvPr/>
        </p:nvSpPr>
        <p:spPr>
          <a:xfrm>
            <a:off x="6629400" y="2505456"/>
            <a:ext cx="2194560" cy="402336"/>
          </a:xfrm>
          <a:prstGeom prst="rect">
            <a:avLst/>
          </a:prstGeom>
          <a:noFill/>
          <a:ln/>
        </p:spPr>
        <p:txBody>
          <a:bodyPr wrap="square" lIns="0" tIns="0" rIns="0" bIns="0" rtlCol="0" anchor="ctr"/>
          <a:lstStyle/>
          <a:p>
            <a:pPr marL="0" indent="0">
              <a:buNone/>
            </a:pPr>
            <a:r>
              <a:rPr lang="en-US" sz="1000" b="1" dirty="0">
                <a:solidFill>
                  <a:srgbClr val="2C1A56"/>
                </a:solidFill>
              </a:rPr>
              <a:t>Desmarcado (corre 24 hrs)</a:t>
            </a:r>
            <a:endParaRPr lang="en-US" sz="1000" dirty="0"/>
          </a:p>
        </p:txBody>
      </p:sp>
      <p:sp>
        <p:nvSpPr>
          <p:cNvPr id="25" name="Text 23"/>
          <p:cNvSpPr/>
          <p:nvPr/>
        </p:nvSpPr>
        <p:spPr>
          <a:xfrm>
            <a:off x="274320" y="3063240"/>
            <a:ext cx="8595360" cy="274320"/>
          </a:xfrm>
          <a:prstGeom prst="rect">
            <a:avLst/>
          </a:prstGeom>
          <a:noFill/>
          <a:ln/>
        </p:spPr>
        <p:txBody>
          <a:bodyPr wrap="square" lIns="0" tIns="0" rIns="0" bIns="0" rtlCol="0" anchor="ctr"/>
          <a:lstStyle/>
          <a:p>
            <a:pPr marL="0" indent="0">
              <a:buNone/>
            </a:pPr>
            <a:r>
              <a:rPr lang="en-US" sz="1100" b="1" dirty="0">
                <a:solidFill>
                  <a:srgbClr val="263980"/>
                </a:solidFill>
              </a:rPr>
              <a:t>Secciones del sitio disponibles para segmentación:</a:t>
            </a:r>
            <a:endParaRPr lang="en-US" sz="1100" dirty="0"/>
          </a:p>
        </p:txBody>
      </p:sp>
      <p:sp>
        <p:nvSpPr>
          <p:cNvPr id="26" name="Shape 24"/>
          <p:cNvSpPr/>
          <p:nvPr/>
        </p:nvSpPr>
        <p:spPr>
          <a:xfrm>
            <a:off x="274320" y="3410712"/>
            <a:ext cx="1645920" cy="402336"/>
          </a:xfrm>
          <a:prstGeom prst="rect">
            <a:avLst/>
          </a:prstGeom>
          <a:solidFill>
            <a:srgbClr val="263980"/>
          </a:solidFill>
          <a:ln w="12700">
            <a:solidFill>
              <a:srgbClr val="46C2CE"/>
            </a:solidFill>
            <a:prstDash val="solid"/>
          </a:ln>
        </p:spPr>
        <p:txBody>
          <a:bodyPr/>
          <a:lstStyle/>
          <a:p>
            <a:endParaRPr lang="es-MX"/>
          </a:p>
        </p:txBody>
      </p:sp>
      <p:sp>
        <p:nvSpPr>
          <p:cNvPr id="27" name="Text 25"/>
          <p:cNvSpPr/>
          <p:nvPr/>
        </p:nvSpPr>
        <p:spPr>
          <a:xfrm>
            <a:off x="274320" y="3410712"/>
            <a:ext cx="1645920" cy="219456"/>
          </a:xfrm>
          <a:prstGeom prst="rect">
            <a:avLst/>
          </a:prstGeom>
          <a:noFill/>
          <a:ln/>
        </p:spPr>
        <p:txBody>
          <a:bodyPr wrap="square" lIns="0" tIns="0" rIns="0" bIns="0" rtlCol="0" anchor="ctr"/>
          <a:lstStyle/>
          <a:p>
            <a:pPr marL="0" indent="0" algn="ctr">
              <a:buNone/>
            </a:pPr>
            <a:r>
              <a:rPr lang="en-US" sz="700" b="1" dirty="0">
                <a:solidFill>
                  <a:srgbClr val="46C2CE"/>
                </a:solidFill>
              </a:rPr>
              <a:t>MX_Quedar_Embarazada</a:t>
            </a:r>
            <a:endParaRPr lang="en-US" sz="700" dirty="0"/>
          </a:p>
        </p:txBody>
      </p:sp>
      <p:sp>
        <p:nvSpPr>
          <p:cNvPr id="28" name="Text 26"/>
          <p:cNvSpPr/>
          <p:nvPr/>
        </p:nvSpPr>
        <p:spPr>
          <a:xfrm>
            <a:off x="274320" y="3630168"/>
            <a:ext cx="1645920" cy="182880"/>
          </a:xfrm>
          <a:prstGeom prst="rect">
            <a:avLst/>
          </a:prstGeom>
          <a:noFill/>
          <a:ln/>
        </p:spPr>
        <p:txBody>
          <a:bodyPr wrap="square" lIns="0" tIns="0" rIns="0" bIns="0" rtlCol="0" anchor="ctr"/>
          <a:lstStyle/>
          <a:p>
            <a:pPr marL="0" indent="0" algn="ctr">
              <a:buNone/>
            </a:pPr>
            <a:r>
              <a:rPr lang="en-US" sz="750" dirty="0">
                <a:solidFill>
                  <a:srgbClr val="AABBEE"/>
                </a:solidFill>
              </a:rPr>
              <a:t>Quedar embarazada</a:t>
            </a:r>
            <a:endParaRPr lang="en-US" sz="750" dirty="0"/>
          </a:p>
        </p:txBody>
      </p:sp>
      <p:sp>
        <p:nvSpPr>
          <p:cNvPr id="29" name="Shape 27"/>
          <p:cNvSpPr/>
          <p:nvPr/>
        </p:nvSpPr>
        <p:spPr>
          <a:xfrm>
            <a:off x="2011680" y="3410712"/>
            <a:ext cx="1645920" cy="402336"/>
          </a:xfrm>
          <a:prstGeom prst="rect">
            <a:avLst/>
          </a:prstGeom>
          <a:solidFill>
            <a:srgbClr val="263980"/>
          </a:solidFill>
          <a:ln w="12700">
            <a:solidFill>
              <a:srgbClr val="46C2CE"/>
            </a:solidFill>
            <a:prstDash val="solid"/>
          </a:ln>
        </p:spPr>
        <p:txBody>
          <a:bodyPr/>
          <a:lstStyle/>
          <a:p>
            <a:endParaRPr lang="es-MX"/>
          </a:p>
        </p:txBody>
      </p:sp>
      <p:sp>
        <p:nvSpPr>
          <p:cNvPr id="30" name="Text 28"/>
          <p:cNvSpPr/>
          <p:nvPr/>
        </p:nvSpPr>
        <p:spPr>
          <a:xfrm>
            <a:off x="2011680" y="3410712"/>
            <a:ext cx="1645920" cy="219456"/>
          </a:xfrm>
          <a:prstGeom prst="rect">
            <a:avLst/>
          </a:prstGeom>
          <a:noFill/>
          <a:ln/>
        </p:spPr>
        <p:txBody>
          <a:bodyPr wrap="square" lIns="0" tIns="0" rIns="0" bIns="0" rtlCol="0" anchor="ctr"/>
          <a:lstStyle/>
          <a:p>
            <a:pPr marL="0" indent="0" algn="ctr">
              <a:buNone/>
            </a:pPr>
            <a:r>
              <a:rPr lang="en-US" sz="700" b="1" dirty="0">
                <a:solidFill>
                  <a:srgbClr val="46C2CE"/>
                </a:solidFill>
              </a:rPr>
              <a:t>MX_Embarazo</a:t>
            </a:r>
            <a:endParaRPr lang="en-US" sz="700" dirty="0"/>
          </a:p>
        </p:txBody>
      </p:sp>
      <p:sp>
        <p:nvSpPr>
          <p:cNvPr id="31" name="Text 29"/>
          <p:cNvSpPr/>
          <p:nvPr/>
        </p:nvSpPr>
        <p:spPr>
          <a:xfrm>
            <a:off x="2011680" y="3630168"/>
            <a:ext cx="1645920" cy="182880"/>
          </a:xfrm>
          <a:prstGeom prst="rect">
            <a:avLst/>
          </a:prstGeom>
          <a:noFill/>
          <a:ln/>
        </p:spPr>
        <p:txBody>
          <a:bodyPr wrap="square" lIns="0" tIns="0" rIns="0" bIns="0" rtlCol="0" anchor="ctr"/>
          <a:lstStyle/>
          <a:p>
            <a:pPr marL="0" indent="0" algn="ctr">
              <a:buNone/>
            </a:pPr>
            <a:r>
              <a:rPr lang="en-US" sz="750" dirty="0">
                <a:solidFill>
                  <a:srgbClr val="AABBEE"/>
                </a:solidFill>
              </a:rPr>
              <a:t>Embarazo</a:t>
            </a:r>
            <a:endParaRPr lang="en-US" sz="750" dirty="0"/>
          </a:p>
        </p:txBody>
      </p:sp>
      <p:sp>
        <p:nvSpPr>
          <p:cNvPr id="32" name="Shape 30"/>
          <p:cNvSpPr/>
          <p:nvPr/>
        </p:nvSpPr>
        <p:spPr>
          <a:xfrm>
            <a:off x="3749040" y="3410712"/>
            <a:ext cx="1645920" cy="402336"/>
          </a:xfrm>
          <a:prstGeom prst="rect">
            <a:avLst/>
          </a:prstGeom>
          <a:solidFill>
            <a:srgbClr val="263980"/>
          </a:solidFill>
          <a:ln w="12700">
            <a:solidFill>
              <a:srgbClr val="46C2CE"/>
            </a:solidFill>
            <a:prstDash val="solid"/>
          </a:ln>
        </p:spPr>
        <p:txBody>
          <a:bodyPr/>
          <a:lstStyle/>
          <a:p>
            <a:endParaRPr lang="es-MX"/>
          </a:p>
        </p:txBody>
      </p:sp>
      <p:sp>
        <p:nvSpPr>
          <p:cNvPr id="33" name="Text 31"/>
          <p:cNvSpPr/>
          <p:nvPr/>
        </p:nvSpPr>
        <p:spPr>
          <a:xfrm>
            <a:off x="3749040" y="3410712"/>
            <a:ext cx="1645920" cy="219456"/>
          </a:xfrm>
          <a:prstGeom prst="rect">
            <a:avLst/>
          </a:prstGeom>
          <a:noFill/>
          <a:ln/>
        </p:spPr>
        <p:txBody>
          <a:bodyPr wrap="square" lIns="0" tIns="0" rIns="0" bIns="0" rtlCol="0" anchor="ctr"/>
          <a:lstStyle/>
          <a:p>
            <a:pPr marL="0" indent="0" algn="ctr">
              <a:buNone/>
            </a:pPr>
            <a:r>
              <a:rPr lang="en-US" sz="700" b="1" dirty="0">
                <a:solidFill>
                  <a:srgbClr val="46C2CE"/>
                </a:solidFill>
              </a:rPr>
              <a:t>MX_Parto</a:t>
            </a:r>
            <a:endParaRPr lang="en-US" sz="700" dirty="0"/>
          </a:p>
        </p:txBody>
      </p:sp>
      <p:sp>
        <p:nvSpPr>
          <p:cNvPr id="34" name="Text 32"/>
          <p:cNvSpPr/>
          <p:nvPr/>
        </p:nvSpPr>
        <p:spPr>
          <a:xfrm>
            <a:off x="3749040" y="3630168"/>
            <a:ext cx="1645920" cy="182880"/>
          </a:xfrm>
          <a:prstGeom prst="rect">
            <a:avLst/>
          </a:prstGeom>
          <a:noFill/>
          <a:ln/>
        </p:spPr>
        <p:txBody>
          <a:bodyPr wrap="square" lIns="0" tIns="0" rIns="0" bIns="0" rtlCol="0" anchor="ctr"/>
          <a:lstStyle/>
          <a:p>
            <a:pPr marL="0" indent="0" algn="ctr">
              <a:buNone/>
            </a:pPr>
            <a:r>
              <a:rPr lang="en-US" sz="750" dirty="0">
                <a:solidFill>
                  <a:srgbClr val="AABBEE"/>
                </a:solidFill>
              </a:rPr>
              <a:t>Parto</a:t>
            </a:r>
            <a:endParaRPr lang="en-US" sz="750" dirty="0"/>
          </a:p>
        </p:txBody>
      </p:sp>
      <p:sp>
        <p:nvSpPr>
          <p:cNvPr id="35" name="Shape 33"/>
          <p:cNvSpPr/>
          <p:nvPr/>
        </p:nvSpPr>
        <p:spPr>
          <a:xfrm>
            <a:off x="5486400" y="3410712"/>
            <a:ext cx="1645920" cy="402336"/>
          </a:xfrm>
          <a:prstGeom prst="rect">
            <a:avLst/>
          </a:prstGeom>
          <a:solidFill>
            <a:srgbClr val="263980"/>
          </a:solidFill>
          <a:ln w="12700">
            <a:solidFill>
              <a:srgbClr val="46C2CE"/>
            </a:solidFill>
            <a:prstDash val="solid"/>
          </a:ln>
        </p:spPr>
        <p:txBody>
          <a:bodyPr/>
          <a:lstStyle/>
          <a:p>
            <a:endParaRPr lang="es-MX"/>
          </a:p>
        </p:txBody>
      </p:sp>
      <p:sp>
        <p:nvSpPr>
          <p:cNvPr id="36" name="Text 34"/>
          <p:cNvSpPr/>
          <p:nvPr/>
        </p:nvSpPr>
        <p:spPr>
          <a:xfrm>
            <a:off x="5486400" y="3410712"/>
            <a:ext cx="1645920" cy="219456"/>
          </a:xfrm>
          <a:prstGeom prst="rect">
            <a:avLst/>
          </a:prstGeom>
          <a:noFill/>
          <a:ln/>
        </p:spPr>
        <p:txBody>
          <a:bodyPr wrap="square" lIns="0" tIns="0" rIns="0" bIns="0" rtlCol="0" anchor="ctr"/>
          <a:lstStyle/>
          <a:p>
            <a:pPr marL="0" indent="0" algn="ctr">
              <a:buNone/>
            </a:pPr>
            <a:r>
              <a:rPr lang="en-US" sz="700" b="1" dirty="0">
                <a:solidFill>
                  <a:srgbClr val="46C2CE"/>
                </a:solidFill>
              </a:rPr>
              <a:t>MX_Bebes</a:t>
            </a:r>
            <a:endParaRPr lang="en-US" sz="700" dirty="0"/>
          </a:p>
        </p:txBody>
      </p:sp>
      <p:sp>
        <p:nvSpPr>
          <p:cNvPr id="37" name="Text 35"/>
          <p:cNvSpPr/>
          <p:nvPr/>
        </p:nvSpPr>
        <p:spPr>
          <a:xfrm>
            <a:off x="5486400" y="3630168"/>
            <a:ext cx="1645920" cy="182880"/>
          </a:xfrm>
          <a:prstGeom prst="rect">
            <a:avLst/>
          </a:prstGeom>
          <a:noFill/>
          <a:ln/>
        </p:spPr>
        <p:txBody>
          <a:bodyPr wrap="square" lIns="0" tIns="0" rIns="0" bIns="0" rtlCol="0" anchor="ctr"/>
          <a:lstStyle/>
          <a:p>
            <a:pPr marL="0" indent="0" algn="ctr">
              <a:buNone/>
            </a:pPr>
            <a:r>
              <a:rPr lang="en-US" sz="750" dirty="0">
                <a:solidFill>
                  <a:srgbClr val="AABBEE"/>
                </a:solidFill>
              </a:rPr>
              <a:t>Bebés</a:t>
            </a:r>
            <a:endParaRPr lang="en-US" sz="750" dirty="0"/>
          </a:p>
        </p:txBody>
      </p:sp>
      <p:sp>
        <p:nvSpPr>
          <p:cNvPr id="38" name="Shape 36"/>
          <p:cNvSpPr/>
          <p:nvPr/>
        </p:nvSpPr>
        <p:spPr>
          <a:xfrm>
            <a:off x="7223760" y="3410712"/>
            <a:ext cx="1645920" cy="402336"/>
          </a:xfrm>
          <a:prstGeom prst="rect">
            <a:avLst/>
          </a:prstGeom>
          <a:solidFill>
            <a:srgbClr val="263980"/>
          </a:solidFill>
          <a:ln w="12700">
            <a:solidFill>
              <a:srgbClr val="46C2CE"/>
            </a:solidFill>
            <a:prstDash val="solid"/>
          </a:ln>
        </p:spPr>
        <p:txBody>
          <a:bodyPr/>
          <a:lstStyle/>
          <a:p>
            <a:endParaRPr lang="es-MX"/>
          </a:p>
        </p:txBody>
      </p:sp>
      <p:sp>
        <p:nvSpPr>
          <p:cNvPr id="39" name="Text 37"/>
          <p:cNvSpPr/>
          <p:nvPr/>
        </p:nvSpPr>
        <p:spPr>
          <a:xfrm>
            <a:off x="7223760" y="3410712"/>
            <a:ext cx="1645920" cy="219456"/>
          </a:xfrm>
          <a:prstGeom prst="rect">
            <a:avLst/>
          </a:prstGeom>
          <a:noFill/>
          <a:ln/>
        </p:spPr>
        <p:txBody>
          <a:bodyPr wrap="square" lIns="0" tIns="0" rIns="0" bIns="0" rtlCol="0" anchor="ctr"/>
          <a:lstStyle/>
          <a:p>
            <a:pPr marL="0" indent="0" algn="ctr">
              <a:buNone/>
            </a:pPr>
            <a:r>
              <a:rPr lang="en-US" sz="700" b="1" dirty="0">
                <a:solidFill>
                  <a:srgbClr val="46C2CE"/>
                </a:solidFill>
              </a:rPr>
              <a:t>MX_Ninos</a:t>
            </a:r>
            <a:endParaRPr lang="en-US" sz="700" dirty="0"/>
          </a:p>
        </p:txBody>
      </p:sp>
      <p:sp>
        <p:nvSpPr>
          <p:cNvPr id="40" name="Text 38"/>
          <p:cNvSpPr/>
          <p:nvPr/>
        </p:nvSpPr>
        <p:spPr>
          <a:xfrm>
            <a:off x="7223760" y="3630168"/>
            <a:ext cx="1645920" cy="182880"/>
          </a:xfrm>
          <a:prstGeom prst="rect">
            <a:avLst/>
          </a:prstGeom>
          <a:noFill/>
          <a:ln/>
        </p:spPr>
        <p:txBody>
          <a:bodyPr wrap="square" lIns="0" tIns="0" rIns="0" bIns="0" rtlCol="0" anchor="ctr"/>
          <a:lstStyle/>
          <a:p>
            <a:pPr marL="0" indent="0" algn="ctr">
              <a:buNone/>
            </a:pPr>
            <a:r>
              <a:rPr lang="en-US" sz="750" dirty="0">
                <a:solidFill>
                  <a:srgbClr val="AABBEE"/>
                </a:solidFill>
              </a:rPr>
              <a:t>Niños</a:t>
            </a:r>
            <a:endParaRPr lang="en-US" sz="750" dirty="0"/>
          </a:p>
        </p:txBody>
      </p:sp>
      <p:sp>
        <p:nvSpPr>
          <p:cNvPr id="41" name="Shape 39"/>
          <p:cNvSpPr/>
          <p:nvPr/>
        </p:nvSpPr>
        <p:spPr>
          <a:xfrm>
            <a:off x="274320" y="3886200"/>
            <a:ext cx="1645920" cy="402336"/>
          </a:xfrm>
          <a:prstGeom prst="rect">
            <a:avLst/>
          </a:prstGeom>
          <a:solidFill>
            <a:srgbClr val="263980"/>
          </a:solidFill>
          <a:ln w="12700">
            <a:solidFill>
              <a:srgbClr val="46C2CE"/>
            </a:solidFill>
            <a:prstDash val="solid"/>
          </a:ln>
        </p:spPr>
        <p:txBody>
          <a:bodyPr/>
          <a:lstStyle/>
          <a:p>
            <a:endParaRPr lang="es-MX"/>
          </a:p>
        </p:txBody>
      </p:sp>
      <p:sp>
        <p:nvSpPr>
          <p:cNvPr id="42" name="Text 40"/>
          <p:cNvSpPr/>
          <p:nvPr/>
        </p:nvSpPr>
        <p:spPr>
          <a:xfrm>
            <a:off x="274320" y="3886200"/>
            <a:ext cx="1645920" cy="219456"/>
          </a:xfrm>
          <a:prstGeom prst="rect">
            <a:avLst/>
          </a:prstGeom>
          <a:noFill/>
          <a:ln/>
        </p:spPr>
        <p:txBody>
          <a:bodyPr wrap="square" lIns="0" tIns="0" rIns="0" bIns="0" rtlCol="0" anchor="ctr"/>
          <a:lstStyle/>
          <a:p>
            <a:pPr marL="0" indent="0" algn="ctr">
              <a:buNone/>
            </a:pPr>
            <a:r>
              <a:rPr lang="en-US" sz="700" b="1" dirty="0">
                <a:solidFill>
                  <a:srgbClr val="46C2CE"/>
                </a:solidFill>
              </a:rPr>
              <a:t>MX_Mujer_Hoy</a:t>
            </a:r>
            <a:endParaRPr lang="en-US" sz="700" dirty="0"/>
          </a:p>
        </p:txBody>
      </p:sp>
      <p:sp>
        <p:nvSpPr>
          <p:cNvPr id="43" name="Text 41"/>
          <p:cNvSpPr/>
          <p:nvPr/>
        </p:nvSpPr>
        <p:spPr>
          <a:xfrm>
            <a:off x="274320" y="4105656"/>
            <a:ext cx="1645920" cy="182880"/>
          </a:xfrm>
          <a:prstGeom prst="rect">
            <a:avLst/>
          </a:prstGeom>
          <a:noFill/>
          <a:ln/>
        </p:spPr>
        <p:txBody>
          <a:bodyPr wrap="square" lIns="0" tIns="0" rIns="0" bIns="0" rtlCol="0" anchor="ctr"/>
          <a:lstStyle/>
          <a:p>
            <a:pPr marL="0" indent="0" algn="ctr">
              <a:buNone/>
            </a:pPr>
            <a:r>
              <a:rPr lang="en-US" sz="750" dirty="0">
                <a:solidFill>
                  <a:srgbClr val="AABBEE"/>
                </a:solidFill>
              </a:rPr>
              <a:t>Mujer Hoy</a:t>
            </a:r>
            <a:endParaRPr lang="en-US" sz="750" dirty="0"/>
          </a:p>
        </p:txBody>
      </p:sp>
      <p:sp>
        <p:nvSpPr>
          <p:cNvPr id="44" name="Shape 42"/>
          <p:cNvSpPr/>
          <p:nvPr/>
        </p:nvSpPr>
        <p:spPr>
          <a:xfrm>
            <a:off x="2011680" y="3886200"/>
            <a:ext cx="1645920" cy="402336"/>
          </a:xfrm>
          <a:prstGeom prst="rect">
            <a:avLst/>
          </a:prstGeom>
          <a:solidFill>
            <a:srgbClr val="263980"/>
          </a:solidFill>
          <a:ln w="12700">
            <a:solidFill>
              <a:srgbClr val="46C2CE"/>
            </a:solidFill>
            <a:prstDash val="solid"/>
          </a:ln>
        </p:spPr>
        <p:txBody>
          <a:bodyPr/>
          <a:lstStyle/>
          <a:p>
            <a:endParaRPr lang="es-MX"/>
          </a:p>
        </p:txBody>
      </p:sp>
      <p:sp>
        <p:nvSpPr>
          <p:cNvPr id="45" name="Text 43"/>
          <p:cNvSpPr/>
          <p:nvPr/>
        </p:nvSpPr>
        <p:spPr>
          <a:xfrm>
            <a:off x="2011680" y="3886200"/>
            <a:ext cx="1645920" cy="219456"/>
          </a:xfrm>
          <a:prstGeom prst="rect">
            <a:avLst/>
          </a:prstGeom>
          <a:noFill/>
          <a:ln/>
        </p:spPr>
        <p:txBody>
          <a:bodyPr wrap="square" lIns="0" tIns="0" rIns="0" bIns="0" rtlCol="0" anchor="ctr"/>
          <a:lstStyle/>
          <a:p>
            <a:pPr marL="0" indent="0" algn="ctr">
              <a:buNone/>
            </a:pPr>
            <a:r>
              <a:rPr lang="en-US" sz="700" b="1" dirty="0">
                <a:solidFill>
                  <a:srgbClr val="46C2CE"/>
                </a:solidFill>
              </a:rPr>
              <a:t>MX_Enfermedades</a:t>
            </a:r>
            <a:endParaRPr lang="en-US" sz="700" dirty="0"/>
          </a:p>
        </p:txBody>
      </p:sp>
      <p:sp>
        <p:nvSpPr>
          <p:cNvPr id="46" name="Text 44"/>
          <p:cNvSpPr/>
          <p:nvPr/>
        </p:nvSpPr>
        <p:spPr>
          <a:xfrm>
            <a:off x="2011680" y="4105656"/>
            <a:ext cx="1645920" cy="182880"/>
          </a:xfrm>
          <a:prstGeom prst="rect">
            <a:avLst/>
          </a:prstGeom>
          <a:noFill/>
          <a:ln/>
        </p:spPr>
        <p:txBody>
          <a:bodyPr wrap="square" lIns="0" tIns="0" rIns="0" bIns="0" rtlCol="0" anchor="ctr"/>
          <a:lstStyle/>
          <a:p>
            <a:pPr marL="0" indent="0" algn="ctr">
              <a:buNone/>
            </a:pPr>
            <a:r>
              <a:rPr lang="en-US" sz="750" dirty="0">
                <a:solidFill>
                  <a:srgbClr val="AABBEE"/>
                </a:solidFill>
              </a:rPr>
              <a:t>Enfermedades</a:t>
            </a:r>
            <a:endParaRPr lang="en-US" sz="750" dirty="0"/>
          </a:p>
        </p:txBody>
      </p:sp>
      <p:sp>
        <p:nvSpPr>
          <p:cNvPr id="47" name="Shape 45"/>
          <p:cNvSpPr/>
          <p:nvPr/>
        </p:nvSpPr>
        <p:spPr>
          <a:xfrm>
            <a:off x="3749040" y="3886200"/>
            <a:ext cx="1645920" cy="402336"/>
          </a:xfrm>
          <a:prstGeom prst="rect">
            <a:avLst/>
          </a:prstGeom>
          <a:solidFill>
            <a:srgbClr val="263980"/>
          </a:solidFill>
          <a:ln w="12700">
            <a:solidFill>
              <a:srgbClr val="46C2CE"/>
            </a:solidFill>
            <a:prstDash val="solid"/>
          </a:ln>
        </p:spPr>
        <p:txBody>
          <a:bodyPr/>
          <a:lstStyle/>
          <a:p>
            <a:endParaRPr lang="es-MX"/>
          </a:p>
        </p:txBody>
      </p:sp>
      <p:sp>
        <p:nvSpPr>
          <p:cNvPr id="48" name="Text 46"/>
          <p:cNvSpPr/>
          <p:nvPr/>
        </p:nvSpPr>
        <p:spPr>
          <a:xfrm>
            <a:off x="3749040" y="3886200"/>
            <a:ext cx="1645920" cy="219456"/>
          </a:xfrm>
          <a:prstGeom prst="rect">
            <a:avLst/>
          </a:prstGeom>
          <a:noFill/>
          <a:ln/>
        </p:spPr>
        <p:txBody>
          <a:bodyPr wrap="square" lIns="0" tIns="0" rIns="0" bIns="0" rtlCol="0" anchor="ctr"/>
          <a:lstStyle/>
          <a:p>
            <a:pPr marL="0" indent="0" algn="ctr">
              <a:buNone/>
            </a:pPr>
            <a:r>
              <a:rPr lang="en-US" sz="700" b="1" dirty="0">
                <a:solidFill>
                  <a:srgbClr val="46C2CE"/>
                </a:solidFill>
              </a:rPr>
              <a:t>MX_Nombres_Ninos</a:t>
            </a:r>
            <a:endParaRPr lang="en-US" sz="700" dirty="0"/>
          </a:p>
        </p:txBody>
      </p:sp>
      <p:sp>
        <p:nvSpPr>
          <p:cNvPr id="49" name="Text 47"/>
          <p:cNvSpPr/>
          <p:nvPr/>
        </p:nvSpPr>
        <p:spPr>
          <a:xfrm>
            <a:off x="3749040" y="4105656"/>
            <a:ext cx="1645920" cy="182880"/>
          </a:xfrm>
          <a:prstGeom prst="rect">
            <a:avLst/>
          </a:prstGeom>
          <a:noFill/>
          <a:ln/>
        </p:spPr>
        <p:txBody>
          <a:bodyPr wrap="square" lIns="0" tIns="0" rIns="0" bIns="0" rtlCol="0" anchor="ctr"/>
          <a:lstStyle/>
          <a:p>
            <a:pPr marL="0" indent="0" algn="ctr">
              <a:buNone/>
            </a:pPr>
            <a:r>
              <a:rPr lang="en-US" sz="750" dirty="0">
                <a:solidFill>
                  <a:srgbClr val="AABBEE"/>
                </a:solidFill>
              </a:rPr>
              <a:t>Nombres de niño</a:t>
            </a:r>
            <a:endParaRPr lang="en-US" sz="750" dirty="0"/>
          </a:p>
        </p:txBody>
      </p:sp>
      <p:sp>
        <p:nvSpPr>
          <p:cNvPr id="50" name="Shape 48"/>
          <p:cNvSpPr/>
          <p:nvPr/>
        </p:nvSpPr>
        <p:spPr>
          <a:xfrm>
            <a:off x="5486400" y="3886200"/>
            <a:ext cx="1645920" cy="402336"/>
          </a:xfrm>
          <a:prstGeom prst="rect">
            <a:avLst/>
          </a:prstGeom>
          <a:solidFill>
            <a:srgbClr val="263980"/>
          </a:solidFill>
          <a:ln w="12700">
            <a:solidFill>
              <a:srgbClr val="46C2CE"/>
            </a:solidFill>
            <a:prstDash val="solid"/>
          </a:ln>
        </p:spPr>
        <p:txBody>
          <a:bodyPr/>
          <a:lstStyle/>
          <a:p>
            <a:endParaRPr lang="es-MX"/>
          </a:p>
        </p:txBody>
      </p:sp>
      <p:sp>
        <p:nvSpPr>
          <p:cNvPr id="51" name="Text 49"/>
          <p:cNvSpPr/>
          <p:nvPr/>
        </p:nvSpPr>
        <p:spPr>
          <a:xfrm>
            <a:off x="5486400" y="3886200"/>
            <a:ext cx="1645920" cy="219456"/>
          </a:xfrm>
          <a:prstGeom prst="rect">
            <a:avLst/>
          </a:prstGeom>
          <a:noFill/>
          <a:ln/>
        </p:spPr>
        <p:txBody>
          <a:bodyPr wrap="square" lIns="0" tIns="0" rIns="0" bIns="0" rtlCol="0" anchor="ctr"/>
          <a:lstStyle/>
          <a:p>
            <a:pPr marL="0" indent="0" algn="ctr">
              <a:buNone/>
            </a:pPr>
            <a:r>
              <a:rPr lang="en-US" sz="700" b="1" dirty="0">
                <a:solidFill>
                  <a:srgbClr val="46C2CE"/>
                </a:solidFill>
              </a:rPr>
              <a:t>MX_Home</a:t>
            </a:r>
            <a:endParaRPr lang="en-US" sz="700" dirty="0"/>
          </a:p>
        </p:txBody>
      </p:sp>
      <p:sp>
        <p:nvSpPr>
          <p:cNvPr id="52" name="Text 50"/>
          <p:cNvSpPr/>
          <p:nvPr/>
        </p:nvSpPr>
        <p:spPr>
          <a:xfrm>
            <a:off x="5486400" y="4105656"/>
            <a:ext cx="1645920" cy="182880"/>
          </a:xfrm>
          <a:prstGeom prst="rect">
            <a:avLst/>
          </a:prstGeom>
          <a:noFill/>
          <a:ln/>
        </p:spPr>
        <p:txBody>
          <a:bodyPr wrap="square" lIns="0" tIns="0" rIns="0" bIns="0" rtlCol="0" anchor="ctr"/>
          <a:lstStyle/>
          <a:p>
            <a:pPr marL="0" indent="0" algn="ctr">
              <a:buNone/>
            </a:pPr>
            <a:r>
              <a:rPr lang="en-US" sz="750" dirty="0">
                <a:solidFill>
                  <a:srgbClr val="AABBEE"/>
                </a:solidFill>
              </a:rPr>
              <a:t>Inicio</a:t>
            </a:r>
            <a:endParaRPr lang="en-US" sz="750" dirty="0"/>
          </a:p>
        </p:txBody>
      </p:sp>
      <p:sp>
        <p:nvSpPr>
          <p:cNvPr id="53" name="Shape 51"/>
          <p:cNvSpPr/>
          <p:nvPr/>
        </p:nvSpPr>
        <p:spPr>
          <a:xfrm>
            <a:off x="7223760" y="3886200"/>
            <a:ext cx="1645920" cy="402336"/>
          </a:xfrm>
          <a:prstGeom prst="rect">
            <a:avLst/>
          </a:prstGeom>
          <a:solidFill>
            <a:srgbClr val="263980"/>
          </a:solidFill>
          <a:ln w="12700">
            <a:solidFill>
              <a:srgbClr val="46C2CE"/>
            </a:solidFill>
            <a:prstDash val="solid"/>
          </a:ln>
        </p:spPr>
        <p:txBody>
          <a:bodyPr/>
          <a:lstStyle/>
          <a:p>
            <a:endParaRPr lang="es-MX"/>
          </a:p>
        </p:txBody>
      </p:sp>
      <p:sp>
        <p:nvSpPr>
          <p:cNvPr id="54" name="Text 52"/>
          <p:cNvSpPr/>
          <p:nvPr/>
        </p:nvSpPr>
        <p:spPr>
          <a:xfrm>
            <a:off x="7223760" y="3886200"/>
            <a:ext cx="1645920" cy="219456"/>
          </a:xfrm>
          <a:prstGeom prst="rect">
            <a:avLst/>
          </a:prstGeom>
          <a:noFill/>
          <a:ln/>
        </p:spPr>
        <p:txBody>
          <a:bodyPr wrap="square" lIns="0" tIns="0" rIns="0" bIns="0" rtlCol="0" anchor="ctr"/>
          <a:lstStyle/>
          <a:p>
            <a:pPr marL="0" indent="0" algn="ctr">
              <a:buNone/>
            </a:pPr>
            <a:r>
              <a:rPr lang="en-US" sz="700" b="1" dirty="0">
                <a:solidFill>
                  <a:srgbClr val="46C2CE"/>
                </a:solidFill>
              </a:rPr>
              <a:t>MX_Arti_General_1</a:t>
            </a:r>
            <a:endParaRPr lang="en-US" sz="700" dirty="0"/>
          </a:p>
        </p:txBody>
      </p:sp>
      <p:sp>
        <p:nvSpPr>
          <p:cNvPr id="55" name="Text 53"/>
          <p:cNvSpPr/>
          <p:nvPr/>
        </p:nvSpPr>
        <p:spPr>
          <a:xfrm>
            <a:off x="7223760" y="4105656"/>
            <a:ext cx="1645920" cy="182880"/>
          </a:xfrm>
          <a:prstGeom prst="rect">
            <a:avLst/>
          </a:prstGeom>
          <a:noFill/>
          <a:ln/>
        </p:spPr>
        <p:txBody>
          <a:bodyPr wrap="square" lIns="0" tIns="0" rIns="0" bIns="0" rtlCol="0" anchor="ctr"/>
          <a:lstStyle/>
          <a:p>
            <a:pPr marL="0" indent="0" algn="ctr">
              <a:buNone/>
            </a:pPr>
            <a:r>
              <a:rPr lang="en-US" sz="750" dirty="0">
                <a:solidFill>
                  <a:srgbClr val="AABBEE"/>
                </a:solidFill>
              </a:rPr>
              <a:t>Artículos Generales</a:t>
            </a:r>
            <a:endParaRPr lang="en-US" sz="750" dirty="0"/>
          </a:p>
        </p:txBody>
      </p:sp>
      <p:sp>
        <p:nvSpPr>
          <p:cNvPr id="56" name="Shape 54"/>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57" name="Text 55"/>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60" name="Gráfico 59">
            <a:extLst>
              <a:ext uri="{FF2B5EF4-FFF2-40B4-BE49-F238E27FC236}">
                <a16:creationId xmlns:a16="http://schemas.microsoft.com/office/drawing/2014/main" id="{D0549D48-D254-8B8E-3942-6B90CF9BDE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C1A56"/>
          </a:solidFill>
          <a:ln w="12700">
            <a:solidFill>
              <a:srgbClr val="2C1A56"/>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Proceso 8 — Tu Hijo en Portada (THP)</a:t>
            </a:r>
            <a:endParaRPr lang="en-US" sz="2000" dirty="0"/>
          </a:p>
        </p:txBody>
      </p:sp>
      <p:sp>
        <p:nvSpPr>
          <p:cNvPr id="5" name="Shape 3"/>
          <p:cNvSpPr/>
          <p:nvPr/>
        </p:nvSpPr>
        <p:spPr>
          <a:xfrm>
            <a:off x="274320" y="868680"/>
            <a:ext cx="8595360" cy="640080"/>
          </a:xfrm>
          <a:prstGeom prst="rect">
            <a:avLst/>
          </a:prstGeom>
          <a:solidFill>
            <a:srgbClr val="263980"/>
          </a:solidFill>
          <a:ln w="12700">
            <a:solidFill>
              <a:srgbClr val="263980"/>
            </a:solidFill>
            <a:prstDash val="solid"/>
          </a:ln>
        </p:spPr>
        <p:txBody>
          <a:bodyPr/>
          <a:lstStyle/>
          <a:p>
            <a:endParaRPr lang="es-MX"/>
          </a:p>
        </p:txBody>
      </p:sp>
      <p:pic>
        <p:nvPicPr>
          <p:cNvPr id="6" name="Image 0" descr="preencoded.png"/>
          <p:cNvPicPr>
            <a:picLocks noChangeAspect="1"/>
          </p:cNvPicPr>
          <p:nvPr/>
        </p:nvPicPr>
        <p:blipFill>
          <a:blip r:embed="rId3"/>
          <a:stretch>
            <a:fillRect/>
          </a:stretch>
        </p:blipFill>
        <p:spPr>
          <a:xfrm>
            <a:off x="365760" y="978408"/>
            <a:ext cx="411480" cy="411480"/>
          </a:xfrm>
          <a:prstGeom prst="rect">
            <a:avLst/>
          </a:prstGeom>
        </p:spPr>
      </p:pic>
      <p:sp>
        <p:nvSpPr>
          <p:cNvPr id="7" name="Text 4"/>
          <p:cNvSpPr/>
          <p:nvPr/>
        </p:nvSpPr>
        <p:spPr>
          <a:xfrm>
            <a:off x="914400" y="896112"/>
            <a:ext cx="7818120" cy="585216"/>
          </a:xfrm>
          <a:prstGeom prst="rect">
            <a:avLst/>
          </a:prstGeom>
          <a:noFill/>
          <a:ln/>
        </p:spPr>
        <p:txBody>
          <a:bodyPr wrap="square" lIns="0" tIns="0" rIns="0" bIns="0" rtlCol="0" anchor="ctr"/>
          <a:lstStyle/>
          <a:p>
            <a:pPr marL="0" indent="0">
              <a:buNone/>
            </a:pPr>
            <a:r>
              <a:rPr lang="en-US" sz="1100" dirty="0">
                <a:solidFill>
                  <a:srgbClr val="FFFFFF"/>
                </a:solidFill>
              </a:rPr>
              <a:t>Estrategia: Red de captura total — THP busca cobertura MASIVA en múltiples secciones con baja prioridad. Sus banners NO compiten con marcas de paga; llenan el inventario remanente.</a:t>
            </a:r>
            <a:endParaRPr lang="en-US" sz="1100" dirty="0"/>
          </a:p>
        </p:txBody>
      </p:sp>
      <p:sp>
        <p:nvSpPr>
          <p:cNvPr id="8" name="Shape 5"/>
          <p:cNvSpPr/>
          <p:nvPr/>
        </p:nvSpPr>
        <p:spPr>
          <a:xfrm>
            <a:off x="274320" y="1627632"/>
            <a:ext cx="8595360" cy="384048"/>
          </a:xfrm>
          <a:prstGeom prst="rect">
            <a:avLst/>
          </a:prstGeom>
          <a:solidFill>
            <a:srgbClr val="FFFFFF"/>
          </a:solidFill>
          <a:ln w="12700">
            <a:solidFill>
              <a:srgbClr val="CBD5E1"/>
            </a:solidFill>
            <a:prstDash val="solid"/>
          </a:ln>
        </p:spPr>
        <p:txBody>
          <a:bodyPr/>
          <a:lstStyle/>
          <a:p>
            <a:endParaRPr lang="es-MX"/>
          </a:p>
        </p:txBody>
      </p:sp>
      <p:sp>
        <p:nvSpPr>
          <p:cNvPr id="9" name="Shape 6"/>
          <p:cNvSpPr/>
          <p:nvPr/>
        </p:nvSpPr>
        <p:spPr>
          <a:xfrm>
            <a:off x="274320" y="1627632"/>
            <a:ext cx="64008" cy="384048"/>
          </a:xfrm>
          <a:prstGeom prst="rect">
            <a:avLst/>
          </a:prstGeom>
          <a:solidFill>
            <a:srgbClr val="46C2CE"/>
          </a:solidFill>
          <a:ln w="12700">
            <a:solidFill>
              <a:srgbClr val="46C2CE"/>
            </a:solidFill>
            <a:prstDash val="solid"/>
          </a:ln>
        </p:spPr>
        <p:txBody>
          <a:bodyPr/>
          <a:lstStyle/>
          <a:p>
            <a:endParaRPr lang="es-MX"/>
          </a:p>
        </p:txBody>
      </p:sp>
      <p:sp>
        <p:nvSpPr>
          <p:cNvPr id="10" name="Text 7"/>
          <p:cNvSpPr/>
          <p:nvPr/>
        </p:nvSpPr>
        <p:spPr>
          <a:xfrm>
            <a:off x="457200" y="1627632"/>
            <a:ext cx="2011680" cy="384048"/>
          </a:xfrm>
          <a:prstGeom prst="rect">
            <a:avLst/>
          </a:prstGeom>
          <a:noFill/>
          <a:ln/>
        </p:spPr>
        <p:txBody>
          <a:bodyPr wrap="square" lIns="0" tIns="0" rIns="0" bIns="0" rtlCol="0" anchor="ctr"/>
          <a:lstStyle/>
          <a:p>
            <a:pPr marL="0" indent="0">
              <a:buNone/>
            </a:pPr>
            <a:r>
              <a:rPr lang="en-US" sz="1000" b="1" dirty="0">
                <a:solidFill>
                  <a:srgbClr val="263980"/>
                </a:solidFill>
              </a:rPr>
              <a:t>Pedido base:</a:t>
            </a:r>
            <a:endParaRPr lang="en-US" sz="1000" dirty="0"/>
          </a:p>
        </p:txBody>
      </p:sp>
      <p:sp>
        <p:nvSpPr>
          <p:cNvPr id="11" name="Text 8"/>
          <p:cNvSpPr/>
          <p:nvPr/>
        </p:nvSpPr>
        <p:spPr>
          <a:xfrm>
            <a:off x="2514600" y="1627632"/>
            <a:ext cx="6217920" cy="384048"/>
          </a:xfrm>
          <a:prstGeom prst="rect">
            <a:avLst/>
          </a:prstGeom>
          <a:noFill/>
          <a:ln/>
        </p:spPr>
        <p:txBody>
          <a:bodyPr wrap="square" lIns="0" tIns="0" rIns="0" bIns="0" rtlCol="0" anchor="ctr"/>
          <a:lstStyle/>
          <a:p>
            <a:pPr marL="0" indent="0">
              <a:buNone/>
            </a:pPr>
            <a:r>
              <a:rPr lang="en-US" sz="1000" dirty="0">
                <a:solidFill>
                  <a:srgbClr val="2C1A56"/>
                </a:solidFill>
              </a:rPr>
              <a:t>MX - Mi Bebé y Yo → copiar Prog EXPO MIB 2024</a:t>
            </a:r>
            <a:endParaRPr lang="en-US" sz="1000" dirty="0"/>
          </a:p>
        </p:txBody>
      </p:sp>
      <p:sp>
        <p:nvSpPr>
          <p:cNvPr id="12" name="Shape 9"/>
          <p:cNvSpPr/>
          <p:nvPr/>
        </p:nvSpPr>
        <p:spPr>
          <a:xfrm>
            <a:off x="274320" y="2066544"/>
            <a:ext cx="8595360" cy="384048"/>
          </a:xfrm>
          <a:prstGeom prst="rect">
            <a:avLst/>
          </a:prstGeom>
          <a:solidFill>
            <a:srgbClr val="EEF2FF"/>
          </a:solidFill>
          <a:ln w="12700">
            <a:solidFill>
              <a:srgbClr val="CBD5E1"/>
            </a:solidFill>
            <a:prstDash val="solid"/>
          </a:ln>
        </p:spPr>
        <p:txBody>
          <a:bodyPr/>
          <a:lstStyle/>
          <a:p>
            <a:endParaRPr lang="es-MX"/>
          </a:p>
        </p:txBody>
      </p:sp>
      <p:sp>
        <p:nvSpPr>
          <p:cNvPr id="13" name="Shape 10"/>
          <p:cNvSpPr/>
          <p:nvPr/>
        </p:nvSpPr>
        <p:spPr>
          <a:xfrm>
            <a:off x="274320" y="2066544"/>
            <a:ext cx="64008" cy="384048"/>
          </a:xfrm>
          <a:prstGeom prst="rect">
            <a:avLst/>
          </a:prstGeom>
          <a:solidFill>
            <a:srgbClr val="46C2CE"/>
          </a:solidFill>
          <a:ln w="12700">
            <a:solidFill>
              <a:srgbClr val="46C2CE"/>
            </a:solidFill>
            <a:prstDash val="solid"/>
          </a:ln>
        </p:spPr>
        <p:txBody>
          <a:bodyPr/>
          <a:lstStyle/>
          <a:p>
            <a:endParaRPr lang="es-MX"/>
          </a:p>
        </p:txBody>
      </p:sp>
      <p:sp>
        <p:nvSpPr>
          <p:cNvPr id="14" name="Text 11"/>
          <p:cNvSpPr/>
          <p:nvPr/>
        </p:nvSpPr>
        <p:spPr>
          <a:xfrm>
            <a:off x="457200" y="2066544"/>
            <a:ext cx="2011680" cy="384048"/>
          </a:xfrm>
          <a:prstGeom prst="rect">
            <a:avLst/>
          </a:prstGeom>
          <a:noFill/>
          <a:ln/>
        </p:spPr>
        <p:txBody>
          <a:bodyPr wrap="square" lIns="0" tIns="0" rIns="0" bIns="0" rtlCol="0" anchor="ctr"/>
          <a:lstStyle/>
          <a:p>
            <a:pPr marL="0" indent="0">
              <a:buNone/>
            </a:pPr>
            <a:r>
              <a:rPr lang="en-US" sz="1000" b="1" dirty="0">
                <a:solidFill>
                  <a:srgbClr val="263980"/>
                </a:solidFill>
              </a:rPr>
              <a:t>Tipo de línea:</a:t>
            </a:r>
            <a:endParaRPr lang="en-US" sz="1000" dirty="0"/>
          </a:p>
        </p:txBody>
      </p:sp>
      <p:sp>
        <p:nvSpPr>
          <p:cNvPr id="15" name="Text 12"/>
          <p:cNvSpPr/>
          <p:nvPr/>
        </p:nvSpPr>
        <p:spPr>
          <a:xfrm>
            <a:off x="2514600" y="2066544"/>
            <a:ext cx="6217920" cy="384048"/>
          </a:xfrm>
          <a:prstGeom prst="rect">
            <a:avLst/>
          </a:prstGeom>
          <a:noFill/>
          <a:ln/>
        </p:spPr>
        <p:txBody>
          <a:bodyPr wrap="square" lIns="0" tIns="0" rIns="0" bIns="0" rtlCol="0" anchor="ctr"/>
          <a:lstStyle/>
          <a:p>
            <a:pPr marL="0" indent="0">
              <a:buNone/>
            </a:pPr>
            <a:r>
              <a:rPr lang="en-US" sz="1000" dirty="0">
                <a:solidFill>
                  <a:srgbClr val="2C1A56"/>
                </a:solidFill>
              </a:rPr>
              <a:t>Prioridad de precios (12) — cede espacio a campañas directas</a:t>
            </a:r>
            <a:endParaRPr lang="en-US" sz="1000" dirty="0"/>
          </a:p>
        </p:txBody>
      </p:sp>
      <p:sp>
        <p:nvSpPr>
          <p:cNvPr id="16" name="Shape 13"/>
          <p:cNvSpPr/>
          <p:nvPr/>
        </p:nvSpPr>
        <p:spPr>
          <a:xfrm>
            <a:off x="274320" y="2505456"/>
            <a:ext cx="8595360" cy="384048"/>
          </a:xfrm>
          <a:prstGeom prst="rect">
            <a:avLst/>
          </a:prstGeom>
          <a:solidFill>
            <a:srgbClr val="FFFFFF"/>
          </a:solidFill>
          <a:ln w="12700">
            <a:solidFill>
              <a:srgbClr val="CBD5E1"/>
            </a:solidFill>
            <a:prstDash val="solid"/>
          </a:ln>
        </p:spPr>
        <p:txBody>
          <a:bodyPr/>
          <a:lstStyle/>
          <a:p>
            <a:endParaRPr lang="es-MX"/>
          </a:p>
        </p:txBody>
      </p:sp>
      <p:sp>
        <p:nvSpPr>
          <p:cNvPr id="17" name="Shape 14"/>
          <p:cNvSpPr/>
          <p:nvPr/>
        </p:nvSpPr>
        <p:spPr>
          <a:xfrm>
            <a:off x="274320" y="2505456"/>
            <a:ext cx="64008" cy="384048"/>
          </a:xfrm>
          <a:prstGeom prst="rect">
            <a:avLst/>
          </a:prstGeom>
          <a:solidFill>
            <a:srgbClr val="46C2CE"/>
          </a:solidFill>
          <a:ln w="12700">
            <a:solidFill>
              <a:srgbClr val="46C2CE"/>
            </a:solidFill>
            <a:prstDash val="solid"/>
          </a:ln>
        </p:spPr>
        <p:txBody>
          <a:bodyPr/>
          <a:lstStyle/>
          <a:p>
            <a:endParaRPr lang="es-MX"/>
          </a:p>
        </p:txBody>
      </p:sp>
      <p:sp>
        <p:nvSpPr>
          <p:cNvPr id="18" name="Text 15"/>
          <p:cNvSpPr/>
          <p:nvPr/>
        </p:nvSpPr>
        <p:spPr>
          <a:xfrm>
            <a:off x="457200" y="2505456"/>
            <a:ext cx="2011680" cy="384048"/>
          </a:xfrm>
          <a:prstGeom prst="rect">
            <a:avLst/>
          </a:prstGeom>
          <a:noFill/>
          <a:ln/>
        </p:spPr>
        <p:txBody>
          <a:bodyPr wrap="square" lIns="0" tIns="0" rIns="0" bIns="0" rtlCol="0" anchor="ctr"/>
          <a:lstStyle/>
          <a:p>
            <a:pPr marL="0" indent="0">
              <a:buNone/>
            </a:pPr>
            <a:r>
              <a:rPr lang="en-US" sz="1000" b="1" dirty="0">
                <a:solidFill>
                  <a:srgbClr val="263980"/>
                </a:solidFill>
              </a:rPr>
              <a:t>Impresiones:</a:t>
            </a:r>
            <a:endParaRPr lang="en-US" sz="1000" dirty="0"/>
          </a:p>
        </p:txBody>
      </p:sp>
      <p:sp>
        <p:nvSpPr>
          <p:cNvPr id="19" name="Text 16"/>
          <p:cNvSpPr/>
          <p:nvPr/>
        </p:nvSpPr>
        <p:spPr>
          <a:xfrm>
            <a:off x="2514600" y="2505456"/>
            <a:ext cx="6217920" cy="384048"/>
          </a:xfrm>
          <a:prstGeom prst="rect">
            <a:avLst/>
          </a:prstGeom>
          <a:noFill/>
          <a:ln/>
        </p:spPr>
        <p:txBody>
          <a:bodyPr wrap="square" lIns="0" tIns="0" rIns="0" bIns="0" rtlCol="0" anchor="ctr"/>
          <a:lstStyle/>
          <a:p>
            <a:pPr marL="0" indent="0">
              <a:buNone/>
            </a:pPr>
            <a:r>
              <a:rPr lang="en-US" sz="1000" dirty="0">
                <a:solidFill>
                  <a:srgbClr val="2C1A56"/>
                </a:solidFill>
              </a:rPr>
              <a:t>10,400,000 — exposición masiva y continua</a:t>
            </a:r>
            <a:endParaRPr lang="en-US" sz="1000" dirty="0"/>
          </a:p>
        </p:txBody>
      </p:sp>
      <p:sp>
        <p:nvSpPr>
          <p:cNvPr id="20" name="Shape 17"/>
          <p:cNvSpPr/>
          <p:nvPr/>
        </p:nvSpPr>
        <p:spPr>
          <a:xfrm>
            <a:off x="274320" y="2944368"/>
            <a:ext cx="8595360" cy="384048"/>
          </a:xfrm>
          <a:prstGeom prst="rect">
            <a:avLst/>
          </a:prstGeom>
          <a:solidFill>
            <a:srgbClr val="EEF2FF"/>
          </a:solidFill>
          <a:ln w="12700">
            <a:solidFill>
              <a:srgbClr val="CBD5E1"/>
            </a:solidFill>
            <a:prstDash val="solid"/>
          </a:ln>
        </p:spPr>
        <p:txBody>
          <a:bodyPr/>
          <a:lstStyle/>
          <a:p>
            <a:endParaRPr lang="es-MX"/>
          </a:p>
        </p:txBody>
      </p:sp>
      <p:sp>
        <p:nvSpPr>
          <p:cNvPr id="21" name="Shape 18"/>
          <p:cNvSpPr/>
          <p:nvPr/>
        </p:nvSpPr>
        <p:spPr>
          <a:xfrm>
            <a:off x="274320" y="2944368"/>
            <a:ext cx="64008" cy="384048"/>
          </a:xfrm>
          <a:prstGeom prst="rect">
            <a:avLst/>
          </a:prstGeom>
          <a:solidFill>
            <a:srgbClr val="46C2CE"/>
          </a:solidFill>
          <a:ln w="12700">
            <a:solidFill>
              <a:srgbClr val="46C2CE"/>
            </a:solidFill>
            <a:prstDash val="solid"/>
          </a:ln>
        </p:spPr>
        <p:txBody>
          <a:bodyPr/>
          <a:lstStyle/>
          <a:p>
            <a:endParaRPr lang="es-MX"/>
          </a:p>
        </p:txBody>
      </p:sp>
      <p:sp>
        <p:nvSpPr>
          <p:cNvPr id="22" name="Text 19"/>
          <p:cNvSpPr/>
          <p:nvPr/>
        </p:nvSpPr>
        <p:spPr>
          <a:xfrm>
            <a:off x="457200" y="2944368"/>
            <a:ext cx="2011680" cy="384048"/>
          </a:xfrm>
          <a:prstGeom prst="rect">
            <a:avLst/>
          </a:prstGeom>
          <a:noFill/>
          <a:ln/>
        </p:spPr>
        <p:txBody>
          <a:bodyPr wrap="square" lIns="0" tIns="0" rIns="0" bIns="0" rtlCol="0" anchor="ctr"/>
          <a:lstStyle/>
          <a:p>
            <a:pPr marL="0" indent="0">
              <a:buNone/>
            </a:pPr>
            <a:r>
              <a:rPr lang="en-US" sz="1000" b="1" dirty="0">
                <a:solidFill>
                  <a:srgbClr val="263980"/>
                </a:solidFill>
              </a:rPr>
              <a:t>Creatividades:</a:t>
            </a:r>
            <a:endParaRPr lang="en-US" sz="1000" dirty="0"/>
          </a:p>
        </p:txBody>
      </p:sp>
      <p:sp>
        <p:nvSpPr>
          <p:cNvPr id="23" name="Text 20"/>
          <p:cNvSpPr/>
          <p:nvPr/>
        </p:nvSpPr>
        <p:spPr>
          <a:xfrm>
            <a:off x="2514600" y="2944368"/>
            <a:ext cx="6217920" cy="384048"/>
          </a:xfrm>
          <a:prstGeom prst="rect">
            <a:avLst/>
          </a:prstGeom>
          <a:noFill/>
          <a:ln/>
        </p:spPr>
        <p:txBody>
          <a:bodyPr wrap="square" lIns="0" tIns="0" rIns="0" bIns="0" rtlCol="0" anchor="ctr"/>
          <a:lstStyle/>
          <a:p>
            <a:pPr marL="0" indent="0">
              <a:buNone/>
            </a:pPr>
            <a:r>
              <a:rPr lang="en-US" sz="1000" dirty="0">
                <a:solidFill>
                  <a:srgbClr val="2C1A56"/>
                </a:solidFill>
              </a:rPr>
              <a:t>"Tantas como sea posible" — efecto roadblock en la página</a:t>
            </a:r>
            <a:endParaRPr lang="en-US" sz="1000" dirty="0"/>
          </a:p>
        </p:txBody>
      </p:sp>
      <p:sp>
        <p:nvSpPr>
          <p:cNvPr id="24" name="Shape 21"/>
          <p:cNvSpPr/>
          <p:nvPr/>
        </p:nvSpPr>
        <p:spPr>
          <a:xfrm>
            <a:off x="274320" y="3383280"/>
            <a:ext cx="8595360" cy="384048"/>
          </a:xfrm>
          <a:prstGeom prst="rect">
            <a:avLst/>
          </a:prstGeom>
          <a:solidFill>
            <a:srgbClr val="FFFFFF"/>
          </a:solidFill>
          <a:ln w="12700">
            <a:solidFill>
              <a:srgbClr val="CBD5E1"/>
            </a:solidFill>
            <a:prstDash val="solid"/>
          </a:ln>
        </p:spPr>
        <p:txBody>
          <a:bodyPr/>
          <a:lstStyle/>
          <a:p>
            <a:endParaRPr lang="es-MX"/>
          </a:p>
        </p:txBody>
      </p:sp>
      <p:sp>
        <p:nvSpPr>
          <p:cNvPr id="25" name="Shape 22"/>
          <p:cNvSpPr/>
          <p:nvPr/>
        </p:nvSpPr>
        <p:spPr>
          <a:xfrm>
            <a:off x="274320" y="3383280"/>
            <a:ext cx="64008" cy="384048"/>
          </a:xfrm>
          <a:prstGeom prst="rect">
            <a:avLst/>
          </a:prstGeom>
          <a:solidFill>
            <a:srgbClr val="46C2CE"/>
          </a:solidFill>
          <a:ln w="12700">
            <a:solidFill>
              <a:srgbClr val="46C2CE"/>
            </a:solidFill>
            <a:prstDash val="solid"/>
          </a:ln>
        </p:spPr>
        <p:txBody>
          <a:bodyPr/>
          <a:lstStyle/>
          <a:p>
            <a:endParaRPr lang="es-MX"/>
          </a:p>
        </p:txBody>
      </p:sp>
      <p:sp>
        <p:nvSpPr>
          <p:cNvPr id="26" name="Text 23"/>
          <p:cNvSpPr/>
          <p:nvPr/>
        </p:nvSpPr>
        <p:spPr>
          <a:xfrm>
            <a:off x="457200" y="3383280"/>
            <a:ext cx="2011680" cy="384048"/>
          </a:xfrm>
          <a:prstGeom prst="rect">
            <a:avLst/>
          </a:prstGeom>
          <a:noFill/>
          <a:ln/>
        </p:spPr>
        <p:txBody>
          <a:bodyPr wrap="square" lIns="0" tIns="0" rIns="0" bIns="0" rtlCol="0" anchor="ctr"/>
          <a:lstStyle/>
          <a:p>
            <a:pPr marL="0" indent="0">
              <a:buNone/>
            </a:pPr>
            <a:r>
              <a:rPr lang="en-US" sz="1000" b="1" dirty="0">
                <a:solidFill>
                  <a:srgbClr val="263980"/>
                </a:solidFill>
              </a:rPr>
              <a:t>Frecuencia:</a:t>
            </a:r>
            <a:endParaRPr lang="en-US" sz="1000" dirty="0"/>
          </a:p>
        </p:txBody>
      </p:sp>
      <p:sp>
        <p:nvSpPr>
          <p:cNvPr id="27" name="Text 24"/>
          <p:cNvSpPr/>
          <p:nvPr/>
        </p:nvSpPr>
        <p:spPr>
          <a:xfrm>
            <a:off x="2514600" y="3383280"/>
            <a:ext cx="6217920" cy="384048"/>
          </a:xfrm>
          <a:prstGeom prst="rect">
            <a:avLst/>
          </a:prstGeom>
          <a:noFill/>
          <a:ln/>
        </p:spPr>
        <p:txBody>
          <a:bodyPr wrap="square" lIns="0" tIns="0" rIns="0" bIns="0" rtlCol="0" anchor="ctr"/>
          <a:lstStyle/>
          <a:p>
            <a:pPr marL="0" indent="0">
              <a:buNone/>
            </a:pPr>
            <a:r>
              <a:rPr lang="en-US" sz="1000" dirty="0">
                <a:solidFill>
                  <a:srgbClr val="2C1A56"/>
                </a:solidFill>
              </a:rPr>
              <a:t>2 impresiones por 2 horas — visible pero no invasivo</a:t>
            </a:r>
            <a:endParaRPr lang="en-US" sz="1000" dirty="0"/>
          </a:p>
        </p:txBody>
      </p:sp>
      <p:sp>
        <p:nvSpPr>
          <p:cNvPr id="28" name="Text 25"/>
          <p:cNvSpPr/>
          <p:nvPr/>
        </p:nvSpPr>
        <p:spPr>
          <a:xfrm>
            <a:off x="274320" y="3840805"/>
            <a:ext cx="8595360" cy="274320"/>
          </a:xfrm>
          <a:prstGeom prst="rect">
            <a:avLst/>
          </a:prstGeom>
          <a:noFill/>
          <a:ln/>
        </p:spPr>
        <p:txBody>
          <a:bodyPr wrap="square" lIns="0" tIns="0" rIns="0" bIns="0" rtlCol="0" anchor="ctr"/>
          <a:lstStyle/>
          <a:p>
            <a:pPr marL="0" indent="0">
              <a:buNone/>
            </a:pPr>
            <a:r>
              <a:rPr lang="en-US" sz="1050" b="1" dirty="0">
                <a:solidFill>
                  <a:srgbClr val="263980"/>
                </a:solidFill>
              </a:rPr>
              <a:t>Segmentación THP — aparece en TODAS las secciones con operador OR:</a:t>
            </a:r>
            <a:endParaRPr lang="en-US" sz="1050" dirty="0"/>
          </a:p>
        </p:txBody>
      </p:sp>
      <p:sp>
        <p:nvSpPr>
          <p:cNvPr id="29" name="Shape 26"/>
          <p:cNvSpPr/>
          <p:nvPr/>
        </p:nvSpPr>
        <p:spPr>
          <a:xfrm>
            <a:off x="274320" y="4160845"/>
            <a:ext cx="1115568" cy="320040"/>
          </a:xfrm>
          <a:prstGeom prst="rect">
            <a:avLst/>
          </a:prstGeom>
          <a:solidFill>
            <a:srgbClr val="2C1A56"/>
          </a:solidFill>
          <a:ln w="12700">
            <a:solidFill>
              <a:srgbClr val="7F52A0"/>
            </a:solidFill>
            <a:prstDash val="solid"/>
          </a:ln>
        </p:spPr>
        <p:txBody>
          <a:bodyPr/>
          <a:lstStyle/>
          <a:p>
            <a:endParaRPr lang="es-MX"/>
          </a:p>
        </p:txBody>
      </p:sp>
      <p:sp>
        <p:nvSpPr>
          <p:cNvPr id="30" name="Text 27"/>
          <p:cNvSpPr/>
          <p:nvPr/>
        </p:nvSpPr>
        <p:spPr>
          <a:xfrm>
            <a:off x="274320" y="4160845"/>
            <a:ext cx="1115568" cy="320040"/>
          </a:xfrm>
          <a:prstGeom prst="rect">
            <a:avLst/>
          </a:prstGeom>
          <a:noFill/>
          <a:ln/>
        </p:spPr>
        <p:txBody>
          <a:bodyPr wrap="square" lIns="0" tIns="0" rIns="0" bIns="0" rtlCol="0" anchor="ctr"/>
          <a:lstStyle/>
          <a:p>
            <a:pPr marL="0" indent="0" algn="ctr">
              <a:buNone/>
            </a:pPr>
            <a:r>
              <a:rPr lang="en-US" sz="650" b="1" dirty="0">
                <a:solidFill>
                  <a:srgbClr val="46C2CE"/>
                </a:solidFill>
              </a:rPr>
              <a:t>MX_Mujer_Hoy</a:t>
            </a:r>
            <a:endParaRPr lang="en-US" sz="650" dirty="0"/>
          </a:p>
        </p:txBody>
      </p:sp>
      <p:sp>
        <p:nvSpPr>
          <p:cNvPr id="31" name="Shape 28"/>
          <p:cNvSpPr/>
          <p:nvPr/>
        </p:nvSpPr>
        <p:spPr>
          <a:xfrm>
            <a:off x="1508760" y="4160845"/>
            <a:ext cx="1115568" cy="320040"/>
          </a:xfrm>
          <a:prstGeom prst="rect">
            <a:avLst/>
          </a:prstGeom>
          <a:solidFill>
            <a:srgbClr val="2C1A56"/>
          </a:solidFill>
          <a:ln w="12700">
            <a:solidFill>
              <a:srgbClr val="7F52A0"/>
            </a:solidFill>
            <a:prstDash val="solid"/>
          </a:ln>
        </p:spPr>
        <p:txBody>
          <a:bodyPr/>
          <a:lstStyle/>
          <a:p>
            <a:endParaRPr lang="es-MX"/>
          </a:p>
        </p:txBody>
      </p:sp>
      <p:sp>
        <p:nvSpPr>
          <p:cNvPr id="32" name="Text 29"/>
          <p:cNvSpPr/>
          <p:nvPr/>
        </p:nvSpPr>
        <p:spPr>
          <a:xfrm>
            <a:off x="1508760" y="4160845"/>
            <a:ext cx="1115568" cy="320040"/>
          </a:xfrm>
          <a:prstGeom prst="rect">
            <a:avLst/>
          </a:prstGeom>
          <a:noFill/>
          <a:ln/>
        </p:spPr>
        <p:txBody>
          <a:bodyPr wrap="square" lIns="0" tIns="0" rIns="0" bIns="0" rtlCol="0" anchor="ctr"/>
          <a:lstStyle/>
          <a:p>
            <a:pPr marL="0" indent="0" algn="ctr">
              <a:buNone/>
            </a:pPr>
            <a:r>
              <a:rPr lang="en-US" sz="650" b="1" dirty="0">
                <a:solidFill>
                  <a:srgbClr val="46C2CE"/>
                </a:solidFill>
              </a:rPr>
              <a:t>MX_Ninos</a:t>
            </a:r>
            <a:endParaRPr lang="en-US" sz="650" dirty="0"/>
          </a:p>
        </p:txBody>
      </p:sp>
      <p:sp>
        <p:nvSpPr>
          <p:cNvPr id="33" name="Shape 30"/>
          <p:cNvSpPr/>
          <p:nvPr/>
        </p:nvSpPr>
        <p:spPr>
          <a:xfrm>
            <a:off x="2743200" y="4160845"/>
            <a:ext cx="1115568" cy="320040"/>
          </a:xfrm>
          <a:prstGeom prst="rect">
            <a:avLst/>
          </a:prstGeom>
          <a:solidFill>
            <a:srgbClr val="2C1A56"/>
          </a:solidFill>
          <a:ln w="12700">
            <a:solidFill>
              <a:srgbClr val="7F52A0"/>
            </a:solidFill>
            <a:prstDash val="solid"/>
          </a:ln>
        </p:spPr>
        <p:txBody>
          <a:bodyPr/>
          <a:lstStyle/>
          <a:p>
            <a:endParaRPr lang="es-MX"/>
          </a:p>
        </p:txBody>
      </p:sp>
      <p:sp>
        <p:nvSpPr>
          <p:cNvPr id="34" name="Text 31"/>
          <p:cNvSpPr/>
          <p:nvPr/>
        </p:nvSpPr>
        <p:spPr>
          <a:xfrm>
            <a:off x="2743200" y="4160845"/>
            <a:ext cx="1115568" cy="320040"/>
          </a:xfrm>
          <a:prstGeom prst="rect">
            <a:avLst/>
          </a:prstGeom>
          <a:noFill/>
          <a:ln/>
        </p:spPr>
        <p:txBody>
          <a:bodyPr wrap="square" lIns="0" tIns="0" rIns="0" bIns="0" rtlCol="0" anchor="ctr"/>
          <a:lstStyle/>
          <a:p>
            <a:pPr marL="0" indent="0" algn="ctr">
              <a:buNone/>
            </a:pPr>
            <a:r>
              <a:rPr lang="en-US" sz="650" b="1" dirty="0">
                <a:solidFill>
                  <a:srgbClr val="46C2CE"/>
                </a:solidFill>
              </a:rPr>
              <a:t>MX_Nombres_Ninos</a:t>
            </a:r>
            <a:endParaRPr lang="en-US" sz="650" dirty="0"/>
          </a:p>
        </p:txBody>
      </p:sp>
      <p:sp>
        <p:nvSpPr>
          <p:cNvPr id="35" name="Shape 32"/>
          <p:cNvSpPr/>
          <p:nvPr/>
        </p:nvSpPr>
        <p:spPr>
          <a:xfrm>
            <a:off x="3977640" y="4160845"/>
            <a:ext cx="1115568" cy="320040"/>
          </a:xfrm>
          <a:prstGeom prst="rect">
            <a:avLst/>
          </a:prstGeom>
          <a:solidFill>
            <a:srgbClr val="2C1A56"/>
          </a:solidFill>
          <a:ln w="12700">
            <a:solidFill>
              <a:srgbClr val="7F52A0"/>
            </a:solidFill>
            <a:prstDash val="solid"/>
          </a:ln>
        </p:spPr>
        <p:txBody>
          <a:bodyPr/>
          <a:lstStyle/>
          <a:p>
            <a:endParaRPr lang="es-MX"/>
          </a:p>
        </p:txBody>
      </p:sp>
      <p:sp>
        <p:nvSpPr>
          <p:cNvPr id="36" name="Text 33"/>
          <p:cNvSpPr/>
          <p:nvPr/>
        </p:nvSpPr>
        <p:spPr>
          <a:xfrm>
            <a:off x="3977640" y="4160845"/>
            <a:ext cx="1115568" cy="320040"/>
          </a:xfrm>
          <a:prstGeom prst="rect">
            <a:avLst/>
          </a:prstGeom>
          <a:noFill/>
          <a:ln/>
        </p:spPr>
        <p:txBody>
          <a:bodyPr wrap="square" lIns="0" tIns="0" rIns="0" bIns="0" rtlCol="0" anchor="ctr"/>
          <a:lstStyle/>
          <a:p>
            <a:pPr marL="0" indent="0" algn="ctr">
              <a:buNone/>
            </a:pPr>
            <a:r>
              <a:rPr lang="en-US" sz="650" b="1" dirty="0">
                <a:solidFill>
                  <a:srgbClr val="46C2CE"/>
                </a:solidFill>
              </a:rPr>
              <a:t>MX_Enfermedades</a:t>
            </a:r>
            <a:endParaRPr lang="en-US" sz="650" dirty="0"/>
          </a:p>
        </p:txBody>
      </p:sp>
      <p:sp>
        <p:nvSpPr>
          <p:cNvPr id="37" name="Shape 34"/>
          <p:cNvSpPr/>
          <p:nvPr/>
        </p:nvSpPr>
        <p:spPr>
          <a:xfrm>
            <a:off x="5212080" y="4160845"/>
            <a:ext cx="1115568" cy="320040"/>
          </a:xfrm>
          <a:prstGeom prst="rect">
            <a:avLst/>
          </a:prstGeom>
          <a:solidFill>
            <a:srgbClr val="2C1A56"/>
          </a:solidFill>
          <a:ln w="12700">
            <a:solidFill>
              <a:srgbClr val="7F52A0"/>
            </a:solidFill>
            <a:prstDash val="solid"/>
          </a:ln>
        </p:spPr>
        <p:txBody>
          <a:bodyPr/>
          <a:lstStyle/>
          <a:p>
            <a:endParaRPr lang="es-MX"/>
          </a:p>
        </p:txBody>
      </p:sp>
      <p:sp>
        <p:nvSpPr>
          <p:cNvPr id="38" name="Text 35"/>
          <p:cNvSpPr/>
          <p:nvPr/>
        </p:nvSpPr>
        <p:spPr>
          <a:xfrm>
            <a:off x="5212080" y="4160845"/>
            <a:ext cx="1115568" cy="320040"/>
          </a:xfrm>
          <a:prstGeom prst="rect">
            <a:avLst/>
          </a:prstGeom>
          <a:noFill/>
          <a:ln/>
        </p:spPr>
        <p:txBody>
          <a:bodyPr wrap="square" lIns="0" tIns="0" rIns="0" bIns="0" rtlCol="0" anchor="ctr"/>
          <a:lstStyle/>
          <a:p>
            <a:pPr marL="0" indent="0" algn="ctr">
              <a:buNone/>
            </a:pPr>
            <a:r>
              <a:rPr lang="en-US" sz="650" b="1" dirty="0">
                <a:solidFill>
                  <a:srgbClr val="46C2CE"/>
                </a:solidFill>
              </a:rPr>
              <a:t>MX_Home</a:t>
            </a:r>
            <a:endParaRPr lang="en-US" sz="650" dirty="0"/>
          </a:p>
        </p:txBody>
      </p:sp>
      <p:sp>
        <p:nvSpPr>
          <p:cNvPr id="39" name="Shape 36"/>
          <p:cNvSpPr/>
          <p:nvPr/>
        </p:nvSpPr>
        <p:spPr>
          <a:xfrm>
            <a:off x="6446520" y="4160845"/>
            <a:ext cx="1115568" cy="320040"/>
          </a:xfrm>
          <a:prstGeom prst="rect">
            <a:avLst/>
          </a:prstGeom>
          <a:solidFill>
            <a:srgbClr val="2C1A56"/>
          </a:solidFill>
          <a:ln w="12700">
            <a:solidFill>
              <a:srgbClr val="7F52A0"/>
            </a:solidFill>
            <a:prstDash val="solid"/>
          </a:ln>
        </p:spPr>
        <p:txBody>
          <a:bodyPr/>
          <a:lstStyle/>
          <a:p>
            <a:endParaRPr lang="es-MX"/>
          </a:p>
        </p:txBody>
      </p:sp>
      <p:sp>
        <p:nvSpPr>
          <p:cNvPr id="40" name="Text 37"/>
          <p:cNvSpPr/>
          <p:nvPr/>
        </p:nvSpPr>
        <p:spPr>
          <a:xfrm>
            <a:off x="6446520" y="4160845"/>
            <a:ext cx="1115568" cy="320040"/>
          </a:xfrm>
          <a:prstGeom prst="rect">
            <a:avLst/>
          </a:prstGeom>
          <a:noFill/>
          <a:ln/>
        </p:spPr>
        <p:txBody>
          <a:bodyPr wrap="square" lIns="0" tIns="0" rIns="0" bIns="0" rtlCol="0" anchor="ctr"/>
          <a:lstStyle/>
          <a:p>
            <a:pPr marL="0" indent="0" algn="ctr">
              <a:buNone/>
            </a:pPr>
            <a:r>
              <a:rPr lang="en-US" sz="650" b="1" dirty="0">
                <a:solidFill>
                  <a:srgbClr val="46C2CE"/>
                </a:solidFill>
              </a:rPr>
              <a:t>MX_Bebes</a:t>
            </a:r>
            <a:endParaRPr lang="en-US" sz="650" dirty="0"/>
          </a:p>
        </p:txBody>
      </p:sp>
      <p:sp>
        <p:nvSpPr>
          <p:cNvPr id="41" name="Shape 38"/>
          <p:cNvSpPr/>
          <p:nvPr/>
        </p:nvSpPr>
        <p:spPr>
          <a:xfrm>
            <a:off x="7680960" y="4160845"/>
            <a:ext cx="1115568" cy="320040"/>
          </a:xfrm>
          <a:prstGeom prst="rect">
            <a:avLst/>
          </a:prstGeom>
          <a:solidFill>
            <a:srgbClr val="2C1A56"/>
          </a:solidFill>
          <a:ln w="12700">
            <a:solidFill>
              <a:srgbClr val="7F52A0"/>
            </a:solidFill>
            <a:prstDash val="solid"/>
          </a:ln>
        </p:spPr>
        <p:txBody>
          <a:bodyPr/>
          <a:lstStyle/>
          <a:p>
            <a:endParaRPr lang="es-MX"/>
          </a:p>
        </p:txBody>
      </p:sp>
      <p:sp>
        <p:nvSpPr>
          <p:cNvPr id="42" name="Text 39"/>
          <p:cNvSpPr/>
          <p:nvPr/>
        </p:nvSpPr>
        <p:spPr>
          <a:xfrm>
            <a:off x="7680960" y="4160845"/>
            <a:ext cx="1115568" cy="320040"/>
          </a:xfrm>
          <a:prstGeom prst="rect">
            <a:avLst/>
          </a:prstGeom>
          <a:noFill/>
          <a:ln/>
        </p:spPr>
        <p:txBody>
          <a:bodyPr wrap="square" lIns="0" tIns="0" rIns="0" bIns="0" rtlCol="0" anchor="ctr"/>
          <a:lstStyle/>
          <a:p>
            <a:pPr marL="0" indent="0" algn="ctr">
              <a:buNone/>
            </a:pPr>
            <a:r>
              <a:rPr lang="en-US" sz="650" b="1" dirty="0">
                <a:solidFill>
                  <a:srgbClr val="46C2CE"/>
                </a:solidFill>
              </a:rPr>
              <a:t>MX_Arti_General_1</a:t>
            </a:r>
            <a:endParaRPr lang="en-US" sz="650" dirty="0"/>
          </a:p>
        </p:txBody>
      </p:sp>
      <p:grpSp>
        <p:nvGrpSpPr>
          <p:cNvPr id="47" name="Grupo 46">
            <a:extLst>
              <a:ext uri="{FF2B5EF4-FFF2-40B4-BE49-F238E27FC236}">
                <a16:creationId xmlns:a16="http://schemas.microsoft.com/office/drawing/2014/main" id="{16C6AF21-ACFB-7833-6BD1-33EDDA3DCC38}"/>
              </a:ext>
            </a:extLst>
          </p:cNvPr>
          <p:cNvGrpSpPr/>
          <p:nvPr/>
        </p:nvGrpSpPr>
        <p:grpSpPr>
          <a:xfrm>
            <a:off x="274320" y="4559030"/>
            <a:ext cx="8595360" cy="209662"/>
            <a:chOff x="274320" y="4453128"/>
            <a:chExt cx="8595360" cy="256032"/>
          </a:xfrm>
        </p:grpSpPr>
        <p:sp>
          <p:nvSpPr>
            <p:cNvPr id="43" name="Shape 40"/>
            <p:cNvSpPr/>
            <p:nvPr/>
          </p:nvSpPr>
          <p:spPr>
            <a:xfrm>
              <a:off x="274320" y="4453128"/>
              <a:ext cx="8595360" cy="256032"/>
            </a:xfrm>
            <a:prstGeom prst="rect">
              <a:avLst/>
            </a:prstGeom>
            <a:solidFill>
              <a:srgbClr val="FFF3CD"/>
            </a:solidFill>
            <a:ln w="12700">
              <a:solidFill>
                <a:srgbClr val="FFC107"/>
              </a:solidFill>
              <a:prstDash val="solid"/>
            </a:ln>
          </p:spPr>
          <p:txBody>
            <a:bodyPr/>
            <a:lstStyle/>
            <a:p>
              <a:endParaRPr lang="es-MX"/>
            </a:p>
          </p:txBody>
        </p:sp>
        <p:sp>
          <p:nvSpPr>
            <p:cNvPr id="44" name="Text 41"/>
            <p:cNvSpPr/>
            <p:nvPr/>
          </p:nvSpPr>
          <p:spPr>
            <a:xfrm>
              <a:off x="457200" y="4462272"/>
              <a:ext cx="8229600" cy="228600"/>
            </a:xfrm>
            <a:prstGeom prst="rect">
              <a:avLst/>
            </a:prstGeom>
            <a:noFill/>
            <a:ln/>
          </p:spPr>
          <p:txBody>
            <a:bodyPr wrap="square" lIns="0" tIns="0" rIns="0" bIns="0" rtlCol="0" anchor="ctr"/>
            <a:lstStyle/>
            <a:p>
              <a:pPr marL="0" indent="0">
                <a:buNone/>
              </a:pPr>
              <a:r>
                <a:rPr lang="en-US" sz="900" dirty="0">
                  <a:solidFill>
                    <a:srgbClr val="7D5A00"/>
                  </a:solidFill>
                </a:rPr>
                <a:t>⚠️  Al actualizar creatividades de THP, recuerda que puede correr en ~5 líneas de pedido al mismo tiempo. Cambia TODAS.</a:t>
              </a:r>
              <a:endParaRPr lang="en-US" sz="900" dirty="0"/>
            </a:p>
          </p:txBody>
        </p:sp>
      </p:grpSp>
      <p:sp>
        <p:nvSpPr>
          <p:cNvPr id="45" name="Shape 42"/>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46" name="Text 43"/>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49" name="Gráfico 48">
            <a:extLst>
              <a:ext uri="{FF2B5EF4-FFF2-40B4-BE49-F238E27FC236}">
                <a16:creationId xmlns:a16="http://schemas.microsoft.com/office/drawing/2014/main" id="{6448F863-58D0-EFD2-673E-F63E38B862B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80533" y="4731536"/>
            <a:ext cx="1393444" cy="54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63980"/>
          </a:solidFill>
          <a:ln w="12700">
            <a:solidFill>
              <a:srgbClr val="26398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Campaña "Regístrate y Gana"</a:t>
            </a:r>
            <a:endParaRPr lang="en-US" sz="2000" dirty="0"/>
          </a:p>
        </p:txBody>
      </p:sp>
      <p:sp>
        <p:nvSpPr>
          <p:cNvPr id="5" name="Text 3"/>
          <p:cNvSpPr/>
          <p:nvPr/>
        </p:nvSpPr>
        <p:spPr>
          <a:xfrm>
            <a:off x="274320" y="868680"/>
            <a:ext cx="8595360" cy="292608"/>
          </a:xfrm>
          <a:prstGeom prst="rect">
            <a:avLst/>
          </a:prstGeom>
          <a:noFill/>
          <a:ln/>
        </p:spPr>
        <p:txBody>
          <a:bodyPr wrap="square" lIns="0" tIns="0" rIns="0" bIns="0" rtlCol="0" anchor="ctr"/>
          <a:lstStyle/>
          <a:p>
            <a:pPr marL="0" indent="0">
              <a:buNone/>
            </a:pPr>
            <a:r>
              <a:rPr lang="en-US" sz="1200" b="1" dirty="0">
                <a:solidFill>
                  <a:srgbClr val="263980"/>
                </a:solidFill>
              </a:rPr>
              <a:t>Esta campaña involucra DOS sistemas distintos:</a:t>
            </a:r>
            <a:endParaRPr lang="en-US" sz="1200" dirty="0"/>
          </a:p>
        </p:txBody>
      </p:sp>
      <p:sp>
        <p:nvSpPr>
          <p:cNvPr id="6" name="Shape 4"/>
          <p:cNvSpPr/>
          <p:nvPr/>
        </p:nvSpPr>
        <p:spPr>
          <a:xfrm>
            <a:off x="274320" y="1234440"/>
            <a:ext cx="4206240" cy="2331720"/>
          </a:xfrm>
          <a:prstGeom prst="rect">
            <a:avLst/>
          </a:prstGeom>
          <a:solidFill>
            <a:srgbClr val="FFFFFF"/>
          </a:solidFill>
          <a:ln w="25400">
            <a:solidFill>
              <a:srgbClr val="7F52A0"/>
            </a:solidFill>
            <a:prstDash val="solid"/>
          </a:ln>
          <a:effectLst>
            <a:outerShdw blurRad="101600" dist="38100" dir="8100000" algn="bl" rotWithShape="0">
              <a:srgbClr val="000000">
                <a:alpha val="10000"/>
              </a:srgbClr>
            </a:outerShdw>
          </a:effectLst>
        </p:spPr>
        <p:txBody>
          <a:bodyPr/>
          <a:lstStyle/>
          <a:p>
            <a:endParaRPr lang="es-MX"/>
          </a:p>
        </p:txBody>
      </p:sp>
      <p:sp>
        <p:nvSpPr>
          <p:cNvPr id="7" name="Shape 5"/>
          <p:cNvSpPr/>
          <p:nvPr/>
        </p:nvSpPr>
        <p:spPr>
          <a:xfrm>
            <a:off x="274320" y="1234440"/>
            <a:ext cx="4206240" cy="411480"/>
          </a:xfrm>
          <a:prstGeom prst="rect">
            <a:avLst/>
          </a:prstGeom>
          <a:solidFill>
            <a:srgbClr val="7F52A0"/>
          </a:solidFill>
          <a:ln w="12700">
            <a:solidFill>
              <a:srgbClr val="7F52A0"/>
            </a:solidFill>
            <a:prstDash val="solid"/>
          </a:ln>
        </p:spPr>
        <p:txBody>
          <a:bodyPr/>
          <a:lstStyle/>
          <a:p>
            <a:endParaRPr lang="es-MX"/>
          </a:p>
        </p:txBody>
      </p:sp>
      <p:sp>
        <p:nvSpPr>
          <p:cNvPr id="8" name="Text 6"/>
          <p:cNvSpPr/>
          <p:nvPr/>
        </p:nvSpPr>
        <p:spPr>
          <a:xfrm>
            <a:off x="411480" y="1261872"/>
            <a:ext cx="3931920" cy="347472"/>
          </a:xfrm>
          <a:prstGeom prst="rect">
            <a:avLst/>
          </a:prstGeom>
          <a:noFill/>
          <a:ln/>
        </p:spPr>
        <p:txBody>
          <a:bodyPr wrap="square" lIns="0" tIns="0" rIns="0" bIns="0" rtlCol="0" anchor="ctr"/>
          <a:lstStyle/>
          <a:p>
            <a:pPr marL="0" indent="0">
              <a:buNone/>
            </a:pPr>
            <a:r>
              <a:rPr lang="en-US" sz="1200" b="1" dirty="0">
                <a:solidFill>
                  <a:srgbClr val="FFFFFF"/>
                </a:solidFill>
              </a:rPr>
              <a:t>SISTEMA 1 — Portal de Formularios</a:t>
            </a:r>
            <a:endParaRPr lang="en-US" sz="1200" dirty="0"/>
          </a:p>
        </p:txBody>
      </p:sp>
      <p:sp>
        <p:nvSpPr>
          <p:cNvPr id="9" name="Text 7"/>
          <p:cNvSpPr/>
          <p:nvPr/>
        </p:nvSpPr>
        <p:spPr>
          <a:xfrm>
            <a:off x="411480" y="1709928"/>
            <a:ext cx="3840480" cy="256032"/>
          </a:xfrm>
          <a:prstGeom prst="rect">
            <a:avLst/>
          </a:prstGeom>
          <a:noFill/>
          <a:ln/>
        </p:spPr>
        <p:txBody>
          <a:bodyPr wrap="square" lIns="0" tIns="0" rIns="0" bIns="0" rtlCol="0" anchor="ctr"/>
          <a:lstStyle/>
          <a:p>
            <a:pPr marL="0" indent="0">
              <a:buNone/>
            </a:pPr>
            <a:r>
              <a:rPr lang="en-US" sz="900" dirty="0">
                <a:solidFill>
                  <a:srgbClr val="7F52A0"/>
                </a:solidFill>
                <a:latin typeface="Consolas" pitchFamily="34" charset="0"/>
                <a:ea typeface="Consolas" pitchFamily="34" charset="-122"/>
                <a:cs typeface="Consolas" pitchFamily="34" charset="-120"/>
              </a:rPr>
              <a:t>URL:  registro.mibebeyyo.com/mex/back/login</a:t>
            </a:r>
            <a:endParaRPr lang="en-US" sz="900" dirty="0"/>
          </a:p>
        </p:txBody>
      </p:sp>
      <p:sp>
        <p:nvSpPr>
          <p:cNvPr id="10" name="Text 8"/>
          <p:cNvSpPr/>
          <p:nvPr/>
        </p:nvSpPr>
        <p:spPr>
          <a:xfrm>
            <a:off x="411480" y="2011680"/>
            <a:ext cx="3840480" cy="1417320"/>
          </a:xfrm>
          <a:prstGeom prst="rect">
            <a:avLst/>
          </a:prstGeom>
          <a:noFill/>
          <a:ln/>
        </p:spPr>
        <p:txBody>
          <a:bodyPr wrap="square" lIns="0" tIns="0" rIns="0" bIns="0" rtlCol="0" anchor="ctr"/>
          <a:lstStyle/>
          <a:p>
            <a:pPr marL="0" indent="0">
              <a:buNone/>
            </a:pPr>
            <a:r>
              <a:rPr lang="en-US" sz="1000" dirty="0">
                <a:solidFill>
                  <a:srgbClr val="64748B"/>
                </a:solidFill>
              </a:rPr>
              <a:t>Gestiona el CARRUSEL de imágenes que ven las usuarias al momento de registrarse. Contiene 12 formularios.</a:t>
            </a:r>
            <a:endParaRPr lang="en-US" sz="1000" dirty="0"/>
          </a:p>
          <a:p>
            <a:pPr marL="0" indent="0">
              <a:buNone/>
            </a:pPr>
            <a:endParaRPr lang="en-US" sz="1000" dirty="0"/>
          </a:p>
          <a:p>
            <a:pPr marL="0" indent="0">
              <a:buNone/>
            </a:pPr>
            <a:r>
              <a:rPr lang="en-US" sz="1000" dirty="0">
                <a:solidFill>
                  <a:srgbClr val="64748B"/>
                </a:solidFill>
              </a:rPr>
              <a:t>Formatos: 643×848 (Desktop), 720×159 (Tablet), 580×292 (Mobile)</a:t>
            </a:r>
            <a:endParaRPr lang="en-US" sz="1000" dirty="0"/>
          </a:p>
          <a:p>
            <a:pPr marL="0" indent="0">
              <a:buNone/>
            </a:pPr>
            <a:endParaRPr lang="en-US" sz="1000" dirty="0"/>
          </a:p>
          <a:p>
            <a:pPr marL="0" indent="0">
              <a:buNone/>
            </a:pPr>
            <a:r>
              <a:rPr lang="en-US" sz="1000" dirty="0">
                <a:solidFill>
                  <a:srgbClr val="64748B"/>
                </a:solidFill>
              </a:rPr>
              <a:t>Orden fijo: 1ª marca del mes → La Revista (NUNCA eliminar) → 3ª marca del mes</a:t>
            </a:r>
            <a:endParaRPr lang="en-US" sz="1000" dirty="0"/>
          </a:p>
        </p:txBody>
      </p:sp>
      <p:sp>
        <p:nvSpPr>
          <p:cNvPr id="11" name="Shape 9"/>
          <p:cNvSpPr/>
          <p:nvPr/>
        </p:nvSpPr>
        <p:spPr>
          <a:xfrm>
            <a:off x="4663440" y="1234440"/>
            <a:ext cx="4206240" cy="2331720"/>
          </a:xfrm>
          <a:prstGeom prst="rect">
            <a:avLst/>
          </a:prstGeom>
          <a:solidFill>
            <a:srgbClr val="FFFFFF"/>
          </a:solidFill>
          <a:ln w="25400">
            <a:solidFill>
              <a:srgbClr val="46C2CE"/>
            </a:solidFill>
            <a:prstDash val="solid"/>
          </a:ln>
          <a:effectLst>
            <a:outerShdw blurRad="101600" dist="38100" dir="8100000" algn="bl" rotWithShape="0">
              <a:srgbClr val="000000">
                <a:alpha val="10000"/>
              </a:srgbClr>
            </a:outerShdw>
          </a:effectLst>
        </p:spPr>
        <p:txBody>
          <a:bodyPr/>
          <a:lstStyle/>
          <a:p>
            <a:endParaRPr lang="es-MX"/>
          </a:p>
        </p:txBody>
      </p:sp>
      <p:sp>
        <p:nvSpPr>
          <p:cNvPr id="12" name="Shape 10"/>
          <p:cNvSpPr/>
          <p:nvPr/>
        </p:nvSpPr>
        <p:spPr>
          <a:xfrm>
            <a:off x="4663440" y="1234440"/>
            <a:ext cx="4206240" cy="411480"/>
          </a:xfrm>
          <a:prstGeom prst="rect">
            <a:avLst/>
          </a:prstGeom>
          <a:solidFill>
            <a:srgbClr val="263980"/>
          </a:solidFill>
          <a:ln w="12700">
            <a:solidFill>
              <a:srgbClr val="263980"/>
            </a:solidFill>
            <a:prstDash val="solid"/>
          </a:ln>
        </p:spPr>
        <p:txBody>
          <a:bodyPr/>
          <a:lstStyle/>
          <a:p>
            <a:endParaRPr lang="es-MX"/>
          </a:p>
        </p:txBody>
      </p:sp>
      <p:sp>
        <p:nvSpPr>
          <p:cNvPr id="13" name="Text 11"/>
          <p:cNvSpPr/>
          <p:nvPr/>
        </p:nvSpPr>
        <p:spPr>
          <a:xfrm>
            <a:off x="4800600" y="1261872"/>
            <a:ext cx="3931920" cy="347472"/>
          </a:xfrm>
          <a:prstGeom prst="rect">
            <a:avLst/>
          </a:prstGeom>
          <a:noFill/>
          <a:ln/>
        </p:spPr>
        <p:txBody>
          <a:bodyPr wrap="square" lIns="0" tIns="0" rIns="0" bIns="0" rtlCol="0" anchor="ctr"/>
          <a:lstStyle/>
          <a:p>
            <a:pPr marL="0" indent="0">
              <a:buNone/>
            </a:pPr>
            <a:r>
              <a:rPr lang="en-US" sz="1200" b="1" dirty="0">
                <a:solidFill>
                  <a:srgbClr val="FFFFFF"/>
                </a:solidFill>
              </a:rPr>
              <a:t>SISTEMA 2 — Google Ad Manager</a:t>
            </a:r>
            <a:endParaRPr lang="en-US" sz="1200" dirty="0"/>
          </a:p>
        </p:txBody>
      </p:sp>
      <p:sp>
        <p:nvSpPr>
          <p:cNvPr id="14" name="Text 12"/>
          <p:cNvSpPr/>
          <p:nvPr/>
        </p:nvSpPr>
        <p:spPr>
          <a:xfrm>
            <a:off x="4800600" y="1709928"/>
            <a:ext cx="3840480" cy="256032"/>
          </a:xfrm>
          <a:prstGeom prst="rect">
            <a:avLst/>
          </a:prstGeom>
          <a:noFill/>
          <a:ln/>
        </p:spPr>
        <p:txBody>
          <a:bodyPr wrap="square" lIns="0" tIns="0" rIns="0" bIns="0" rtlCol="0" anchor="ctr"/>
          <a:lstStyle/>
          <a:p>
            <a:pPr marL="0" indent="0">
              <a:buNone/>
            </a:pPr>
            <a:r>
              <a:rPr lang="en-US" sz="900" dirty="0">
                <a:solidFill>
                  <a:srgbClr val="46C2CE"/>
                </a:solidFill>
                <a:latin typeface="Consolas" pitchFamily="34" charset="0"/>
                <a:ea typeface="Consolas" pitchFamily="34" charset="-122"/>
                <a:cs typeface="Consolas" pitchFamily="34" charset="-120"/>
              </a:rPr>
              <a:t>Pedido:  MX - Mi Bebé y Yo</a:t>
            </a:r>
            <a:endParaRPr lang="en-US" sz="900" dirty="0"/>
          </a:p>
        </p:txBody>
      </p:sp>
      <p:sp>
        <p:nvSpPr>
          <p:cNvPr id="15" name="Text 13"/>
          <p:cNvSpPr/>
          <p:nvPr/>
        </p:nvSpPr>
        <p:spPr>
          <a:xfrm>
            <a:off x="4800600" y="2011680"/>
            <a:ext cx="3840480" cy="1417320"/>
          </a:xfrm>
          <a:prstGeom prst="rect">
            <a:avLst/>
          </a:prstGeom>
          <a:noFill/>
          <a:ln/>
        </p:spPr>
        <p:txBody>
          <a:bodyPr wrap="square" lIns="0" tIns="0" rIns="0" bIns="0" rtlCol="0" anchor="ctr"/>
          <a:lstStyle/>
          <a:p>
            <a:pPr marL="0" indent="0">
              <a:buNone/>
            </a:pPr>
            <a:r>
              <a:rPr lang="en-US" sz="1000" dirty="0">
                <a:solidFill>
                  <a:srgbClr val="64748B"/>
                </a:solidFill>
              </a:rPr>
              <a:t>Gestiona los BANNERS dentro del sitio que llevan a las usuarias al formulario de registro.</a:t>
            </a:r>
            <a:endParaRPr lang="en-US" sz="1000" dirty="0"/>
          </a:p>
          <a:p>
            <a:pPr marL="0" indent="0">
              <a:buNone/>
            </a:pPr>
            <a:endParaRPr lang="en-US" sz="1000" dirty="0"/>
          </a:p>
          <a:p>
            <a:pPr marL="0" indent="0">
              <a:buNone/>
            </a:pPr>
            <a:r>
              <a:rPr lang="en-US" sz="1000" dirty="0">
                <a:solidFill>
                  <a:srgbClr val="64748B"/>
                </a:solidFill>
              </a:rPr>
              <a:t>Banners: Desktop (728×90, 970×90), Mobile (300×50, 300×100),</a:t>
            </a:r>
            <a:endParaRPr lang="en-US" sz="1000" dirty="0"/>
          </a:p>
          <a:p>
            <a:pPr marL="0" indent="0">
              <a:buNone/>
            </a:pPr>
            <a:r>
              <a:rPr lang="en-US" sz="1000" dirty="0">
                <a:solidFill>
                  <a:srgbClr val="64748B"/>
                </a:solidFill>
              </a:rPr>
              <a:t>Skyscraper (300×600), Box Banner (300×250), Galerías</a:t>
            </a:r>
            <a:endParaRPr lang="en-US" sz="1000" dirty="0"/>
          </a:p>
        </p:txBody>
      </p:sp>
      <p:sp>
        <p:nvSpPr>
          <p:cNvPr id="16" name="Shape 14"/>
          <p:cNvSpPr/>
          <p:nvPr/>
        </p:nvSpPr>
        <p:spPr>
          <a:xfrm>
            <a:off x="274320" y="3657599"/>
            <a:ext cx="4206240" cy="875489"/>
          </a:xfrm>
          <a:prstGeom prst="rect">
            <a:avLst/>
          </a:prstGeom>
          <a:solidFill>
            <a:srgbClr val="EEF2FF"/>
          </a:solidFill>
          <a:ln w="12700">
            <a:solidFill>
              <a:srgbClr val="7F52A0"/>
            </a:solidFill>
            <a:prstDash val="solid"/>
          </a:ln>
        </p:spPr>
        <p:txBody>
          <a:bodyPr/>
          <a:lstStyle/>
          <a:p>
            <a:endParaRPr lang="es-MX"/>
          </a:p>
        </p:txBody>
      </p:sp>
      <p:sp>
        <p:nvSpPr>
          <p:cNvPr id="17" name="Text 15"/>
          <p:cNvSpPr/>
          <p:nvPr/>
        </p:nvSpPr>
        <p:spPr>
          <a:xfrm>
            <a:off x="411480" y="3703320"/>
            <a:ext cx="3840480" cy="228600"/>
          </a:xfrm>
          <a:prstGeom prst="rect">
            <a:avLst/>
          </a:prstGeom>
          <a:noFill/>
          <a:ln/>
        </p:spPr>
        <p:txBody>
          <a:bodyPr wrap="square" lIns="0" tIns="0" rIns="0" bIns="0" rtlCol="0" anchor="ctr"/>
          <a:lstStyle/>
          <a:p>
            <a:pPr marL="0" indent="0">
              <a:buNone/>
            </a:pPr>
            <a:r>
              <a:rPr lang="en-US" sz="1000" b="1" dirty="0">
                <a:solidFill>
                  <a:srgbClr val="7F52A0"/>
                </a:solidFill>
              </a:rPr>
              <a:t>Flujo completo:</a:t>
            </a:r>
            <a:endParaRPr lang="en-US" sz="1000" dirty="0"/>
          </a:p>
        </p:txBody>
      </p:sp>
      <p:sp>
        <p:nvSpPr>
          <p:cNvPr id="18" name="Text 16"/>
          <p:cNvSpPr/>
          <p:nvPr/>
        </p:nvSpPr>
        <p:spPr>
          <a:xfrm>
            <a:off x="411480" y="3931920"/>
            <a:ext cx="3840480" cy="457200"/>
          </a:xfrm>
          <a:prstGeom prst="rect">
            <a:avLst/>
          </a:prstGeom>
          <a:noFill/>
          <a:ln/>
        </p:spPr>
        <p:txBody>
          <a:bodyPr wrap="square" lIns="0" tIns="0" rIns="0" bIns="0" rtlCol="0" anchor="ctr"/>
          <a:lstStyle/>
          <a:p>
            <a:pPr marL="0" indent="0">
              <a:buNone/>
            </a:pPr>
            <a:r>
              <a:rPr lang="en-US" sz="900" dirty="0">
                <a:solidFill>
                  <a:srgbClr val="1A1040"/>
                </a:solidFill>
              </a:rPr>
              <a:t>1. Recibir materiales</a:t>
            </a:r>
            <a:endParaRPr lang="en-US" sz="900" dirty="0"/>
          </a:p>
          <a:p>
            <a:pPr marL="0" indent="0">
              <a:buNone/>
            </a:pPr>
            <a:r>
              <a:rPr lang="en-US" sz="900" dirty="0">
                <a:solidFill>
                  <a:srgbClr val="1A1040"/>
                </a:solidFill>
              </a:rPr>
              <a:t>2. Organizar (carpeta Formularios con PNG)</a:t>
            </a:r>
            <a:endParaRPr lang="en-US" sz="900" dirty="0"/>
          </a:p>
          <a:p>
            <a:pPr marL="0" indent="0">
              <a:buNone/>
            </a:pPr>
            <a:r>
              <a:rPr lang="en-US" sz="900" dirty="0">
                <a:solidFill>
                  <a:srgbClr val="1A1040"/>
                </a:solidFill>
              </a:rPr>
              <a:t>3. Portal de Formularios → 12 forms</a:t>
            </a:r>
            <a:endParaRPr lang="en-US" sz="900" dirty="0"/>
          </a:p>
          <a:p>
            <a:pPr marL="0" indent="0">
              <a:buNone/>
            </a:pPr>
            <a:r>
              <a:rPr lang="en-US" sz="900" dirty="0">
                <a:solidFill>
                  <a:srgbClr val="1A1040"/>
                </a:solidFill>
              </a:rPr>
              <a:t>4. Ad Manager → banners GIF</a:t>
            </a:r>
            <a:endParaRPr lang="en-US" sz="900" dirty="0"/>
          </a:p>
        </p:txBody>
      </p:sp>
      <p:sp>
        <p:nvSpPr>
          <p:cNvPr id="19" name="Shape 17"/>
          <p:cNvSpPr/>
          <p:nvPr/>
        </p:nvSpPr>
        <p:spPr>
          <a:xfrm>
            <a:off x="4663440" y="3657599"/>
            <a:ext cx="4206240" cy="875489"/>
          </a:xfrm>
          <a:prstGeom prst="rect">
            <a:avLst/>
          </a:prstGeom>
          <a:solidFill>
            <a:srgbClr val="D0F4F7"/>
          </a:solidFill>
          <a:ln w="12700">
            <a:solidFill>
              <a:srgbClr val="46C2CE"/>
            </a:solidFill>
            <a:prstDash val="solid"/>
          </a:ln>
        </p:spPr>
        <p:txBody>
          <a:bodyPr/>
          <a:lstStyle/>
          <a:p>
            <a:endParaRPr lang="es-MX"/>
          </a:p>
        </p:txBody>
      </p:sp>
      <p:sp>
        <p:nvSpPr>
          <p:cNvPr id="20" name="Text 18"/>
          <p:cNvSpPr/>
          <p:nvPr/>
        </p:nvSpPr>
        <p:spPr>
          <a:xfrm>
            <a:off x="4800600" y="3703320"/>
            <a:ext cx="3840480" cy="228600"/>
          </a:xfrm>
          <a:prstGeom prst="rect">
            <a:avLst/>
          </a:prstGeom>
          <a:noFill/>
          <a:ln/>
        </p:spPr>
        <p:txBody>
          <a:bodyPr wrap="square" lIns="0" tIns="0" rIns="0" bIns="0" rtlCol="0" anchor="ctr"/>
          <a:lstStyle/>
          <a:p>
            <a:pPr marL="0" indent="0">
              <a:buNone/>
            </a:pPr>
            <a:r>
              <a:rPr lang="en-US" sz="1000" b="1" dirty="0">
                <a:solidFill>
                  <a:srgbClr val="263980"/>
                </a:solidFill>
              </a:rPr>
              <a:t>Método sin dejar espacios vacíos:</a:t>
            </a:r>
            <a:endParaRPr lang="en-US" sz="1000" dirty="0"/>
          </a:p>
        </p:txBody>
      </p:sp>
      <p:sp>
        <p:nvSpPr>
          <p:cNvPr id="21" name="Text 19"/>
          <p:cNvSpPr/>
          <p:nvPr/>
        </p:nvSpPr>
        <p:spPr>
          <a:xfrm>
            <a:off x="4800600" y="3931920"/>
            <a:ext cx="3840480" cy="457200"/>
          </a:xfrm>
          <a:prstGeom prst="rect">
            <a:avLst/>
          </a:prstGeom>
          <a:noFill/>
          <a:ln/>
        </p:spPr>
        <p:txBody>
          <a:bodyPr wrap="square" lIns="0" tIns="0" rIns="0" bIns="0" rtlCol="0" anchor="ctr"/>
          <a:lstStyle/>
          <a:p>
            <a:pPr marL="0" indent="0">
              <a:buNone/>
            </a:pPr>
            <a:r>
              <a:rPr lang="en-US" sz="900" dirty="0">
                <a:solidFill>
                  <a:srgbClr val="1A1040"/>
                </a:solidFill>
              </a:rPr>
              <a:t>Seleccionar activas → Copiar → Desactivar copias → Editar copias (imagen+URL) → Activar copias → Desactivar originales</a:t>
            </a:r>
            <a:endParaRPr lang="en-US" sz="900" dirty="0"/>
          </a:p>
        </p:txBody>
      </p:sp>
      <p:sp>
        <p:nvSpPr>
          <p:cNvPr id="22" name="Shape 20"/>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23" name="Text 21"/>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26" name="Gráfico 25">
            <a:extLst>
              <a:ext uri="{FF2B5EF4-FFF2-40B4-BE49-F238E27FC236}">
                <a16:creationId xmlns:a16="http://schemas.microsoft.com/office/drawing/2014/main" id="{8809F876-9151-3FEF-546C-07F3D97DE4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C1A56"/>
        </a:solidFill>
        <a:effectLst/>
      </p:bgPr>
    </p:bg>
    <p:spTree>
      <p:nvGrpSpPr>
        <p:cNvPr id="1" name=""/>
        <p:cNvGrpSpPr/>
        <p:nvPr/>
      </p:nvGrpSpPr>
      <p:grpSpPr>
        <a:xfrm>
          <a:off x="0" y="0"/>
          <a:ext cx="0" cy="0"/>
          <a:chOff x="0" y="0"/>
          <a:chExt cx="0" cy="0"/>
        </a:xfrm>
      </p:grpSpPr>
      <p:sp>
        <p:nvSpPr>
          <p:cNvPr id="2" name="Shape 0"/>
          <p:cNvSpPr/>
          <p:nvPr/>
        </p:nvSpPr>
        <p:spPr>
          <a:xfrm>
            <a:off x="-1097280" y="-1097280"/>
            <a:ext cx="4572000" cy="4572000"/>
          </a:xfrm>
          <a:prstGeom prst="ellipse">
            <a:avLst/>
          </a:prstGeom>
          <a:solidFill>
            <a:srgbClr val="263980">
              <a:alpha val="70000"/>
            </a:srgbClr>
          </a:solidFill>
          <a:ln w="12700">
            <a:solidFill>
              <a:srgbClr val="26398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6583680" y="2560320"/>
            <a:ext cx="4114800" cy="4114800"/>
          </a:xfrm>
          <a:prstGeom prst="ellipse">
            <a:avLst/>
          </a:prstGeom>
          <a:solidFill>
            <a:srgbClr val="46C2CE">
              <a:alpha val="25000"/>
            </a:srgbClr>
          </a:solidFill>
          <a:ln w="12700">
            <a:solidFill>
              <a:srgbClr val="46C2CE">
                <a:alpha val="2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5943600" y="-731520"/>
            <a:ext cx="2743200" cy="2743200"/>
          </a:xfrm>
          <a:prstGeom prst="ellipse">
            <a:avLst/>
          </a:prstGeom>
          <a:solidFill>
            <a:srgbClr val="7F52A0">
              <a:alpha val="40000"/>
            </a:srgbClr>
          </a:solidFill>
          <a:ln w="12700">
            <a:solidFill>
              <a:srgbClr val="7F52A0">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4846320"/>
            <a:ext cx="9144000" cy="297180"/>
          </a:xfrm>
          <a:prstGeom prst="rect">
            <a:avLst/>
          </a:prstGeom>
          <a:solidFill>
            <a:srgbClr val="263980"/>
          </a:solidFill>
          <a:ln w="12700">
            <a:solidFill>
              <a:srgbClr val="2639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0" y="4846320"/>
            <a:ext cx="3200400" cy="297180"/>
          </a:xfrm>
          <a:prstGeom prst="rect">
            <a:avLst/>
          </a:prstGeom>
          <a:solidFill>
            <a:srgbClr val="46C2CE"/>
          </a:solidFill>
          <a:ln w="12700">
            <a:solidFill>
              <a:srgbClr val="46C2C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731520" y="457200"/>
            <a:ext cx="27432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0" b="1" i="0" u="none" strike="noStrike" kern="1200" cap="none" spc="0" normalizeH="0" baseline="0" noProof="0" dirty="0">
                <a:ln>
                  <a:noFill/>
                </a:ln>
                <a:solidFill>
                  <a:srgbClr val="46C2CE">
                    <a:alpha val="75000"/>
                  </a:srgbClr>
                </a:solidFill>
                <a:effectLst/>
                <a:uLnTx/>
                <a:uFillTx/>
                <a:latin typeface="Calibri" pitchFamily="34" charset="0"/>
                <a:ea typeface="Calibri" pitchFamily="34" charset="-122"/>
                <a:cs typeface="Calibri" pitchFamily="34" charset="-120"/>
              </a:rPr>
              <a:t>04</a:t>
            </a:r>
            <a:endParaRPr kumimoji="0" lang="en-US" sz="1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7315200" y="1645920"/>
            <a:ext cx="1188720" cy="1188720"/>
          </a:xfrm>
          <a:prstGeom prst="ellipse">
            <a:avLst/>
          </a:prstGeom>
          <a:solidFill>
            <a:srgbClr val="46C2CE">
              <a:alpha val="80000"/>
            </a:srgbClr>
          </a:solidFill>
          <a:ln w="12700">
            <a:solidFill>
              <a:srgbClr val="46C2CE">
                <a:alpha val="8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r:embed="rId3"/>
          <a:stretch>
            <a:fillRect/>
          </a:stretch>
        </p:blipFill>
        <p:spPr>
          <a:xfrm>
            <a:off x="7571232" y="1901952"/>
            <a:ext cx="685800" cy="685800"/>
          </a:xfrm>
          <a:prstGeom prst="rect">
            <a:avLst/>
          </a:prstGeom>
        </p:spPr>
      </p:pic>
      <p:sp>
        <p:nvSpPr>
          <p:cNvPr id="11" name="Text 7"/>
          <p:cNvSpPr/>
          <p:nvPr/>
        </p:nvSpPr>
        <p:spPr>
          <a:xfrm>
            <a:off x="731520" y="1783080"/>
            <a:ext cx="77724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Operación</a:t>
            </a: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40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Avanzada</a:t>
            </a:r>
            <a:endPar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p:txBody>
      </p:sp>
      <p:sp>
        <p:nvSpPr>
          <p:cNvPr id="12" name="Text 8"/>
          <p:cNvSpPr/>
          <p:nvPr/>
        </p:nvSpPr>
        <p:spPr>
          <a:xfrm>
            <a:off x="731520" y="2651760"/>
            <a:ext cx="68580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srgbClr val="46C2CE"/>
                </a:solidFill>
                <a:effectLst/>
                <a:uLnTx/>
                <a:uFillTx/>
                <a:latin typeface="Calibri" pitchFamily="34" charset="0"/>
                <a:ea typeface="Calibri" pitchFamily="34" charset="-122"/>
                <a:cs typeface="Calibri" pitchFamily="34" charset="-120"/>
              </a:rPr>
              <a:t>Estados, cambios en campaña e informes</a:t>
            </a:r>
          </a:p>
        </p:txBody>
      </p:sp>
      <p:sp>
        <p:nvSpPr>
          <p:cNvPr id="13" name="Shape 9"/>
          <p:cNvSpPr/>
          <p:nvPr/>
        </p:nvSpPr>
        <p:spPr>
          <a:xfrm>
            <a:off x="731520" y="3246120"/>
            <a:ext cx="2286000" cy="45720"/>
          </a:xfrm>
          <a:prstGeom prst="rect">
            <a:avLst/>
          </a:prstGeom>
          <a:solidFill>
            <a:srgbClr val="FFFFFF">
              <a:alpha val="40000"/>
            </a:srgbClr>
          </a:solidFill>
          <a:ln w="12700">
            <a:solidFill>
              <a:srgbClr val="FFFFFF">
                <a:alpha val="4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Gráfico 13">
            <a:extLst>
              <a:ext uri="{FF2B5EF4-FFF2-40B4-BE49-F238E27FC236}">
                <a16:creationId xmlns:a16="http://schemas.microsoft.com/office/drawing/2014/main" id="{868C5DA5-0110-E8A0-5478-D40D5907B5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7819" y="4731536"/>
            <a:ext cx="1393444" cy="54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63980"/>
          </a:solidFill>
          <a:ln w="12700">
            <a:solidFill>
              <a:srgbClr val="26398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Proceso 14 — Pausar, Reactivar, Detener y Archivar</a:t>
            </a:r>
            <a:endParaRPr lang="en-US" sz="2000" dirty="0"/>
          </a:p>
        </p:txBody>
      </p:sp>
      <p:sp>
        <p:nvSpPr>
          <p:cNvPr id="5" name="Shape 3"/>
          <p:cNvSpPr/>
          <p:nvPr/>
        </p:nvSpPr>
        <p:spPr>
          <a:xfrm>
            <a:off x="274320" y="896112"/>
            <a:ext cx="4206240" cy="1097280"/>
          </a:xfrm>
          <a:prstGeom prst="rect">
            <a:avLst/>
          </a:prstGeom>
          <a:solidFill>
            <a:srgbClr val="E8F5E9"/>
          </a:solidFill>
          <a:ln w="12700">
            <a:solidFill>
              <a:srgbClr val="2E7D32"/>
            </a:solidFill>
            <a:prstDash val="solid"/>
          </a:ln>
        </p:spPr>
        <p:txBody>
          <a:bodyPr/>
          <a:lstStyle/>
          <a:p>
            <a:endParaRPr lang="es-MX"/>
          </a:p>
        </p:txBody>
      </p:sp>
      <p:sp>
        <p:nvSpPr>
          <p:cNvPr id="6" name="Shape 4"/>
          <p:cNvSpPr/>
          <p:nvPr/>
        </p:nvSpPr>
        <p:spPr>
          <a:xfrm>
            <a:off x="274320" y="896112"/>
            <a:ext cx="91440" cy="1097280"/>
          </a:xfrm>
          <a:prstGeom prst="rect">
            <a:avLst/>
          </a:prstGeom>
          <a:solidFill>
            <a:srgbClr val="2E7D32"/>
          </a:solidFill>
          <a:ln w="12700">
            <a:solidFill>
              <a:srgbClr val="2E7D32"/>
            </a:solidFill>
            <a:prstDash val="solid"/>
          </a:ln>
        </p:spPr>
        <p:txBody>
          <a:bodyPr/>
          <a:lstStyle/>
          <a:p>
            <a:endParaRPr lang="es-MX"/>
          </a:p>
        </p:txBody>
      </p:sp>
      <p:sp>
        <p:nvSpPr>
          <p:cNvPr id="7" name="Text 5"/>
          <p:cNvSpPr/>
          <p:nvPr/>
        </p:nvSpPr>
        <p:spPr>
          <a:xfrm>
            <a:off x="502920" y="987552"/>
            <a:ext cx="2743200" cy="347472"/>
          </a:xfrm>
          <a:prstGeom prst="rect">
            <a:avLst/>
          </a:prstGeom>
          <a:noFill/>
          <a:ln/>
        </p:spPr>
        <p:txBody>
          <a:bodyPr wrap="square" lIns="0" tIns="0" rIns="0" bIns="0" rtlCol="0" anchor="ctr"/>
          <a:lstStyle/>
          <a:p>
            <a:pPr marL="0" indent="0">
              <a:buNone/>
            </a:pPr>
            <a:r>
              <a:rPr lang="en-US" sz="1400" b="1" dirty="0">
                <a:solidFill>
                  <a:srgbClr val="2E7D32"/>
                </a:solidFill>
              </a:rPr>
              <a:t>Activa</a:t>
            </a:r>
            <a:endParaRPr lang="en-US" sz="1400" dirty="0"/>
          </a:p>
        </p:txBody>
      </p:sp>
      <p:sp>
        <p:nvSpPr>
          <p:cNvPr id="8" name="Text 6"/>
          <p:cNvSpPr/>
          <p:nvPr/>
        </p:nvSpPr>
        <p:spPr>
          <a:xfrm>
            <a:off x="502920" y="1353312"/>
            <a:ext cx="3840480" cy="329184"/>
          </a:xfrm>
          <a:prstGeom prst="rect">
            <a:avLst/>
          </a:prstGeom>
          <a:noFill/>
          <a:ln/>
        </p:spPr>
        <p:txBody>
          <a:bodyPr wrap="square" lIns="0" tIns="0" rIns="0" bIns="0" rtlCol="0" anchor="ctr"/>
          <a:lstStyle/>
          <a:p>
            <a:pPr marL="0" indent="0">
              <a:buNone/>
            </a:pPr>
            <a:r>
              <a:rPr lang="en-US" sz="1000" dirty="0">
                <a:solidFill>
                  <a:srgbClr val="1A1040"/>
                </a:solidFill>
              </a:rPr>
              <a:t>Publicándose en el sitio ahora mismo</a:t>
            </a:r>
            <a:endParaRPr lang="en-US" sz="1000" dirty="0"/>
          </a:p>
        </p:txBody>
      </p:sp>
      <p:sp>
        <p:nvSpPr>
          <p:cNvPr id="9" name="Text 7"/>
          <p:cNvSpPr/>
          <p:nvPr/>
        </p:nvSpPr>
        <p:spPr>
          <a:xfrm>
            <a:off x="502920" y="1673352"/>
            <a:ext cx="3840480" cy="256032"/>
          </a:xfrm>
          <a:prstGeom prst="rect">
            <a:avLst/>
          </a:prstGeom>
          <a:noFill/>
          <a:ln/>
        </p:spPr>
        <p:txBody>
          <a:bodyPr wrap="square" lIns="0" tIns="0" rIns="0" bIns="0" rtlCol="0" anchor="ctr"/>
          <a:lstStyle/>
          <a:p>
            <a:pPr marL="0" indent="0">
              <a:buNone/>
            </a:pPr>
            <a:r>
              <a:rPr lang="en-US" sz="950" dirty="0">
                <a:solidFill>
                  <a:srgbClr val="64748B"/>
                </a:solidFill>
              </a:rPr>
              <a:t>¿Reversible?  —</a:t>
            </a:r>
            <a:endParaRPr lang="en-US" sz="950" dirty="0"/>
          </a:p>
        </p:txBody>
      </p:sp>
      <p:sp>
        <p:nvSpPr>
          <p:cNvPr id="10" name="Shape 8"/>
          <p:cNvSpPr/>
          <p:nvPr/>
        </p:nvSpPr>
        <p:spPr>
          <a:xfrm>
            <a:off x="4709160" y="896112"/>
            <a:ext cx="4206240" cy="1097280"/>
          </a:xfrm>
          <a:prstGeom prst="rect">
            <a:avLst/>
          </a:prstGeom>
          <a:solidFill>
            <a:srgbClr val="E3F2FD"/>
          </a:solidFill>
          <a:ln w="12700">
            <a:solidFill>
              <a:srgbClr val="1565C0"/>
            </a:solidFill>
            <a:prstDash val="solid"/>
          </a:ln>
        </p:spPr>
        <p:txBody>
          <a:bodyPr/>
          <a:lstStyle/>
          <a:p>
            <a:endParaRPr lang="es-MX"/>
          </a:p>
        </p:txBody>
      </p:sp>
      <p:sp>
        <p:nvSpPr>
          <p:cNvPr id="11" name="Shape 9"/>
          <p:cNvSpPr/>
          <p:nvPr/>
        </p:nvSpPr>
        <p:spPr>
          <a:xfrm>
            <a:off x="4709160" y="896112"/>
            <a:ext cx="91440" cy="1097280"/>
          </a:xfrm>
          <a:prstGeom prst="rect">
            <a:avLst/>
          </a:prstGeom>
          <a:solidFill>
            <a:srgbClr val="1565C0"/>
          </a:solidFill>
          <a:ln w="12700">
            <a:solidFill>
              <a:srgbClr val="1565C0"/>
            </a:solidFill>
            <a:prstDash val="solid"/>
          </a:ln>
        </p:spPr>
        <p:txBody>
          <a:bodyPr/>
          <a:lstStyle/>
          <a:p>
            <a:endParaRPr lang="es-MX"/>
          </a:p>
        </p:txBody>
      </p:sp>
      <p:sp>
        <p:nvSpPr>
          <p:cNvPr id="12" name="Text 10"/>
          <p:cNvSpPr/>
          <p:nvPr/>
        </p:nvSpPr>
        <p:spPr>
          <a:xfrm>
            <a:off x="4937760" y="987552"/>
            <a:ext cx="2743200" cy="347472"/>
          </a:xfrm>
          <a:prstGeom prst="rect">
            <a:avLst/>
          </a:prstGeom>
          <a:noFill/>
          <a:ln/>
        </p:spPr>
        <p:txBody>
          <a:bodyPr wrap="square" lIns="0" tIns="0" rIns="0" bIns="0" rtlCol="0" anchor="ctr"/>
          <a:lstStyle/>
          <a:p>
            <a:pPr marL="0" indent="0">
              <a:buNone/>
            </a:pPr>
            <a:r>
              <a:rPr lang="en-US" sz="1400" b="1" dirty="0">
                <a:solidFill>
                  <a:srgbClr val="1565C0"/>
                </a:solidFill>
              </a:rPr>
              <a:t>Pausada</a:t>
            </a:r>
            <a:endParaRPr lang="en-US" sz="1400" dirty="0"/>
          </a:p>
        </p:txBody>
      </p:sp>
      <p:sp>
        <p:nvSpPr>
          <p:cNvPr id="13" name="Text 11"/>
          <p:cNvSpPr/>
          <p:nvPr/>
        </p:nvSpPr>
        <p:spPr>
          <a:xfrm>
            <a:off x="4937760" y="1353312"/>
            <a:ext cx="3840480" cy="329184"/>
          </a:xfrm>
          <a:prstGeom prst="rect">
            <a:avLst/>
          </a:prstGeom>
          <a:noFill/>
          <a:ln/>
        </p:spPr>
        <p:txBody>
          <a:bodyPr wrap="square" lIns="0" tIns="0" rIns="0" bIns="0" rtlCol="0" anchor="ctr"/>
          <a:lstStyle/>
          <a:p>
            <a:pPr marL="0" indent="0">
              <a:buNone/>
            </a:pPr>
            <a:r>
              <a:rPr lang="en-US" sz="1000" dirty="0">
                <a:solidFill>
                  <a:srgbClr val="1A1040"/>
                </a:solidFill>
              </a:rPr>
              <a:t>Detenida temporalmente. Datos conservados.</a:t>
            </a:r>
            <a:endParaRPr lang="en-US" sz="1000" dirty="0"/>
          </a:p>
        </p:txBody>
      </p:sp>
      <p:sp>
        <p:nvSpPr>
          <p:cNvPr id="14" name="Text 12"/>
          <p:cNvSpPr/>
          <p:nvPr/>
        </p:nvSpPr>
        <p:spPr>
          <a:xfrm>
            <a:off x="4937760" y="1673352"/>
            <a:ext cx="3840480" cy="256032"/>
          </a:xfrm>
          <a:prstGeom prst="rect">
            <a:avLst/>
          </a:prstGeom>
          <a:noFill/>
          <a:ln/>
        </p:spPr>
        <p:txBody>
          <a:bodyPr wrap="square" lIns="0" tIns="0" rIns="0" bIns="0" rtlCol="0" anchor="ctr"/>
          <a:lstStyle/>
          <a:p>
            <a:pPr marL="0" indent="0">
              <a:buNone/>
            </a:pPr>
            <a:r>
              <a:rPr lang="en-US" sz="950" dirty="0">
                <a:solidFill>
                  <a:srgbClr val="64748B"/>
                </a:solidFill>
              </a:rPr>
              <a:t>¿Reversible?  ✅ Reanudar</a:t>
            </a:r>
            <a:endParaRPr lang="en-US" sz="950" dirty="0"/>
          </a:p>
        </p:txBody>
      </p:sp>
      <p:sp>
        <p:nvSpPr>
          <p:cNvPr id="15" name="Shape 13"/>
          <p:cNvSpPr/>
          <p:nvPr/>
        </p:nvSpPr>
        <p:spPr>
          <a:xfrm>
            <a:off x="274320" y="2130552"/>
            <a:ext cx="4206240" cy="1097280"/>
          </a:xfrm>
          <a:prstGeom prst="rect">
            <a:avLst/>
          </a:prstGeom>
          <a:solidFill>
            <a:srgbClr val="E8E0F5"/>
          </a:solidFill>
          <a:ln w="12700">
            <a:solidFill>
              <a:srgbClr val="7F52A0"/>
            </a:solidFill>
            <a:prstDash val="solid"/>
          </a:ln>
        </p:spPr>
        <p:txBody>
          <a:bodyPr/>
          <a:lstStyle/>
          <a:p>
            <a:endParaRPr lang="es-MX"/>
          </a:p>
        </p:txBody>
      </p:sp>
      <p:sp>
        <p:nvSpPr>
          <p:cNvPr id="16" name="Shape 14"/>
          <p:cNvSpPr/>
          <p:nvPr/>
        </p:nvSpPr>
        <p:spPr>
          <a:xfrm>
            <a:off x="274320" y="2130552"/>
            <a:ext cx="91440" cy="1097280"/>
          </a:xfrm>
          <a:prstGeom prst="rect">
            <a:avLst/>
          </a:prstGeom>
          <a:solidFill>
            <a:srgbClr val="7F52A0"/>
          </a:solidFill>
          <a:ln w="12700">
            <a:solidFill>
              <a:srgbClr val="7F52A0"/>
            </a:solidFill>
            <a:prstDash val="solid"/>
          </a:ln>
        </p:spPr>
        <p:txBody>
          <a:bodyPr/>
          <a:lstStyle/>
          <a:p>
            <a:endParaRPr lang="es-MX"/>
          </a:p>
        </p:txBody>
      </p:sp>
      <p:sp>
        <p:nvSpPr>
          <p:cNvPr id="17" name="Text 15"/>
          <p:cNvSpPr/>
          <p:nvPr/>
        </p:nvSpPr>
        <p:spPr>
          <a:xfrm>
            <a:off x="502920" y="2221992"/>
            <a:ext cx="2743200" cy="347472"/>
          </a:xfrm>
          <a:prstGeom prst="rect">
            <a:avLst/>
          </a:prstGeom>
          <a:noFill/>
          <a:ln/>
        </p:spPr>
        <p:txBody>
          <a:bodyPr wrap="square" lIns="0" tIns="0" rIns="0" bIns="0" rtlCol="0" anchor="ctr"/>
          <a:lstStyle/>
          <a:p>
            <a:pPr marL="0" indent="0">
              <a:buNone/>
            </a:pPr>
            <a:r>
              <a:rPr lang="en-US" sz="1400" b="1" dirty="0">
                <a:solidFill>
                  <a:srgbClr val="7F52A0"/>
                </a:solidFill>
              </a:rPr>
              <a:t>Detenida</a:t>
            </a:r>
            <a:endParaRPr lang="en-US" sz="1400" dirty="0"/>
          </a:p>
        </p:txBody>
      </p:sp>
      <p:sp>
        <p:nvSpPr>
          <p:cNvPr id="18" name="Text 16"/>
          <p:cNvSpPr/>
          <p:nvPr/>
        </p:nvSpPr>
        <p:spPr>
          <a:xfrm>
            <a:off x="502920" y="2587752"/>
            <a:ext cx="3840480" cy="329184"/>
          </a:xfrm>
          <a:prstGeom prst="rect">
            <a:avLst/>
          </a:prstGeom>
          <a:noFill/>
          <a:ln/>
        </p:spPr>
        <p:txBody>
          <a:bodyPr wrap="square" lIns="0" tIns="0" rIns="0" bIns="0" rtlCol="0" anchor="ctr"/>
          <a:lstStyle/>
          <a:p>
            <a:pPr marL="0" indent="0">
              <a:buNone/>
            </a:pPr>
            <a:r>
              <a:rPr lang="en-US" sz="1000" dirty="0">
                <a:solidFill>
                  <a:srgbClr val="1A1040"/>
                </a:solidFill>
              </a:rPr>
              <a:t>Finalizada manualmente. Historial visible.</a:t>
            </a:r>
            <a:endParaRPr lang="en-US" sz="1000" dirty="0"/>
          </a:p>
        </p:txBody>
      </p:sp>
      <p:sp>
        <p:nvSpPr>
          <p:cNvPr id="19" name="Text 17"/>
          <p:cNvSpPr/>
          <p:nvPr/>
        </p:nvSpPr>
        <p:spPr>
          <a:xfrm>
            <a:off x="502920" y="2907792"/>
            <a:ext cx="3840480" cy="256032"/>
          </a:xfrm>
          <a:prstGeom prst="rect">
            <a:avLst/>
          </a:prstGeom>
          <a:noFill/>
          <a:ln/>
        </p:spPr>
        <p:txBody>
          <a:bodyPr wrap="square" lIns="0" tIns="0" rIns="0" bIns="0" rtlCol="0" anchor="ctr"/>
          <a:lstStyle/>
          <a:p>
            <a:pPr marL="0" indent="0">
              <a:buNone/>
            </a:pPr>
            <a:r>
              <a:rPr lang="en-US" sz="950" dirty="0">
                <a:solidFill>
                  <a:srgbClr val="64748B"/>
                </a:solidFill>
              </a:rPr>
              <a:t>¿Reversible?  ✅ Reanudar</a:t>
            </a:r>
            <a:endParaRPr lang="en-US" sz="950" dirty="0"/>
          </a:p>
        </p:txBody>
      </p:sp>
      <p:sp>
        <p:nvSpPr>
          <p:cNvPr id="20" name="Shape 18"/>
          <p:cNvSpPr/>
          <p:nvPr/>
        </p:nvSpPr>
        <p:spPr>
          <a:xfrm>
            <a:off x="4709160" y="2130552"/>
            <a:ext cx="4206240" cy="1097280"/>
          </a:xfrm>
          <a:prstGeom prst="rect">
            <a:avLst/>
          </a:prstGeom>
          <a:solidFill>
            <a:srgbClr val="EFEBE9"/>
          </a:solidFill>
          <a:ln w="12700">
            <a:solidFill>
              <a:srgbClr val="795548"/>
            </a:solidFill>
            <a:prstDash val="solid"/>
          </a:ln>
        </p:spPr>
        <p:txBody>
          <a:bodyPr/>
          <a:lstStyle/>
          <a:p>
            <a:endParaRPr lang="es-MX"/>
          </a:p>
        </p:txBody>
      </p:sp>
      <p:sp>
        <p:nvSpPr>
          <p:cNvPr id="21" name="Shape 19"/>
          <p:cNvSpPr/>
          <p:nvPr/>
        </p:nvSpPr>
        <p:spPr>
          <a:xfrm>
            <a:off x="4709160" y="2130552"/>
            <a:ext cx="91440" cy="1097280"/>
          </a:xfrm>
          <a:prstGeom prst="rect">
            <a:avLst/>
          </a:prstGeom>
          <a:solidFill>
            <a:srgbClr val="795548"/>
          </a:solidFill>
          <a:ln w="12700">
            <a:solidFill>
              <a:srgbClr val="795548"/>
            </a:solidFill>
            <a:prstDash val="solid"/>
          </a:ln>
        </p:spPr>
        <p:txBody>
          <a:bodyPr/>
          <a:lstStyle/>
          <a:p>
            <a:endParaRPr lang="es-MX"/>
          </a:p>
        </p:txBody>
      </p:sp>
      <p:sp>
        <p:nvSpPr>
          <p:cNvPr id="22" name="Text 20"/>
          <p:cNvSpPr/>
          <p:nvPr/>
        </p:nvSpPr>
        <p:spPr>
          <a:xfrm>
            <a:off x="4937760" y="2221992"/>
            <a:ext cx="2743200" cy="347472"/>
          </a:xfrm>
          <a:prstGeom prst="rect">
            <a:avLst/>
          </a:prstGeom>
          <a:noFill/>
          <a:ln/>
        </p:spPr>
        <p:txBody>
          <a:bodyPr wrap="square" lIns="0" tIns="0" rIns="0" bIns="0" rtlCol="0" anchor="ctr"/>
          <a:lstStyle/>
          <a:p>
            <a:pPr marL="0" indent="0">
              <a:buNone/>
            </a:pPr>
            <a:r>
              <a:rPr lang="en-US" sz="1400" b="1" dirty="0">
                <a:solidFill>
                  <a:srgbClr val="795548"/>
                </a:solidFill>
              </a:rPr>
              <a:t>Archivada</a:t>
            </a:r>
            <a:endParaRPr lang="en-US" sz="1400" dirty="0"/>
          </a:p>
        </p:txBody>
      </p:sp>
      <p:sp>
        <p:nvSpPr>
          <p:cNvPr id="23" name="Text 21"/>
          <p:cNvSpPr/>
          <p:nvPr/>
        </p:nvSpPr>
        <p:spPr>
          <a:xfrm>
            <a:off x="4937760" y="2587752"/>
            <a:ext cx="3840480" cy="329184"/>
          </a:xfrm>
          <a:prstGeom prst="rect">
            <a:avLst/>
          </a:prstGeom>
          <a:noFill/>
          <a:ln/>
        </p:spPr>
        <p:txBody>
          <a:bodyPr wrap="square" lIns="0" tIns="0" rIns="0" bIns="0" rtlCol="0" anchor="ctr"/>
          <a:lstStyle/>
          <a:p>
            <a:pPr marL="0" indent="0">
              <a:buNone/>
            </a:pPr>
            <a:r>
              <a:rPr lang="en-US" sz="1000" dirty="0">
                <a:solidFill>
                  <a:srgbClr val="1A1040"/>
                </a:solidFill>
              </a:rPr>
              <a:t>Histórico. Ya no entrega. Fuera de vista.</a:t>
            </a:r>
            <a:endParaRPr lang="en-US" sz="1000" dirty="0"/>
          </a:p>
        </p:txBody>
      </p:sp>
      <p:sp>
        <p:nvSpPr>
          <p:cNvPr id="24" name="Text 22"/>
          <p:cNvSpPr/>
          <p:nvPr/>
        </p:nvSpPr>
        <p:spPr>
          <a:xfrm>
            <a:off x="4937760" y="2907792"/>
            <a:ext cx="3840480" cy="256032"/>
          </a:xfrm>
          <a:prstGeom prst="rect">
            <a:avLst/>
          </a:prstGeom>
          <a:noFill/>
          <a:ln/>
        </p:spPr>
        <p:txBody>
          <a:bodyPr wrap="square" lIns="0" tIns="0" rIns="0" bIns="0" rtlCol="0" anchor="ctr"/>
          <a:lstStyle/>
          <a:p>
            <a:pPr marL="0" indent="0">
              <a:buNone/>
            </a:pPr>
            <a:r>
              <a:rPr lang="en-US" sz="950" dirty="0">
                <a:solidFill>
                  <a:srgbClr val="64748B"/>
                </a:solidFill>
              </a:rPr>
              <a:t>¿Reversible?  ⚠️ No fácilmente</a:t>
            </a:r>
            <a:endParaRPr lang="en-US" sz="950" dirty="0"/>
          </a:p>
        </p:txBody>
      </p:sp>
      <p:sp>
        <p:nvSpPr>
          <p:cNvPr id="25" name="Shape 23"/>
          <p:cNvSpPr/>
          <p:nvPr/>
        </p:nvSpPr>
        <p:spPr>
          <a:xfrm>
            <a:off x="274320" y="3364992"/>
            <a:ext cx="4206240" cy="1097280"/>
          </a:xfrm>
          <a:prstGeom prst="rect">
            <a:avLst/>
          </a:prstGeom>
          <a:solidFill>
            <a:srgbClr val="EEF2FF"/>
          </a:solidFill>
          <a:ln w="12700">
            <a:solidFill>
              <a:srgbClr val="263980"/>
            </a:solidFill>
            <a:prstDash val="solid"/>
          </a:ln>
        </p:spPr>
        <p:txBody>
          <a:bodyPr/>
          <a:lstStyle/>
          <a:p>
            <a:endParaRPr lang="es-MX"/>
          </a:p>
        </p:txBody>
      </p:sp>
      <p:sp>
        <p:nvSpPr>
          <p:cNvPr id="26" name="Shape 24"/>
          <p:cNvSpPr/>
          <p:nvPr/>
        </p:nvSpPr>
        <p:spPr>
          <a:xfrm>
            <a:off x="274320" y="3364992"/>
            <a:ext cx="91440" cy="1097280"/>
          </a:xfrm>
          <a:prstGeom prst="rect">
            <a:avLst/>
          </a:prstGeom>
          <a:solidFill>
            <a:srgbClr val="263980"/>
          </a:solidFill>
          <a:ln w="12700">
            <a:solidFill>
              <a:srgbClr val="263980"/>
            </a:solidFill>
            <a:prstDash val="solid"/>
          </a:ln>
        </p:spPr>
        <p:txBody>
          <a:bodyPr/>
          <a:lstStyle/>
          <a:p>
            <a:endParaRPr lang="es-MX"/>
          </a:p>
        </p:txBody>
      </p:sp>
      <p:sp>
        <p:nvSpPr>
          <p:cNvPr id="27" name="Text 25"/>
          <p:cNvSpPr/>
          <p:nvPr/>
        </p:nvSpPr>
        <p:spPr>
          <a:xfrm>
            <a:off x="502920" y="3456432"/>
            <a:ext cx="2743200" cy="347472"/>
          </a:xfrm>
          <a:prstGeom prst="rect">
            <a:avLst/>
          </a:prstGeom>
          <a:noFill/>
          <a:ln/>
        </p:spPr>
        <p:txBody>
          <a:bodyPr wrap="square" lIns="0" tIns="0" rIns="0" bIns="0" rtlCol="0" anchor="ctr"/>
          <a:lstStyle/>
          <a:p>
            <a:pPr marL="0" indent="0">
              <a:buNone/>
            </a:pPr>
            <a:r>
              <a:rPr lang="en-US" sz="1400" b="1" dirty="0">
                <a:solidFill>
                  <a:srgbClr val="263980"/>
                </a:solidFill>
              </a:rPr>
              <a:t>Borrador</a:t>
            </a:r>
            <a:endParaRPr lang="en-US" sz="1400" dirty="0"/>
          </a:p>
        </p:txBody>
      </p:sp>
      <p:sp>
        <p:nvSpPr>
          <p:cNvPr id="28" name="Text 26"/>
          <p:cNvSpPr/>
          <p:nvPr/>
        </p:nvSpPr>
        <p:spPr>
          <a:xfrm>
            <a:off x="502920" y="3822192"/>
            <a:ext cx="3840480" cy="329184"/>
          </a:xfrm>
          <a:prstGeom prst="rect">
            <a:avLst/>
          </a:prstGeom>
          <a:noFill/>
          <a:ln/>
        </p:spPr>
        <p:txBody>
          <a:bodyPr wrap="square" lIns="0" tIns="0" rIns="0" bIns="0" rtlCol="0" anchor="ctr"/>
          <a:lstStyle/>
          <a:p>
            <a:pPr marL="0" indent="0">
              <a:buNone/>
            </a:pPr>
            <a:r>
              <a:rPr lang="en-US" sz="1000" dirty="0">
                <a:solidFill>
                  <a:srgbClr val="1A1040"/>
                </a:solidFill>
              </a:rPr>
              <a:t>Creada pero no aprobada. Requiere acción.</a:t>
            </a:r>
            <a:endParaRPr lang="en-US" sz="1000" dirty="0"/>
          </a:p>
        </p:txBody>
      </p:sp>
      <p:sp>
        <p:nvSpPr>
          <p:cNvPr id="29" name="Text 27"/>
          <p:cNvSpPr/>
          <p:nvPr/>
        </p:nvSpPr>
        <p:spPr>
          <a:xfrm>
            <a:off x="502920" y="4142232"/>
            <a:ext cx="3840480" cy="256032"/>
          </a:xfrm>
          <a:prstGeom prst="rect">
            <a:avLst/>
          </a:prstGeom>
          <a:noFill/>
          <a:ln/>
        </p:spPr>
        <p:txBody>
          <a:bodyPr wrap="square" lIns="0" tIns="0" rIns="0" bIns="0" rtlCol="0" anchor="ctr"/>
          <a:lstStyle/>
          <a:p>
            <a:pPr marL="0" indent="0">
              <a:buNone/>
            </a:pPr>
            <a:r>
              <a:rPr lang="en-US" sz="950" dirty="0">
                <a:solidFill>
                  <a:srgbClr val="64748B"/>
                </a:solidFill>
              </a:rPr>
              <a:t>¿Reversible?  ✅ Aprobar</a:t>
            </a:r>
            <a:endParaRPr lang="en-US" sz="950" dirty="0"/>
          </a:p>
        </p:txBody>
      </p:sp>
      <p:sp>
        <p:nvSpPr>
          <p:cNvPr id="30" name="Shape 28"/>
          <p:cNvSpPr/>
          <p:nvPr/>
        </p:nvSpPr>
        <p:spPr>
          <a:xfrm>
            <a:off x="4709160" y="3364992"/>
            <a:ext cx="4206240" cy="1097280"/>
          </a:xfrm>
          <a:prstGeom prst="rect">
            <a:avLst/>
          </a:prstGeom>
          <a:solidFill>
            <a:srgbClr val="FFEBEE"/>
          </a:solidFill>
          <a:ln w="12700">
            <a:solidFill>
              <a:srgbClr val="B71C1C"/>
            </a:solidFill>
            <a:prstDash val="solid"/>
          </a:ln>
        </p:spPr>
        <p:txBody>
          <a:bodyPr/>
          <a:lstStyle/>
          <a:p>
            <a:endParaRPr lang="es-MX"/>
          </a:p>
        </p:txBody>
      </p:sp>
      <p:sp>
        <p:nvSpPr>
          <p:cNvPr id="31" name="Shape 29"/>
          <p:cNvSpPr/>
          <p:nvPr/>
        </p:nvSpPr>
        <p:spPr>
          <a:xfrm>
            <a:off x="4709160" y="3364992"/>
            <a:ext cx="91440" cy="1097280"/>
          </a:xfrm>
          <a:prstGeom prst="rect">
            <a:avLst/>
          </a:prstGeom>
          <a:solidFill>
            <a:srgbClr val="B71C1C"/>
          </a:solidFill>
          <a:ln w="12700">
            <a:solidFill>
              <a:srgbClr val="B71C1C"/>
            </a:solidFill>
            <a:prstDash val="solid"/>
          </a:ln>
        </p:spPr>
        <p:txBody>
          <a:bodyPr/>
          <a:lstStyle/>
          <a:p>
            <a:endParaRPr lang="es-MX"/>
          </a:p>
        </p:txBody>
      </p:sp>
      <p:sp>
        <p:nvSpPr>
          <p:cNvPr id="32" name="Text 30"/>
          <p:cNvSpPr/>
          <p:nvPr/>
        </p:nvSpPr>
        <p:spPr>
          <a:xfrm>
            <a:off x="4937760" y="3456432"/>
            <a:ext cx="2743200" cy="347472"/>
          </a:xfrm>
          <a:prstGeom prst="rect">
            <a:avLst/>
          </a:prstGeom>
          <a:noFill/>
          <a:ln/>
        </p:spPr>
        <p:txBody>
          <a:bodyPr wrap="square" lIns="0" tIns="0" rIns="0" bIns="0" rtlCol="0" anchor="ctr"/>
          <a:lstStyle/>
          <a:p>
            <a:pPr marL="0" indent="0">
              <a:buNone/>
            </a:pPr>
            <a:r>
              <a:rPr lang="en-US" sz="1400" b="1" dirty="0">
                <a:solidFill>
                  <a:srgbClr val="B71C1C"/>
                </a:solidFill>
              </a:rPr>
              <a:t>Vencida</a:t>
            </a:r>
            <a:endParaRPr lang="en-US" sz="1400" dirty="0"/>
          </a:p>
        </p:txBody>
      </p:sp>
      <p:sp>
        <p:nvSpPr>
          <p:cNvPr id="33" name="Text 31"/>
          <p:cNvSpPr/>
          <p:nvPr/>
        </p:nvSpPr>
        <p:spPr>
          <a:xfrm>
            <a:off x="4937760" y="3822192"/>
            <a:ext cx="3840480" cy="329184"/>
          </a:xfrm>
          <a:prstGeom prst="rect">
            <a:avLst/>
          </a:prstGeom>
          <a:noFill/>
          <a:ln/>
        </p:spPr>
        <p:txBody>
          <a:bodyPr wrap="square" lIns="0" tIns="0" rIns="0" bIns="0" rtlCol="0" anchor="ctr"/>
          <a:lstStyle/>
          <a:p>
            <a:pPr marL="0" indent="0">
              <a:buNone/>
            </a:pPr>
            <a:r>
              <a:rPr lang="en-US" sz="1000" dirty="0">
                <a:solidFill>
                  <a:srgbClr val="1A1040"/>
                </a:solidFill>
              </a:rPr>
              <a:t>Llegó a su fecha de finalización.</a:t>
            </a:r>
            <a:endParaRPr lang="en-US" sz="1000" dirty="0"/>
          </a:p>
        </p:txBody>
      </p:sp>
      <p:sp>
        <p:nvSpPr>
          <p:cNvPr id="34" name="Text 32"/>
          <p:cNvSpPr/>
          <p:nvPr/>
        </p:nvSpPr>
        <p:spPr>
          <a:xfrm>
            <a:off x="4937760" y="4142232"/>
            <a:ext cx="3840480" cy="256032"/>
          </a:xfrm>
          <a:prstGeom prst="rect">
            <a:avLst/>
          </a:prstGeom>
          <a:noFill/>
          <a:ln/>
        </p:spPr>
        <p:txBody>
          <a:bodyPr wrap="square" lIns="0" tIns="0" rIns="0" bIns="0" rtlCol="0" anchor="ctr"/>
          <a:lstStyle/>
          <a:p>
            <a:pPr marL="0" indent="0">
              <a:buNone/>
            </a:pPr>
            <a:r>
              <a:rPr lang="en-US" sz="950" dirty="0">
                <a:solidFill>
                  <a:srgbClr val="64748B"/>
                </a:solidFill>
              </a:rPr>
              <a:t>¿Reversible?  ❌ Duplicar</a:t>
            </a:r>
            <a:endParaRPr lang="en-US" sz="950" dirty="0"/>
          </a:p>
        </p:txBody>
      </p:sp>
      <p:grpSp>
        <p:nvGrpSpPr>
          <p:cNvPr id="39" name="Grupo 38">
            <a:extLst>
              <a:ext uri="{FF2B5EF4-FFF2-40B4-BE49-F238E27FC236}">
                <a16:creationId xmlns:a16="http://schemas.microsoft.com/office/drawing/2014/main" id="{4DB1A1FE-68C9-CA8E-94C9-2F8AC9724CCE}"/>
              </a:ext>
            </a:extLst>
          </p:cNvPr>
          <p:cNvGrpSpPr/>
          <p:nvPr/>
        </p:nvGrpSpPr>
        <p:grpSpPr>
          <a:xfrm>
            <a:off x="274320" y="4586787"/>
            <a:ext cx="8595360" cy="201168"/>
            <a:chOff x="274320" y="4645152"/>
            <a:chExt cx="8595360" cy="292608"/>
          </a:xfrm>
        </p:grpSpPr>
        <p:sp>
          <p:nvSpPr>
            <p:cNvPr id="35" name="Shape 33"/>
            <p:cNvSpPr/>
            <p:nvPr/>
          </p:nvSpPr>
          <p:spPr>
            <a:xfrm>
              <a:off x="274320" y="4645152"/>
              <a:ext cx="8595360" cy="292608"/>
            </a:xfrm>
            <a:prstGeom prst="rect">
              <a:avLst/>
            </a:prstGeom>
            <a:solidFill>
              <a:srgbClr val="D0F4F7"/>
            </a:solidFill>
            <a:ln w="12700">
              <a:solidFill>
                <a:srgbClr val="46C2CE"/>
              </a:solidFill>
              <a:prstDash val="solid"/>
            </a:ln>
          </p:spPr>
          <p:txBody>
            <a:bodyPr/>
            <a:lstStyle/>
            <a:p>
              <a:endParaRPr lang="es-MX"/>
            </a:p>
          </p:txBody>
        </p:sp>
        <p:sp>
          <p:nvSpPr>
            <p:cNvPr id="36" name="Text 34"/>
            <p:cNvSpPr/>
            <p:nvPr/>
          </p:nvSpPr>
          <p:spPr>
            <a:xfrm>
              <a:off x="457200" y="4663440"/>
              <a:ext cx="8229600" cy="256032"/>
            </a:xfrm>
            <a:prstGeom prst="rect">
              <a:avLst/>
            </a:prstGeom>
            <a:noFill/>
            <a:ln/>
          </p:spPr>
          <p:txBody>
            <a:bodyPr wrap="square" lIns="0" tIns="0" rIns="0" bIns="0" rtlCol="0" anchor="ctr"/>
            <a:lstStyle/>
            <a:p>
              <a:pPr marL="0" indent="0">
                <a:buNone/>
              </a:pPr>
              <a:r>
                <a:rPr lang="en-US" sz="950" dirty="0">
                  <a:solidFill>
                    <a:srgbClr val="263980"/>
                  </a:solidFill>
                </a:rPr>
                <a:t>💡  En la operación diaria usarás principalmente  Pausar  y  Reanudar.  Archivar solo cuando la campaña nunca volverá.</a:t>
              </a:r>
              <a:endParaRPr lang="en-US" sz="950" dirty="0"/>
            </a:p>
          </p:txBody>
        </p:sp>
      </p:grpSp>
      <p:sp>
        <p:nvSpPr>
          <p:cNvPr id="37" name="Shape 35"/>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38" name="Text 36"/>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41" name="Gráfico 40">
            <a:extLst>
              <a:ext uri="{FF2B5EF4-FFF2-40B4-BE49-F238E27FC236}">
                <a16:creationId xmlns:a16="http://schemas.microsoft.com/office/drawing/2014/main" id="{DC44E586-7A4E-7C70-322B-514F4ED7C1B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C1A56"/>
          </a:solidFill>
          <a:ln w="12700">
            <a:solidFill>
              <a:srgbClr val="2C1A56"/>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Proceso 15 — Cambiar Banner a Mitad de Campaña</a:t>
            </a:r>
            <a:endParaRPr lang="en-US" sz="2000" dirty="0"/>
          </a:p>
        </p:txBody>
      </p:sp>
      <p:sp>
        <p:nvSpPr>
          <p:cNvPr id="5" name="Shape 3"/>
          <p:cNvSpPr/>
          <p:nvPr/>
        </p:nvSpPr>
        <p:spPr>
          <a:xfrm>
            <a:off x="274320" y="868680"/>
            <a:ext cx="8595360" cy="502920"/>
          </a:xfrm>
          <a:prstGeom prst="rect">
            <a:avLst/>
          </a:prstGeom>
          <a:solidFill>
            <a:srgbClr val="263980"/>
          </a:solidFill>
          <a:ln w="12700">
            <a:solidFill>
              <a:srgbClr val="46C2CE"/>
            </a:solidFill>
            <a:prstDash val="solid"/>
          </a:ln>
        </p:spPr>
        <p:txBody>
          <a:bodyPr/>
          <a:lstStyle/>
          <a:p>
            <a:endParaRPr lang="es-MX"/>
          </a:p>
        </p:txBody>
      </p:sp>
      <p:sp>
        <p:nvSpPr>
          <p:cNvPr id="6" name="Text 4"/>
          <p:cNvSpPr/>
          <p:nvPr/>
        </p:nvSpPr>
        <p:spPr>
          <a:xfrm>
            <a:off x="457200" y="886968"/>
            <a:ext cx="8229600" cy="457200"/>
          </a:xfrm>
          <a:prstGeom prst="rect">
            <a:avLst/>
          </a:prstGeom>
          <a:noFill/>
          <a:ln/>
        </p:spPr>
        <p:txBody>
          <a:bodyPr wrap="square" lIns="0" tIns="0" rIns="0" bIns="0" rtlCol="0" anchor="ctr"/>
          <a:lstStyle/>
          <a:p>
            <a:pPr marL="0" indent="0">
              <a:buNone/>
            </a:pPr>
            <a:r>
              <a:rPr lang="en-US" sz="1100" dirty="0">
                <a:solidFill>
                  <a:srgbClr val="FFFFFF"/>
                </a:solidFill>
              </a:rPr>
              <a:t>🏆  Regla de oro: Las creatividades nuevas deben estar LISTAS Y REVISADAS antes de desactivar las originales. Siempre trabaja en COPIAS, nunca edites directamente la creatividad activa.</a:t>
            </a:r>
            <a:endParaRPr lang="en-US" sz="1100" dirty="0"/>
          </a:p>
        </p:txBody>
      </p:sp>
      <p:sp>
        <p:nvSpPr>
          <p:cNvPr id="7" name="Shape 5"/>
          <p:cNvSpPr/>
          <p:nvPr/>
        </p:nvSpPr>
        <p:spPr>
          <a:xfrm>
            <a:off x="274320" y="1508760"/>
            <a:ext cx="4206240" cy="640080"/>
          </a:xfrm>
          <a:prstGeom prst="rect">
            <a:avLst/>
          </a:prstGeom>
          <a:solidFill>
            <a:srgbClr val="FFFFFF"/>
          </a:solidFill>
          <a:ln w="12700">
            <a:solidFill>
              <a:srgbClr val="CBD5E1"/>
            </a:solidFill>
            <a:prstDash val="solid"/>
          </a:ln>
        </p:spPr>
        <p:txBody>
          <a:bodyPr/>
          <a:lstStyle/>
          <a:p>
            <a:endParaRPr lang="es-MX"/>
          </a:p>
        </p:txBody>
      </p:sp>
      <p:sp>
        <p:nvSpPr>
          <p:cNvPr id="8" name="Shape 6"/>
          <p:cNvSpPr/>
          <p:nvPr/>
        </p:nvSpPr>
        <p:spPr>
          <a:xfrm>
            <a:off x="365760" y="1618488"/>
            <a:ext cx="420624" cy="420624"/>
          </a:xfrm>
          <a:prstGeom prst="ellipse">
            <a:avLst/>
          </a:prstGeom>
          <a:solidFill>
            <a:srgbClr val="46C2CE"/>
          </a:solidFill>
          <a:ln w="12700">
            <a:solidFill>
              <a:srgbClr val="46C2CE"/>
            </a:solidFill>
            <a:prstDash val="solid"/>
          </a:ln>
        </p:spPr>
        <p:txBody>
          <a:bodyPr/>
          <a:lstStyle/>
          <a:p>
            <a:endParaRPr lang="es-MX"/>
          </a:p>
        </p:txBody>
      </p:sp>
      <p:sp>
        <p:nvSpPr>
          <p:cNvPr id="9" name="Text 7"/>
          <p:cNvSpPr/>
          <p:nvPr/>
        </p:nvSpPr>
        <p:spPr>
          <a:xfrm>
            <a:off x="365760" y="1618488"/>
            <a:ext cx="420624" cy="420624"/>
          </a:xfrm>
          <a:prstGeom prst="rect">
            <a:avLst/>
          </a:prstGeom>
          <a:noFill/>
          <a:ln/>
        </p:spPr>
        <p:txBody>
          <a:bodyPr wrap="square" lIns="0" tIns="0" rIns="0" bIns="0" rtlCol="0" anchor="ctr"/>
          <a:lstStyle/>
          <a:p>
            <a:pPr marL="0" indent="0" algn="ctr">
              <a:buNone/>
            </a:pPr>
            <a:r>
              <a:rPr lang="en-US" sz="1200" b="1" dirty="0">
                <a:solidFill>
                  <a:srgbClr val="2C1A56"/>
                </a:solidFill>
              </a:rPr>
              <a:t>1</a:t>
            </a:r>
            <a:endParaRPr lang="en-US" sz="1200" dirty="0"/>
          </a:p>
        </p:txBody>
      </p:sp>
      <p:sp>
        <p:nvSpPr>
          <p:cNvPr id="10" name="Text 8"/>
          <p:cNvSpPr/>
          <p:nvPr/>
        </p:nvSpPr>
        <p:spPr>
          <a:xfrm>
            <a:off x="896112" y="1581912"/>
            <a:ext cx="3456432" cy="256032"/>
          </a:xfrm>
          <a:prstGeom prst="rect">
            <a:avLst/>
          </a:prstGeom>
          <a:noFill/>
          <a:ln/>
        </p:spPr>
        <p:txBody>
          <a:bodyPr wrap="square" lIns="0" tIns="0" rIns="0" bIns="0" rtlCol="0" anchor="ctr"/>
          <a:lstStyle/>
          <a:p>
            <a:pPr marL="0" indent="0">
              <a:buNone/>
            </a:pPr>
            <a:r>
              <a:rPr lang="en-US" sz="1100" b="1" dirty="0">
                <a:solidFill>
                  <a:srgbClr val="263980"/>
                </a:solidFill>
              </a:rPr>
              <a:t>Entrar a la línea de pedido activa</a:t>
            </a:r>
            <a:endParaRPr lang="en-US" sz="1100" dirty="0"/>
          </a:p>
        </p:txBody>
      </p:sp>
      <p:sp>
        <p:nvSpPr>
          <p:cNvPr id="11" name="Text 9"/>
          <p:cNvSpPr/>
          <p:nvPr/>
        </p:nvSpPr>
        <p:spPr>
          <a:xfrm>
            <a:off x="896112" y="1837944"/>
            <a:ext cx="3456432" cy="256032"/>
          </a:xfrm>
          <a:prstGeom prst="rect">
            <a:avLst/>
          </a:prstGeom>
          <a:noFill/>
          <a:ln/>
        </p:spPr>
        <p:txBody>
          <a:bodyPr wrap="square" lIns="0" tIns="0" rIns="0" bIns="0" rtlCol="0" anchor="ctr"/>
          <a:lstStyle/>
          <a:p>
            <a:pPr marL="0" indent="0">
              <a:buNone/>
            </a:pPr>
            <a:r>
              <a:rPr lang="en-US" sz="900" dirty="0">
                <a:solidFill>
                  <a:srgbClr val="64748B"/>
                </a:solidFill>
              </a:rPr>
              <a:t>Ir al pedido del cliente → entrar a la línea activa → sección Creatividades</a:t>
            </a:r>
            <a:endParaRPr lang="en-US" sz="900" dirty="0"/>
          </a:p>
        </p:txBody>
      </p:sp>
      <p:sp>
        <p:nvSpPr>
          <p:cNvPr id="12" name="Shape 10"/>
          <p:cNvSpPr/>
          <p:nvPr/>
        </p:nvSpPr>
        <p:spPr>
          <a:xfrm>
            <a:off x="274320" y="2240280"/>
            <a:ext cx="4206240" cy="640080"/>
          </a:xfrm>
          <a:prstGeom prst="rect">
            <a:avLst/>
          </a:prstGeom>
          <a:solidFill>
            <a:srgbClr val="FFFFFF"/>
          </a:solidFill>
          <a:ln w="12700">
            <a:solidFill>
              <a:srgbClr val="CBD5E1"/>
            </a:solidFill>
            <a:prstDash val="solid"/>
          </a:ln>
        </p:spPr>
        <p:txBody>
          <a:bodyPr/>
          <a:lstStyle/>
          <a:p>
            <a:endParaRPr lang="es-MX"/>
          </a:p>
        </p:txBody>
      </p:sp>
      <p:sp>
        <p:nvSpPr>
          <p:cNvPr id="13" name="Shape 11"/>
          <p:cNvSpPr/>
          <p:nvPr/>
        </p:nvSpPr>
        <p:spPr>
          <a:xfrm>
            <a:off x="365760" y="2350008"/>
            <a:ext cx="420624" cy="420624"/>
          </a:xfrm>
          <a:prstGeom prst="ellipse">
            <a:avLst/>
          </a:prstGeom>
          <a:solidFill>
            <a:srgbClr val="7F52A0"/>
          </a:solidFill>
          <a:ln w="12700">
            <a:solidFill>
              <a:srgbClr val="7F52A0"/>
            </a:solidFill>
            <a:prstDash val="solid"/>
          </a:ln>
        </p:spPr>
        <p:txBody>
          <a:bodyPr/>
          <a:lstStyle/>
          <a:p>
            <a:endParaRPr lang="es-MX"/>
          </a:p>
        </p:txBody>
      </p:sp>
      <p:sp>
        <p:nvSpPr>
          <p:cNvPr id="14" name="Text 12"/>
          <p:cNvSpPr/>
          <p:nvPr/>
        </p:nvSpPr>
        <p:spPr>
          <a:xfrm>
            <a:off x="365760" y="235000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5" name="Text 13"/>
          <p:cNvSpPr/>
          <p:nvPr/>
        </p:nvSpPr>
        <p:spPr>
          <a:xfrm>
            <a:off x="896112" y="2313432"/>
            <a:ext cx="3456432" cy="256032"/>
          </a:xfrm>
          <a:prstGeom prst="rect">
            <a:avLst/>
          </a:prstGeom>
          <a:noFill/>
          <a:ln/>
        </p:spPr>
        <p:txBody>
          <a:bodyPr wrap="square" lIns="0" tIns="0" rIns="0" bIns="0" rtlCol="0" anchor="ctr"/>
          <a:lstStyle/>
          <a:p>
            <a:pPr marL="0" indent="0">
              <a:buNone/>
            </a:pPr>
            <a:r>
              <a:rPr lang="en-US" sz="1100" b="1" dirty="0">
                <a:solidFill>
                  <a:srgbClr val="263980"/>
                </a:solidFill>
              </a:rPr>
              <a:t>Seleccionar creatividades activas</a:t>
            </a:r>
            <a:endParaRPr lang="en-US" sz="1100" dirty="0"/>
          </a:p>
        </p:txBody>
      </p:sp>
      <p:sp>
        <p:nvSpPr>
          <p:cNvPr id="16" name="Text 14"/>
          <p:cNvSpPr/>
          <p:nvPr/>
        </p:nvSpPr>
        <p:spPr>
          <a:xfrm>
            <a:off x="896112" y="2569464"/>
            <a:ext cx="3456432" cy="256032"/>
          </a:xfrm>
          <a:prstGeom prst="rect">
            <a:avLst/>
          </a:prstGeom>
          <a:noFill/>
          <a:ln/>
        </p:spPr>
        <p:txBody>
          <a:bodyPr wrap="square" lIns="0" tIns="0" rIns="0" bIns="0" rtlCol="0" anchor="ctr"/>
          <a:lstStyle/>
          <a:p>
            <a:pPr marL="0" indent="0">
              <a:buNone/>
            </a:pPr>
            <a:r>
              <a:rPr lang="en-US" sz="900" dirty="0">
                <a:solidFill>
                  <a:srgbClr val="64748B"/>
                </a:solidFill>
              </a:rPr>
              <a:t>Marcar checkbox de los banners que se van a reemplazar</a:t>
            </a:r>
            <a:endParaRPr lang="en-US" sz="900" dirty="0"/>
          </a:p>
        </p:txBody>
      </p:sp>
      <p:sp>
        <p:nvSpPr>
          <p:cNvPr id="17" name="Shape 15"/>
          <p:cNvSpPr/>
          <p:nvPr/>
        </p:nvSpPr>
        <p:spPr>
          <a:xfrm>
            <a:off x="274320" y="2971800"/>
            <a:ext cx="4206240" cy="640080"/>
          </a:xfrm>
          <a:prstGeom prst="rect">
            <a:avLst/>
          </a:prstGeom>
          <a:solidFill>
            <a:srgbClr val="FFFFFF"/>
          </a:solidFill>
          <a:ln w="12700">
            <a:solidFill>
              <a:srgbClr val="CBD5E1"/>
            </a:solidFill>
            <a:prstDash val="solid"/>
          </a:ln>
        </p:spPr>
        <p:txBody>
          <a:bodyPr/>
          <a:lstStyle/>
          <a:p>
            <a:endParaRPr lang="es-MX"/>
          </a:p>
        </p:txBody>
      </p:sp>
      <p:sp>
        <p:nvSpPr>
          <p:cNvPr id="18" name="Shape 16"/>
          <p:cNvSpPr/>
          <p:nvPr/>
        </p:nvSpPr>
        <p:spPr>
          <a:xfrm>
            <a:off x="365760" y="3081528"/>
            <a:ext cx="420624" cy="420624"/>
          </a:xfrm>
          <a:prstGeom prst="ellipse">
            <a:avLst/>
          </a:prstGeom>
          <a:solidFill>
            <a:srgbClr val="263980"/>
          </a:solidFill>
          <a:ln w="12700">
            <a:solidFill>
              <a:srgbClr val="263980"/>
            </a:solidFill>
            <a:prstDash val="solid"/>
          </a:ln>
        </p:spPr>
        <p:txBody>
          <a:bodyPr/>
          <a:lstStyle/>
          <a:p>
            <a:endParaRPr lang="es-MX"/>
          </a:p>
        </p:txBody>
      </p:sp>
      <p:sp>
        <p:nvSpPr>
          <p:cNvPr id="19" name="Text 17"/>
          <p:cNvSpPr/>
          <p:nvPr/>
        </p:nvSpPr>
        <p:spPr>
          <a:xfrm>
            <a:off x="365760" y="308152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0" name="Text 18"/>
          <p:cNvSpPr/>
          <p:nvPr/>
        </p:nvSpPr>
        <p:spPr>
          <a:xfrm>
            <a:off x="896112" y="3044952"/>
            <a:ext cx="3456432" cy="256032"/>
          </a:xfrm>
          <a:prstGeom prst="rect">
            <a:avLst/>
          </a:prstGeom>
          <a:noFill/>
          <a:ln/>
        </p:spPr>
        <p:txBody>
          <a:bodyPr wrap="square" lIns="0" tIns="0" rIns="0" bIns="0" rtlCol="0" anchor="ctr"/>
          <a:lstStyle/>
          <a:p>
            <a:pPr marL="0" indent="0">
              <a:buNone/>
            </a:pPr>
            <a:r>
              <a:rPr lang="en-US" sz="1100" b="1" dirty="0">
                <a:solidFill>
                  <a:srgbClr val="263980"/>
                </a:solidFill>
              </a:rPr>
              <a:t>Copiar creatividades</a:t>
            </a:r>
            <a:endParaRPr lang="en-US" sz="1100" dirty="0"/>
          </a:p>
        </p:txBody>
      </p:sp>
      <p:sp>
        <p:nvSpPr>
          <p:cNvPr id="21" name="Text 19"/>
          <p:cNvSpPr/>
          <p:nvPr/>
        </p:nvSpPr>
        <p:spPr>
          <a:xfrm>
            <a:off x="896112" y="3300984"/>
            <a:ext cx="3456432" cy="256032"/>
          </a:xfrm>
          <a:prstGeom prst="rect">
            <a:avLst/>
          </a:prstGeom>
          <a:noFill/>
          <a:ln/>
        </p:spPr>
        <p:txBody>
          <a:bodyPr wrap="square" lIns="0" tIns="0" rIns="0" bIns="0" rtlCol="0" anchor="ctr"/>
          <a:lstStyle/>
          <a:p>
            <a:pPr marL="0" indent="0">
              <a:buNone/>
            </a:pPr>
            <a:r>
              <a:rPr lang="en-US" sz="900" dirty="0">
                <a:solidFill>
                  <a:srgbClr val="64748B"/>
                </a:solidFill>
              </a:rPr>
              <a:t>Clic en 'Copiar creatividades' — se crean duplicados inmediatamente</a:t>
            </a:r>
            <a:endParaRPr lang="en-US" sz="900" dirty="0"/>
          </a:p>
        </p:txBody>
      </p:sp>
      <p:sp>
        <p:nvSpPr>
          <p:cNvPr id="22" name="Shape 20"/>
          <p:cNvSpPr/>
          <p:nvPr/>
        </p:nvSpPr>
        <p:spPr>
          <a:xfrm>
            <a:off x="274320" y="3703320"/>
            <a:ext cx="4206240" cy="640080"/>
          </a:xfrm>
          <a:prstGeom prst="rect">
            <a:avLst/>
          </a:prstGeom>
          <a:solidFill>
            <a:srgbClr val="FFFFFF"/>
          </a:solidFill>
          <a:ln w="12700">
            <a:solidFill>
              <a:srgbClr val="CBD5E1"/>
            </a:solidFill>
            <a:prstDash val="solid"/>
          </a:ln>
        </p:spPr>
        <p:txBody>
          <a:bodyPr/>
          <a:lstStyle/>
          <a:p>
            <a:endParaRPr lang="es-MX"/>
          </a:p>
        </p:txBody>
      </p:sp>
      <p:sp>
        <p:nvSpPr>
          <p:cNvPr id="23" name="Shape 21"/>
          <p:cNvSpPr/>
          <p:nvPr/>
        </p:nvSpPr>
        <p:spPr>
          <a:xfrm>
            <a:off x="365760" y="3813048"/>
            <a:ext cx="420624" cy="420624"/>
          </a:xfrm>
          <a:prstGeom prst="ellipse">
            <a:avLst/>
          </a:prstGeom>
          <a:solidFill>
            <a:srgbClr val="46C2CE"/>
          </a:solidFill>
          <a:ln w="12700">
            <a:solidFill>
              <a:srgbClr val="46C2CE"/>
            </a:solidFill>
            <a:prstDash val="solid"/>
          </a:ln>
        </p:spPr>
        <p:txBody>
          <a:bodyPr/>
          <a:lstStyle/>
          <a:p>
            <a:endParaRPr lang="es-MX"/>
          </a:p>
        </p:txBody>
      </p:sp>
      <p:sp>
        <p:nvSpPr>
          <p:cNvPr id="24" name="Text 22"/>
          <p:cNvSpPr/>
          <p:nvPr/>
        </p:nvSpPr>
        <p:spPr>
          <a:xfrm>
            <a:off x="365760" y="3813048"/>
            <a:ext cx="420624" cy="420624"/>
          </a:xfrm>
          <a:prstGeom prst="rect">
            <a:avLst/>
          </a:prstGeom>
          <a:noFill/>
          <a:ln/>
        </p:spPr>
        <p:txBody>
          <a:bodyPr wrap="square" lIns="0" tIns="0" rIns="0" bIns="0" rtlCol="0" anchor="ctr"/>
          <a:lstStyle/>
          <a:p>
            <a:pPr marL="0" indent="0" algn="ctr">
              <a:buNone/>
            </a:pPr>
            <a:r>
              <a:rPr lang="en-US" sz="1200" b="1" dirty="0">
                <a:solidFill>
                  <a:srgbClr val="2C1A56"/>
                </a:solidFill>
              </a:rPr>
              <a:t>4</a:t>
            </a:r>
            <a:endParaRPr lang="en-US" sz="1200" dirty="0"/>
          </a:p>
        </p:txBody>
      </p:sp>
      <p:sp>
        <p:nvSpPr>
          <p:cNvPr id="25" name="Text 23"/>
          <p:cNvSpPr/>
          <p:nvPr/>
        </p:nvSpPr>
        <p:spPr>
          <a:xfrm>
            <a:off x="896112" y="3776472"/>
            <a:ext cx="3456432" cy="256032"/>
          </a:xfrm>
          <a:prstGeom prst="rect">
            <a:avLst/>
          </a:prstGeom>
          <a:noFill/>
          <a:ln/>
        </p:spPr>
        <p:txBody>
          <a:bodyPr wrap="square" lIns="0" tIns="0" rIns="0" bIns="0" rtlCol="0" anchor="ctr"/>
          <a:lstStyle/>
          <a:p>
            <a:pPr marL="0" indent="0">
              <a:buNone/>
            </a:pPr>
            <a:r>
              <a:rPr lang="en-US" sz="1100" b="1" dirty="0">
                <a:solidFill>
                  <a:srgbClr val="263980"/>
                </a:solidFill>
              </a:rPr>
              <a:t>Desactivar las COPIAS</a:t>
            </a:r>
            <a:endParaRPr lang="en-US" sz="1100" dirty="0"/>
          </a:p>
        </p:txBody>
      </p:sp>
      <p:sp>
        <p:nvSpPr>
          <p:cNvPr id="26" name="Text 24"/>
          <p:cNvSpPr/>
          <p:nvPr/>
        </p:nvSpPr>
        <p:spPr>
          <a:xfrm>
            <a:off x="896112" y="4032504"/>
            <a:ext cx="3456432" cy="256032"/>
          </a:xfrm>
          <a:prstGeom prst="rect">
            <a:avLst/>
          </a:prstGeom>
          <a:noFill/>
          <a:ln/>
        </p:spPr>
        <p:txBody>
          <a:bodyPr wrap="square" lIns="0" tIns="0" rIns="0" bIns="0" rtlCol="0" anchor="ctr"/>
          <a:lstStyle/>
          <a:p>
            <a:pPr marL="0" indent="0">
              <a:buNone/>
            </a:pPr>
            <a:r>
              <a:rPr lang="en-US" sz="900" dirty="0">
                <a:solidFill>
                  <a:srgbClr val="64748B"/>
                </a:solidFill>
              </a:rPr>
              <a:t>Sin deseleccionar: clic en Desactivar — las copias quedan listas pero inactivas</a:t>
            </a:r>
            <a:endParaRPr lang="en-US" sz="900" dirty="0"/>
          </a:p>
        </p:txBody>
      </p:sp>
      <p:sp>
        <p:nvSpPr>
          <p:cNvPr id="27" name="Shape 25"/>
          <p:cNvSpPr/>
          <p:nvPr/>
        </p:nvSpPr>
        <p:spPr>
          <a:xfrm>
            <a:off x="4709160" y="1508760"/>
            <a:ext cx="4206240" cy="640080"/>
          </a:xfrm>
          <a:prstGeom prst="rect">
            <a:avLst/>
          </a:prstGeom>
          <a:solidFill>
            <a:srgbClr val="FFFFFF"/>
          </a:solidFill>
          <a:ln w="12700">
            <a:solidFill>
              <a:srgbClr val="CBD5E1"/>
            </a:solidFill>
            <a:prstDash val="solid"/>
          </a:ln>
        </p:spPr>
        <p:txBody>
          <a:bodyPr/>
          <a:lstStyle/>
          <a:p>
            <a:endParaRPr lang="es-MX"/>
          </a:p>
        </p:txBody>
      </p:sp>
      <p:sp>
        <p:nvSpPr>
          <p:cNvPr id="28" name="Shape 26"/>
          <p:cNvSpPr/>
          <p:nvPr/>
        </p:nvSpPr>
        <p:spPr>
          <a:xfrm>
            <a:off x="4800600" y="1618488"/>
            <a:ext cx="420624" cy="420624"/>
          </a:xfrm>
          <a:prstGeom prst="ellipse">
            <a:avLst/>
          </a:prstGeom>
          <a:solidFill>
            <a:srgbClr val="7F52A0"/>
          </a:solidFill>
          <a:ln w="12700">
            <a:solidFill>
              <a:srgbClr val="7F52A0"/>
            </a:solidFill>
            <a:prstDash val="solid"/>
          </a:ln>
        </p:spPr>
        <p:txBody>
          <a:bodyPr/>
          <a:lstStyle/>
          <a:p>
            <a:endParaRPr lang="es-MX"/>
          </a:p>
        </p:txBody>
      </p:sp>
      <p:sp>
        <p:nvSpPr>
          <p:cNvPr id="29" name="Text 27"/>
          <p:cNvSpPr/>
          <p:nvPr/>
        </p:nvSpPr>
        <p:spPr>
          <a:xfrm>
            <a:off x="4800600" y="161848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0" name="Text 28"/>
          <p:cNvSpPr/>
          <p:nvPr/>
        </p:nvSpPr>
        <p:spPr>
          <a:xfrm>
            <a:off x="5330952" y="1581912"/>
            <a:ext cx="3456432" cy="256032"/>
          </a:xfrm>
          <a:prstGeom prst="rect">
            <a:avLst/>
          </a:prstGeom>
          <a:noFill/>
          <a:ln/>
        </p:spPr>
        <p:txBody>
          <a:bodyPr wrap="square" lIns="0" tIns="0" rIns="0" bIns="0" rtlCol="0" anchor="ctr"/>
          <a:lstStyle/>
          <a:p>
            <a:pPr marL="0" indent="0">
              <a:buNone/>
            </a:pPr>
            <a:r>
              <a:rPr lang="en-US" sz="1100" b="1" dirty="0">
                <a:solidFill>
                  <a:srgbClr val="263980"/>
                </a:solidFill>
              </a:rPr>
              <a:t>Editar cada copia</a:t>
            </a:r>
            <a:endParaRPr lang="en-US" sz="1100" dirty="0"/>
          </a:p>
        </p:txBody>
      </p:sp>
      <p:sp>
        <p:nvSpPr>
          <p:cNvPr id="31" name="Text 29"/>
          <p:cNvSpPr/>
          <p:nvPr/>
        </p:nvSpPr>
        <p:spPr>
          <a:xfrm>
            <a:off x="5330952" y="1837944"/>
            <a:ext cx="3456432" cy="256032"/>
          </a:xfrm>
          <a:prstGeom prst="rect">
            <a:avLst/>
          </a:prstGeom>
          <a:noFill/>
          <a:ln/>
        </p:spPr>
        <p:txBody>
          <a:bodyPr wrap="square" lIns="0" tIns="0" rIns="0" bIns="0" rtlCol="0" anchor="ctr"/>
          <a:lstStyle/>
          <a:p>
            <a:pPr marL="0" indent="0">
              <a:buNone/>
            </a:pPr>
            <a:r>
              <a:rPr lang="en-US" sz="900" dirty="0">
                <a:solidFill>
                  <a:srgbClr val="64748B"/>
                </a:solidFill>
              </a:rPr>
              <a:t>Cambiar: Nombre (nueva versión) · Imagen (nuevo banner) · URL (nueva con UTM si cambió)</a:t>
            </a:r>
            <a:endParaRPr lang="en-US" sz="900" dirty="0"/>
          </a:p>
        </p:txBody>
      </p:sp>
      <p:sp>
        <p:nvSpPr>
          <p:cNvPr id="32" name="Shape 30"/>
          <p:cNvSpPr/>
          <p:nvPr/>
        </p:nvSpPr>
        <p:spPr>
          <a:xfrm>
            <a:off x="4709160" y="2240280"/>
            <a:ext cx="4206240" cy="640080"/>
          </a:xfrm>
          <a:prstGeom prst="rect">
            <a:avLst/>
          </a:prstGeom>
          <a:solidFill>
            <a:srgbClr val="FFFFFF"/>
          </a:solidFill>
          <a:ln w="12700">
            <a:solidFill>
              <a:srgbClr val="CBD5E1"/>
            </a:solidFill>
            <a:prstDash val="solid"/>
          </a:ln>
        </p:spPr>
        <p:txBody>
          <a:bodyPr/>
          <a:lstStyle/>
          <a:p>
            <a:endParaRPr lang="es-MX"/>
          </a:p>
        </p:txBody>
      </p:sp>
      <p:sp>
        <p:nvSpPr>
          <p:cNvPr id="33" name="Shape 31"/>
          <p:cNvSpPr/>
          <p:nvPr/>
        </p:nvSpPr>
        <p:spPr>
          <a:xfrm>
            <a:off x="4800600" y="2350008"/>
            <a:ext cx="420624" cy="420624"/>
          </a:xfrm>
          <a:prstGeom prst="ellipse">
            <a:avLst/>
          </a:prstGeom>
          <a:solidFill>
            <a:srgbClr val="263980"/>
          </a:solidFill>
          <a:ln w="12700">
            <a:solidFill>
              <a:srgbClr val="263980"/>
            </a:solidFill>
            <a:prstDash val="solid"/>
          </a:ln>
        </p:spPr>
        <p:txBody>
          <a:bodyPr/>
          <a:lstStyle/>
          <a:p>
            <a:endParaRPr lang="es-MX"/>
          </a:p>
        </p:txBody>
      </p:sp>
      <p:sp>
        <p:nvSpPr>
          <p:cNvPr id="34" name="Text 32"/>
          <p:cNvSpPr/>
          <p:nvPr/>
        </p:nvSpPr>
        <p:spPr>
          <a:xfrm>
            <a:off x="4800600" y="235000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35" name="Text 33"/>
          <p:cNvSpPr/>
          <p:nvPr/>
        </p:nvSpPr>
        <p:spPr>
          <a:xfrm>
            <a:off x="5330952" y="2313432"/>
            <a:ext cx="3456432" cy="256032"/>
          </a:xfrm>
          <a:prstGeom prst="rect">
            <a:avLst/>
          </a:prstGeom>
          <a:noFill/>
          <a:ln/>
        </p:spPr>
        <p:txBody>
          <a:bodyPr wrap="square" lIns="0" tIns="0" rIns="0" bIns="0" rtlCol="0" anchor="ctr"/>
          <a:lstStyle/>
          <a:p>
            <a:pPr marL="0" indent="0">
              <a:buNone/>
            </a:pPr>
            <a:r>
              <a:rPr lang="en-US" sz="1100" b="1" dirty="0">
                <a:solidFill>
                  <a:srgbClr val="263980"/>
                </a:solidFill>
              </a:rPr>
              <a:t>Revisar y activar copias</a:t>
            </a:r>
            <a:endParaRPr lang="en-US" sz="1100" dirty="0"/>
          </a:p>
        </p:txBody>
      </p:sp>
      <p:sp>
        <p:nvSpPr>
          <p:cNvPr id="36" name="Text 34"/>
          <p:cNvSpPr/>
          <p:nvPr/>
        </p:nvSpPr>
        <p:spPr>
          <a:xfrm>
            <a:off x="5330952" y="2569464"/>
            <a:ext cx="3456432" cy="256032"/>
          </a:xfrm>
          <a:prstGeom prst="rect">
            <a:avLst/>
          </a:prstGeom>
          <a:noFill/>
          <a:ln/>
        </p:spPr>
        <p:txBody>
          <a:bodyPr wrap="square" lIns="0" tIns="0" rIns="0" bIns="0" rtlCol="0" anchor="ctr"/>
          <a:lstStyle/>
          <a:p>
            <a:pPr marL="0" indent="0">
              <a:buNone/>
            </a:pPr>
            <a:r>
              <a:rPr lang="en-US" sz="900" dirty="0">
                <a:solidFill>
                  <a:srgbClr val="64748B"/>
                </a:solidFill>
              </a:rPr>
              <a:t>Verificar imagen, URL y tamaño correctos → Activar las copias nuevas</a:t>
            </a:r>
            <a:endParaRPr lang="en-US" sz="900" dirty="0"/>
          </a:p>
        </p:txBody>
      </p:sp>
      <p:sp>
        <p:nvSpPr>
          <p:cNvPr id="37" name="Shape 35"/>
          <p:cNvSpPr/>
          <p:nvPr/>
        </p:nvSpPr>
        <p:spPr>
          <a:xfrm>
            <a:off x="4709160" y="2971800"/>
            <a:ext cx="4206240" cy="640080"/>
          </a:xfrm>
          <a:prstGeom prst="rect">
            <a:avLst/>
          </a:prstGeom>
          <a:solidFill>
            <a:srgbClr val="FFFFFF"/>
          </a:solidFill>
          <a:ln w="12700">
            <a:solidFill>
              <a:srgbClr val="CBD5E1"/>
            </a:solidFill>
            <a:prstDash val="solid"/>
          </a:ln>
        </p:spPr>
        <p:txBody>
          <a:bodyPr/>
          <a:lstStyle/>
          <a:p>
            <a:endParaRPr lang="es-MX"/>
          </a:p>
        </p:txBody>
      </p:sp>
      <p:sp>
        <p:nvSpPr>
          <p:cNvPr id="38" name="Shape 36"/>
          <p:cNvSpPr/>
          <p:nvPr/>
        </p:nvSpPr>
        <p:spPr>
          <a:xfrm>
            <a:off x="4800600" y="3081528"/>
            <a:ext cx="420624" cy="420624"/>
          </a:xfrm>
          <a:prstGeom prst="ellipse">
            <a:avLst/>
          </a:prstGeom>
          <a:solidFill>
            <a:srgbClr val="46C2CE"/>
          </a:solidFill>
          <a:ln w="12700">
            <a:solidFill>
              <a:srgbClr val="46C2CE"/>
            </a:solidFill>
            <a:prstDash val="solid"/>
          </a:ln>
        </p:spPr>
        <p:txBody>
          <a:bodyPr/>
          <a:lstStyle/>
          <a:p>
            <a:endParaRPr lang="es-MX"/>
          </a:p>
        </p:txBody>
      </p:sp>
      <p:sp>
        <p:nvSpPr>
          <p:cNvPr id="39" name="Text 37"/>
          <p:cNvSpPr/>
          <p:nvPr/>
        </p:nvSpPr>
        <p:spPr>
          <a:xfrm>
            <a:off x="4800600" y="3081528"/>
            <a:ext cx="420624" cy="420624"/>
          </a:xfrm>
          <a:prstGeom prst="rect">
            <a:avLst/>
          </a:prstGeom>
          <a:noFill/>
          <a:ln/>
        </p:spPr>
        <p:txBody>
          <a:bodyPr wrap="square" lIns="0" tIns="0" rIns="0" bIns="0" rtlCol="0" anchor="ctr"/>
          <a:lstStyle/>
          <a:p>
            <a:pPr marL="0" indent="0" algn="ctr">
              <a:buNone/>
            </a:pPr>
            <a:r>
              <a:rPr lang="en-US" sz="1200" b="1" dirty="0">
                <a:solidFill>
                  <a:srgbClr val="2C1A56"/>
                </a:solidFill>
              </a:rPr>
              <a:t>7</a:t>
            </a:r>
            <a:endParaRPr lang="en-US" sz="1200" dirty="0"/>
          </a:p>
        </p:txBody>
      </p:sp>
      <p:sp>
        <p:nvSpPr>
          <p:cNvPr id="40" name="Text 38"/>
          <p:cNvSpPr/>
          <p:nvPr/>
        </p:nvSpPr>
        <p:spPr>
          <a:xfrm>
            <a:off x="5330952" y="3044952"/>
            <a:ext cx="3456432" cy="256032"/>
          </a:xfrm>
          <a:prstGeom prst="rect">
            <a:avLst/>
          </a:prstGeom>
          <a:noFill/>
          <a:ln/>
        </p:spPr>
        <p:txBody>
          <a:bodyPr wrap="square" lIns="0" tIns="0" rIns="0" bIns="0" rtlCol="0" anchor="ctr"/>
          <a:lstStyle/>
          <a:p>
            <a:pPr marL="0" indent="0">
              <a:buNone/>
            </a:pPr>
            <a:r>
              <a:rPr lang="en-US" sz="1100" b="1" dirty="0">
                <a:solidFill>
                  <a:srgbClr val="263980"/>
                </a:solidFill>
              </a:rPr>
              <a:t>Desactivar los ORIGINALES</a:t>
            </a:r>
            <a:endParaRPr lang="en-US" sz="1100" dirty="0"/>
          </a:p>
        </p:txBody>
      </p:sp>
      <p:sp>
        <p:nvSpPr>
          <p:cNvPr id="41" name="Text 39"/>
          <p:cNvSpPr/>
          <p:nvPr/>
        </p:nvSpPr>
        <p:spPr>
          <a:xfrm>
            <a:off x="5330952" y="3300984"/>
            <a:ext cx="3456432" cy="256032"/>
          </a:xfrm>
          <a:prstGeom prst="rect">
            <a:avLst/>
          </a:prstGeom>
          <a:noFill/>
          <a:ln/>
        </p:spPr>
        <p:txBody>
          <a:bodyPr wrap="square" lIns="0" tIns="0" rIns="0" bIns="0" rtlCol="0" anchor="ctr"/>
          <a:lstStyle/>
          <a:p>
            <a:pPr marL="0" indent="0">
              <a:buNone/>
            </a:pPr>
            <a:r>
              <a:rPr lang="en-US" sz="900" dirty="0">
                <a:solidFill>
                  <a:srgbClr val="64748B"/>
                </a:solidFill>
              </a:rPr>
              <a:t>Solo después de que las copias estén activas y verificadas</a:t>
            </a:r>
            <a:endParaRPr lang="en-US" sz="900" dirty="0"/>
          </a:p>
        </p:txBody>
      </p:sp>
      <p:sp>
        <p:nvSpPr>
          <p:cNvPr id="42" name="Shape 40"/>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43" name="Text 41"/>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46" name="Gráfico 45">
            <a:extLst>
              <a:ext uri="{FF2B5EF4-FFF2-40B4-BE49-F238E27FC236}">
                <a16:creationId xmlns:a16="http://schemas.microsoft.com/office/drawing/2014/main" id="{5386FB9D-AEF1-C9C4-EACC-3441F9A229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63980"/>
          </a:solidFill>
          <a:ln w="12700">
            <a:solidFill>
              <a:srgbClr val="26398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Proceso 16 — Informes Básicos de Desempeño</a:t>
            </a:r>
            <a:endParaRPr lang="en-US" sz="2000" dirty="0"/>
          </a:p>
        </p:txBody>
      </p:sp>
      <p:sp>
        <p:nvSpPr>
          <p:cNvPr id="5" name="Shape 3"/>
          <p:cNvSpPr/>
          <p:nvPr/>
        </p:nvSpPr>
        <p:spPr>
          <a:xfrm>
            <a:off x="274320" y="868680"/>
            <a:ext cx="2743200" cy="1280160"/>
          </a:xfrm>
          <a:prstGeom prst="rect">
            <a:avLst/>
          </a:prstGeom>
          <a:solidFill>
            <a:srgbClr val="FFFFFF"/>
          </a:solidFill>
          <a:ln w="19050">
            <a:solidFill>
              <a:srgbClr val="46C2CE"/>
            </a:solidFill>
            <a:prstDash val="solid"/>
          </a:ln>
          <a:effectLst>
            <a:outerShdw blurRad="101600" dist="38100" dir="8100000" algn="bl" rotWithShape="0">
              <a:srgbClr val="000000">
                <a:alpha val="8000"/>
              </a:srgbClr>
            </a:outerShdw>
          </a:effectLst>
        </p:spPr>
        <p:txBody>
          <a:bodyPr/>
          <a:lstStyle/>
          <a:p>
            <a:endParaRPr lang="es-MX"/>
          </a:p>
        </p:txBody>
      </p:sp>
      <p:sp>
        <p:nvSpPr>
          <p:cNvPr id="6" name="Shape 4"/>
          <p:cNvSpPr/>
          <p:nvPr/>
        </p:nvSpPr>
        <p:spPr>
          <a:xfrm>
            <a:off x="274320" y="868680"/>
            <a:ext cx="2743200" cy="384048"/>
          </a:xfrm>
          <a:prstGeom prst="rect">
            <a:avLst/>
          </a:prstGeom>
          <a:solidFill>
            <a:srgbClr val="46C2CE"/>
          </a:solidFill>
          <a:ln w="12700">
            <a:solidFill>
              <a:srgbClr val="46C2CE"/>
            </a:solidFill>
            <a:prstDash val="solid"/>
          </a:ln>
        </p:spPr>
        <p:txBody>
          <a:bodyPr/>
          <a:lstStyle/>
          <a:p>
            <a:endParaRPr lang="es-MX"/>
          </a:p>
        </p:txBody>
      </p:sp>
      <p:sp>
        <p:nvSpPr>
          <p:cNvPr id="7" name="Text 5"/>
          <p:cNvSpPr/>
          <p:nvPr/>
        </p:nvSpPr>
        <p:spPr>
          <a:xfrm>
            <a:off x="411480" y="896112"/>
            <a:ext cx="2468880" cy="329184"/>
          </a:xfrm>
          <a:prstGeom prst="rect">
            <a:avLst/>
          </a:prstGeom>
          <a:noFill/>
          <a:ln/>
        </p:spPr>
        <p:txBody>
          <a:bodyPr wrap="square" lIns="0" tIns="0" rIns="0" bIns="0" rtlCol="0" anchor="ctr"/>
          <a:lstStyle/>
          <a:p>
            <a:pPr marL="0" indent="0" algn="ctr">
              <a:buNone/>
            </a:pPr>
            <a:r>
              <a:rPr lang="en-US" sz="1400" b="1" dirty="0">
                <a:solidFill>
                  <a:srgbClr val="2C1A56"/>
                </a:solidFill>
              </a:rPr>
              <a:t>Impresiones</a:t>
            </a:r>
            <a:endParaRPr lang="en-US" sz="1400" dirty="0"/>
          </a:p>
        </p:txBody>
      </p:sp>
      <p:sp>
        <p:nvSpPr>
          <p:cNvPr id="8" name="Text 6"/>
          <p:cNvSpPr/>
          <p:nvPr/>
        </p:nvSpPr>
        <p:spPr>
          <a:xfrm>
            <a:off x="411480" y="1307592"/>
            <a:ext cx="2468880" cy="457200"/>
          </a:xfrm>
          <a:prstGeom prst="rect">
            <a:avLst/>
          </a:prstGeom>
          <a:noFill/>
          <a:ln/>
        </p:spPr>
        <p:txBody>
          <a:bodyPr wrap="square" lIns="0" tIns="0" rIns="0" bIns="0" rtlCol="0" anchor="ctr"/>
          <a:lstStyle/>
          <a:p>
            <a:pPr marL="0" indent="0" algn="ctr">
              <a:buNone/>
            </a:pPr>
            <a:r>
              <a:rPr lang="en-US" sz="1000" dirty="0">
                <a:solidFill>
                  <a:srgbClr val="1A1040"/>
                </a:solidFill>
              </a:rPr>
              <a:t>Veces que el banner se mostró</a:t>
            </a:r>
            <a:endParaRPr lang="en-US" sz="1000" dirty="0"/>
          </a:p>
        </p:txBody>
      </p:sp>
      <p:sp>
        <p:nvSpPr>
          <p:cNvPr id="9" name="Shape 7"/>
          <p:cNvSpPr/>
          <p:nvPr/>
        </p:nvSpPr>
        <p:spPr>
          <a:xfrm>
            <a:off x="411480" y="1810512"/>
            <a:ext cx="2468880" cy="256032"/>
          </a:xfrm>
          <a:prstGeom prst="rect">
            <a:avLst/>
          </a:prstGeom>
          <a:solidFill>
            <a:srgbClr val="EEF2FF"/>
          </a:solidFill>
          <a:ln w="12700">
            <a:solidFill>
              <a:srgbClr val="CBD5E1"/>
            </a:solidFill>
            <a:prstDash val="solid"/>
          </a:ln>
        </p:spPr>
        <p:txBody>
          <a:bodyPr/>
          <a:lstStyle/>
          <a:p>
            <a:endParaRPr lang="es-MX"/>
          </a:p>
        </p:txBody>
      </p:sp>
      <p:sp>
        <p:nvSpPr>
          <p:cNvPr id="10" name="Text 8"/>
          <p:cNvSpPr/>
          <p:nvPr/>
        </p:nvSpPr>
        <p:spPr>
          <a:xfrm>
            <a:off x="457200" y="1810512"/>
            <a:ext cx="2377440" cy="256032"/>
          </a:xfrm>
          <a:prstGeom prst="rect">
            <a:avLst/>
          </a:prstGeom>
          <a:noFill/>
          <a:ln/>
        </p:spPr>
        <p:txBody>
          <a:bodyPr wrap="square" lIns="0" tIns="0" rIns="0" bIns="0" rtlCol="0" anchor="ctr"/>
          <a:lstStyle/>
          <a:p>
            <a:pPr marL="0" indent="0" algn="ctr">
              <a:buNone/>
            </a:pPr>
            <a:r>
              <a:rPr lang="en-US" sz="800" dirty="0">
                <a:solidFill>
                  <a:srgbClr val="263980"/>
                </a:solidFill>
              </a:rPr>
              <a:t>⚠️  0 impresiones = algo está mal</a:t>
            </a:r>
            <a:endParaRPr lang="en-US" sz="800" dirty="0"/>
          </a:p>
        </p:txBody>
      </p:sp>
      <p:sp>
        <p:nvSpPr>
          <p:cNvPr id="11" name="Shape 9"/>
          <p:cNvSpPr/>
          <p:nvPr/>
        </p:nvSpPr>
        <p:spPr>
          <a:xfrm>
            <a:off x="3154680" y="868680"/>
            <a:ext cx="2743200" cy="1280160"/>
          </a:xfrm>
          <a:prstGeom prst="rect">
            <a:avLst/>
          </a:prstGeom>
          <a:solidFill>
            <a:srgbClr val="FFFFFF"/>
          </a:solidFill>
          <a:ln w="19050">
            <a:solidFill>
              <a:srgbClr val="7F52A0"/>
            </a:solidFill>
            <a:prstDash val="solid"/>
          </a:ln>
          <a:effectLst>
            <a:outerShdw blurRad="101600" dist="38100" dir="8100000" algn="bl" rotWithShape="0">
              <a:srgbClr val="000000">
                <a:alpha val="8000"/>
              </a:srgbClr>
            </a:outerShdw>
          </a:effectLst>
        </p:spPr>
        <p:txBody>
          <a:bodyPr/>
          <a:lstStyle/>
          <a:p>
            <a:endParaRPr lang="es-MX"/>
          </a:p>
        </p:txBody>
      </p:sp>
      <p:sp>
        <p:nvSpPr>
          <p:cNvPr id="12" name="Shape 10"/>
          <p:cNvSpPr/>
          <p:nvPr/>
        </p:nvSpPr>
        <p:spPr>
          <a:xfrm>
            <a:off x="3154680" y="868680"/>
            <a:ext cx="2743200" cy="384048"/>
          </a:xfrm>
          <a:prstGeom prst="rect">
            <a:avLst/>
          </a:prstGeom>
          <a:solidFill>
            <a:srgbClr val="7F52A0"/>
          </a:solidFill>
          <a:ln w="12700">
            <a:solidFill>
              <a:srgbClr val="7F52A0"/>
            </a:solidFill>
            <a:prstDash val="solid"/>
          </a:ln>
        </p:spPr>
        <p:txBody>
          <a:bodyPr/>
          <a:lstStyle/>
          <a:p>
            <a:endParaRPr lang="es-MX"/>
          </a:p>
        </p:txBody>
      </p:sp>
      <p:sp>
        <p:nvSpPr>
          <p:cNvPr id="13" name="Text 11"/>
          <p:cNvSpPr/>
          <p:nvPr/>
        </p:nvSpPr>
        <p:spPr>
          <a:xfrm>
            <a:off x="3291840" y="896112"/>
            <a:ext cx="2468880" cy="329184"/>
          </a:xfrm>
          <a:prstGeom prst="rect">
            <a:avLst/>
          </a:prstGeom>
          <a:noFill/>
          <a:ln/>
        </p:spPr>
        <p:txBody>
          <a:bodyPr wrap="square" lIns="0" tIns="0" rIns="0" bIns="0" rtlCol="0" anchor="ctr"/>
          <a:lstStyle/>
          <a:p>
            <a:pPr marL="0" indent="0" algn="ctr">
              <a:buNone/>
            </a:pPr>
            <a:r>
              <a:rPr lang="en-US" sz="1400" b="1" dirty="0">
                <a:solidFill>
                  <a:srgbClr val="FFFFFF"/>
                </a:solidFill>
              </a:rPr>
              <a:t>Clics</a:t>
            </a:r>
            <a:endParaRPr lang="en-US" sz="1400" dirty="0"/>
          </a:p>
        </p:txBody>
      </p:sp>
      <p:sp>
        <p:nvSpPr>
          <p:cNvPr id="14" name="Text 12"/>
          <p:cNvSpPr/>
          <p:nvPr/>
        </p:nvSpPr>
        <p:spPr>
          <a:xfrm>
            <a:off x="3291840" y="1307592"/>
            <a:ext cx="2468880" cy="457200"/>
          </a:xfrm>
          <a:prstGeom prst="rect">
            <a:avLst/>
          </a:prstGeom>
          <a:noFill/>
          <a:ln/>
        </p:spPr>
        <p:txBody>
          <a:bodyPr wrap="square" lIns="0" tIns="0" rIns="0" bIns="0" rtlCol="0" anchor="ctr"/>
          <a:lstStyle/>
          <a:p>
            <a:pPr marL="0" indent="0" algn="ctr">
              <a:buNone/>
            </a:pPr>
            <a:r>
              <a:rPr lang="en-US" sz="1000" dirty="0">
                <a:solidFill>
                  <a:srgbClr val="1A1040"/>
                </a:solidFill>
              </a:rPr>
              <a:t>Veces que alguien hizo clic en el banner</a:t>
            </a:r>
            <a:endParaRPr lang="en-US" sz="1000" dirty="0"/>
          </a:p>
        </p:txBody>
      </p:sp>
      <p:sp>
        <p:nvSpPr>
          <p:cNvPr id="15" name="Shape 13"/>
          <p:cNvSpPr/>
          <p:nvPr/>
        </p:nvSpPr>
        <p:spPr>
          <a:xfrm>
            <a:off x="3291840" y="1810512"/>
            <a:ext cx="2468880" cy="256032"/>
          </a:xfrm>
          <a:prstGeom prst="rect">
            <a:avLst/>
          </a:prstGeom>
          <a:solidFill>
            <a:srgbClr val="EEF2FF"/>
          </a:solidFill>
          <a:ln w="12700">
            <a:solidFill>
              <a:srgbClr val="CBD5E1"/>
            </a:solidFill>
            <a:prstDash val="solid"/>
          </a:ln>
        </p:spPr>
        <p:txBody>
          <a:bodyPr/>
          <a:lstStyle/>
          <a:p>
            <a:endParaRPr lang="es-MX"/>
          </a:p>
        </p:txBody>
      </p:sp>
      <p:sp>
        <p:nvSpPr>
          <p:cNvPr id="16" name="Text 14"/>
          <p:cNvSpPr/>
          <p:nvPr/>
        </p:nvSpPr>
        <p:spPr>
          <a:xfrm>
            <a:off x="3337560" y="1810512"/>
            <a:ext cx="2377440" cy="256032"/>
          </a:xfrm>
          <a:prstGeom prst="rect">
            <a:avLst/>
          </a:prstGeom>
          <a:noFill/>
          <a:ln/>
        </p:spPr>
        <p:txBody>
          <a:bodyPr wrap="square" lIns="0" tIns="0" rIns="0" bIns="0" rtlCol="0" anchor="ctr"/>
          <a:lstStyle/>
          <a:p>
            <a:pPr marL="0" indent="0" algn="ctr">
              <a:buNone/>
            </a:pPr>
            <a:r>
              <a:rPr lang="en-US" sz="800" dirty="0">
                <a:solidFill>
                  <a:srgbClr val="263980"/>
                </a:solidFill>
              </a:rPr>
              <a:t>⚠️  Muy pocos = revisar diseño o segmentación</a:t>
            </a:r>
            <a:endParaRPr lang="en-US" sz="800" dirty="0"/>
          </a:p>
        </p:txBody>
      </p:sp>
      <p:sp>
        <p:nvSpPr>
          <p:cNvPr id="17" name="Shape 15"/>
          <p:cNvSpPr/>
          <p:nvPr/>
        </p:nvSpPr>
        <p:spPr>
          <a:xfrm>
            <a:off x="6035040" y="868680"/>
            <a:ext cx="2743200" cy="1280160"/>
          </a:xfrm>
          <a:prstGeom prst="rect">
            <a:avLst/>
          </a:prstGeom>
          <a:solidFill>
            <a:srgbClr val="FFFFFF"/>
          </a:solidFill>
          <a:ln w="19050">
            <a:solidFill>
              <a:srgbClr val="263980"/>
            </a:solidFill>
            <a:prstDash val="solid"/>
          </a:ln>
          <a:effectLst>
            <a:outerShdw blurRad="101600" dist="38100" dir="8100000" algn="bl" rotWithShape="0">
              <a:srgbClr val="000000">
                <a:alpha val="8000"/>
              </a:srgbClr>
            </a:outerShdw>
          </a:effectLst>
        </p:spPr>
        <p:txBody>
          <a:bodyPr/>
          <a:lstStyle/>
          <a:p>
            <a:endParaRPr lang="es-MX"/>
          </a:p>
        </p:txBody>
      </p:sp>
      <p:sp>
        <p:nvSpPr>
          <p:cNvPr id="18" name="Shape 16"/>
          <p:cNvSpPr/>
          <p:nvPr/>
        </p:nvSpPr>
        <p:spPr>
          <a:xfrm>
            <a:off x="6035040" y="868680"/>
            <a:ext cx="2743200" cy="384048"/>
          </a:xfrm>
          <a:prstGeom prst="rect">
            <a:avLst/>
          </a:prstGeom>
          <a:solidFill>
            <a:srgbClr val="263980"/>
          </a:solidFill>
          <a:ln w="12700">
            <a:solidFill>
              <a:srgbClr val="263980"/>
            </a:solidFill>
            <a:prstDash val="solid"/>
          </a:ln>
        </p:spPr>
        <p:txBody>
          <a:bodyPr/>
          <a:lstStyle/>
          <a:p>
            <a:endParaRPr lang="es-MX"/>
          </a:p>
        </p:txBody>
      </p:sp>
      <p:sp>
        <p:nvSpPr>
          <p:cNvPr id="19" name="Text 17"/>
          <p:cNvSpPr/>
          <p:nvPr/>
        </p:nvSpPr>
        <p:spPr>
          <a:xfrm>
            <a:off x="6172200" y="896112"/>
            <a:ext cx="2468880" cy="329184"/>
          </a:xfrm>
          <a:prstGeom prst="rect">
            <a:avLst/>
          </a:prstGeom>
          <a:noFill/>
          <a:ln/>
        </p:spPr>
        <p:txBody>
          <a:bodyPr wrap="square" lIns="0" tIns="0" rIns="0" bIns="0" rtlCol="0" anchor="ctr"/>
          <a:lstStyle/>
          <a:p>
            <a:pPr marL="0" indent="0" algn="ctr">
              <a:buNone/>
            </a:pPr>
            <a:r>
              <a:rPr lang="en-US" sz="1400" b="1" dirty="0">
                <a:solidFill>
                  <a:srgbClr val="FFFFFF"/>
                </a:solidFill>
              </a:rPr>
              <a:t>CTR</a:t>
            </a:r>
            <a:endParaRPr lang="en-US" sz="1400" dirty="0"/>
          </a:p>
        </p:txBody>
      </p:sp>
      <p:sp>
        <p:nvSpPr>
          <p:cNvPr id="20" name="Text 18"/>
          <p:cNvSpPr/>
          <p:nvPr/>
        </p:nvSpPr>
        <p:spPr>
          <a:xfrm>
            <a:off x="6172200" y="1307592"/>
            <a:ext cx="2468880" cy="457200"/>
          </a:xfrm>
          <a:prstGeom prst="rect">
            <a:avLst/>
          </a:prstGeom>
          <a:noFill/>
          <a:ln/>
        </p:spPr>
        <p:txBody>
          <a:bodyPr wrap="square" lIns="0" tIns="0" rIns="0" bIns="0" rtlCol="0" anchor="ctr"/>
          <a:lstStyle/>
          <a:p>
            <a:pPr marL="0" indent="0" algn="ctr">
              <a:buNone/>
            </a:pPr>
            <a:r>
              <a:rPr lang="en-US" sz="1000" dirty="0">
                <a:solidFill>
                  <a:srgbClr val="1A1040"/>
                </a:solidFill>
              </a:rPr>
              <a:t>% personas que hacen clic sobre impresiones</a:t>
            </a:r>
            <a:endParaRPr lang="en-US" sz="1000" dirty="0"/>
          </a:p>
        </p:txBody>
      </p:sp>
      <p:sp>
        <p:nvSpPr>
          <p:cNvPr id="21" name="Shape 19"/>
          <p:cNvSpPr/>
          <p:nvPr/>
        </p:nvSpPr>
        <p:spPr>
          <a:xfrm>
            <a:off x="6172200" y="1810512"/>
            <a:ext cx="2468880" cy="256032"/>
          </a:xfrm>
          <a:prstGeom prst="rect">
            <a:avLst/>
          </a:prstGeom>
          <a:solidFill>
            <a:srgbClr val="EEF2FF"/>
          </a:solidFill>
          <a:ln w="12700">
            <a:solidFill>
              <a:srgbClr val="CBD5E1"/>
            </a:solidFill>
            <a:prstDash val="solid"/>
          </a:ln>
        </p:spPr>
        <p:txBody>
          <a:bodyPr/>
          <a:lstStyle/>
          <a:p>
            <a:endParaRPr lang="es-MX"/>
          </a:p>
        </p:txBody>
      </p:sp>
      <p:sp>
        <p:nvSpPr>
          <p:cNvPr id="22" name="Text 20"/>
          <p:cNvSpPr/>
          <p:nvPr/>
        </p:nvSpPr>
        <p:spPr>
          <a:xfrm>
            <a:off x="6217920" y="1810512"/>
            <a:ext cx="2377440" cy="256032"/>
          </a:xfrm>
          <a:prstGeom prst="rect">
            <a:avLst/>
          </a:prstGeom>
          <a:noFill/>
          <a:ln/>
        </p:spPr>
        <p:txBody>
          <a:bodyPr wrap="square" lIns="0" tIns="0" rIns="0" bIns="0" rtlCol="0" anchor="ctr"/>
          <a:lstStyle/>
          <a:p>
            <a:pPr marL="0" indent="0" algn="ctr">
              <a:buNone/>
            </a:pPr>
            <a:r>
              <a:rPr lang="en-US" sz="800" dirty="0">
                <a:solidFill>
                  <a:srgbClr val="263980"/>
                </a:solidFill>
              </a:rPr>
              <a:t>⚠️  En display: 0.1% ya es normal</a:t>
            </a:r>
            <a:endParaRPr lang="en-US" sz="800" dirty="0"/>
          </a:p>
        </p:txBody>
      </p:sp>
      <p:sp>
        <p:nvSpPr>
          <p:cNvPr id="23" name="Text 21"/>
          <p:cNvSpPr/>
          <p:nvPr/>
        </p:nvSpPr>
        <p:spPr>
          <a:xfrm>
            <a:off x="274320" y="2286000"/>
            <a:ext cx="8595360" cy="292608"/>
          </a:xfrm>
          <a:prstGeom prst="rect">
            <a:avLst/>
          </a:prstGeom>
          <a:noFill/>
          <a:ln/>
        </p:spPr>
        <p:txBody>
          <a:bodyPr wrap="square" lIns="0" tIns="0" rIns="0" bIns="0" rtlCol="0" anchor="ctr"/>
          <a:lstStyle/>
          <a:p>
            <a:pPr marL="0" indent="0">
              <a:buNone/>
            </a:pPr>
            <a:r>
              <a:rPr lang="en-US" sz="1200" b="1" dirty="0">
                <a:solidFill>
                  <a:srgbClr val="263980"/>
                </a:solidFill>
              </a:rPr>
              <a:t>Cómo generar el informe de impresiones y clics:</a:t>
            </a:r>
            <a:endParaRPr lang="en-US" sz="1200" dirty="0"/>
          </a:p>
        </p:txBody>
      </p:sp>
      <p:sp>
        <p:nvSpPr>
          <p:cNvPr id="24" name="Shape 22"/>
          <p:cNvSpPr/>
          <p:nvPr/>
        </p:nvSpPr>
        <p:spPr>
          <a:xfrm>
            <a:off x="274320" y="2633472"/>
            <a:ext cx="4206240" cy="301752"/>
          </a:xfrm>
          <a:prstGeom prst="rect">
            <a:avLst/>
          </a:prstGeom>
          <a:solidFill>
            <a:srgbClr val="FFFFFF"/>
          </a:solidFill>
          <a:ln w="12700">
            <a:solidFill>
              <a:srgbClr val="CBD5E1"/>
            </a:solidFill>
            <a:prstDash val="solid"/>
          </a:ln>
        </p:spPr>
        <p:txBody>
          <a:bodyPr/>
          <a:lstStyle/>
          <a:p>
            <a:endParaRPr lang="es-MX"/>
          </a:p>
        </p:txBody>
      </p:sp>
      <p:sp>
        <p:nvSpPr>
          <p:cNvPr id="25" name="Shape 23"/>
          <p:cNvSpPr/>
          <p:nvPr/>
        </p:nvSpPr>
        <p:spPr>
          <a:xfrm>
            <a:off x="347472" y="2679192"/>
            <a:ext cx="219456" cy="219456"/>
          </a:xfrm>
          <a:prstGeom prst="ellipse">
            <a:avLst/>
          </a:prstGeom>
          <a:solidFill>
            <a:srgbClr val="46C2CE"/>
          </a:solidFill>
          <a:ln w="12700">
            <a:solidFill>
              <a:srgbClr val="46C2CE"/>
            </a:solidFill>
            <a:prstDash val="solid"/>
          </a:ln>
        </p:spPr>
        <p:txBody>
          <a:bodyPr/>
          <a:lstStyle/>
          <a:p>
            <a:endParaRPr lang="es-MX"/>
          </a:p>
        </p:txBody>
      </p:sp>
      <p:sp>
        <p:nvSpPr>
          <p:cNvPr id="26" name="Text 24"/>
          <p:cNvSpPr/>
          <p:nvPr/>
        </p:nvSpPr>
        <p:spPr>
          <a:xfrm>
            <a:off x="658368" y="2651760"/>
            <a:ext cx="3749040" cy="274320"/>
          </a:xfrm>
          <a:prstGeom prst="rect">
            <a:avLst/>
          </a:prstGeom>
          <a:noFill/>
          <a:ln/>
        </p:spPr>
        <p:txBody>
          <a:bodyPr wrap="square" lIns="0" tIns="0" rIns="0" bIns="0" rtlCol="0" anchor="ctr"/>
          <a:lstStyle/>
          <a:p>
            <a:pPr marL="0" indent="0">
              <a:buNone/>
            </a:pPr>
            <a:r>
              <a:rPr lang="en-US" sz="950" dirty="0">
                <a:solidFill>
                  <a:srgbClr val="1A1040"/>
                </a:solidFill>
              </a:rPr>
              <a:t>Informes → Informes de publicación → Nuevo informe</a:t>
            </a:r>
            <a:endParaRPr lang="en-US" sz="950" dirty="0"/>
          </a:p>
        </p:txBody>
      </p:sp>
      <p:sp>
        <p:nvSpPr>
          <p:cNvPr id="27" name="Shape 25"/>
          <p:cNvSpPr/>
          <p:nvPr/>
        </p:nvSpPr>
        <p:spPr>
          <a:xfrm>
            <a:off x="274320" y="2980944"/>
            <a:ext cx="4206240" cy="301752"/>
          </a:xfrm>
          <a:prstGeom prst="rect">
            <a:avLst/>
          </a:prstGeom>
          <a:solidFill>
            <a:srgbClr val="EEF2FF"/>
          </a:solidFill>
          <a:ln w="12700">
            <a:solidFill>
              <a:srgbClr val="CBD5E1"/>
            </a:solidFill>
            <a:prstDash val="solid"/>
          </a:ln>
        </p:spPr>
        <p:txBody>
          <a:bodyPr/>
          <a:lstStyle/>
          <a:p>
            <a:endParaRPr lang="es-MX"/>
          </a:p>
        </p:txBody>
      </p:sp>
      <p:sp>
        <p:nvSpPr>
          <p:cNvPr id="28" name="Shape 26"/>
          <p:cNvSpPr/>
          <p:nvPr/>
        </p:nvSpPr>
        <p:spPr>
          <a:xfrm>
            <a:off x="347472" y="3026664"/>
            <a:ext cx="219456" cy="219456"/>
          </a:xfrm>
          <a:prstGeom prst="ellipse">
            <a:avLst/>
          </a:prstGeom>
          <a:solidFill>
            <a:srgbClr val="46C2CE"/>
          </a:solidFill>
          <a:ln w="12700">
            <a:solidFill>
              <a:srgbClr val="46C2CE"/>
            </a:solidFill>
            <a:prstDash val="solid"/>
          </a:ln>
        </p:spPr>
        <p:txBody>
          <a:bodyPr/>
          <a:lstStyle/>
          <a:p>
            <a:endParaRPr lang="es-MX"/>
          </a:p>
        </p:txBody>
      </p:sp>
      <p:sp>
        <p:nvSpPr>
          <p:cNvPr id="29" name="Text 27"/>
          <p:cNvSpPr/>
          <p:nvPr/>
        </p:nvSpPr>
        <p:spPr>
          <a:xfrm>
            <a:off x="658368" y="2999232"/>
            <a:ext cx="3749040" cy="274320"/>
          </a:xfrm>
          <a:prstGeom prst="rect">
            <a:avLst/>
          </a:prstGeom>
          <a:noFill/>
          <a:ln/>
        </p:spPr>
        <p:txBody>
          <a:bodyPr wrap="square" lIns="0" tIns="0" rIns="0" bIns="0" rtlCol="0" anchor="ctr"/>
          <a:lstStyle/>
          <a:p>
            <a:pPr marL="0" indent="0">
              <a:buNone/>
            </a:pPr>
            <a:r>
              <a:rPr lang="en-US" sz="950" dirty="0">
                <a:solidFill>
                  <a:srgbClr val="1A1040"/>
                </a:solidFill>
              </a:rPr>
              <a:t>Tipo: Histórico (para datos pasados)</a:t>
            </a:r>
            <a:endParaRPr lang="en-US" sz="950" dirty="0"/>
          </a:p>
        </p:txBody>
      </p:sp>
      <p:sp>
        <p:nvSpPr>
          <p:cNvPr id="30" name="Shape 28"/>
          <p:cNvSpPr/>
          <p:nvPr/>
        </p:nvSpPr>
        <p:spPr>
          <a:xfrm>
            <a:off x="274320" y="3328416"/>
            <a:ext cx="4206240" cy="301752"/>
          </a:xfrm>
          <a:prstGeom prst="rect">
            <a:avLst/>
          </a:prstGeom>
          <a:solidFill>
            <a:srgbClr val="FFFFFF"/>
          </a:solidFill>
          <a:ln w="12700">
            <a:solidFill>
              <a:srgbClr val="CBD5E1"/>
            </a:solidFill>
            <a:prstDash val="solid"/>
          </a:ln>
        </p:spPr>
        <p:txBody>
          <a:bodyPr/>
          <a:lstStyle/>
          <a:p>
            <a:endParaRPr lang="es-MX"/>
          </a:p>
        </p:txBody>
      </p:sp>
      <p:sp>
        <p:nvSpPr>
          <p:cNvPr id="31" name="Shape 29"/>
          <p:cNvSpPr/>
          <p:nvPr/>
        </p:nvSpPr>
        <p:spPr>
          <a:xfrm>
            <a:off x="347472" y="3374136"/>
            <a:ext cx="219456" cy="219456"/>
          </a:xfrm>
          <a:prstGeom prst="ellipse">
            <a:avLst/>
          </a:prstGeom>
          <a:solidFill>
            <a:srgbClr val="46C2CE"/>
          </a:solidFill>
          <a:ln w="12700">
            <a:solidFill>
              <a:srgbClr val="46C2CE"/>
            </a:solidFill>
            <a:prstDash val="solid"/>
          </a:ln>
        </p:spPr>
        <p:txBody>
          <a:bodyPr/>
          <a:lstStyle/>
          <a:p>
            <a:endParaRPr lang="es-MX"/>
          </a:p>
        </p:txBody>
      </p:sp>
      <p:sp>
        <p:nvSpPr>
          <p:cNvPr id="32" name="Text 30"/>
          <p:cNvSpPr/>
          <p:nvPr/>
        </p:nvSpPr>
        <p:spPr>
          <a:xfrm>
            <a:off x="658368" y="3346704"/>
            <a:ext cx="3749040" cy="274320"/>
          </a:xfrm>
          <a:prstGeom prst="rect">
            <a:avLst/>
          </a:prstGeom>
          <a:noFill/>
          <a:ln/>
        </p:spPr>
        <p:txBody>
          <a:bodyPr wrap="square" lIns="0" tIns="0" rIns="0" bIns="0" rtlCol="0" anchor="ctr"/>
          <a:lstStyle/>
          <a:p>
            <a:pPr marL="0" indent="0">
              <a:buNone/>
            </a:pPr>
            <a:r>
              <a:rPr lang="en-US" sz="950" dirty="0">
                <a:solidFill>
                  <a:srgbClr val="1A1040"/>
                </a:solidFill>
              </a:rPr>
              <a:t>Rango de fechas: mes actual o período a revisar</a:t>
            </a:r>
            <a:endParaRPr lang="en-US" sz="950" dirty="0"/>
          </a:p>
        </p:txBody>
      </p:sp>
      <p:sp>
        <p:nvSpPr>
          <p:cNvPr id="33" name="Shape 31"/>
          <p:cNvSpPr/>
          <p:nvPr/>
        </p:nvSpPr>
        <p:spPr>
          <a:xfrm>
            <a:off x="274320" y="3675888"/>
            <a:ext cx="4206240" cy="301752"/>
          </a:xfrm>
          <a:prstGeom prst="rect">
            <a:avLst/>
          </a:prstGeom>
          <a:solidFill>
            <a:srgbClr val="EEF2FF"/>
          </a:solidFill>
          <a:ln w="12700">
            <a:solidFill>
              <a:srgbClr val="CBD5E1"/>
            </a:solidFill>
            <a:prstDash val="solid"/>
          </a:ln>
        </p:spPr>
        <p:txBody>
          <a:bodyPr/>
          <a:lstStyle/>
          <a:p>
            <a:endParaRPr lang="es-MX"/>
          </a:p>
        </p:txBody>
      </p:sp>
      <p:sp>
        <p:nvSpPr>
          <p:cNvPr id="34" name="Shape 32"/>
          <p:cNvSpPr/>
          <p:nvPr/>
        </p:nvSpPr>
        <p:spPr>
          <a:xfrm>
            <a:off x="347472" y="3721608"/>
            <a:ext cx="219456" cy="219456"/>
          </a:xfrm>
          <a:prstGeom prst="ellipse">
            <a:avLst/>
          </a:prstGeom>
          <a:solidFill>
            <a:srgbClr val="46C2CE"/>
          </a:solidFill>
          <a:ln w="12700">
            <a:solidFill>
              <a:srgbClr val="46C2CE"/>
            </a:solidFill>
            <a:prstDash val="solid"/>
          </a:ln>
        </p:spPr>
        <p:txBody>
          <a:bodyPr/>
          <a:lstStyle/>
          <a:p>
            <a:endParaRPr lang="es-MX"/>
          </a:p>
        </p:txBody>
      </p:sp>
      <p:sp>
        <p:nvSpPr>
          <p:cNvPr id="35" name="Text 33"/>
          <p:cNvSpPr/>
          <p:nvPr/>
        </p:nvSpPr>
        <p:spPr>
          <a:xfrm>
            <a:off x="658368" y="3694176"/>
            <a:ext cx="3749040" cy="274320"/>
          </a:xfrm>
          <a:prstGeom prst="rect">
            <a:avLst/>
          </a:prstGeom>
          <a:noFill/>
          <a:ln/>
        </p:spPr>
        <p:txBody>
          <a:bodyPr wrap="square" lIns="0" tIns="0" rIns="0" bIns="0" rtlCol="0" anchor="ctr"/>
          <a:lstStyle/>
          <a:p>
            <a:pPr marL="0" indent="0">
              <a:buNone/>
            </a:pPr>
            <a:r>
              <a:rPr lang="en-US" sz="950" dirty="0">
                <a:solidFill>
                  <a:srgbClr val="1A1040"/>
                </a:solidFill>
              </a:rPr>
              <a:t>Dimensiones: Pedido + Línea de pedido</a:t>
            </a:r>
            <a:endParaRPr lang="en-US" sz="950" dirty="0"/>
          </a:p>
        </p:txBody>
      </p:sp>
      <p:sp>
        <p:nvSpPr>
          <p:cNvPr id="36" name="Shape 34"/>
          <p:cNvSpPr/>
          <p:nvPr/>
        </p:nvSpPr>
        <p:spPr>
          <a:xfrm>
            <a:off x="274320" y="4023360"/>
            <a:ext cx="4206240" cy="301752"/>
          </a:xfrm>
          <a:prstGeom prst="rect">
            <a:avLst/>
          </a:prstGeom>
          <a:solidFill>
            <a:srgbClr val="FFFFFF"/>
          </a:solidFill>
          <a:ln w="12700">
            <a:solidFill>
              <a:srgbClr val="CBD5E1"/>
            </a:solidFill>
            <a:prstDash val="solid"/>
          </a:ln>
        </p:spPr>
        <p:txBody>
          <a:bodyPr/>
          <a:lstStyle/>
          <a:p>
            <a:endParaRPr lang="es-MX"/>
          </a:p>
        </p:txBody>
      </p:sp>
      <p:sp>
        <p:nvSpPr>
          <p:cNvPr id="37" name="Shape 35"/>
          <p:cNvSpPr/>
          <p:nvPr/>
        </p:nvSpPr>
        <p:spPr>
          <a:xfrm>
            <a:off x="347472" y="4069080"/>
            <a:ext cx="219456" cy="219456"/>
          </a:xfrm>
          <a:prstGeom prst="ellipse">
            <a:avLst/>
          </a:prstGeom>
          <a:solidFill>
            <a:srgbClr val="46C2CE"/>
          </a:solidFill>
          <a:ln w="12700">
            <a:solidFill>
              <a:srgbClr val="46C2CE"/>
            </a:solidFill>
            <a:prstDash val="solid"/>
          </a:ln>
        </p:spPr>
        <p:txBody>
          <a:bodyPr/>
          <a:lstStyle/>
          <a:p>
            <a:endParaRPr lang="es-MX"/>
          </a:p>
        </p:txBody>
      </p:sp>
      <p:sp>
        <p:nvSpPr>
          <p:cNvPr id="38" name="Text 36"/>
          <p:cNvSpPr/>
          <p:nvPr/>
        </p:nvSpPr>
        <p:spPr>
          <a:xfrm>
            <a:off x="658368" y="4041648"/>
            <a:ext cx="3749040" cy="274320"/>
          </a:xfrm>
          <a:prstGeom prst="rect">
            <a:avLst/>
          </a:prstGeom>
          <a:noFill/>
          <a:ln/>
        </p:spPr>
        <p:txBody>
          <a:bodyPr wrap="square" lIns="0" tIns="0" rIns="0" bIns="0" rtlCol="0" anchor="ctr"/>
          <a:lstStyle/>
          <a:p>
            <a:pPr marL="0" indent="0">
              <a:buNone/>
            </a:pPr>
            <a:r>
              <a:rPr lang="en-US" sz="950" dirty="0">
                <a:solidFill>
                  <a:srgbClr val="1A1040"/>
                </a:solidFill>
              </a:rPr>
              <a:t>Métricas: Impresiones + Clics + CTR</a:t>
            </a:r>
            <a:endParaRPr lang="en-US" sz="950" dirty="0"/>
          </a:p>
        </p:txBody>
      </p:sp>
      <p:sp>
        <p:nvSpPr>
          <p:cNvPr id="39" name="Shape 37"/>
          <p:cNvSpPr/>
          <p:nvPr/>
        </p:nvSpPr>
        <p:spPr>
          <a:xfrm>
            <a:off x="274320" y="4370832"/>
            <a:ext cx="4206240" cy="301752"/>
          </a:xfrm>
          <a:prstGeom prst="rect">
            <a:avLst/>
          </a:prstGeom>
          <a:solidFill>
            <a:srgbClr val="EEF2FF"/>
          </a:solidFill>
          <a:ln w="12700">
            <a:solidFill>
              <a:srgbClr val="CBD5E1"/>
            </a:solidFill>
            <a:prstDash val="solid"/>
          </a:ln>
        </p:spPr>
        <p:txBody>
          <a:bodyPr/>
          <a:lstStyle/>
          <a:p>
            <a:endParaRPr lang="es-MX"/>
          </a:p>
        </p:txBody>
      </p:sp>
      <p:sp>
        <p:nvSpPr>
          <p:cNvPr id="40" name="Shape 38"/>
          <p:cNvSpPr/>
          <p:nvPr/>
        </p:nvSpPr>
        <p:spPr>
          <a:xfrm>
            <a:off x="347472" y="4416552"/>
            <a:ext cx="219456" cy="219456"/>
          </a:xfrm>
          <a:prstGeom prst="ellipse">
            <a:avLst/>
          </a:prstGeom>
          <a:solidFill>
            <a:srgbClr val="46C2CE"/>
          </a:solidFill>
          <a:ln w="12700">
            <a:solidFill>
              <a:srgbClr val="46C2CE"/>
            </a:solidFill>
            <a:prstDash val="solid"/>
          </a:ln>
        </p:spPr>
        <p:txBody>
          <a:bodyPr/>
          <a:lstStyle/>
          <a:p>
            <a:endParaRPr lang="es-MX"/>
          </a:p>
        </p:txBody>
      </p:sp>
      <p:sp>
        <p:nvSpPr>
          <p:cNvPr id="41" name="Text 39"/>
          <p:cNvSpPr/>
          <p:nvPr/>
        </p:nvSpPr>
        <p:spPr>
          <a:xfrm>
            <a:off x="658368" y="4389120"/>
            <a:ext cx="3749040" cy="274320"/>
          </a:xfrm>
          <a:prstGeom prst="rect">
            <a:avLst/>
          </a:prstGeom>
          <a:noFill/>
          <a:ln/>
        </p:spPr>
        <p:txBody>
          <a:bodyPr wrap="square" lIns="0" tIns="0" rIns="0" bIns="0" rtlCol="0" anchor="ctr"/>
          <a:lstStyle/>
          <a:p>
            <a:pPr marL="0" indent="0">
              <a:buNone/>
            </a:pPr>
            <a:r>
              <a:rPr lang="en-US" sz="950" dirty="0">
                <a:solidFill>
                  <a:srgbClr val="1A1040"/>
                </a:solidFill>
              </a:rPr>
              <a:t>Clic en Ejecutar</a:t>
            </a:r>
            <a:endParaRPr lang="en-US" sz="950" dirty="0"/>
          </a:p>
        </p:txBody>
      </p:sp>
      <p:sp>
        <p:nvSpPr>
          <p:cNvPr id="42" name="Shape 40"/>
          <p:cNvSpPr/>
          <p:nvPr/>
        </p:nvSpPr>
        <p:spPr>
          <a:xfrm>
            <a:off x="4663440" y="2286000"/>
            <a:ext cx="4206240" cy="2423160"/>
          </a:xfrm>
          <a:prstGeom prst="rect">
            <a:avLst/>
          </a:prstGeom>
          <a:solidFill>
            <a:srgbClr val="FFFFFF"/>
          </a:solidFill>
          <a:ln w="12700">
            <a:solidFill>
              <a:srgbClr val="CBD5E1"/>
            </a:solidFill>
            <a:prstDash val="solid"/>
          </a:ln>
        </p:spPr>
        <p:txBody>
          <a:bodyPr/>
          <a:lstStyle/>
          <a:p>
            <a:endParaRPr lang="es-MX"/>
          </a:p>
        </p:txBody>
      </p:sp>
      <p:sp>
        <p:nvSpPr>
          <p:cNvPr id="43" name="Shape 41"/>
          <p:cNvSpPr/>
          <p:nvPr/>
        </p:nvSpPr>
        <p:spPr>
          <a:xfrm>
            <a:off x="4663440" y="2286000"/>
            <a:ext cx="4206240" cy="320040"/>
          </a:xfrm>
          <a:prstGeom prst="rect">
            <a:avLst/>
          </a:prstGeom>
          <a:solidFill>
            <a:srgbClr val="2C1A56"/>
          </a:solidFill>
          <a:ln w="12700">
            <a:solidFill>
              <a:srgbClr val="2C1A56"/>
            </a:solidFill>
            <a:prstDash val="solid"/>
          </a:ln>
        </p:spPr>
        <p:txBody>
          <a:bodyPr/>
          <a:lstStyle/>
          <a:p>
            <a:endParaRPr lang="es-MX"/>
          </a:p>
        </p:txBody>
      </p:sp>
      <p:sp>
        <p:nvSpPr>
          <p:cNvPr id="44" name="Text 42"/>
          <p:cNvSpPr/>
          <p:nvPr/>
        </p:nvSpPr>
        <p:spPr>
          <a:xfrm>
            <a:off x="4800600" y="2322576"/>
            <a:ext cx="3931920" cy="256032"/>
          </a:xfrm>
          <a:prstGeom prst="rect">
            <a:avLst/>
          </a:prstGeom>
          <a:noFill/>
          <a:ln/>
        </p:spPr>
        <p:txBody>
          <a:bodyPr wrap="square" lIns="0" tIns="0" rIns="0" bIns="0" rtlCol="0" anchor="ctr"/>
          <a:lstStyle/>
          <a:p>
            <a:pPr marL="0" indent="0">
              <a:buNone/>
            </a:pPr>
            <a:r>
              <a:rPr lang="en-US" sz="1100" b="1" dirty="0">
                <a:solidFill>
                  <a:srgbClr val="FFFFFF"/>
                </a:solidFill>
              </a:rPr>
              <a:t>Si hay 0 impresiones en 24 horas:</a:t>
            </a:r>
            <a:endParaRPr lang="en-US" sz="1100" dirty="0"/>
          </a:p>
        </p:txBody>
      </p:sp>
      <p:sp>
        <p:nvSpPr>
          <p:cNvPr id="45" name="Shape 43"/>
          <p:cNvSpPr/>
          <p:nvPr/>
        </p:nvSpPr>
        <p:spPr>
          <a:xfrm>
            <a:off x="4773168" y="2679192"/>
            <a:ext cx="274320" cy="274320"/>
          </a:xfrm>
          <a:prstGeom prst="rect">
            <a:avLst/>
          </a:prstGeom>
          <a:solidFill>
            <a:srgbClr val="EEF2FF"/>
          </a:solidFill>
          <a:ln w="12700">
            <a:solidFill>
              <a:srgbClr val="46C2CE"/>
            </a:solidFill>
            <a:prstDash val="solid"/>
          </a:ln>
        </p:spPr>
        <p:txBody>
          <a:bodyPr/>
          <a:lstStyle/>
          <a:p>
            <a:endParaRPr lang="es-MX"/>
          </a:p>
        </p:txBody>
      </p:sp>
      <p:sp>
        <p:nvSpPr>
          <p:cNvPr id="46" name="Text 44"/>
          <p:cNvSpPr/>
          <p:nvPr/>
        </p:nvSpPr>
        <p:spPr>
          <a:xfrm>
            <a:off x="4773168" y="2679192"/>
            <a:ext cx="274320" cy="274320"/>
          </a:xfrm>
          <a:prstGeom prst="rect">
            <a:avLst/>
          </a:prstGeom>
          <a:noFill/>
          <a:ln/>
        </p:spPr>
        <p:txBody>
          <a:bodyPr wrap="square" lIns="0" tIns="0" rIns="0" bIns="0" rtlCol="0" anchor="ctr"/>
          <a:lstStyle/>
          <a:p>
            <a:pPr marL="0" indent="0" algn="ctr">
              <a:buNone/>
            </a:pPr>
            <a:r>
              <a:rPr lang="en-US" sz="900" b="1" dirty="0">
                <a:solidFill>
                  <a:srgbClr val="263980"/>
                </a:solidFill>
              </a:rPr>
              <a:t>?</a:t>
            </a:r>
            <a:endParaRPr lang="en-US" sz="900" dirty="0"/>
          </a:p>
        </p:txBody>
      </p:sp>
      <p:sp>
        <p:nvSpPr>
          <p:cNvPr id="47" name="Text 45"/>
          <p:cNvSpPr/>
          <p:nvPr/>
        </p:nvSpPr>
        <p:spPr>
          <a:xfrm>
            <a:off x="5138928" y="2670048"/>
            <a:ext cx="3611880" cy="310896"/>
          </a:xfrm>
          <a:prstGeom prst="rect">
            <a:avLst/>
          </a:prstGeom>
          <a:noFill/>
          <a:ln/>
        </p:spPr>
        <p:txBody>
          <a:bodyPr wrap="square" lIns="0" tIns="0" rIns="0" bIns="0" rtlCol="0" anchor="ctr"/>
          <a:lstStyle/>
          <a:p>
            <a:pPr marL="0" indent="0">
              <a:buNone/>
            </a:pPr>
            <a:r>
              <a:rPr lang="en-US" sz="1000" dirty="0">
                <a:solidFill>
                  <a:srgbClr val="1A1040"/>
                </a:solidFill>
              </a:rPr>
              <a:t>¿Está la línea aprobada? (no borrador)</a:t>
            </a:r>
            <a:endParaRPr lang="en-US" sz="1000" dirty="0"/>
          </a:p>
        </p:txBody>
      </p:sp>
      <p:sp>
        <p:nvSpPr>
          <p:cNvPr id="48" name="Shape 46"/>
          <p:cNvSpPr/>
          <p:nvPr/>
        </p:nvSpPr>
        <p:spPr>
          <a:xfrm>
            <a:off x="4773168" y="3063240"/>
            <a:ext cx="274320" cy="274320"/>
          </a:xfrm>
          <a:prstGeom prst="rect">
            <a:avLst/>
          </a:prstGeom>
          <a:solidFill>
            <a:srgbClr val="EEF2FF"/>
          </a:solidFill>
          <a:ln w="12700">
            <a:solidFill>
              <a:srgbClr val="46C2CE"/>
            </a:solidFill>
            <a:prstDash val="solid"/>
          </a:ln>
        </p:spPr>
        <p:txBody>
          <a:bodyPr/>
          <a:lstStyle/>
          <a:p>
            <a:endParaRPr lang="es-MX"/>
          </a:p>
        </p:txBody>
      </p:sp>
      <p:sp>
        <p:nvSpPr>
          <p:cNvPr id="49" name="Text 47"/>
          <p:cNvSpPr/>
          <p:nvPr/>
        </p:nvSpPr>
        <p:spPr>
          <a:xfrm>
            <a:off x="4773168" y="3063240"/>
            <a:ext cx="274320" cy="274320"/>
          </a:xfrm>
          <a:prstGeom prst="rect">
            <a:avLst/>
          </a:prstGeom>
          <a:noFill/>
          <a:ln/>
        </p:spPr>
        <p:txBody>
          <a:bodyPr wrap="square" lIns="0" tIns="0" rIns="0" bIns="0" rtlCol="0" anchor="ctr"/>
          <a:lstStyle/>
          <a:p>
            <a:pPr marL="0" indent="0" algn="ctr">
              <a:buNone/>
            </a:pPr>
            <a:r>
              <a:rPr lang="en-US" sz="900" b="1" dirty="0">
                <a:solidFill>
                  <a:srgbClr val="263980"/>
                </a:solidFill>
              </a:rPr>
              <a:t>?</a:t>
            </a:r>
            <a:endParaRPr lang="en-US" sz="900" dirty="0"/>
          </a:p>
        </p:txBody>
      </p:sp>
      <p:sp>
        <p:nvSpPr>
          <p:cNvPr id="50" name="Text 48"/>
          <p:cNvSpPr/>
          <p:nvPr/>
        </p:nvSpPr>
        <p:spPr>
          <a:xfrm>
            <a:off x="5138928" y="3054096"/>
            <a:ext cx="3611880" cy="310896"/>
          </a:xfrm>
          <a:prstGeom prst="rect">
            <a:avLst/>
          </a:prstGeom>
          <a:noFill/>
          <a:ln/>
        </p:spPr>
        <p:txBody>
          <a:bodyPr wrap="square" lIns="0" tIns="0" rIns="0" bIns="0" rtlCol="0" anchor="ctr"/>
          <a:lstStyle/>
          <a:p>
            <a:pPr marL="0" indent="0">
              <a:buNone/>
            </a:pPr>
            <a:r>
              <a:rPr lang="en-US" sz="1000" dirty="0">
                <a:solidFill>
                  <a:srgbClr val="1A1040"/>
                </a:solidFill>
              </a:rPr>
              <a:t>¿Tiene creatividades activas?</a:t>
            </a:r>
            <a:endParaRPr lang="en-US" sz="1000" dirty="0"/>
          </a:p>
        </p:txBody>
      </p:sp>
      <p:sp>
        <p:nvSpPr>
          <p:cNvPr id="51" name="Shape 49"/>
          <p:cNvSpPr/>
          <p:nvPr/>
        </p:nvSpPr>
        <p:spPr>
          <a:xfrm>
            <a:off x="4773168" y="3447288"/>
            <a:ext cx="274320" cy="274320"/>
          </a:xfrm>
          <a:prstGeom prst="rect">
            <a:avLst/>
          </a:prstGeom>
          <a:solidFill>
            <a:srgbClr val="EEF2FF"/>
          </a:solidFill>
          <a:ln w="12700">
            <a:solidFill>
              <a:srgbClr val="46C2CE"/>
            </a:solidFill>
            <a:prstDash val="solid"/>
          </a:ln>
        </p:spPr>
        <p:txBody>
          <a:bodyPr/>
          <a:lstStyle/>
          <a:p>
            <a:endParaRPr lang="es-MX"/>
          </a:p>
        </p:txBody>
      </p:sp>
      <p:sp>
        <p:nvSpPr>
          <p:cNvPr id="52" name="Text 50"/>
          <p:cNvSpPr/>
          <p:nvPr/>
        </p:nvSpPr>
        <p:spPr>
          <a:xfrm>
            <a:off x="4773168" y="3447288"/>
            <a:ext cx="274320" cy="274320"/>
          </a:xfrm>
          <a:prstGeom prst="rect">
            <a:avLst/>
          </a:prstGeom>
          <a:noFill/>
          <a:ln/>
        </p:spPr>
        <p:txBody>
          <a:bodyPr wrap="square" lIns="0" tIns="0" rIns="0" bIns="0" rtlCol="0" anchor="ctr"/>
          <a:lstStyle/>
          <a:p>
            <a:pPr marL="0" indent="0" algn="ctr">
              <a:buNone/>
            </a:pPr>
            <a:r>
              <a:rPr lang="en-US" sz="900" b="1" dirty="0">
                <a:solidFill>
                  <a:srgbClr val="263980"/>
                </a:solidFill>
              </a:rPr>
              <a:t>?</a:t>
            </a:r>
            <a:endParaRPr lang="en-US" sz="900" dirty="0"/>
          </a:p>
        </p:txBody>
      </p:sp>
      <p:sp>
        <p:nvSpPr>
          <p:cNvPr id="53" name="Text 51"/>
          <p:cNvSpPr/>
          <p:nvPr/>
        </p:nvSpPr>
        <p:spPr>
          <a:xfrm>
            <a:off x="5138928" y="3438144"/>
            <a:ext cx="3611880" cy="310896"/>
          </a:xfrm>
          <a:prstGeom prst="rect">
            <a:avLst/>
          </a:prstGeom>
          <a:noFill/>
          <a:ln/>
        </p:spPr>
        <p:txBody>
          <a:bodyPr wrap="square" lIns="0" tIns="0" rIns="0" bIns="0" rtlCol="0" anchor="ctr"/>
          <a:lstStyle/>
          <a:p>
            <a:pPr marL="0" indent="0">
              <a:buNone/>
            </a:pPr>
            <a:r>
              <a:rPr lang="en-US" sz="1000" dirty="0">
                <a:solidFill>
                  <a:srgbClr val="1A1040"/>
                </a:solidFill>
              </a:rPr>
              <a:t>¿La segmentación/keyword es correcta?</a:t>
            </a:r>
            <a:endParaRPr lang="en-US" sz="1000" dirty="0"/>
          </a:p>
        </p:txBody>
      </p:sp>
      <p:sp>
        <p:nvSpPr>
          <p:cNvPr id="54" name="Shape 52"/>
          <p:cNvSpPr/>
          <p:nvPr/>
        </p:nvSpPr>
        <p:spPr>
          <a:xfrm>
            <a:off x="4773168" y="3831336"/>
            <a:ext cx="274320" cy="274320"/>
          </a:xfrm>
          <a:prstGeom prst="rect">
            <a:avLst/>
          </a:prstGeom>
          <a:solidFill>
            <a:srgbClr val="EEF2FF"/>
          </a:solidFill>
          <a:ln w="12700">
            <a:solidFill>
              <a:srgbClr val="46C2CE"/>
            </a:solidFill>
            <a:prstDash val="solid"/>
          </a:ln>
        </p:spPr>
        <p:txBody>
          <a:bodyPr/>
          <a:lstStyle/>
          <a:p>
            <a:endParaRPr lang="es-MX"/>
          </a:p>
        </p:txBody>
      </p:sp>
      <p:sp>
        <p:nvSpPr>
          <p:cNvPr id="55" name="Text 53"/>
          <p:cNvSpPr/>
          <p:nvPr/>
        </p:nvSpPr>
        <p:spPr>
          <a:xfrm>
            <a:off x="4773168" y="3831336"/>
            <a:ext cx="274320" cy="274320"/>
          </a:xfrm>
          <a:prstGeom prst="rect">
            <a:avLst/>
          </a:prstGeom>
          <a:noFill/>
          <a:ln/>
        </p:spPr>
        <p:txBody>
          <a:bodyPr wrap="square" lIns="0" tIns="0" rIns="0" bIns="0" rtlCol="0" anchor="ctr"/>
          <a:lstStyle/>
          <a:p>
            <a:pPr marL="0" indent="0" algn="ctr">
              <a:buNone/>
            </a:pPr>
            <a:r>
              <a:rPr lang="en-US" sz="900" b="1" dirty="0">
                <a:solidFill>
                  <a:srgbClr val="263980"/>
                </a:solidFill>
              </a:rPr>
              <a:t>?</a:t>
            </a:r>
            <a:endParaRPr lang="en-US" sz="900" dirty="0"/>
          </a:p>
        </p:txBody>
      </p:sp>
      <p:sp>
        <p:nvSpPr>
          <p:cNvPr id="56" name="Text 54"/>
          <p:cNvSpPr/>
          <p:nvPr/>
        </p:nvSpPr>
        <p:spPr>
          <a:xfrm>
            <a:off x="5138928" y="3822192"/>
            <a:ext cx="3611880" cy="310896"/>
          </a:xfrm>
          <a:prstGeom prst="rect">
            <a:avLst/>
          </a:prstGeom>
          <a:noFill/>
          <a:ln/>
        </p:spPr>
        <p:txBody>
          <a:bodyPr wrap="square" lIns="0" tIns="0" rIns="0" bIns="0" rtlCol="0" anchor="ctr"/>
          <a:lstStyle/>
          <a:p>
            <a:pPr marL="0" indent="0">
              <a:buNone/>
            </a:pPr>
            <a:r>
              <a:rPr lang="en-US" sz="1000" dirty="0">
                <a:solidFill>
                  <a:srgbClr val="1A1040"/>
                </a:solidFill>
              </a:rPr>
              <a:t>¿Hay conflicto con línea de mayor prioridad?</a:t>
            </a:r>
            <a:endParaRPr lang="en-US" sz="1000" dirty="0"/>
          </a:p>
        </p:txBody>
      </p:sp>
      <p:sp>
        <p:nvSpPr>
          <p:cNvPr id="57" name="Shape 55"/>
          <p:cNvSpPr/>
          <p:nvPr/>
        </p:nvSpPr>
        <p:spPr>
          <a:xfrm>
            <a:off x="4773168" y="4215384"/>
            <a:ext cx="274320" cy="274320"/>
          </a:xfrm>
          <a:prstGeom prst="rect">
            <a:avLst/>
          </a:prstGeom>
          <a:solidFill>
            <a:srgbClr val="EEF2FF"/>
          </a:solidFill>
          <a:ln w="12700">
            <a:solidFill>
              <a:srgbClr val="46C2CE"/>
            </a:solidFill>
            <a:prstDash val="solid"/>
          </a:ln>
        </p:spPr>
        <p:txBody>
          <a:bodyPr/>
          <a:lstStyle/>
          <a:p>
            <a:endParaRPr lang="es-MX"/>
          </a:p>
        </p:txBody>
      </p:sp>
      <p:sp>
        <p:nvSpPr>
          <p:cNvPr id="58" name="Text 56"/>
          <p:cNvSpPr/>
          <p:nvPr/>
        </p:nvSpPr>
        <p:spPr>
          <a:xfrm>
            <a:off x="4773168" y="4215384"/>
            <a:ext cx="274320" cy="274320"/>
          </a:xfrm>
          <a:prstGeom prst="rect">
            <a:avLst/>
          </a:prstGeom>
          <a:noFill/>
          <a:ln/>
        </p:spPr>
        <p:txBody>
          <a:bodyPr wrap="square" lIns="0" tIns="0" rIns="0" bIns="0" rtlCol="0" anchor="ctr"/>
          <a:lstStyle/>
          <a:p>
            <a:pPr marL="0" indent="0" algn="ctr">
              <a:buNone/>
            </a:pPr>
            <a:r>
              <a:rPr lang="en-US" sz="900" b="1" dirty="0">
                <a:solidFill>
                  <a:srgbClr val="263980"/>
                </a:solidFill>
              </a:rPr>
              <a:t>?</a:t>
            </a:r>
            <a:endParaRPr lang="en-US" sz="900" dirty="0"/>
          </a:p>
        </p:txBody>
      </p:sp>
      <p:sp>
        <p:nvSpPr>
          <p:cNvPr id="59" name="Text 57"/>
          <p:cNvSpPr/>
          <p:nvPr/>
        </p:nvSpPr>
        <p:spPr>
          <a:xfrm>
            <a:off x="5138928" y="4206240"/>
            <a:ext cx="3611880" cy="310896"/>
          </a:xfrm>
          <a:prstGeom prst="rect">
            <a:avLst/>
          </a:prstGeom>
          <a:noFill/>
          <a:ln/>
        </p:spPr>
        <p:txBody>
          <a:bodyPr wrap="square" lIns="0" tIns="0" rIns="0" bIns="0" rtlCol="0" anchor="ctr"/>
          <a:lstStyle/>
          <a:p>
            <a:pPr marL="0" indent="0">
              <a:buNone/>
            </a:pPr>
            <a:r>
              <a:rPr lang="en-US" sz="1000" dirty="0">
                <a:solidFill>
                  <a:srgbClr val="1A1040"/>
                </a:solidFill>
              </a:rPr>
              <a:t>Generar informe por línea y comparar</a:t>
            </a:r>
            <a:endParaRPr lang="en-US" sz="1000" dirty="0"/>
          </a:p>
        </p:txBody>
      </p:sp>
      <p:sp>
        <p:nvSpPr>
          <p:cNvPr id="60" name="Shape 58"/>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pic>
        <p:nvPicPr>
          <p:cNvPr id="64" name="Gráfico 63">
            <a:extLst>
              <a:ext uri="{FF2B5EF4-FFF2-40B4-BE49-F238E27FC236}">
                <a16:creationId xmlns:a16="http://schemas.microsoft.com/office/drawing/2014/main" id="{DB60F18C-F10D-A17B-F10D-2CD3DE32FB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
        <p:nvSpPr>
          <p:cNvPr id="65" name="Text 68">
            <a:extLst>
              <a:ext uri="{FF2B5EF4-FFF2-40B4-BE49-F238E27FC236}">
                <a16:creationId xmlns:a16="http://schemas.microsoft.com/office/drawing/2014/main" id="{A8AD1DE8-8FD3-BE77-8DAC-8382C38D2C11}"/>
              </a:ext>
            </a:extLst>
          </p:cNvPr>
          <p:cNvSpPr/>
          <p:nvPr/>
        </p:nvSpPr>
        <p:spPr>
          <a:xfrm>
            <a:off x="274320" y="4846320"/>
            <a:ext cx="6400800" cy="297180"/>
          </a:xfrm>
          <a:prstGeom prst="rect">
            <a:avLst/>
          </a:prstGeom>
          <a:noFill/>
          <a:ln/>
        </p:spPr>
        <p:txBody>
          <a:bodyPr wrap="square" lIns="0" tIns="0" rIns="0" bIns="0" rtlCol="0" anchor="ctr"/>
          <a:lstStyle/>
          <a:p>
            <a:pPr marL="0" indent="0">
              <a:buNone/>
            </a:pPr>
            <a:r>
              <a:rPr lang="en-US" sz="800" dirty="0" err="1">
                <a:solidFill>
                  <a:srgbClr val="AABBEE"/>
                </a:solidFill>
              </a:rPr>
              <a:t>Sunname</a:t>
            </a:r>
            <a:r>
              <a:rPr lang="en-US" sz="800" dirty="0">
                <a:solidFill>
                  <a:srgbClr val="AABBEE"/>
                </a:solidFill>
              </a:rPr>
              <a:t> Technologies  · Sfera </a:t>
            </a:r>
            <a:r>
              <a:rPr lang="en-US" sz="800" dirty="0" err="1">
                <a:solidFill>
                  <a:srgbClr val="AABBEE"/>
                </a:solidFill>
              </a:rPr>
              <a:t>MediaGroup</a:t>
            </a:r>
            <a:r>
              <a:rPr lang="en-US" sz="800" dirty="0">
                <a:solidFill>
                  <a:srgbClr val="AABBEE"/>
                </a:solidFill>
              </a:rPr>
              <a:t> · Google Ad Manager · Marzo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C1A56"/>
          </a:solidFill>
          <a:ln w="12700">
            <a:solidFill>
              <a:srgbClr val="2C1A56"/>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000" b="1" dirty="0">
                <a:solidFill>
                  <a:srgbClr val="FFFFFF"/>
                </a:solidFill>
              </a:rPr>
              <a:t>Errores Comunes y Cómo Resolverlos</a:t>
            </a:r>
            <a:endParaRPr lang="en-US" sz="2000" dirty="0"/>
          </a:p>
        </p:txBody>
      </p:sp>
      <p:sp>
        <p:nvSpPr>
          <p:cNvPr id="5" name="Shape 3"/>
          <p:cNvSpPr/>
          <p:nvPr/>
        </p:nvSpPr>
        <p:spPr>
          <a:xfrm>
            <a:off x="274320" y="886968"/>
            <a:ext cx="4206240" cy="914400"/>
          </a:xfrm>
          <a:prstGeom prst="rect">
            <a:avLst/>
          </a:prstGeom>
          <a:solidFill>
            <a:srgbClr val="FFFFFF"/>
          </a:solidFill>
          <a:ln w="12700">
            <a:solidFill>
              <a:srgbClr val="CBD5E1"/>
            </a:solidFill>
            <a:prstDash val="solid"/>
          </a:ln>
        </p:spPr>
        <p:txBody>
          <a:bodyPr/>
          <a:lstStyle/>
          <a:p>
            <a:endParaRPr lang="es-MX"/>
          </a:p>
        </p:txBody>
      </p:sp>
      <p:sp>
        <p:nvSpPr>
          <p:cNvPr id="6" name="Shape 4"/>
          <p:cNvSpPr/>
          <p:nvPr/>
        </p:nvSpPr>
        <p:spPr>
          <a:xfrm>
            <a:off x="274320" y="886968"/>
            <a:ext cx="73152" cy="914400"/>
          </a:xfrm>
          <a:prstGeom prst="rect">
            <a:avLst/>
          </a:prstGeom>
          <a:solidFill>
            <a:srgbClr val="46C2CE"/>
          </a:solidFill>
          <a:ln w="12700">
            <a:solidFill>
              <a:srgbClr val="46C2CE"/>
            </a:solidFill>
            <a:prstDash val="solid"/>
          </a:ln>
        </p:spPr>
        <p:txBody>
          <a:bodyPr/>
          <a:lstStyle/>
          <a:p>
            <a:endParaRPr lang="es-MX"/>
          </a:p>
        </p:txBody>
      </p:sp>
      <p:sp>
        <p:nvSpPr>
          <p:cNvPr id="7" name="Shape 5"/>
          <p:cNvSpPr/>
          <p:nvPr/>
        </p:nvSpPr>
        <p:spPr>
          <a:xfrm>
            <a:off x="438912" y="960120"/>
            <a:ext cx="274320" cy="237744"/>
          </a:xfrm>
          <a:prstGeom prst="rect">
            <a:avLst/>
          </a:prstGeom>
          <a:solidFill>
            <a:srgbClr val="FFEBEE"/>
          </a:solidFill>
          <a:ln w="12700">
            <a:solidFill>
              <a:srgbClr val="EF5350"/>
            </a:solidFill>
            <a:prstDash val="solid"/>
          </a:ln>
        </p:spPr>
        <p:txBody>
          <a:bodyPr/>
          <a:lstStyle/>
          <a:p>
            <a:endParaRPr lang="es-MX"/>
          </a:p>
        </p:txBody>
      </p:sp>
      <p:sp>
        <p:nvSpPr>
          <p:cNvPr id="8" name="Text 6"/>
          <p:cNvSpPr/>
          <p:nvPr/>
        </p:nvSpPr>
        <p:spPr>
          <a:xfrm>
            <a:off x="438912" y="960120"/>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9" name="Text 7"/>
          <p:cNvSpPr/>
          <p:nvPr/>
        </p:nvSpPr>
        <p:spPr>
          <a:xfrm>
            <a:off x="777240" y="960120"/>
            <a:ext cx="3611880" cy="274320"/>
          </a:xfrm>
          <a:prstGeom prst="rect">
            <a:avLst/>
          </a:prstGeom>
          <a:noFill/>
          <a:ln/>
        </p:spPr>
        <p:txBody>
          <a:bodyPr wrap="square" lIns="0" tIns="0" rIns="0" bIns="0" rtlCol="0" anchor="ctr"/>
          <a:lstStyle/>
          <a:p>
            <a:pPr marL="0" indent="0">
              <a:buNone/>
            </a:pPr>
            <a:r>
              <a:rPr lang="en-US" sz="1050" b="1" dirty="0">
                <a:solidFill>
                  <a:srgbClr val="1A1040"/>
                </a:solidFill>
              </a:rPr>
              <a:t>Keyword no aparece al buscarla</a:t>
            </a:r>
            <a:endParaRPr lang="en-US" sz="1050" dirty="0"/>
          </a:p>
        </p:txBody>
      </p:sp>
      <p:sp>
        <p:nvSpPr>
          <p:cNvPr id="10" name="Shape 8"/>
          <p:cNvSpPr/>
          <p:nvPr/>
        </p:nvSpPr>
        <p:spPr>
          <a:xfrm>
            <a:off x="438912" y="1307592"/>
            <a:ext cx="274320" cy="237744"/>
          </a:xfrm>
          <a:prstGeom prst="rect">
            <a:avLst/>
          </a:prstGeom>
          <a:solidFill>
            <a:srgbClr val="E8F5E9"/>
          </a:solidFill>
          <a:ln w="12700">
            <a:solidFill>
              <a:srgbClr val="4CAF50"/>
            </a:solidFill>
            <a:prstDash val="solid"/>
          </a:ln>
        </p:spPr>
        <p:txBody>
          <a:bodyPr/>
          <a:lstStyle/>
          <a:p>
            <a:endParaRPr lang="es-MX"/>
          </a:p>
        </p:txBody>
      </p:sp>
      <p:sp>
        <p:nvSpPr>
          <p:cNvPr id="11" name="Text 9"/>
          <p:cNvSpPr/>
          <p:nvPr/>
        </p:nvSpPr>
        <p:spPr>
          <a:xfrm>
            <a:off x="438912" y="1307592"/>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12" name="Text 10"/>
          <p:cNvSpPr/>
          <p:nvPr/>
        </p:nvSpPr>
        <p:spPr>
          <a:xfrm>
            <a:off x="777240" y="1298448"/>
            <a:ext cx="3611880" cy="438912"/>
          </a:xfrm>
          <a:prstGeom prst="rect">
            <a:avLst/>
          </a:prstGeom>
          <a:noFill/>
          <a:ln/>
        </p:spPr>
        <p:txBody>
          <a:bodyPr wrap="square" lIns="0" tIns="0" rIns="0" bIns="0" rtlCol="0" anchor="t"/>
          <a:lstStyle/>
          <a:p>
            <a:pPr marL="0" indent="0">
              <a:buNone/>
            </a:pPr>
            <a:r>
              <a:rPr lang="en-US" sz="950" dirty="0">
                <a:solidFill>
                  <a:srgbClr val="64748B"/>
                </a:solidFill>
              </a:rPr>
              <a:t>Recarga la página (F5) después de crear/guardar cualquier keyword</a:t>
            </a:r>
            <a:endParaRPr lang="en-US" sz="950" dirty="0"/>
          </a:p>
        </p:txBody>
      </p:sp>
      <p:sp>
        <p:nvSpPr>
          <p:cNvPr id="13" name="Shape 11"/>
          <p:cNvSpPr/>
          <p:nvPr/>
        </p:nvSpPr>
        <p:spPr>
          <a:xfrm>
            <a:off x="4709160" y="886968"/>
            <a:ext cx="4206240" cy="914400"/>
          </a:xfrm>
          <a:prstGeom prst="rect">
            <a:avLst/>
          </a:prstGeom>
          <a:solidFill>
            <a:srgbClr val="FFFFFF"/>
          </a:solidFill>
          <a:ln w="12700">
            <a:solidFill>
              <a:srgbClr val="CBD5E1"/>
            </a:solidFill>
            <a:prstDash val="solid"/>
          </a:ln>
        </p:spPr>
        <p:txBody>
          <a:bodyPr/>
          <a:lstStyle/>
          <a:p>
            <a:endParaRPr lang="es-MX"/>
          </a:p>
        </p:txBody>
      </p:sp>
      <p:sp>
        <p:nvSpPr>
          <p:cNvPr id="14" name="Shape 12"/>
          <p:cNvSpPr/>
          <p:nvPr/>
        </p:nvSpPr>
        <p:spPr>
          <a:xfrm>
            <a:off x="4709160" y="886968"/>
            <a:ext cx="73152" cy="914400"/>
          </a:xfrm>
          <a:prstGeom prst="rect">
            <a:avLst/>
          </a:prstGeom>
          <a:solidFill>
            <a:srgbClr val="7F52A0"/>
          </a:solidFill>
          <a:ln w="12700">
            <a:solidFill>
              <a:srgbClr val="7F52A0"/>
            </a:solidFill>
            <a:prstDash val="solid"/>
          </a:ln>
        </p:spPr>
        <p:txBody>
          <a:bodyPr/>
          <a:lstStyle/>
          <a:p>
            <a:endParaRPr lang="es-MX"/>
          </a:p>
        </p:txBody>
      </p:sp>
      <p:sp>
        <p:nvSpPr>
          <p:cNvPr id="15" name="Shape 13"/>
          <p:cNvSpPr/>
          <p:nvPr/>
        </p:nvSpPr>
        <p:spPr>
          <a:xfrm>
            <a:off x="4873752" y="960120"/>
            <a:ext cx="274320" cy="237744"/>
          </a:xfrm>
          <a:prstGeom prst="rect">
            <a:avLst/>
          </a:prstGeom>
          <a:solidFill>
            <a:srgbClr val="FFEBEE"/>
          </a:solidFill>
          <a:ln w="12700">
            <a:solidFill>
              <a:srgbClr val="EF5350"/>
            </a:solidFill>
            <a:prstDash val="solid"/>
          </a:ln>
        </p:spPr>
        <p:txBody>
          <a:bodyPr/>
          <a:lstStyle/>
          <a:p>
            <a:endParaRPr lang="es-MX"/>
          </a:p>
        </p:txBody>
      </p:sp>
      <p:sp>
        <p:nvSpPr>
          <p:cNvPr id="16" name="Text 14"/>
          <p:cNvSpPr/>
          <p:nvPr/>
        </p:nvSpPr>
        <p:spPr>
          <a:xfrm>
            <a:off x="4873752" y="960120"/>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17" name="Text 15"/>
          <p:cNvSpPr/>
          <p:nvPr/>
        </p:nvSpPr>
        <p:spPr>
          <a:xfrm>
            <a:off x="5212080" y="960120"/>
            <a:ext cx="3611880" cy="274320"/>
          </a:xfrm>
          <a:prstGeom prst="rect">
            <a:avLst/>
          </a:prstGeom>
          <a:noFill/>
          <a:ln/>
        </p:spPr>
        <p:txBody>
          <a:bodyPr wrap="square" lIns="0" tIns="0" rIns="0" bIns="0" rtlCol="0" anchor="ctr"/>
          <a:lstStyle/>
          <a:p>
            <a:pPr marL="0" indent="0">
              <a:buNone/>
            </a:pPr>
            <a:r>
              <a:rPr lang="en-US" sz="1050" b="1" dirty="0">
                <a:solidFill>
                  <a:srgbClr val="1A1040"/>
                </a:solidFill>
              </a:rPr>
              <a:t>Banner muestra imagen del cliente anterior</a:t>
            </a:r>
            <a:endParaRPr lang="en-US" sz="1050" dirty="0"/>
          </a:p>
        </p:txBody>
      </p:sp>
      <p:sp>
        <p:nvSpPr>
          <p:cNvPr id="18" name="Shape 16"/>
          <p:cNvSpPr/>
          <p:nvPr/>
        </p:nvSpPr>
        <p:spPr>
          <a:xfrm>
            <a:off x="4873752" y="1307592"/>
            <a:ext cx="274320" cy="237744"/>
          </a:xfrm>
          <a:prstGeom prst="rect">
            <a:avLst/>
          </a:prstGeom>
          <a:solidFill>
            <a:srgbClr val="E8F5E9"/>
          </a:solidFill>
          <a:ln w="12700">
            <a:solidFill>
              <a:srgbClr val="4CAF50"/>
            </a:solidFill>
            <a:prstDash val="solid"/>
          </a:ln>
        </p:spPr>
        <p:txBody>
          <a:bodyPr/>
          <a:lstStyle/>
          <a:p>
            <a:endParaRPr lang="es-MX"/>
          </a:p>
        </p:txBody>
      </p:sp>
      <p:sp>
        <p:nvSpPr>
          <p:cNvPr id="19" name="Text 17"/>
          <p:cNvSpPr/>
          <p:nvPr/>
        </p:nvSpPr>
        <p:spPr>
          <a:xfrm>
            <a:off x="4873752" y="1307592"/>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20" name="Text 18"/>
          <p:cNvSpPr/>
          <p:nvPr/>
        </p:nvSpPr>
        <p:spPr>
          <a:xfrm>
            <a:off x="5212080" y="1298448"/>
            <a:ext cx="3611880" cy="438912"/>
          </a:xfrm>
          <a:prstGeom prst="rect">
            <a:avLst/>
          </a:prstGeom>
          <a:noFill/>
          <a:ln/>
        </p:spPr>
        <p:txBody>
          <a:bodyPr wrap="square" lIns="0" tIns="0" rIns="0" bIns="0" rtlCol="0" anchor="t"/>
          <a:lstStyle/>
          <a:p>
            <a:pPr marL="0" indent="0">
              <a:buNone/>
            </a:pPr>
            <a:r>
              <a:rPr lang="en-US" sz="950" dirty="0">
                <a:solidFill>
                  <a:srgbClr val="64748B"/>
                </a:solidFill>
              </a:rPr>
              <a:t>Revisa cada creatividad. Usa vista de lista para editar varias a la vez</a:t>
            </a:r>
            <a:endParaRPr lang="en-US" sz="950" dirty="0"/>
          </a:p>
        </p:txBody>
      </p:sp>
      <p:sp>
        <p:nvSpPr>
          <p:cNvPr id="21" name="Shape 19"/>
          <p:cNvSpPr/>
          <p:nvPr/>
        </p:nvSpPr>
        <p:spPr>
          <a:xfrm>
            <a:off x="274320" y="1911096"/>
            <a:ext cx="4206240" cy="914400"/>
          </a:xfrm>
          <a:prstGeom prst="rect">
            <a:avLst/>
          </a:prstGeom>
          <a:solidFill>
            <a:srgbClr val="FFFFFF"/>
          </a:solidFill>
          <a:ln w="12700">
            <a:solidFill>
              <a:srgbClr val="CBD5E1"/>
            </a:solidFill>
            <a:prstDash val="solid"/>
          </a:ln>
        </p:spPr>
        <p:txBody>
          <a:bodyPr/>
          <a:lstStyle/>
          <a:p>
            <a:endParaRPr lang="es-MX"/>
          </a:p>
        </p:txBody>
      </p:sp>
      <p:sp>
        <p:nvSpPr>
          <p:cNvPr id="22" name="Shape 20"/>
          <p:cNvSpPr/>
          <p:nvPr/>
        </p:nvSpPr>
        <p:spPr>
          <a:xfrm>
            <a:off x="274320" y="1911096"/>
            <a:ext cx="73152" cy="914400"/>
          </a:xfrm>
          <a:prstGeom prst="rect">
            <a:avLst/>
          </a:prstGeom>
          <a:solidFill>
            <a:srgbClr val="263980"/>
          </a:solidFill>
          <a:ln w="12700">
            <a:solidFill>
              <a:srgbClr val="263980"/>
            </a:solidFill>
            <a:prstDash val="solid"/>
          </a:ln>
        </p:spPr>
        <p:txBody>
          <a:bodyPr/>
          <a:lstStyle/>
          <a:p>
            <a:endParaRPr lang="es-MX"/>
          </a:p>
        </p:txBody>
      </p:sp>
      <p:sp>
        <p:nvSpPr>
          <p:cNvPr id="23" name="Shape 21"/>
          <p:cNvSpPr/>
          <p:nvPr/>
        </p:nvSpPr>
        <p:spPr>
          <a:xfrm>
            <a:off x="438912" y="1984248"/>
            <a:ext cx="274320" cy="237744"/>
          </a:xfrm>
          <a:prstGeom prst="rect">
            <a:avLst/>
          </a:prstGeom>
          <a:solidFill>
            <a:srgbClr val="FFEBEE"/>
          </a:solidFill>
          <a:ln w="12700">
            <a:solidFill>
              <a:srgbClr val="EF5350"/>
            </a:solidFill>
            <a:prstDash val="solid"/>
          </a:ln>
        </p:spPr>
        <p:txBody>
          <a:bodyPr/>
          <a:lstStyle/>
          <a:p>
            <a:endParaRPr lang="es-MX"/>
          </a:p>
        </p:txBody>
      </p:sp>
      <p:sp>
        <p:nvSpPr>
          <p:cNvPr id="24" name="Text 22"/>
          <p:cNvSpPr/>
          <p:nvPr/>
        </p:nvSpPr>
        <p:spPr>
          <a:xfrm>
            <a:off x="438912" y="1984248"/>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25" name="Text 23"/>
          <p:cNvSpPr/>
          <p:nvPr/>
        </p:nvSpPr>
        <p:spPr>
          <a:xfrm>
            <a:off x="777240" y="1984248"/>
            <a:ext cx="3611880" cy="274320"/>
          </a:xfrm>
          <a:prstGeom prst="rect">
            <a:avLst/>
          </a:prstGeom>
          <a:noFill/>
          <a:ln/>
        </p:spPr>
        <p:txBody>
          <a:bodyPr wrap="square" lIns="0" tIns="0" rIns="0" bIns="0" rtlCol="0" anchor="ctr"/>
          <a:lstStyle/>
          <a:p>
            <a:pPr marL="0" indent="0">
              <a:buNone/>
            </a:pPr>
            <a:r>
              <a:rPr lang="en-US" sz="1050" b="1" dirty="0">
                <a:solidFill>
                  <a:srgbClr val="1A1040"/>
                </a:solidFill>
              </a:rPr>
              <a:t>Línea en 'Borrador' y no se publica</a:t>
            </a:r>
            <a:endParaRPr lang="en-US" sz="1050" dirty="0"/>
          </a:p>
        </p:txBody>
      </p:sp>
      <p:sp>
        <p:nvSpPr>
          <p:cNvPr id="26" name="Shape 24"/>
          <p:cNvSpPr/>
          <p:nvPr/>
        </p:nvSpPr>
        <p:spPr>
          <a:xfrm>
            <a:off x="438912" y="2331720"/>
            <a:ext cx="274320" cy="237744"/>
          </a:xfrm>
          <a:prstGeom prst="rect">
            <a:avLst/>
          </a:prstGeom>
          <a:solidFill>
            <a:srgbClr val="E8F5E9"/>
          </a:solidFill>
          <a:ln w="12700">
            <a:solidFill>
              <a:srgbClr val="4CAF50"/>
            </a:solidFill>
            <a:prstDash val="solid"/>
          </a:ln>
        </p:spPr>
        <p:txBody>
          <a:bodyPr/>
          <a:lstStyle/>
          <a:p>
            <a:endParaRPr lang="es-MX"/>
          </a:p>
        </p:txBody>
      </p:sp>
      <p:sp>
        <p:nvSpPr>
          <p:cNvPr id="27" name="Text 25"/>
          <p:cNvSpPr/>
          <p:nvPr/>
        </p:nvSpPr>
        <p:spPr>
          <a:xfrm>
            <a:off x="438912" y="2331720"/>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28" name="Text 26"/>
          <p:cNvSpPr/>
          <p:nvPr/>
        </p:nvSpPr>
        <p:spPr>
          <a:xfrm>
            <a:off x="777240" y="2322576"/>
            <a:ext cx="3611880" cy="438912"/>
          </a:xfrm>
          <a:prstGeom prst="rect">
            <a:avLst/>
          </a:prstGeom>
          <a:noFill/>
          <a:ln/>
        </p:spPr>
        <p:txBody>
          <a:bodyPr wrap="square" lIns="0" tIns="0" rIns="0" bIns="0" rtlCol="0" anchor="t"/>
          <a:lstStyle/>
          <a:p>
            <a:pPr marL="0" indent="0">
              <a:buNone/>
            </a:pPr>
            <a:r>
              <a:rPr lang="en-US" sz="950" dirty="0">
                <a:solidFill>
                  <a:srgbClr val="64748B"/>
                </a:solidFill>
              </a:rPr>
              <a:t>Haz clic en Aprobar y espera 5-10 minutos</a:t>
            </a:r>
            <a:endParaRPr lang="en-US" sz="950" dirty="0"/>
          </a:p>
        </p:txBody>
      </p:sp>
      <p:sp>
        <p:nvSpPr>
          <p:cNvPr id="29" name="Shape 27"/>
          <p:cNvSpPr/>
          <p:nvPr/>
        </p:nvSpPr>
        <p:spPr>
          <a:xfrm>
            <a:off x="4709160" y="1911096"/>
            <a:ext cx="4206240" cy="914400"/>
          </a:xfrm>
          <a:prstGeom prst="rect">
            <a:avLst/>
          </a:prstGeom>
          <a:solidFill>
            <a:srgbClr val="FFFFFF"/>
          </a:solidFill>
          <a:ln w="12700">
            <a:solidFill>
              <a:srgbClr val="CBD5E1"/>
            </a:solidFill>
            <a:prstDash val="solid"/>
          </a:ln>
        </p:spPr>
        <p:txBody>
          <a:bodyPr/>
          <a:lstStyle/>
          <a:p>
            <a:endParaRPr lang="es-MX"/>
          </a:p>
        </p:txBody>
      </p:sp>
      <p:sp>
        <p:nvSpPr>
          <p:cNvPr id="30" name="Shape 28"/>
          <p:cNvSpPr/>
          <p:nvPr/>
        </p:nvSpPr>
        <p:spPr>
          <a:xfrm>
            <a:off x="4709160" y="1911096"/>
            <a:ext cx="73152" cy="914400"/>
          </a:xfrm>
          <a:prstGeom prst="rect">
            <a:avLst/>
          </a:prstGeom>
          <a:solidFill>
            <a:srgbClr val="46C2CE"/>
          </a:solidFill>
          <a:ln w="12700">
            <a:solidFill>
              <a:srgbClr val="46C2CE"/>
            </a:solidFill>
            <a:prstDash val="solid"/>
          </a:ln>
        </p:spPr>
        <p:txBody>
          <a:bodyPr/>
          <a:lstStyle/>
          <a:p>
            <a:endParaRPr lang="es-MX"/>
          </a:p>
        </p:txBody>
      </p:sp>
      <p:sp>
        <p:nvSpPr>
          <p:cNvPr id="31" name="Shape 29"/>
          <p:cNvSpPr/>
          <p:nvPr/>
        </p:nvSpPr>
        <p:spPr>
          <a:xfrm>
            <a:off x="4873752" y="1984248"/>
            <a:ext cx="274320" cy="237744"/>
          </a:xfrm>
          <a:prstGeom prst="rect">
            <a:avLst/>
          </a:prstGeom>
          <a:solidFill>
            <a:srgbClr val="FFEBEE"/>
          </a:solidFill>
          <a:ln w="12700">
            <a:solidFill>
              <a:srgbClr val="EF5350"/>
            </a:solidFill>
            <a:prstDash val="solid"/>
          </a:ln>
        </p:spPr>
        <p:txBody>
          <a:bodyPr/>
          <a:lstStyle/>
          <a:p>
            <a:endParaRPr lang="es-MX"/>
          </a:p>
        </p:txBody>
      </p:sp>
      <p:sp>
        <p:nvSpPr>
          <p:cNvPr id="32" name="Text 30"/>
          <p:cNvSpPr/>
          <p:nvPr/>
        </p:nvSpPr>
        <p:spPr>
          <a:xfrm>
            <a:off x="4873752" y="1984248"/>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33" name="Text 31"/>
          <p:cNvSpPr/>
          <p:nvPr/>
        </p:nvSpPr>
        <p:spPr>
          <a:xfrm>
            <a:off x="5212080" y="1984248"/>
            <a:ext cx="3611880" cy="274320"/>
          </a:xfrm>
          <a:prstGeom prst="rect">
            <a:avLst/>
          </a:prstGeom>
          <a:noFill/>
          <a:ln/>
        </p:spPr>
        <p:txBody>
          <a:bodyPr wrap="square" lIns="0" tIns="0" rIns="0" bIns="0" rtlCol="0" anchor="ctr"/>
          <a:lstStyle/>
          <a:p>
            <a:pPr marL="0" indent="0">
              <a:buNone/>
            </a:pPr>
            <a:r>
              <a:rPr lang="en-US" sz="1050" b="1" dirty="0">
                <a:solidFill>
                  <a:srgbClr val="1A1040"/>
                </a:solidFill>
              </a:rPr>
              <a:t>Banner aparece en secciones incorrectas</a:t>
            </a:r>
            <a:endParaRPr lang="en-US" sz="1050" dirty="0"/>
          </a:p>
        </p:txBody>
      </p:sp>
      <p:sp>
        <p:nvSpPr>
          <p:cNvPr id="34" name="Shape 32"/>
          <p:cNvSpPr/>
          <p:nvPr/>
        </p:nvSpPr>
        <p:spPr>
          <a:xfrm>
            <a:off x="4873752" y="2331720"/>
            <a:ext cx="274320" cy="237744"/>
          </a:xfrm>
          <a:prstGeom prst="rect">
            <a:avLst/>
          </a:prstGeom>
          <a:solidFill>
            <a:srgbClr val="E8F5E9"/>
          </a:solidFill>
          <a:ln w="12700">
            <a:solidFill>
              <a:srgbClr val="4CAF50"/>
            </a:solidFill>
            <a:prstDash val="solid"/>
          </a:ln>
        </p:spPr>
        <p:txBody>
          <a:bodyPr/>
          <a:lstStyle/>
          <a:p>
            <a:endParaRPr lang="es-MX"/>
          </a:p>
        </p:txBody>
      </p:sp>
      <p:sp>
        <p:nvSpPr>
          <p:cNvPr id="35" name="Text 33"/>
          <p:cNvSpPr/>
          <p:nvPr/>
        </p:nvSpPr>
        <p:spPr>
          <a:xfrm>
            <a:off x="4873752" y="2331720"/>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36" name="Text 34"/>
          <p:cNvSpPr/>
          <p:nvPr/>
        </p:nvSpPr>
        <p:spPr>
          <a:xfrm>
            <a:off x="5212080" y="2322576"/>
            <a:ext cx="3611880" cy="438912"/>
          </a:xfrm>
          <a:prstGeom prst="rect">
            <a:avLst/>
          </a:prstGeom>
          <a:noFill/>
          <a:ln/>
        </p:spPr>
        <p:txBody>
          <a:bodyPr wrap="square" lIns="0" tIns="0" rIns="0" bIns="0" rtlCol="0" anchor="t"/>
          <a:lstStyle/>
          <a:p>
            <a:pPr marL="0" indent="0">
              <a:buNone/>
            </a:pPr>
            <a:r>
              <a:rPr lang="en-US" sz="950" dirty="0">
                <a:solidFill>
                  <a:srgbClr val="64748B"/>
                </a:solidFill>
              </a:rPr>
              <a:t>Ve a segmentación → verifica que solo esté la keyword del cliente actual</a:t>
            </a:r>
            <a:endParaRPr lang="en-US" sz="950" dirty="0"/>
          </a:p>
        </p:txBody>
      </p:sp>
      <p:sp>
        <p:nvSpPr>
          <p:cNvPr id="37" name="Shape 35"/>
          <p:cNvSpPr/>
          <p:nvPr/>
        </p:nvSpPr>
        <p:spPr>
          <a:xfrm>
            <a:off x="274320" y="2935224"/>
            <a:ext cx="4206240" cy="914400"/>
          </a:xfrm>
          <a:prstGeom prst="rect">
            <a:avLst/>
          </a:prstGeom>
          <a:solidFill>
            <a:srgbClr val="FFFFFF"/>
          </a:solidFill>
          <a:ln w="12700">
            <a:solidFill>
              <a:srgbClr val="CBD5E1"/>
            </a:solidFill>
            <a:prstDash val="solid"/>
          </a:ln>
        </p:spPr>
        <p:txBody>
          <a:bodyPr/>
          <a:lstStyle/>
          <a:p>
            <a:endParaRPr lang="es-MX"/>
          </a:p>
        </p:txBody>
      </p:sp>
      <p:sp>
        <p:nvSpPr>
          <p:cNvPr id="38" name="Shape 36"/>
          <p:cNvSpPr/>
          <p:nvPr/>
        </p:nvSpPr>
        <p:spPr>
          <a:xfrm>
            <a:off x="274320" y="2935224"/>
            <a:ext cx="73152" cy="914400"/>
          </a:xfrm>
          <a:prstGeom prst="rect">
            <a:avLst/>
          </a:prstGeom>
          <a:solidFill>
            <a:srgbClr val="7F52A0"/>
          </a:solidFill>
          <a:ln w="12700">
            <a:solidFill>
              <a:srgbClr val="7F52A0"/>
            </a:solidFill>
            <a:prstDash val="solid"/>
          </a:ln>
        </p:spPr>
        <p:txBody>
          <a:bodyPr/>
          <a:lstStyle/>
          <a:p>
            <a:endParaRPr lang="es-MX"/>
          </a:p>
        </p:txBody>
      </p:sp>
      <p:sp>
        <p:nvSpPr>
          <p:cNvPr id="39" name="Shape 37"/>
          <p:cNvSpPr/>
          <p:nvPr/>
        </p:nvSpPr>
        <p:spPr>
          <a:xfrm>
            <a:off x="438912" y="3008376"/>
            <a:ext cx="274320" cy="237744"/>
          </a:xfrm>
          <a:prstGeom prst="rect">
            <a:avLst/>
          </a:prstGeom>
          <a:solidFill>
            <a:srgbClr val="FFEBEE"/>
          </a:solidFill>
          <a:ln w="12700">
            <a:solidFill>
              <a:srgbClr val="EF5350"/>
            </a:solidFill>
            <a:prstDash val="solid"/>
          </a:ln>
        </p:spPr>
        <p:txBody>
          <a:bodyPr/>
          <a:lstStyle/>
          <a:p>
            <a:endParaRPr lang="es-MX"/>
          </a:p>
        </p:txBody>
      </p:sp>
      <p:sp>
        <p:nvSpPr>
          <p:cNvPr id="40" name="Text 38"/>
          <p:cNvSpPr/>
          <p:nvPr/>
        </p:nvSpPr>
        <p:spPr>
          <a:xfrm>
            <a:off x="438912" y="3008376"/>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41" name="Text 39"/>
          <p:cNvSpPr/>
          <p:nvPr/>
        </p:nvSpPr>
        <p:spPr>
          <a:xfrm>
            <a:off x="777240" y="3008376"/>
            <a:ext cx="3611880" cy="274320"/>
          </a:xfrm>
          <a:prstGeom prst="rect">
            <a:avLst/>
          </a:prstGeom>
          <a:noFill/>
          <a:ln/>
        </p:spPr>
        <p:txBody>
          <a:bodyPr wrap="square" lIns="0" tIns="0" rIns="0" bIns="0" rtlCol="0" anchor="ctr"/>
          <a:lstStyle/>
          <a:p>
            <a:pPr marL="0" indent="0">
              <a:buNone/>
            </a:pPr>
            <a:r>
              <a:rPr lang="en-US" sz="1050" b="1" dirty="0">
                <a:solidFill>
                  <a:srgbClr val="1A1040"/>
                </a:solidFill>
              </a:rPr>
              <a:t>No se ven cambios en patrocinio de agenda</a:t>
            </a:r>
            <a:endParaRPr lang="en-US" sz="1050" dirty="0"/>
          </a:p>
        </p:txBody>
      </p:sp>
      <p:sp>
        <p:nvSpPr>
          <p:cNvPr id="42" name="Shape 40"/>
          <p:cNvSpPr/>
          <p:nvPr/>
        </p:nvSpPr>
        <p:spPr>
          <a:xfrm>
            <a:off x="438912" y="3355848"/>
            <a:ext cx="274320" cy="237744"/>
          </a:xfrm>
          <a:prstGeom prst="rect">
            <a:avLst/>
          </a:prstGeom>
          <a:solidFill>
            <a:srgbClr val="E8F5E9"/>
          </a:solidFill>
          <a:ln w="12700">
            <a:solidFill>
              <a:srgbClr val="4CAF50"/>
            </a:solidFill>
            <a:prstDash val="solid"/>
          </a:ln>
        </p:spPr>
        <p:txBody>
          <a:bodyPr/>
          <a:lstStyle/>
          <a:p>
            <a:endParaRPr lang="es-MX"/>
          </a:p>
        </p:txBody>
      </p:sp>
      <p:sp>
        <p:nvSpPr>
          <p:cNvPr id="43" name="Text 41"/>
          <p:cNvSpPr/>
          <p:nvPr/>
        </p:nvSpPr>
        <p:spPr>
          <a:xfrm>
            <a:off x="438912" y="3355848"/>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44" name="Text 42"/>
          <p:cNvSpPr/>
          <p:nvPr/>
        </p:nvSpPr>
        <p:spPr>
          <a:xfrm>
            <a:off x="777240" y="3346704"/>
            <a:ext cx="3611880" cy="438912"/>
          </a:xfrm>
          <a:prstGeom prst="rect">
            <a:avLst/>
          </a:prstGeom>
          <a:noFill/>
          <a:ln/>
        </p:spPr>
        <p:txBody>
          <a:bodyPr wrap="square" lIns="0" tIns="0" rIns="0" bIns="0" rtlCol="0" anchor="t"/>
          <a:lstStyle/>
          <a:p>
            <a:pPr marL="0" indent="0">
              <a:buNone/>
            </a:pPr>
            <a:r>
              <a:rPr lang="en-US" sz="950" dirty="0">
                <a:solidFill>
                  <a:srgbClr val="64748B"/>
                </a:solidFill>
              </a:rPr>
              <a:t>Verificar: línea Activa · números de semana correctos · esperar 10 min</a:t>
            </a:r>
            <a:endParaRPr lang="en-US" sz="950" dirty="0"/>
          </a:p>
        </p:txBody>
      </p:sp>
      <p:sp>
        <p:nvSpPr>
          <p:cNvPr id="45" name="Shape 43"/>
          <p:cNvSpPr/>
          <p:nvPr/>
        </p:nvSpPr>
        <p:spPr>
          <a:xfrm>
            <a:off x="4709160" y="2935224"/>
            <a:ext cx="4206240" cy="914400"/>
          </a:xfrm>
          <a:prstGeom prst="rect">
            <a:avLst/>
          </a:prstGeom>
          <a:solidFill>
            <a:srgbClr val="FFFFFF"/>
          </a:solidFill>
          <a:ln w="12700">
            <a:solidFill>
              <a:srgbClr val="CBD5E1"/>
            </a:solidFill>
            <a:prstDash val="solid"/>
          </a:ln>
        </p:spPr>
        <p:txBody>
          <a:bodyPr/>
          <a:lstStyle/>
          <a:p>
            <a:endParaRPr lang="es-MX"/>
          </a:p>
        </p:txBody>
      </p:sp>
      <p:sp>
        <p:nvSpPr>
          <p:cNvPr id="46" name="Shape 44"/>
          <p:cNvSpPr/>
          <p:nvPr/>
        </p:nvSpPr>
        <p:spPr>
          <a:xfrm>
            <a:off x="4709160" y="2935224"/>
            <a:ext cx="73152" cy="914400"/>
          </a:xfrm>
          <a:prstGeom prst="rect">
            <a:avLst/>
          </a:prstGeom>
          <a:solidFill>
            <a:srgbClr val="263980"/>
          </a:solidFill>
          <a:ln w="12700">
            <a:solidFill>
              <a:srgbClr val="263980"/>
            </a:solidFill>
            <a:prstDash val="solid"/>
          </a:ln>
        </p:spPr>
        <p:txBody>
          <a:bodyPr/>
          <a:lstStyle/>
          <a:p>
            <a:endParaRPr lang="es-MX"/>
          </a:p>
        </p:txBody>
      </p:sp>
      <p:sp>
        <p:nvSpPr>
          <p:cNvPr id="47" name="Shape 45"/>
          <p:cNvSpPr/>
          <p:nvPr/>
        </p:nvSpPr>
        <p:spPr>
          <a:xfrm>
            <a:off x="4873752" y="3008376"/>
            <a:ext cx="274320" cy="237744"/>
          </a:xfrm>
          <a:prstGeom prst="rect">
            <a:avLst/>
          </a:prstGeom>
          <a:solidFill>
            <a:srgbClr val="FFEBEE"/>
          </a:solidFill>
          <a:ln w="12700">
            <a:solidFill>
              <a:srgbClr val="EF5350"/>
            </a:solidFill>
            <a:prstDash val="solid"/>
          </a:ln>
        </p:spPr>
        <p:txBody>
          <a:bodyPr/>
          <a:lstStyle/>
          <a:p>
            <a:endParaRPr lang="es-MX"/>
          </a:p>
        </p:txBody>
      </p:sp>
      <p:sp>
        <p:nvSpPr>
          <p:cNvPr id="48" name="Text 46"/>
          <p:cNvSpPr/>
          <p:nvPr/>
        </p:nvSpPr>
        <p:spPr>
          <a:xfrm>
            <a:off x="4873752" y="3008376"/>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49" name="Text 47"/>
          <p:cNvSpPr/>
          <p:nvPr/>
        </p:nvSpPr>
        <p:spPr>
          <a:xfrm>
            <a:off x="5212080" y="3008376"/>
            <a:ext cx="3611880" cy="274320"/>
          </a:xfrm>
          <a:prstGeom prst="rect">
            <a:avLst/>
          </a:prstGeom>
          <a:noFill/>
          <a:ln/>
        </p:spPr>
        <p:txBody>
          <a:bodyPr wrap="square" lIns="0" tIns="0" rIns="0" bIns="0" rtlCol="0" anchor="ctr"/>
          <a:lstStyle/>
          <a:p>
            <a:pPr marL="0" indent="0">
              <a:buNone/>
            </a:pPr>
            <a:r>
              <a:rPr lang="en-US" sz="1050" b="1" dirty="0">
                <a:solidFill>
                  <a:srgbClr val="1A1040"/>
                </a:solidFill>
              </a:rPr>
              <a:t>URL del banner lleva al sitio incorrecto</a:t>
            </a:r>
            <a:endParaRPr lang="en-US" sz="1050" dirty="0"/>
          </a:p>
        </p:txBody>
      </p:sp>
      <p:sp>
        <p:nvSpPr>
          <p:cNvPr id="50" name="Shape 48"/>
          <p:cNvSpPr/>
          <p:nvPr/>
        </p:nvSpPr>
        <p:spPr>
          <a:xfrm>
            <a:off x="4873752" y="3355848"/>
            <a:ext cx="274320" cy="237744"/>
          </a:xfrm>
          <a:prstGeom prst="rect">
            <a:avLst/>
          </a:prstGeom>
          <a:solidFill>
            <a:srgbClr val="E8F5E9"/>
          </a:solidFill>
          <a:ln w="12700">
            <a:solidFill>
              <a:srgbClr val="4CAF50"/>
            </a:solidFill>
            <a:prstDash val="solid"/>
          </a:ln>
        </p:spPr>
        <p:txBody>
          <a:bodyPr/>
          <a:lstStyle/>
          <a:p>
            <a:endParaRPr lang="es-MX"/>
          </a:p>
        </p:txBody>
      </p:sp>
      <p:sp>
        <p:nvSpPr>
          <p:cNvPr id="51" name="Text 49"/>
          <p:cNvSpPr/>
          <p:nvPr/>
        </p:nvSpPr>
        <p:spPr>
          <a:xfrm>
            <a:off x="4873752" y="3355848"/>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52" name="Text 50"/>
          <p:cNvSpPr/>
          <p:nvPr/>
        </p:nvSpPr>
        <p:spPr>
          <a:xfrm>
            <a:off x="5212080" y="3346704"/>
            <a:ext cx="3611880" cy="438912"/>
          </a:xfrm>
          <a:prstGeom prst="rect">
            <a:avLst/>
          </a:prstGeom>
          <a:noFill/>
          <a:ln/>
        </p:spPr>
        <p:txBody>
          <a:bodyPr wrap="square" lIns="0" tIns="0" rIns="0" bIns="0" rtlCol="0" anchor="t"/>
          <a:lstStyle/>
          <a:p>
            <a:pPr marL="0" indent="0">
              <a:buNone/>
            </a:pPr>
            <a:r>
              <a:rPr lang="en-US" sz="950" dirty="0">
                <a:solidFill>
                  <a:srgbClr val="64748B"/>
                </a:solidFill>
              </a:rPr>
              <a:t>Generar nueva URL con UTM en Campaign URL Builder y actualizar en la creatividad</a:t>
            </a:r>
            <a:endParaRPr lang="en-US" sz="950" dirty="0"/>
          </a:p>
        </p:txBody>
      </p:sp>
      <p:sp>
        <p:nvSpPr>
          <p:cNvPr id="53" name="Shape 51"/>
          <p:cNvSpPr/>
          <p:nvPr/>
        </p:nvSpPr>
        <p:spPr>
          <a:xfrm>
            <a:off x="274320" y="3959352"/>
            <a:ext cx="4206240" cy="914400"/>
          </a:xfrm>
          <a:prstGeom prst="rect">
            <a:avLst/>
          </a:prstGeom>
          <a:solidFill>
            <a:srgbClr val="FFFFFF"/>
          </a:solidFill>
          <a:ln w="12700">
            <a:solidFill>
              <a:srgbClr val="CBD5E1"/>
            </a:solidFill>
            <a:prstDash val="solid"/>
          </a:ln>
        </p:spPr>
        <p:txBody>
          <a:bodyPr/>
          <a:lstStyle/>
          <a:p>
            <a:endParaRPr lang="es-MX"/>
          </a:p>
        </p:txBody>
      </p:sp>
      <p:sp>
        <p:nvSpPr>
          <p:cNvPr id="54" name="Shape 52"/>
          <p:cNvSpPr/>
          <p:nvPr/>
        </p:nvSpPr>
        <p:spPr>
          <a:xfrm>
            <a:off x="274320" y="3959352"/>
            <a:ext cx="73152" cy="914400"/>
          </a:xfrm>
          <a:prstGeom prst="rect">
            <a:avLst/>
          </a:prstGeom>
          <a:solidFill>
            <a:srgbClr val="46C2CE"/>
          </a:solidFill>
          <a:ln w="12700">
            <a:solidFill>
              <a:srgbClr val="46C2CE"/>
            </a:solidFill>
            <a:prstDash val="solid"/>
          </a:ln>
        </p:spPr>
        <p:txBody>
          <a:bodyPr/>
          <a:lstStyle/>
          <a:p>
            <a:endParaRPr lang="es-MX"/>
          </a:p>
        </p:txBody>
      </p:sp>
      <p:sp>
        <p:nvSpPr>
          <p:cNvPr id="55" name="Shape 53"/>
          <p:cNvSpPr/>
          <p:nvPr/>
        </p:nvSpPr>
        <p:spPr>
          <a:xfrm>
            <a:off x="438912" y="4032504"/>
            <a:ext cx="274320" cy="237744"/>
          </a:xfrm>
          <a:prstGeom prst="rect">
            <a:avLst/>
          </a:prstGeom>
          <a:solidFill>
            <a:srgbClr val="FFEBEE"/>
          </a:solidFill>
          <a:ln w="12700">
            <a:solidFill>
              <a:srgbClr val="EF5350"/>
            </a:solidFill>
            <a:prstDash val="solid"/>
          </a:ln>
        </p:spPr>
        <p:txBody>
          <a:bodyPr/>
          <a:lstStyle/>
          <a:p>
            <a:endParaRPr lang="es-MX"/>
          </a:p>
        </p:txBody>
      </p:sp>
      <p:sp>
        <p:nvSpPr>
          <p:cNvPr id="56" name="Text 54"/>
          <p:cNvSpPr/>
          <p:nvPr/>
        </p:nvSpPr>
        <p:spPr>
          <a:xfrm>
            <a:off x="438912" y="4032504"/>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57" name="Text 55"/>
          <p:cNvSpPr/>
          <p:nvPr/>
        </p:nvSpPr>
        <p:spPr>
          <a:xfrm>
            <a:off x="777240" y="4032504"/>
            <a:ext cx="3611880" cy="274320"/>
          </a:xfrm>
          <a:prstGeom prst="rect">
            <a:avLst/>
          </a:prstGeom>
          <a:noFill/>
          <a:ln/>
        </p:spPr>
        <p:txBody>
          <a:bodyPr wrap="square" lIns="0" tIns="0" rIns="0" bIns="0" rtlCol="0" anchor="ctr"/>
          <a:lstStyle/>
          <a:p>
            <a:pPr marL="0" indent="0">
              <a:buNone/>
            </a:pPr>
            <a:r>
              <a:rPr lang="en-US" sz="1050" b="1" dirty="0">
                <a:solidFill>
                  <a:srgbClr val="1A1040"/>
                </a:solidFill>
              </a:rPr>
              <a:t>Anuncio aparece 3 veces al recargar</a:t>
            </a:r>
            <a:endParaRPr lang="en-US" sz="1050" dirty="0"/>
          </a:p>
        </p:txBody>
      </p:sp>
      <p:sp>
        <p:nvSpPr>
          <p:cNvPr id="58" name="Shape 56"/>
          <p:cNvSpPr/>
          <p:nvPr/>
        </p:nvSpPr>
        <p:spPr>
          <a:xfrm>
            <a:off x="438912" y="4379976"/>
            <a:ext cx="274320" cy="237744"/>
          </a:xfrm>
          <a:prstGeom prst="rect">
            <a:avLst/>
          </a:prstGeom>
          <a:solidFill>
            <a:srgbClr val="E8F5E9"/>
          </a:solidFill>
          <a:ln w="12700">
            <a:solidFill>
              <a:srgbClr val="4CAF50"/>
            </a:solidFill>
            <a:prstDash val="solid"/>
          </a:ln>
        </p:spPr>
        <p:txBody>
          <a:bodyPr/>
          <a:lstStyle/>
          <a:p>
            <a:endParaRPr lang="es-MX"/>
          </a:p>
        </p:txBody>
      </p:sp>
      <p:sp>
        <p:nvSpPr>
          <p:cNvPr id="59" name="Text 57"/>
          <p:cNvSpPr/>
          <p:nvPr/>
        </p:nvSpPr>
        <p:spPr>
          <a:xfrm>
            <a:off x="438912" y="4379976"/>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60" name="Text 58"/>
          <p:cNvSpPr/>
          <p:nvPr/>
        </p:nvSpPr>
        <p:spPr>
          <a:xfrm>
            <a:off x="777240" y="4370832"/>
            <a:ext cx="3611880" cy="438912"/>
          </a:xfrm>
          <a:prstGeom prst="rect">
            <a:avLst/>
          </a:prstGeom>
          <a:noFill/>
          <a:ln/>
        </p:spPr>
        <p:txBody>
          <a:bodyPr wrap="square" lIns="0" tIns="0" rIns="0" bIns="0" rtlCol="0" anchor="t"/>
          <a:lstStyle/>
          <a:p>
            <a:pPr marL="0" indent="0">
              <a:buNone/>
            </a:pPr>
            <a:r>
              <a:rPr lang="en-US" sz="950" dirty="0">
                <a:solidFill>
                  <a:srgbClr val="64748B"/>
                </a:solidFill>
              </a:rPr>
              <a:t>Es normal. El sistema estabiliza la frecuencia tras actualizar. Esperar unos minutos</a:t>
            </a:r>
            <a:endParaRPr lang="en-US" sz="950" dirty="0"/>
          </a:p>
        </p:txBody>
      </p:sp>
      <p:sp>
        <p:nvSpPr>
          <p:cNvPr id="61" name="Shape 59"/>
          <p:cNvSpPr/>
          <p:nvPr/>
        </p:nvSpPr>
        <p:spPr>
          <a:xfrm>
            <a:off x="4709160" y="3959352"/>
            <a:ext cx="4206240" cy="914400"/>
          </a:xfrm>
          <a:prstGeom prst="rect">
            <a:avLst/>
          </a:prstGeom>
          <a:solidFill>
            <a:srgbClr val="FFFFFF"/>
          </a:solidFill>
          <a:ln w="12700">
            <a:solidFill>
              <a:srgbClr val="CBD5E1"/>
            </a:solidFill>
            <a:prstDash val="solid"/>
          </a:ln>
        </p:spPr>
        <p:txBody>
          <a:bodyPr/>
          <a:lstStyle/>
          <a:p>
            <a:endParaRPr lang="es-MX"/>
          </a:p>
        </p:txBody>
      </p:sp>
      <p:sp>
        <p:nvSpPr>
          <p:cNvPr id="62" name="Shape 60"/>
          <p:cNvSpPr/>
          <p:nvPr/>
        </p:nvSpPr>
        <p:spPr>
          <a:xfrm>
            <a:off x="4709160" y="3959352"/>
            <a:ext cx="73152" cy="914400"/>
          </a:xfrm>
          <a:prstGeom prst="rect">
            <a:avLst/>
          </a:prstGeom>
          <a:solidFill>
            <a:srgbClr val="7F52A0"/>
          </a:solidFill>
          <a:ln w="12700">
            <a:solidFill>
              <a:srgbClr val="7F52A0"/>
            </a:solidFill>
            <a:prstDash val="solid"/>
          </a:ln>
        </p:spPr>
        <p:txBody>
          <a:bodyPr/>
          <a:lstStyle/>
          <a:p>
            <a:endParaRPr lang="es-MX"/>
          </a:p>
        </p:txBody>
      </p:sp>
      <p:sp>
        <p:nvSpPr>
          <p:cNvPr id="63" name="Shape 61"/>
          <p:cNvSpPr/>
          <p:nvPr/>
        </p:nvSpPr>
        <p:spPr>
          <a:xfrm>
            <a:off x="4873752" y="4032504"/>
            <a:ext cx="274320" cy="237744"/>
          </a:xfrm>
          <a:prstGeom prst="rect">
            <a:avLst/>
          </a:prstGeom>
          <a:solidFill>
            <a:srgbClr val="FFEBEE"/>
          </a:solidFill>
          <a:ln w="12700">
            <a:solidFill>
              <a:srgbClr val="EF5350"/>
            </a:solidFill>
            <a:prstDash val="solid"/>
          </a:ln>
        </p:spPr>
        <p:txBody>
          <a:bodyPr/>
          <a:lstStyle/>
          <a:p>
            <a:endParaRPr lang="es-MX"/>
          </a:p>
        </p:txBody>
      </p:sp>
      <p:sp>
        <p:nvSpPr>
          <p:cNvPr id="64" name="Text 62"/>
          <p:cNvSpPr/>
          <p:nvPr/>
        </p:nvSpPr>
        <p:spPr>
          <a:xfrm>
            <a:off x="4873752" y="4032504"/>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65" name="Text 63"/>
          <p:cNvSpPr/>
          <p:nvPr/>
        </p:nvSpPr>
        <p:spPr>
          <a:xfrm>
            <a:off x="5212080" y="4032504"/>
            <a:ext cx="3611880" cy="274320"/>
          </a:xfrm>
          <a:prstGeom prst="rect">
            <a:avLst/>
          </a:prstGeom>
          <a:noFill/>
          <a:ln/>
        </p:spPr>
        <p:txBody>
          <a:bodyPr wrap="square" lIns="0" tIns="0" rIns="0" bIns="0" rtlCol="0" anchor="ctr"/>
          <a:lstStyle/>
          <a:p>
            <a:pPr marL="0" indent="0">
              <a:buNone/>
            </a:pPr>
            <a:r>
              <a:rPr lang="en-US" sz="1050" b="1" dirty="0">
                <a:solidFill>
                  <a:srgbClr val="1A1040"/>
                </a:solidFill>
              </a:rPr>
              <a:t>Cambios en formulario no se reflejan</a:t>
            </a:r>
            <a:endParaRPr lang="en-US" sz="1050" dirty="0"/>
          </a:p>
        </p:txBody>
      </p:sp>
      <p:sp>
        <p:nvSpPr>
          <p:cNvPr id="66" name="Shape 64"/>
          <p:cNvSpPr/>
          <p:nvPr/>
        </p:nvSpPr>
        <p:spPr>
          <a:xfrm>
            <a:off x="4873752" y="4379976"/>
            <a:ext cx="274320" cy="237744"/>
          </a:xfrm>
          <a:prstGeom prst="rect">
            <a:avLst/>
          </a:prstGeom>
          <a:solidFill>
            <a:srgbClr val="E8F5E9"/>
          </a:solidFill>
          <a:ln w="12700">
            <a:solidFill>
              <a:srgbClr val="4CAF50"/>
            </a:solidFill>
            <a:prstDash val="solid"/>
          </a:ln>
        </p:spPr>
        <p:txBody>
          <a:bodyPr/>
          <a:lstStyle/>
          <a:p>
            <a:endParaRPr lang="es-MX"/>
          </a:p>
        </p:txBody>
      </p:sp>
      <p:sp>
        <p:nvSpPr>
          <p:cNvPr id="67" name="Text 65"/>
          <p:cNvSpPr/>
          <p:nvPr/>
        </p:nvSpPr>
        <p:spPr>
          <a:xfrm>
            <a:off x="4873752" y="4379976"/>
            <a:ext cx="274320"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68" name="Text 66"/>
          <p:cNvSpPr/>
          <p:nvPr/>
        </p:nvSpPr>
        <p:spPr>
          <a:xfrm>
            <a:off x="5212080" y="4370832"/>
            <a:ext cx="3611880" cy="438912"/>
          </a:xfrm>
          <a:prstGeom prst="rect">
            <a:avLst/>
          </a:prstGeom>
          <a:noFill/>
          <a:ln/>
        </p:spPr>
        <p:txBody>
          <a:bodyPr wrap="square" lIns="0" tIns="0" rIns="0" bIns="0" rtlCol="0" anchor="t"/>
          <a:lstStyle/>
          <a:p>
            <a:pPr marL="0" indent="0">
              <a:buNone/>
            </a:pPr>
            <a:r>
              <a:rPr lang="en-US" sz="950" dirty="0">
                <a:solidFill>
                  <a:srgbClr val="64748B"/>
                </a:solidFill>
              </a:rPr>
              <a:t>Completar los 3 pasos obligatorios: Guardar → Publicar en vivo → Enviar</a:t>
            </a:r>
            <a:endParaRPr lang="en-US" sz="950" dirty="0"/>
          </a:p>
        </p:txBody>
      </p:sp>
      <p:sp>
        <p:nvSpPr>
          <p:cNvPr id="69" name="Shape 67"/>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70" name="Text 68"/>
          <p:cNvSpPr/>
          <p:nvPr/>
        </p:nvSpPr>
        <p:spPr>
          <a:xfrm>
            <a:off x="274320" y="4846320"/>
            <a:ext cx="6400800" cy="297180"/>
          </a:xfrm>
          <a:prstGeom prst="rect">
            <a:avLst/>
          </a:prstGeom>
          <a:noFill/>
          <a:ln/>
        </p:spPr>
        <p:txBody>
          <a:bodyPr wrap="square" lIns="0" tIns="0" rIns="0" bIns="0" rtlCol="0" anchor="ctr"/>
          <a:lstStyle/>
          <a:p>
            <a:pPr marL="0" indent="0">
              <a:buNone/>
            </a:pPr>
            <a:r>
              <a:rPr lang="en-US" sz="800" dirty="0" err="1">
                <a:solidFill>
                  <a:srgbClr val="AABBEE"/>
                </a:solidFill>
              </a:rPr>
              <a:t>Sunname</a:t>
            </a:r>
            <a:r>
              <a:rPr lang="en-US" sz="800" dirty="0">
                <a:solidFill>
                  <a:srgbClr val="AABBEE"/>
                </a:solidFill>
              </a:rPr>
              <a:t> Technologies  · Sfera </a:t>
            </a:r>
            <a:r>
              <a:rPr lang="en-US" sz="800" dirty="0" err="1">
                <a:solidFill>
                  <a:srgbClr val="AABBEE"/>
                </a:solidFill>
              </a:rPr>
              <a:t>MediaGroup</a:t>
            </a:r>
            <a:r>
              <a:rPr lang="en-US" sz="800" dirty="0">
                <a:solidFill>
                  <a:srgbClr val="AABBEE"/>
                </a:solidFill>
              </a:rPr>
              <a:t> · Google Ad Manager · Marzo 2026</a:t>
            </a:r>
          </a:p>
        </p:txBody>
      </p:sp>
      <p:pic>
        <p:nvPicPr>
          <p:cNvPr id="73" name="Gráfico 72">
            <a:extLst>
              <a:ext uri="{FF2B5EF4-FFF2-40B4-BE49-F238E27FC236}">
                <a16:creationId xmlns:a16="http://schemas.microsoft.com/office/drawing/2014/main" id="{4C9042B5-463C-E600-CDCD-CB81D0D970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63980"/>
          </a:solidFill>
          <a:ln w="12700">
            <a:solidFill>
              <a:srgbClr val="263980"/>
            </a:solidFill>
            <a:prstDash val="solid"/>
          </a:ln>
        </p:spPr>
        <p:txBody>
          <a:bodyPr/>
          <a:lstStyle/>
          <a:p>
            <a:endParaRPr lang="es-MX"/>
          </a:p>
        </p:txBody>
      </p:sp>
      <p:sp>
        <p:nvSpPr>
          <p:cNvPr id="3" name="Shape 1"/>
          <p:cNvSpPr/>
          <p:nvPr/>
        </p:nvSpPr>
        <p:spPr>
          <a:xfrm>
            <a:off x="0" y="0"/>
            <a:ext cx="164592" cy="777240"/>
          </a:xfrm>
          <a:prstGeom prst="rect">
            <a:avLst/>
          </a:prstGeom>
          <a:solidFill>
            <a:srgbClr val="46C2CE"/>
          </a:solidFill>
          <a:ln w="12700">
            <a:solidFill>
              <a:srgbClr val="46C2CE"/>
            </a:solidFill>
            <a:prstDash val="solid"/>
          </a:ln>
        </p:spPr>
        <p:txBody>
          <a:bodyPr/>
          <a:lstStyle/>
          <a:p>
            <a:endParaRPr lang="es-MX"/>
          </a:p>
        </p:txBody>
      </p:sp>
      <p:sp>
        <p:nvSpPr>
          <p:cNvPr id="4" name="Text 2"/>
          <p:cNvSpPr/>
          <p:nvPr/>
        </p:nvSpPr>
        <p:spPr>
          <a:xfrm>
            <a:off x="347472" y="109728"/>
            <a:ext cx="8412480" cy="548640"/>
          </a:xfrm>
          <a:prstGeom prst="rect">
            <a:avLst/>
          </a:prstGeom>
          <a:noFill/>
          <a:ln/>
        </p:spPr>
        <p:txBody>
          <a:bodyPr wrap="square" lIns="0" tIns="0" rIns="0" bIns="0" rtlCol="0" anchor="ctr"/>
          <a:lstStyle/>
          <a:p>
            <a:pPr marL="0" indent="0">
              <a:buNone/>
            </a:pPr>
            <a:r>
              <a:rPr lang="en-US" sz="2200" b="1" dirty="0">
                <a:solidFill>
                  <a:srgbClr val="FFFFFF"/>
                </a:solidFill>
              </a:rPr>
              <a:t>Glosario de Términos Clave</a:t>
            </a:r>
            <a:endParaRPr lang="en-US" sz="2200" dirty="0"/>
          </a:p>
        </p:txBody>
      </p:sp>
      <p:grpSp>
        <p:nvGrpSpPr>
          <p:cNvPr id="87" name="Grupo 86">
            <a:extLst>
              <a:ext uri="{FF2B5EF4-FFF2-40B4-BE49-F238E27FC236}">
                <a16:creationId xmlns:a16="http://schemas.microsoft.com/office/drawing/2014/main" id="{2ADA6378-B353-AC9E-451A-A044E1C6B7D6}"/>
              </a:ext>
            </a:extLst>
          </p:cNvPr>
          <p:cNvGrpSpPr/>
          <p:nvPr/>
        </p:nvGrpSpPr>
        <p:grpSpPr>
          <a:xfrm>
            <a:off x="274320" y="983670"/>
            <a:ext cx="8778240" cy="374904"/>
            <a:chOff x="274320" y="914400"/>
            <a:chExt cx="8778240" cy="374904"/>
          </a:xfrm>
        </p:grpSpPr>
        <p:sp>
          <p:nvSpPr>
            <p:cNvPr id="5" name="Shape 3"/>
            <p:cNvSpPr/>
            <p:nvPr/>
          </p:nvSpPr>
          <p:spPr>
            <a:xfrm>
              <a:off x="274320" y="914400"/>
              <a:ext cx="2834640" cy="374904"/>
            </a:xfrm>
            <a:prstGeom prst="rect">
              <a:avLst/>
            </a:prstGeom>
            <a:solidFill>
              <a:srgbClr val="FFFFFF"/>
            </a:solidFill>
            <a:ln w="12700">
              <a:solidFill>
                <a:srgbClr val="CBD5E1"/>
              </a:solidFill>
              <a:prstDash val="solid"/>
            </a:ln>
          </p:spPr>
          <p:txBody>
            <a:bodyPr/>
            <a:lstStyle/>
            <a:p>
              <a:endParaRPr lang="es-MX"/>
            </a:p>
          </p:txBody>
        </p:sp>
        <p:sp>
          <p:nvSpPr>
            <p:cNvPr id="6" name="Text 4"/>
            <p:cNvSpPr/>
            <p:nvPr/>
          </p:nvSpPr>
          <p:spPr>
            <a:xfrm>
              <a:off x="384048" y="914400"/>
              <a:ext cx="960120" cy="374904"/>
            </a:xfrm>
            <a:prstGeom prst="rect">
              <a:avLst/>
            </a:prstGeom>
            <a:noFill/>
            <a:ln/>
          </p:spPr>
          <p:txBody>
            <a:bodyPr wrap="square" lIns="0" tIns="0" rIns="0" bIns="0" rtlCol="0" anchor="ctr"/>
            <a:lstStyle/>
            <a:p>
              <a:pPr marL="0" indent="0">
                <a:buNone/>
              </a:pPr>
              <a:r>
                <a:rPr lang="en-US" sz="900" b="1" dirty="0">
                  <a:solidFill>
                    <a:srgbClr val="263980"/>
                  </a:solidFill>
                </a:rPr>
                <a:t>GAM</a:t>
              </a:r>
              <a:endParaRPr lang="en-US" sz="900" dirty="0"/>
            </a:p>
          </p:txBody>
        </p:sp>
        <p:sp>
          <p:nvSpPr>
            <p:cNvPr id="7" name="Shape 5"/>
            <p:cNvSpPr/>
            <p:nvPr/>
          </p:nvSpPr>
          <p:spPr>
            <a:xfrm>
              <a:off x="1353312" y="987552"/>
              <a:ext cx="18288" cy="228600"/>
            </a:xfrm>
            <a:prstGeom prst="rect">
              <a:avLst/>
            </a:prstGeom>
            <a:solidFill>
              <a:srgbClr val="46C2CE"/>
            </a:solidFill>
            <a:ln w="12700">
              <a:solidFill>
                <a:srgbClr val="46C2CE"/>
              </a:solidFill>
              <a:prstDash val="solid"/>
            </a:ln>
          </p:spPr>
          <p:txBody>
            <a:bodyPr/>
            <a:lstStyle/>
            <a:p>
              <a:endParaRPr lang="es-MX"/>
            </a:p>
          </p:txBody>
        </p:sp>
        <p:sp>
          <p:nvSpPr>
            <p:cNvPr id="8" name="Text 6"/>
            <p:cNvSpPr/>
            <p:nvPr/>
          </p:nvSpPr>
          <p:spPr>
            <a:xfrm>
              <a:off x="1426464" y="914400"/>
              <a:ext cx="1572768" cy="374904"/>
            </a:xfrm>
            <a:prstGeom prst="rect">
              <a:avLst/>
            </a:prstGeom>
            <a:noFill/>
            <a:ln/>
          </p:spPr>
          <p:txBody>
            <a:bodyPr wrap="square" lIns="0" tIns="0" rIns="0" bIns="0" rtlCol="0" anchor="ctr"/>
            <a:lstStyle/>
            <a:p>
              <a:pPr marL="0" indent="0">
                <a:buNone/>
              </a:pPr>
              <a:r>
                <a:rPr lang="en-US" sz="850" dirty="0">
                  <a:solidFill>
                    <a:srgbClr val="64748B"/>
                  </a:solidFill>
                </a:rPr>
                <a:t>Google Ad Manager — plataforma de gestión de publicidad</a:t>
              </a:r>
              <a:endParaRPr lang="en-US" sz="850" dirty="0"/>
            </a:p>
          </p:txBody>
        </p:sp>
        <p:sp>
          <p:nvSpPr>
            <p:cNvPr id="29" name="Shape 27"/>
            <p:cNvSpPr/>
            <p:nvPr/>
          </p:nvSpPr>
          <p:spPr>
            <a:xfrm>
              <a:off x="3246120" y="914400"/>
              <a:ext cx="2834640" cy="374904"/>
            </a:xfrm>
            <a:prstGeom prst="rect">
              <a:avLst/>
            </a:prstGeom>
            <a:solidFill>
              <a:srgbClr val="FFFFFF"/>
            </a:solidFill>
            <a:ln w="12700">
              <a:solidFill>
                <a:srgbClr val="CBD5E1"/>
              </a:solidFill>
              <a:prstDash val="solid"/>
            </a:ln>
          </p:spPr>
          <p:txBody>
            <a:bodyPr/>
            <a:lstStyle/>
            <a:p>
              <a:endParaRPr lang="es-MX"/>
            </a:p>
          </p:txBody>
        </p:sp>
        <p:sp>
          <p:nvSpPr>
            <p:cNvPr id="30" name="Text 28"/>
            <p:cNvSpPr/>
            <p:nvPr/>
          </p:nvSpPr>
          <p:spPr>
            <a:xfrm>
              <a:off x="3355848" y="914400"/>
              <a:ext cx="960120" cy="374904"/>
            </a:xfrm>
            <a:prstGeom prst="rect">
              <a:avLst/>
            </a:prstGeom>
            <a:noFill/>
            <a:ln/>
          </p:spPr>
          <p:txBody>
            <a:bodyPr wrap="square" lIns="0" tIns="0" rIns="0" bIns="0" rtlCol="0" anchor="ctr"/>
            <a:lstStyle/>
            <a:p>
              <a:pPr marL="0" indent="0">
                <a:buNone/>
              </a:pPr>
              <a:r>
                <a:rPr lang="en-US" sz="900" b="1" dirty="0">
                  <a:solidFill>
                    <a:srgbClr val="263980"/>
                  </a:solidFill>
                </a:rPr>
                <a:t>UTM</a:t>
              </a:r>
              <a:endParaRPr lang="en-US" sz="900" dirty="0"/>
            </a:p>
          </p:txBody>
        </p:sp>
        <p:sp>
          <p:nvSpPr>
            <p:cNvPr id="31" name="Shape 29"/>
            <p:cNvSpPr/>
            <p:nvPr/>
          </p:nvSpPr>
          <p:spPr>
            <a:xfrm>
              <a:off x="4325112" y="987552"/>
              <a:ext cx="18288" cy="228600"/>
            </a:xfrm>
            <a:prstGeom prst="rect">
              <a:avLst/>
            </a:prstGeom>
            <a:solidFill>
              <a:srgbClr val="46C2CE"/>
            </a:solidFill>
            <a:ln w="12700">
              <a:solidFill>
                <a:srgbClr val="46C2CE"/>
              </a:solidFill>
              <a:prstDash val="solid"/>
            </a:ln>
          </p:spPr>
          <p:txBody>
            <a:bodyPr/>
            <a:lstStyle/>
            <a:p>
              <a:endParaRPr lang="es-MX"/>
            </a:p>
          </p:txBody>
        </p:sp>
        <p:sp>
          <p:nvSpPr>
            <p:cNvPr id="32" name="Text 30"/>
            <p:cNvSpPr/>
            <p:nvPr/>
          </p:nvSpPr>
          <p:spPr>
            <a:xfrm>
              <a:off x="4398264" y="914400"/>
              <a:ext cx="1572768" cy="374904"/>
            </a:xfrm>
            <a:prstGeom prst="rect">
              <a:avLst/>
            </a:prstGeom>
            <a:noFill/>
            <a:ln/>
          </p:spPr>
          <p:txBody>
            <a:bodyPr wrap="square" lIns="0" tIns="0" rIns="0" bIns="0" rtlCol="0" anchor="ctr"/>
            <a:lstStyle/>
            <a:p>
              <a:pPr marL="0" indent="0">
                <a:buNone/>
              </a:pPr>
              <a:r>
                <a:rPr lang="en-US" sz="850" dirty="0">
                  <a:solidFill>
                    <a:srgbClr val="64748B"/>
                  </a:solidFill>
                </a:rPr>
                <a:t>Parámetros de rastreo añadidos a URLs para medir tráfico en Analytics</a:t>
              </a:r>
              <a:endParaRPr lang="en-US" sz="850" dirty="0"/>
            </a:p>
          </p:txBody>
        </p:sp>
        <p:sp>
          <p:nvSpPr>
            <p:cNvPr id="53" name="Shape 51"/>
            <p:cNvSpPr/>
            <p:nvPr/>
          </p:nvSpPr>
          <p:spPr>
            <a:xfrm>
              <a:off x="6217920" y="914400"/>
              <a:ext cx="2834640" cy="374904"/>
            </a:xfrm>
            <a:prstGeom prst="rect">
              <a:avLst/>
            </a:prstGeom>
            <a:solidFill>
              <a:srgbClr val="FFFFFF"/>
            </a:solidFill>
            <a:ln w="12700">
              <a:solidFill>
                <a:srgbClr val="CBD5E1"/>
              </a:solidFill>
              <a:prstDash val="solid"/>
            </a:ln>
          </p:spPr>
          <p:txBody>
            <a:bodyPr/>
            <a:lstStyle/>
            <a:p>
              <a:endParaRPr lang="es-MX"/>
            </a:p>
          </p:txBody>
        </p:sp>
        <p:sp>
          <p:nvSpPr>
            <p:cNvPr id="54" name="Text 52"/>
            <p:cNvSpPr/>
            <p:nvPr/>
          </p:nvSpPr>
          <p:spPr>
            <a:xfrm>
              <a:off x="6327648" y="914400"/>
              <a:ext cx="960120" cy="374904"/>
            </a:xfrm>
            <a:prstGeom prst="rect">
              <a:avLst/>
            </a:prstGeom>
            <a:noFill/>
            <a:ln/>
          </p:spPr>
          <p:txBody>
            <a:bodyPr wrap="square" lIns="0" tIns="0" rIns="0" bIns="0" rtlCol="0" anchor="ctr"/>
            <a:lstStyle/>
            <a:p>
              <a:pPr marL="0" indent="0">
                <a:buNone/>
              </a:pPr>
              <a:r>
                <a:rPr lang="en-US" sz="900" b="1" dirty="0">
                  <a:solidFill>
                    <a:srgbClr val="263980"/>
                  </a:solidFill>
                </a:rPr>
                <a:t>Frequency Cap</a:t>
              </a:r>
              <a:endParaRPr lang="en-US" sz="900" dirty="0"/>
            </a:p>
          </p:txBody>
        </p:sp>
        <p:sp>
          <p:nvSpPr>
            <p:cNvPr id="55" name="Shape 53"/>
            <p:cNvSpPr/>
            <p:nvPr/>
          </p:nvSpPr>
          <p:spPr>
            <a:xfrm>
              <a:off x="7296912" y="987552"/>
              <a:ext cx="18288" cy="228600"/>
            </a:xfrm>
            <a:prstGeom prst="rect">
              <a:avLst/>
            </a:prstGeom>
            <a:solidFill>
              <a:srgbClr val="46C2CE"/>
            </a:solidFill>
            <a:ln w="12700">
              <a:solidFill>
                <a:srgbClr val="46C2CE"/>
              </a:solidFill>
              <a:prstDash val="solid"/>
            </a:ln>
          </p:spPr>
          <p:txBody>
            <a:bodyPr/>
            <a:lstStyle/>
            <a:p>
              <a:endParaRPr lang="es-MX"/>
            </a:p>
          </p:txBody>
        </p:sp>
        <p:sp>
          <p:nvSpPr>
            <p:cNvPr id="56" name="Text 54"/>
            <p:cNvSpPr/>
            <p:nvPr/>
          </p:nvSpPr>
          <p:spPr>
            <a:xfrm>
              <a:off x="7370064" y="914400"/>
              <a:ext cx="1572768" cy="374904"/>
            </a:xfrm>
            <a:prstGeom prst="rect">
              <a:avLst/>
            </a:prstGeom>
            <a:noFill/>
            <a:ln/>
          </p:spPr>
          <p:txBody>
            <a:bodyPr wrap="square" lIns="0" tIns="0" rIns="0" bIns="0" rtlCol="0" anchor="ctr"/>
            <a:lstStyle/>
            <a:p>
              <a:pPr marL="0" indent="0">
                <a:buNone/>
              </a:pPr>
              <a:r>
                <a:rPr lang="en-US" sz="850" dirty="0">
                  <a:solidFill>
                    <a:srgbClr val="64748B"/>
                  </a:solidFill>
                </a:rPr>
                <a:t>Límite de impresiones por usuario en un período de tiempo</a:t>
              </a:r>
              <a:endParaRPr lang="en-US" sz="850" dirty="0"/>
            </a:p>
          </p:txBody>
        </p:sp>
      </p:grpSp>
      <p:grpSp>
        <p:nvGrpSpPr>
          <p:cNvPr id="86" name="Grupo 85">
            <a:extLst>
              <a:ext uri="{FF2B5EF4-FFF2-40B4-BE49-F238E27FC236}">
                <a16:creationId xmlns:a16="http://schemas.microsoft.com/office/drawing/2014/main" id="{3464B968-B6C0-6367-A719-06BC110A28FC}"/>
              </a:ext>
            </a:extLst>
          </p:cNvPr>
          <p:cNvGrpSpPr/>
          <p:nvPr/>
        </p:nvGrpSpPr>
        <p:grpSpPr>
          <a:xfrm>
            <a:off x="274320" y="1640653"/>
            <a:ext cx="8778240" cy="374904"/>
            <a:chOff x="274320" y="1344168"/>
            <a:chExt cx="8778240" cy="374904"/>
          </a:xfrm>
        </p:grpSpPr>
        <p:sp>
          <p:nvSpPr>
            <p:cNvPr id="9" name="Shape 7"/>
            <p:cNvSpPr/>
            <p:nvPr/>
          </p:nvSpPr>
          <p:spPr>
            <a:xfrm>
              <a:off x="274320" y="1344168"/>
              <a:ext cx="2834640" cy="374904"/>
            </a:xfrm>
            <a:prstGeom prst="rect">
              <a:avLst/>
            </a:prstGeom>
            <a:solidFill>
              <a:srgbClr val="EEF2FF"/>
            </a:solidFill>
            <a:ln w="12700">
              <a:solidFill>
                <a:srgbClr val="CBD5E1"/>
              </a:solidFill>
              <a:prstDash val="solid"/>
            </a:ln>
          </p:spPr>
          <p:txBody>
            <a:bodyPr/>
            <a:lstStyle/>
            <a:p>
              <a:endParaRPr lang="es-MX"/>
            </a:p>
          </p:txBody>
        </p:sp>
        <p:sp>
          <p:nvSpPr>
            <p:cNvPr id="10" name="Text 8"/>
            <p:cNvSpPr/>
            <p:nvPr/>
          </p:nvSpPr>
          <p:spPr>
            <a:xfrm>
              <a:off x="384048" y="1344168"/>
              <a:ext cx="960120" cy="374904"/>
            </a:xfrm>
            <a:prstGeom prst="rect">
              <a:avLst/>
            </a:prstGeom>
            <a:noFill/>
            <a:ln/>
          </p:spPr>
          <p:txBody>
            <a:bodyPr wrap="square" lIns="0" tIns="0" rIns="0" bIns="0" rtlCol="0" anchor="ctr"/>
            <a:lstStyle/>
            <a:p>
              <a:pPr marL="0" indent="0">
                <a:buNone/>
              </a:pPr>
              <a:r>
                <a:rPr lang="en-US" sz="900" b="1" dirty="0">
                  <a:solidFill>
                    <a:srgbClr val="263980"/>
                  </a:solidFill>
                </a:rPr>
                <a:t>Red publicitaria</a:t>
              </a:r>
              <a:endParaRPr lang="en-US" sz="900" dirty="0"/>
            </a:p>
          </p:txBody>
        </p:sp>
        <p:sp>
          <p:nvSpPr>
            <p:cNvPr id="11" name="Shape 9"/>
            <p:cNvSpPr/>
            <p:nvPr/>
          </p:nvSpPr>
          <p:spPr>
            <a:xfrm>
              <a:off x="1353312" y="1417320"/>
              <a:ext cx="18288" cy="228600"/>
            </a:xfrm>
            <a:prstGeom prst="rect">
              <a:avLst/>
            </a:prstGeom>
            <a:solidFill>
              <a:srgbClr val="46C2CE"/>
            </a:solidFill>
            <a:ln w="12700">
              <a:solidFill>
                <a:srgbClr val="46C2CE"/>
              </a:solidFill>
              <a:prstDash val="solid"/>
            </a:ln>
          </p:spPr>
          <p:txBody>
            <a:bodyPr/>
            <a:lstStyle/>
            <a:p>
              <a:endParaRPr lang="es-MX"/>
            </a:p>
          </p:txBody>
        </p:sp>
        <p:sp>
          <p:nvSpPr>
            <p:cNvPr id="12" name="Text 10"/>
            <p:cNvSpPr/>
            <p:nvPr/>
          </p:nvSpPr>
          <p:spPr>
            <a:xfrm>
              <a:off x="1426464" y="1344168"/>
              <a:ext cx="1572768" cy="374904"/>
            </a:xfrm>
            <a:prstGeom prst="rect">
              <a:avLst/>
            </a:prstGeom>
            <a:noFill/>
            <a:ln/>
          </p:spPr>
          <p:txBody>
            <a:bodyPr wrap="square" lIns="0" tIns="0" rIns="0" bIns="0" rtlCol="0" anchor="ctr"/>
            <a:lstStyle/>
            <a:p>
              <a:pPr marL="0" indent="0">
                <a:buNone/>
              </a:pPr>
              <a:r>
                <a:rPr lang="en-US" sz="850" dirty="0">
                  <a:solidFill>
                    <a:srgbClr val="64748B"/>
                  </a:solidFill>
                </a:rPr>
                <a:t>Cuenta completa de Ad Manager. ID: 33036438</a:t>
              </a:r>
              <a:endParaRPr lang="en-US" sz="850" dirty="0"/>
            </a:p>
          </p:txBody>
        </p:sp>
        <p:sp>
          <p:nvSpPr>
            <p:cNvPr id="33" name="Shape 31"/>
            <p:cNvSpPr/>
            <p:nvPr/>
          </p:nvSpPr>
          <p:spPr>
            <a:xfrm>
              <a:off x="3246120" y="1344168"/>
              <a:ext cx="2834640" cy="374904"/>
            </a:xfrm>
            <a:prstGeom prst="rect">
              <a:avLst/>
            </a:prstGeom>
            <a:solidFill>
              <a:srgbClr val="EEF2FF"/>
            </a:solidFill>
            <a:ln w="12700">
              <a:solidFill>
                <a:srgbClr val="CBD5E1"/>
              </a:solidFill>
              <a:prstDash val="solid"/>
            </a:ln>
          </p:spPr>
          <p:txBody>
            <a:bodyPr/>
            <a:lstStyle/>
            <a:p>
              <a:endParaRPr lang="es-MX"/>
            </a:p>
          </p:txBody>
        </p:sp>
        <p:sp>
          <p:nvSpPr>
            <p:cNvPr id="34" name="Text 32"/>
            <p:cNvSpPr/>
            <p:nvPr/>
          </p:nvSpPr>
          <p:spPr>
            <a:xfrm>
              <a:off x="3355848" y="1344168"/>
              <a:ext cx="960120" cy="374904"/>
            </a:xfrm>
            <a:prstGeom prst="rect">
              <a:avLst/>
            </a:prstGeom>
            <a:noFill/>
            <a:ln/>
          </p:spPr>
          <p:txBody>
            <a:bodyPr wrap="square" lIns="0" tIns="0" rIns="0" bIns="0" rtlCol="0" anchor="ctr"/>
            <a:lstStyle/>
            <a:p>
              <a:pPr marL="0" indent="0">
                <a:buNone/>
              </a:pPr>
              <a:r>
                <a:rPr lang="en-US" sz="900" b="1" dirty="0">
                  <a:solidFill>
                    <a:srgbClr val="263980"/>
                  </a:solidFill>
                </a:rPr>
                <a:t>LDB / Leaderboard</a:t>
              </a:r>
              <a:endParaRPr lang="en-US" sz="900" dirty="0"/>
            </a:p>
          </p:txBody>
        </p:sp>
        <p:sp>
          <p:nvSpPr>
            <p:cNvPr id="35" name="Shape 33"/>
            <p:cNvSpPr/>
            <p:nvPr/>
          </p:nvSpPr>
          <p:spPr>
            <a:xfrm>
              <a:off x="4325112" y="1417320"/>
              <a:ext cx="18288" cy="228600"/>
            </a:xfrm>
            <a:prstGeom prst="rect">
              <a:avLst/>
            </a:prstGeom>
            <a:solidFill>
              <a:srgbClr val="46C2CE"/>
            </a:solidFill>
            <a:ln w="12700">
              <a:solidFill>
                <a:srgbClr val="46C2CE"/>
              </a:solidFill>
              <a:prstDash val="solid"/>
            </a:ln>
          </p:spPr>
          <p:txBody>
            <a:bodyPr/>
            <a:lstStyle/>
            <a:p>
              <a:endParaRPr lang="es-MX"/>
            </a:p>
          </p:txBody>
        </p:sp>
        <p:sp>
          <p:nvSpPr>
            <p:cNvPr id="36" name="Text 34"/>
            <p:cNvSpPr/>
            <p:nvPr/>
          </p:nvSpPr>
          <p:spPr>
            <a:xfrm>
              <a:off x="4398264" y="1344168"/>
              <a:ext cx="1572768" cy="374904"/>
            </a:xfrm>
            <a:prstGeom prst="rect">
              <a:avLst/>
            </a:prstGeom>
            <a:noFill/>
            <a:ln/>
          </p:spPr>
          <p:txBody>
            <a:bodyPr wrap="square" lIns="0" tIns="0" rIns="0" bIns="0" rtlCol="0" anchor="ctr"/>
            <a:lstStyle/>
            <a:p>
              <a:pPr marL="0" indent="0">
                <a:buNone/>
              </a:pPr>
              <a:r>
                <a:rPr lang="en-US" sz="850" dirty="0">
                  <a:solidFill>
                    <a:srgbClr val="64748B"/>
                  </a:solidFill>
                </a:rPr>
                <a:t>Banner horizontal superior 728×90 px</a:t>
              </a:r>
              <a:endParaRPr lang="en-US" sz="850" dirty="0"/>
            </a:p>
          </p:txBody>
        </p:sp>
        <p:sp>
          <p:nvSpPr>
            <p:cNvPr id="57" name="Shape 55"/>
            <p:cNvSpPr/>
            <p:nvPr/>
          </p:nvSpPr>
          <p:spPr>
            <a:xfrm>
              <a:off x="6217920" y="1344168"/>
              <a:ext cx="2834640" cy="374904"/>
            </a:xfrm>
            <a:prstGeom prst="rect">
              <a:avLst/>
            </a:prstGeom>
            <a:solidFill>
              <a:srgbClr val="EEF2FF"/>
            </a:solidFill>
            <a:ln w="12700">
              <a:solidFill>
                <a:srgbClr val="CBD5E1"/>
              </a:solidFill>
              <a:prstDash val="solid"/>
            </a:ln>
          </p:spPr>
          <p:txBody>
            <a:bodyPr/>
            <a:lstStyle/>
            <a:p>
              <a:endParaRPr lang="es-MX"/>
            </a:p>
          </p:txBody>
        </p:sp>
        <p:sp>
          <p:nvSpPr>
            <p:cNvPr id="58" name="Text 56"/>
            <p:cNvSpPr/>
            <p:nvPr/>
          </p:nvSpPr>
          <p:spPr>
            <a:xfrm>
              <a:off x="6327648" y="1344168"/>
              <a:ext cx="960120" cy="374904"/>
            </a:xfrm>
            <a:prstGeom prst="rect">
              <a:avLst/>
            </a:prstGeom>
            <a:noFill/>
            <a:ln/>
          </p:spPr>
          <p:txBody>
            <a:bodyPr wrap="square" lIns="0" tIns="0" rIns="0" bIns="0" rtlCol="0" anchor="ctr"/>
            <a:lstStyle/>
            <a:p>
              <a:pPr marL="0" indent="0">
                <a:buNone/>
              </a:pPr>
              <a:r>
                <a:rPr lang="en-US" sz="900" b="1" dirty="0">
                  <a:solidFill>
                    <a:srgbClr val="263980"/>
                  </a:solidFill>
                </a:rPr>
                <a:t>Ad Unit (Unidad)</a:t>
              </a:r>
              <a:endParaRPr lang="en-US" sz="900" dirty="0"/>
            </a:p>
          </p:txBody>
        </p:sp>
        <p:sp>
          <p:nvSpPr>
            <p:cNvPr id="59" name="Shape 57"/>
            <p:cNvSpPr/>
            <p:nvPr/>
          </p:nvSpPr>
          <p:spPr>
            <a:xfrm>
              <a:off x="7296912" y="1417320"/>
              <a:ext cx="18288" cy="228600"/>
            </a:xfrm>
            <a:prstGeom prst="rect">
              <a:avLst/>
            </a:prstGeom>
            <a:solidFill>
              <a:srgbClr val="46C2CE"/>
            </a:solidFill>
            <a:ln w="12700">
              <a:solidFill>
                <a:srgbClr val="46C2CE"/>
              </a:solidFill>
              <a:prstDash val="solid"/>
            </a:ln>
          </p:spPr>
          <p:txBody>
            <a:bodyPr/>
            <a:lstStyle/>
            <a:p>
              <a:endParaRPr lang="es-MX"/>
            </a:p>
          </p:txBody>
        </p:sp>
        <p:sp>
          <p:nvSpPr>
            <p:cNvPr id="60" name="Text 58"/>
            <p:cNvSpPr/>
            <p:nvPr/>
          </p:nvSpPr>
          <p:spPr>
            <a:xfrm>
              <a:off x="7370064" y="1344168"/>
              <a:ext cx="1572768" cy="374904"/>
            </a:xfrm>
            <a:prstGeom prst="rect">
              <a:avLst/>
            </a:prstGeom>
            <a:noFill/>
            <a:ln/>
          </p:spPr>
          <p:txBody>
            <a:bodyPr wrap="square" lIns="0" tIns="0" rIns="0" bIns="0" rtlCol="0" anchor="ctr"/>
            <a:lstStyle/>
            <a:p>
              <a:pPr marL="0" indent="0">
                <a:buNone/>
              </a:pPr>
              <a:r>
                <a:rPr lang="en-US" sz="850" dirty="0">
                  <a:solidFill>
                    <a:srgbClr val="64748B"/>
                  </a:solidFill>
                </a:rPr>
                <a:t>Espacio físico del sitio: MX-BBD1, MX-LBD1, MX-SCD1, etc.</a:t>
              </a:r>
              <a:endParaRPr lang="en-US" sz="850" dirty="0"/>
            </a:p>
          </p:txBody>
        </p:sp>
      </p:grpSp>
      <p:grpSp>
        <p:nvGrpSpPr>
          <p:cNvPr id="85" name="Grupo 84">
            <a:extLst>
              <a:ext uri="{FF2B5EF4-FFF2-40B4-BE49-F238E27FC236}">
                <a16:creationId xmlns:a16="http://schemas.microsoft.com/office/drawing/2014/main" id="{278B3357-9E0C-E1D3-41E4-E8D6E9920B2C}"/>
              </a:ext>
            </a:extLst>
          </p:cNvPr>
          <p:cNvGrpSpPr/>
          <p:nvPr/>
        </p:nvGrpSpPr>
        <p:grpSpPr>
          <a:xfrm>
            <a:off x="274320" y="2297636"/>
            <a:ext cx="8778240" cy="374904"/>
            <a:chOff x="274320" y="1773936"/>
            <a:chExt cx="8778240" cy="374904"/>
          </a:xfrm>
        </p:grpSpPr>
        <p:sp>
          <p:nvSpPr>
            <p:cNvPr id="13" name="Shape 11"/>
            <p:cNvSpPr/>
            <p:nvPr/>
          </p:nvSpPr>
          <p:spPr>
            <a:xfrm>
              <a:off x="274320" y="1773936"/>
              <a:ext cx="2834640" cy="374904"/>
            </a:xfrm>
            <a:prstGeom prst="rect">
              <a:avLst/>
            </a:prstGeom>
            <a:solidFill>
              <a:srgbClr val="FFFFFF"/>
            </a:solidFill>
            <a:ln w="12700">
              <a:solidFill>
                <a:srgbClr val="CBD5E1"/>
              </a:solidFill>
              <a:prstDash val="solid"/>
            </a:ln>
          </p:spPr>
          <p:txBody>
            <a:bodyPr/>
            <a:lstStyle/>
            <a:p>
              <a:endParaRPr lang="es-MX"/>
            </a:p>
          </p:txBody>
        </p:sp>
        <p:sp>
          <p:nvSpPr>
            <p:cNvPr id="14" name="Text 12"/>
            <p:cNvSpPr/>
            <p:nvPr/>
          </p:nvSpPr>
          <p:spPr>
            <a:xfrm>
              <a:off x="384048" y="1773936"/>
              <a:ext cx="960120" cy="374904"/>
            </a:xfrm>
            <a:prstGeom prst="rect">
              <a:avLst/>
            </a:prstGeom>
            <a:noFill/>
            <a:ln/>
          </p:spPr>
          <p:txBody>
            <a:bodyPr wrap="square" lIns="0" tIns="0" rIns="0" bIns="0" rtlCol="0" anchor="ctr"/>
            <a:lstStyle/>
            <a:p>
              <a:pPr marL="0" indent="0">
                <a:buNone/>
              </a:pPr>
              <a:r>
                <a:rPr lang="en-US" sz="900" b="1" dirty="0">
                  <a:solidFill>
                    <a:srgbClr val="263980"/>
                  </a:solidFill>
                </a:rPr>
                <a:t>Pedido (Order)</a:t>
              </a:r>
              <a:endParaRPr lang="en-US" sz="900" dirty="0"/>
            </a:p>
          </p:txBody>
        </p:sp>
        <p:sp>
          <p:nvSpPr>
            <p:cNvPr id="15" name="Shape 13"/>
            <p:cNvSpPr/>
            <p:nvPr/>
          </p:nvSpPr>
          <p:spPr>
            <a:xfrm>
              <a:off x="1353312" y="1847088"/>
              <a:ext cx="18288" cy="228600"/>
            </a:xfrm>
            <a:prstGeom prst="rect">
              <a:avLst/>
            </a:prstGeom>
            <a:solidFill>
              <a:srgbClr val="46C2CE"/>
            </a:solidFill>
            <a:ln w="12700">
              <a:solidFill>
                <a:srgbClr val="46C2CE"/>
              </a:solidFill>
              <a:prstDash val="solid"/>
            </a:ln>
          </p:spPr>
          <p:txBody>
            <a:bodyPr/>
            <a:lstStyle/>
            <a:p>
              <a:endParaRPr lang="es-MX"/>
            </a:p>
          </p:txBody>
        </p:sp>
        <p:sp>
          <p:nvSpPr>
            <p:cNvPr id="16" name="Text 14"/>
            <p:cNvSpPr/>
            <p:nvPr/>
          </p:nvSpPr>
          <p:spPr>
            <a:xfrm>
              <a:off x="1426464" y="1773936"/>
              <a:ext cx="1572768" cy="374904"/>
            </a:xfrm>
            <a:prstGeom prst="rect">
              <a:avLst/>
            </a:prstGeom>
            <a:noFill/>
            <a:ln/>
          </p:spPr>
          <p:txBody>
            <a:bodyPr wrap="square" lIns="0" tIns="0" rIns="0" bIns="0" rtlCol="0" anchor="ctr"/>
            <a:lstStyle/>
            <a:p>
              <a:pPr marL="0" indent="0">
                <a:buNone/>
              </a:pPr>
              <a:r>
                <a:rPr lang="en-US" sz="850" dirty="0">
                  <a:solidFill>
                    <a:srgbClr val="64748B"/>
                  </a:solidFill>
                </a:rPr>
                <a:t>Carpeta principal de una campaña de cliente</a:t>
              </a:r>
              <a:endParaRPr lang="en-US" sz="850" dirty="0"/>
            </a:p>
          </p:txBody>
        </p:sp>
        <p:sp>
          <p:nvSpPr>
            <p:cNvPr id="37" name="Shape 35"/>
            <p:cNvSpPr/>
            <p:nvPr/>
          </p:nvSpPr>
          <p:spPr>
            <a:xfrm>
              <a:off x="3246120" y="1773936"/>
              <a:ext cx="2834640" cy="374904"/>
            </a:xfrm>
            <a:prstGeom prst="rect">
              <a:avLst/>
            </a:prstGeom>
            <a:solidFill>
              <a:srgbClr val="FFFFFF"/>
            </a:solidFill>
            <a:ln w="12700">
              <a:solidFill>
                <a:srgbClr val="CBD5E1"/>
              </a:solidFill>
              <a:prstDash val="solid"/>
            </a:ln>
          </p:spPr>
          <p:txBody>
            <a:bodyPr/>
            <a:lstStyle/>
            <a:p>
              <a:endParaRPr lang="es-MX"/>
            </a:p>
          </p:txBody>
        </p:sp>
        <p:sp>
          <p:nvSpPr>
            <p:cNvPr id="38" name="Text 36"/>
            <p:cNvSpPr/>
            <p:nvPr/>
          </p:nvSpPr>
          <p:spPr>
            <a:xfrm>
              <a:off x="3355848" y="1773936"/>
              <a:ext cx="960120" cy="374904"/>
            </a:xfrm>
            <a:prstGeom prst="rect">
              <a:avLst/>
            </a:prstGeom>
            <a:noFill/>
            <a:ln/>
          </p:spPr>
          <p:txBody>
            <a:bodyPr wrap="square" lIns="0" tIns="0" rIns="0" bIns="0" rtlCol="0" anchor="ctr"/>
            <a:lstStyle/>
            <a:p>
              <a:pPr marL="0" indent="0">
                <a:buNone/>
              </a:pPr>
              <a:r>
                <a:rPr lang="en-US" sz="900" b="1" dirty="0">
                  <a:solidFill>
                    <a:srgbClr val="263980"/>
                  </a:solidFill>
                </a:rPr>
                <a:t>Skyscraper</a:t>
              </a:r>
              <a:endParaRPr lang="en-US" sz="900" dirty="0"/>
            </a:p>
          </p:txBody>
        </p:sp>
        <p:sp>
          <p:nvSpPr>
            <p:cNvPr id="39" name="Shape 37"/>
            <p:cNvSpPr/>
            <p:nvPr/>
          </p:nvSpPr>
          <p:spPr>
            <a:xfrm>
              <a:off x="4325112" y="1847088"/>
              <a:ext cx="18288" cy="228600"/>
            </a:xfrm>
            <a:prstGeom prst="rect">
              <a:avLst/>
            </a:prstGeom>
            <a:solidFill>
              <a:srgbClr val="46C2CE"/>
            </a:solidFill>
            <a:ln w="12700">
              <a:solidFill>
                <a:srgbClr val="46C2CE"/>
              </a:solidFill>
              <a:prstDash val="solid"/>
            </a:ln>
          </p:spPr>
          <p:txBody>
            <a:bodyPr/>
            <a:lstStyle/>
            <a:p>
              <a:endParaRPr lang="es-MX"/>
            </a:p>
          </p:txBody>
        </p:sp>
        <p:sp>
          <p:nvSpPr>
            <p:cNvPr id="40" name="Text 38"/>
            <p:cNvSpPr/>
            <p:nvPr/>
          </p:nvSpPr>
          <p:spPr>
            <a:xfrm>
              <a:off x="4398264" y="1773936"/>
              <a:ext cx="1572768" cy="374904"/>
            </a:xfrm>
            <a:prstGeom prst="rect">
              <a:avLst/>
            </a:prstGeom>
            <a:noFill/>
            <a:ln/>
          </p:spPr>
          <p:txBody>
            <a:bodyPr wrap="square" lIns="0" tIns="0" rIns="0" bIns="0" rtlCol="0" anchor="ctr"/>
            <a:lstStyle/>
            <a:p>
              <a:pPr marL="0" indent="0">
                <a:buNone/>
              </a:pPr>
              <a:r>
                <a:rPr lang="en-US" sz="850" dirty="0">
                  <a:solidFill>
                    <a:srgbClr val="64748B"/>
                  </a:solidFill>
                </a:rPr>
                <a:t>Banner vertical lateral 300×600 px</a:t>
              </a:r>
              <a:endParaRPr lang="en-US" sz="850" dirty="0"/>
            </a:p>
          </p:txBody>
        </p:sp>
        <p:sp>
          <p:nvSpPr>
            <p:cNvPr id="61" name="Shape 59"/>
            <p:cNvSpPr/>
            <p:nvPr/>
          </p:nvSpPr>
          <p:spPr>
            <a:xfrm>
              <a:off x="6217920" y="1773936"/>
              <a:ext cx="2834640" cy="374904"/>
            </a:xfrm>
            <a:prstGeom prst="rect">
              <a:avLst/>
            </a:prstGeom>
            <a:solidFill>
              <a:srgbClr val="FFFFFF"/>
            </a:solidFill>
            <a:ln w="12700">
              <a:solidFill>
                <a:srgbClr val="CBD5E1"/>
              </a:solidFill>
              <a:prstDash val="solid"/>
            </a:ln>
          </p:spPr>
          <p:txBody>
            <a:bodyPr/>
            <a:lstStyle/>
            <a:p>
              <a:endParaRPr lang="es-MX"/>
            </a:p>
          </p:txBody>
        </p:sp>
        <p:sp>
          <p:nvSpPr>
            <p:cNvPr id="62" name="Text 60"/>
            <p:cNvSpPr/>
            <p:nvPr/>
          </p:nvSpPr>
          <p:spPr>
            <a:xfrm>
              <a:off x="6327648" y="1773936"/>
              <a:ext cx="960120" cy="374904"/>
            </a:xfrm>
            <a:prstGeom prst="rect">
              <a:avLst/>
            </a:prstGeom>
            <a:noFill/>
            <a:ln/>
          </p:spPr>
          <p:txBody>
            <a:bodyPr wrap="square" lIns="0" tIns="0" rIns="0" bIns="0" rtlCol="0" anchor="ctr"/>
            <a:lstStyle/>
            <a:p>
              <a:pPr marL="0" indent="0">
                <a:buNone/>
              </a:pPr>
              <a:r>
                <a:rPr lang="en-US" sz="900" b="1" dirty="0">
                  <a:solidFill>
                    <a:srgbClr val="263980"/>
                  </a:solidFill>
                </a:rPr>
                <a:t>head_age_emb</a:t>
              </a:r>
              <a:endParaRPr lang="en-US" sz="900" dirty="0"/>
            </a:p>
          </p:txBody>
        </p:sp>
        <p:sp>
          <p:nvSpPr>
            <p:cNvPr id="63" name="Shape 61"/>
            <p:cNvSpPr/>
            <p:nvPr/>
          </p:nvSpPr>
          <p:spPr>
            <a:xfrm>
              <a:off x="7296912" y="1847088"/>
              <a:ext cx="18288" cy="228600"/>
            </a:xfrm>
            <a:prstGeom prst="rect">
              <a:avLst/>
            </a:prstGeom>
            <a:solidFill>
              <a:srgbClr val="46C2CE"/>
            </a:solidFill>
            <a:ln w="12700">
              <a:solidFill>
                <a:srgbClr val="46C2CE"/>
              </a:solidFill>
              <a:prstDash val="solid"/>
            </a:ln>
          </p:spPr>
          <p:txBody>
            <a:bodyPr/>
            <a:lstStyle/>
            <a:p>
              <a:endParaRPr lang="es-MX"/>
            </a:p>
          </p:txBody>
        </p:sp>
        <p:sp>
          <p:nvSpPr>
            <p:cNvPr id="64" name="Text 62"/>
            <p:cNvSpPr/>
            <p:nvPr/>
          </p:nvSpPr>
          <p:spPr>
            <a:xfrm>
              <a:off x="7370064" y="1773936"/>
              <a:ext cx="1572768" cy="374904"/>
            </a:xfrm>
            <a:prstGeom prst="rect">
              <a:avLst/>
            </a:prstGeom>
            <a:noFill/>
            <a:ln/>
          </p:spPr>
          <p:txBody>
            <a:bodyPr wrap="square" lIns="0" tIns="0" rIns="0" bIns="0" rtlCol="0" anchor="ctr"/>
            <a:lstStyle/>
            <a:p>
              <a:pPr marL="0" indent="0">
                <a:buNone/>
              </a:pPr>
              <a:r>
                <a:rPr lang="en-US" sz="850" dirty="0">
                  <a:solidFill>
                    <a:srgbClr val="64748B"/>
                  </a:solidFill>
                </a:rPr>
                <a:t>Keyword del banner 'Patrocinado por' (300×70) en agendas</a:t>
              </a:r>
              <a:endParaRPr lang="en-US" sz="850" dirty="0"/>
            </a:p>
          </p:txBody>
        </p:sp>
      </p:grpSp>
      <p:grpSp>
        <p:nvGrpSpPr>
          <p:cNvPr id="84" name="Grupo 83">
            <a:extLst>
              <a:ext uri="{FF2B5EF4-FFF2-40B4-BE49-F238E27FC236}">
                <a16:creationId xmlns:a16="http://schemas.microsoft.com/office/drawing/2014/main" id="{5BE2E9D6-7F89-E625-2DBE-CE7E252F2AC6}"/>
              </a:ext>
            </a:extLst>
          </p:cNvPr>
          <p:cNvGrpSpPr/>
          <p:nvPr/>
        </p:nvGrpSpPr>
        <p:grpSpPr>
          <a:xfrm>
            <a:off x="274320" y="2954619"/>
            <a:ext cx="8778240" cy="374904"/>
            <a:chOff x="274320" y="2203704"/>
            <a:chExt cx="8778240" cy="374904"/>
          </a:xfrm>
        </p:grpSpPr>
        <p:sp>
          <p:nvSpPr>
            <p:cNvPr id="17" name="Shape 15"/>
            <p:cNvSpPr/>
            <p:nvPr/>
          </p:nvSpPr>
          <p:spPr>
            <a:xfrm>
              <a:off x="274320" y="2203704"/>
              <a:ext cx="2834640" cy="374904"/>
            </a:xfrm>
            <a:prstGeom prst="rect">
              <a:avLst/>
            </a:prstGeom>
            <a:solidFill>
              <a:srgbClr val="EEF2FF"/>
            </a:solidFill>
            <a:ln w="12700">
              <a:solidFill>
                <a:srgbClr val="CBD5E1"/>
              </a:solidFill>
              <a:prstDash val="solid"/>
            </a:ln>
          </p:spPr>
          <p:txBody>
            <a:bodyPr/>
            <a:lstStyle/>
            <a:p>
              <a:endParaRPr lang="es-MX"/>
            </a:p>
          </p:txBody>
        </p:sp>
        <p:sp>
          <p:nvSpPr>
            <p:cNvPr id="18" name="Text 16"/>
            <p:cNvSpPr/>
            <p:nvPr/>
          </p:nvSpPr>
          <p:spPr>
            <a:xfrm>
              <a:off x="384048" y="2203704"/>
              <a:ext cx="960120" cy="374904"/>
            </a:xfrm>
            <a:prstGeom prst="rect">
              <a:avLst/>
            </a:prstGeom>
            <a:noFill/>
            <a:ln/>
          </p:spPr>
          <p:txBody>
            <a:bodyPr wrap="square" lIns="0" tIns="0" rIns="0" bIns="0" rtlCol="0" anchor="ctr"/>
            <a:lstStyle/>
            <a:p>
              <a:pPr marL="0" indent="0">
                <a:buNone/>
              </a:pPr>
              <a:r>
                <a:rPr lang="en-US" sz="900" b="1" dirty="0">
                  <a:solidFill>
                    <a:srgbClr val="263980"/>
                  </a:solidFill>
                </a:rPr>
                <a:t>Línea de pedido</a:t>
              </a:r>
              <a:endParaRPr lang="en-US" sz="900" dirty="0"/>
            </a:p>
          </p:txBody>
        </p:sp>
        <p:sp>
          <p:nvSpPr>
            <p:cNvPr id="19" name="Shape 17"/>
            <p:cNvSpPr/>
            <p:nvPr/>
          </p:nvSpPr>
          <p:spPr>
            <a:xfrm>
              <a:off x="1353312" y="2276856"/>
              <a:ext cx="18288" cy="228600"/>
            </a:xfrm>
            <a:prstGeom prst="rect">
              <a:avLst/>
            </a:prstGeom>
            <a:solidFill>
              <a:srgbClr val="46C2CE"/>
            </a:solidFill>
            <a:ln w="12700">
              <a:solidFill>
                <a:srgbClr val="46C2CE"/>
              </a:solidFill>
              <a:prstDash val="solid"/>
            </a:ln>
          </p:spPr>
          <p:txBody>
            <a:bodyPr/>
            <a:lstStyle/>
            <a:p>
              <a:endParaRPr lang="es-MX"/>
            </a:p>
          </p:txBody>
        </p:sp>
        <p:sp>
          <p:nvSpPr>
            <p:cNvPr id="20" name="Text 18"/>
            <p:cNvSpPr/>
            <p:nvPr/>
          </p:nvSpPr>
          <p:spPr>
            <a:xfrm>
              <a:off x="1426464" y="2203704"/>
              <a:ext cx="1572768" cy="374904"/>
            </a:xfrm>
            <a:prstGeom prst="rect">
              <a:avLst/>
            </a:prstGeom>
            <a:noFill/>
            <a:ln/>
          </p:spPr>
          <p:txBody>
            <a:bodyPr wrap="square" lIns="0" tIns="0" rIns="0" bIns="0" rtlCol="0" anchor="ctr"/>
            <a:lstStyle/>
            <a:p>
              <a:pPr marL="0" indent="0">
                <a:buNone/>
              </a:pPr>
              <a:r>
                <a:rPr lang="en-US" sz="850" dirty="0">
                  <a:solidFill>
                    <a:srgbClr val="64748B"/>
                  </a:solidFill>
                </a:rPr>
                <a:t>Configuración de cuándo, dónde y con qué frecuencia aparece un banner</a:t>
              </a:r>
              <a:endParaRPr lang="en-US" sz="850" dirty="0"/>
            </a:p>
          </p:txBody>
        </p:sp>
        <p:sp>
          <p:nvSpPr>
            <p:cNvPr id="41" name="Shape 39"/>
            <p:cNvSpPr/>
            <p:nvPr/>
          </p:nvSpPr>
          <p:spPr>
            <a:xfrm>
              <a:off x="3246120" y="2203704"/>
              <a:ext cx="2834640" cy="374904"/>
            </a:xfrm>
            <a:prstGeom prst="rect">
              <a:avLst/>
            </a:prstGeom>
            <a:solidFill>
              <a:srgbClr val="EEF2FF"/>
            </a:solidFill>
            <a:ln w="12700">
              <a:solidFill>
                <a:srgbClr val="CBD5E1"/>
              </a:solidFill>
              <a:prstDash val="solid"/>
            </a:ln>
          </p:spPr>
          <p:txBody>
            <a:bodyPr/>
            <a:lstStyle/>
            <a:p>
              <a:endParaRPr lang="es-MX"/>
            </a:p>
          </p:txBody>
        </p:sp>
        <p:sp>
          <p:nvSpPr>
            <p:cNvPr id="42" name="Text 40"/>
            <p:cNvSpPr/>
            <p:nvPr/>
          </p:nvSpPr>
          <p:spPr>
            <a:xfrm>
              <a:off x="3355848" y="2203704"/>
              <a:ext cx="960120" cy="374904"/>
            </a:xfrm>
            <a:prstGeom prst="rect">
              <a:avLst/>
            </a:prstGeom>
            <a:noFill/>
            <a:ln/>
          </p:spPr>
          <p:txBody>
            <a:bodyPr wrap="square" lIns="0" tIns="0" rIns="0" bIns="0" rtlCol="0" anchor="ctr"/>
            <a:lstStyle/>
            <a:p>
              <a:pPr marL="0" indent="0">
                <a:buNone/>
              </a:pPr>
              <a:r>
                <a:rPr lang="en-US" sz="900" b="1" dirty="0">
                  <a:solidFill>
                    <a:srgbClr val="263980"/>
                  </a:solidFill>
                </a:rPr>
                <a:t>Box Banner / MPU</a:t>
              </a:r>
              <a:endParaRPr lang="en-US" sz="900" dirty="0"/>
            </a:p>
          </p:txBody>
        </p:sp>
        <p:sp>
          <p:nvSpPr>
            <p:cNvPr id="43" name="Shape 41"/>
            <p:cNvSpPr/>
            <p:nvPr/>
          </p:nvSpPr>
          <p:spPr>
            <a:xfrm>
              <a:off x="4325112" y="2276856"/>
              <a:ext cx="18288" cy="228600"/>
            </a:xfrm>
            <a:prstGeom prst="rect">
              <a:avLst/>
            </a:prstGeom>
            <a:solidFill>
              <a:srgbClr val="46C2CE"/>
            </a:solidFill>
            <a:ln w="12700">
              <a:solidFill>
                <a:srgbClr val="46C2CE"/>
              </a:solidFill>
              <a:prstDash val="solid"/>
            </a:ln>
          </p:spPr>
          <p:txBody>
            <a:bodyPr/>
            <a:lstStyle/>
            <a:p>
              <a:endParaRPr lang="es-MX"/>
            </a:p>
          </p:txBody>
        </p:sp>
        <p:sp>
          <p:nvSpPr>
            <p:cNvPr id="44" name="Text 42"/>
            <p:cNvSpPr/>
            <p:nvPr/>
          </p:nvSpPr>
          <p:spPr>
            <a:xfrm>
              <a:off x="4398264" y="2203704"/>
              <a:ext cx="1572768" cy="374904"/>
            </a:xfrm>
            <a:prstGeom prst="rect">
              <a:avLst/>
            </a:prstGeom>
            <a:noFill/>
            <a:ln/>
          </p:spPr>
          <p:txBody>
            <a:bodyPr wrap="square" lIns="0" tIns="0" rIns="0" bIns="0" rtlCol="0" anchor="ctr"/>
            <a:lstStyle/>
            <a:p>
              <a:pPr marL="0" indent="0">
                <a:buNone/>
              </a:pPr>
              <a:r>
                <a:rPr lang="en-US" sz="850" dirty="0">
                  <a:solidFill>
                    <a:srgbClr val="64748B"/>
                  </a:solidFill>
                </a:rPr>
                <a:t>Banner cuadrado/rectangular lateral 300×250 px</a:t>
              </a:r>
              <a:endParaRPr lang="en-US" sz="850" dirty="0"/>
            </a:p>
          </p:txBody>
        </p:sp>
        <p:sp>
          <p:nvSpPr>
            <p:cNvPr id="65" name="Shape 63"/>
            <p:cNvSpPr/>
            <p:nvPr/>
          </p:nvSpPr>
          <p:spPr>
            <a:xfrm>
              <a:off x="6217920" y="2203704"/>
              <a:ext cx="2834640" cy="374904"/>
            </a:xfrm>
            <a:prstGeom prst="rect">
              <a:avLst/>
            </a:prstGeom>
            <a:solidFill>
              <a:srgbClr val="EEF2FF"/>
            </a:solidFill>
            <a:ln w="12700">
              <a:solidFill>
                <a:srgbClr val="CBD5E1"/>
              </a:solidFill>
              <a:prstDash val="solid"/>
            </a:ln>
          </p:spPr>
          <p:txBody>
            <a:bodyPr/>
            <a:lstStyle/>
            <a:p>
              <a:endParaRPr lang="es-MX"/>
            </a:p>
          </p:txBody>
        </p:sp>
        <p:sp>
          <p:nvSpPr>
            <p:cNvPr id="66" name="Text 64"/>
            <p:cNvSpPr/>
            <p:nvPr/>
          </p:nvSpPr>
          <p:spPr>
            <a:xfrm>
              <a:off x="6327648" y="2203704"/>
              <a:ext cx="960120" cy="374904"/>
            </a:xfrm>
            <a:prstGeom prst="rect">
              <a:avLst/>
            </a:prstGeom>
            <a:noFill/>
            <a:ln/>
          </p:spPr>
          <p:txBody>
            <a:bodyPr wrap="square" lIns="0" tIns="0" rIns="0" bIns="0" rtlCol="0" anchor="ctr"/>
            <a:lstStyle/>
            <a:p>
              <a:pPr marL="0" indent="0">
                <a:buNone/>
              </a:pPr>
              <a:r>
                <a:rPr lang="en-US" sz="900" b="1" dirty="0">
                  <a:solidFill>
                    <a:srgbClr val="263980"/>
                  </a:solidFill>
                </a:rPr>
                <a:t>body_age_emb</a:t>
              </a:r>
              <a:endParaRPr lang="en-US" sz="900" dirty="0"/>
            </a:p>
          </p:txBody>
        </p:sp>
        <p:sp>
          <p:nvSpPr>
            <p:cNvPr id="67" name="Shape 65"/>
            <p:cNvSpPr/>
            <p:nvPr/>
          </p:nvSpPr>
          <p:spPr>
            <a:xfrm>
              <a:off x="7296912" y="2276856"/>
              <a:ext cx="18288" cy="228600"/>
            </a:xfrm>
            <a:prstGeom prst="rect">
              <a:avLst/>
            </a:prstGeom>
            <a:solidFill>
              <a:srgbClr val="46C2CE"/>
            </a:solidFill>
            <a:ln w="12700">
              <a:solidFill>
                <a:srgbClr val="46C2CE"/>
              </a:solidFill>
              <a:prstDash val="solid"/>
            </a:ln>
          </p:spPr>
          <p:txBody>
            <a:bodyPr/>
            <a:lstStyle/>
            <a:p>
              <a:endParaRPr lang="es-MX"/>
            </a:p>
          </p:txBody>
        </p:sp>
        <p:sp>
          <p:nvSpPr>
            <p:cNvPr id="68" name="Text 66"/>
            <p:cNvSpPr/>
            <p:nvPr/>
          </p:nvSpPr>
          <p:spPr>
            <a:xfrm>
              <a:off x="7370064" y="2203704"/>
              <a:ext cx="1572768" cy="374904"/>
            </a:xfrm>
            <a:prstGeom prst="rect">
              <a:avLst/>
            </a:prstGeom>
            <a:noFill/>
            <a:ln/>
          </p:spPr>
          <p:txBody>
            <a:bodyPr wrap="square" lIns="0" tIns="0" rIns="0" bIns="0" rtlCol="0" anchor="ctr"/>
            <a:lstStyle/>
            <a:p>
              <a:pPr marL="0" indent="0">
                <a:buNone/>
              </a:pPr>
              <a:r>
                <a:rPr lang="en-US" sz="850" dirty="0">
                  <a:solidFill>
                    <a:srgbClr val="64748B"/>
                  </a:solidFill>
                </a:rPr>
                <a:t>Keyword del banner central (750×200) en agendas</a:t>
              </a:r>
              <a:endParaRPr lang="en-US" sz="850" dirty="0"/>
            </a:p>
          </p:txBody>
        </p:sp>
      </p:grpSp>
      <p:grpSp>
        <p:nvGrpSpPr>
          <p:cNvPr id="83" name="Grupo 82">
            <a:extLst>
              <a:ext uri="{FF2B5EF4-FFF2-40B4-BE49-F238E27FC236}">
                <a16:creationId xmlns:a16="http://schemas.microsoft.com/office/drawing/2014/main" id="{7EF77062-286E-FEA2-6AF4-D0F98F45873D}"/>
              </a:ext>
            </a:extLst>
          </p:cNvPr>
          <p:cNvGrpSpPr/>
          <p:nvPr/>
        </p:nvGrpSpPr>
        <p:grpSpPr>
          <a:xfrm>
            <a:off x="274320" y="3611602"/>
            <a:ext cx="8778240" cy="374904"/>
            <a:chOff x="274320" y="2633472"/>
            <a:chExt cx="8778240" cy="374904"/>
          </a:xfrm>
        </p:grpSpPr>
        <p:sp>
          <p:nvSpPr>
            <p:cNvPr id="21" name="Shape 19"/>
            <p:cNvSpPr/>
            <p:nvPr/>
          </p:nvSpPr>
          <p:spPr>
            <a:xfrm>
              <a:off x="274320" y="2633472"/>
              <a:ext cx="2834640" cy="374904"/>
            </a:xfrm>
            <a:prstGeom prst="rect">
              <a:avLst/>
            </a:prstGeom>
            <a:solidFill>
              <a:srgbClr val="FFFFFF"/>
            </a:solidFill>
            <a:ln w="12700">
              <a:solidFill>
                <a:srgbClr val="CBD5E1"/>
              </a:solidFill>
              <a:prstDash val="solid"/>
            </a:ln>
          </p:spPr>
          <p:txBody>
            <a:bodyPr/>
            <a:lstStyle/>
            <a:p>
              <a:endParaRPr lang="es-MX"/>
            </a:p>
          </p:txBody>
        </p:sp>
        <p:sp>
          <p:nvSpPr>
            <p:cNvPr id="22" name="Text 20"/>
            <p:cNvSpPr/>
            <p:nvPr/>
          </p:nvSpPr>
          <p:spPr>
            <a:xfrm>
              <a:off x="384048" y="2633472"/>
              <a:ext cx="960120" cy="374904"/>
            </a:xfrm>
            <a:prstGeom prst="rect">
              <a:avLst/>
            </a:prstGeom>
            <a:noFill/>
            <a:ln/>
          </p:spPr>
          <p:txBody>
            <a:bodyPr wrap="square" lIns="0" tIns="0" rIns="0" bIns="0" rtlCol="0" anchor="ctr"/>
            <a:lstStyle/>
            <a:p>
              <a:pPr marL="0" indent="0">
                <a:buNone/>
              </a:pPr>
              <a:r>
                <a:rPr lang="en-US" sz="900" b="1" dirty="0">
                  <a:solidFill>
                    <a:srgbClr val="263980"/>
                  </a:solidFill>
                </a:rPr>
                <a:t>Creatividad</a:t>
              </a:r>
              <a:endParaRPr lang="en-US" sz="900" dirty="0"/>
            </a:p>
          </p:txBody>
        </p:sp>
        <p:sp>
          <p:nvSpPr>
            <p:cNvPr id="23" name="Shape 21"/>
            <p:cNvSpPr/>
            <p:nvPr/>
          </p:nvSpPr>
          <p:spPr>
            <a:xfrm>
              <a:off x="1353312" y="2706624"/>
              <a:ext cx="18288" cy="228600"/>
            </a:xfrm>
            <a:prstGeom prst="rect">
              <a:avLst/>
            </a:prstGeom>
            <a:solidFill>
              <a:srgbClr val="46C2CE"/>
            </a:solidFill>
            <a:ln w="12700">
              <a:solidFill>
                <a:srgbClr val="46C2CE"/>
              </a:solidFill>
              <a:prstDash val="solid"/>
            </a:ln>
          </p:spPr>
          <p:txBody>
            <a:bodyPr/>
            <a:lstStyle/>
            <a:p>
              <a:endParaRPr lang="es-MX"/>
            </a:p>
          </p:txBody>
        </p:sp>
        <p:sp>
          <p:nvSpPr>
            <p:cNvPr id="24" name="Text 22"/>
            <p:cNvSpPr/>
            <p:nvPr/>
          </p:nvSpPr>
          <p:spPr>
            <a:xfrm>
              <a:off x="1426464" y="2633472"/>
              <a:ext cx="1572768" cy="374904"/>
            </a:xfrm>
            <a:prstGeom prst="rect">
              <a:avLst/>
            </a:prstGeom>
            <a:noFill/>
            <a:ln/>
          </p:spPr>
          <p:txBody>
            <a:bodyPr wrap="square" lIns="0" tIns="0" rIns="0" bIns="0" rtlCol="0" anchor="ctr"/>
            <a:lstStyle/>
            <a:p>
              <a:pPr marL="0" indent="0">
                <a:buNone/>
              </a:pPr>
              <a:r>
                <a:rPr lang="en-US" sz="850" dirty="0">
                  <a:solidFill>
                    <a:srgbClr val="64748B"/>
                  </a:solidFill>
                </a:rPr>
                <a:t>El archivo visual del banner + URL de destino</a:t>
              </a:r>
              <a:endParaRPr lang="en-US" sz="850" dirty="0"/>
            </a:p>
          </p:txBody>
        </p:sp>
        <p:sp>
          <p:nvSpPr>
            <p:cNvPr id="45" name="Shape 43"/>
            <p:cNvSpPr/>
            <p:nvPr/>
          </p:nvSpPr>
          <p:spPr>
            <a:xfrm>
              <a:off x="3246120" y="2633472"/>
              <a:ext cx="2834640" cy="374904"/>
            </a:xfrm>
            <a:prstGeom prst="rect">
              <a:avLst/>
            </a:prstGeom>
            <a:solidFill>
              <a:srgbClr val="FFFFFF"/>
            </a:solidFill>
            <a:ln w="12700">
              <a:solidFill>
                <a:srgbClr val="CBD5E1"/>
              </a:solidFill>
              <a:prstDash val="solid"/>
            </a:ln>
          </p:spPr>
          <p:txBody>
            <a:bodyPr/>
            <a:lstStyle/>
            <a:p>
              <a:endParaRPr lang="es-MX"/>
            </a:p>
          </p:txBody>
        </p:sp>
        <p:sp>
          <p:nvSpPr>
            <p:cNvPr id="46" name="Text 44"/>
            <p:cNvSpPr/>
            <p:nvPr/>
          </p:nvSpPr>
          <p:spPr>
            <a:xfrm>
              <a:off x="3355848" y="2633472"/>
              <a:ext cx="960120" cy="374904"/>
            </a:xfrm>
            <a:prstGeom prst="rect">
              <a:avLst/>
            </a:prstGeom>
            <a:noFill/>
            <a:ln/>
          </p:spPr>
          <p:txBody>
            <a:bodyPr wrap="square" lIns="0" tIns="0" rIns="0" bIns="0" rtlCol="0" anchor="ctr"/>
            <a:lstStyle/>
            <a:p>
              <a:pPr marL="0" indent="0">
                <a:buNone/>
              </a:pPr>
              <a:r>
                <a:rPr lang="en-US" sz="900" b="1" dirty="0">
                  <a:solidFill>
                    <a:srgbClr val="263980"/>
                  </a:solidFill>
                </a:rPr>
                <a:t>Mobile Banner</a:t>
              </a:r>
              <a:endParaRPr lang="en-US" sz="900" dirty="0"/>
            </a:p>
          </p:txBody>
        </p:sp>
        <p:sp>
          <p:nvSpPr>
            <p:cNvPr id="47" name="Shape 45"/>
            <p:cNvSpPr/>
            <p:nvPr/>
          </p:nvSpPr>
          <p:spPr>
            <a:xfrm>
              <a:off x="4325112" y="2706624"/>
              <a:ext cx="18288" cy="228600"/>
            </a:xfrm>
            <a:prstGeom prst="rect">
              <a:avLst/>
            </a:prstGeom>
            <a:solidFill>
              <a:srgbClr val="46C2CE"/>
            </a:solidFill>
            <a:ln w="12700">
              <a:solidFill>
                <a:srgbClr val="46C2CE"/>
              </a:solidFill>
              <a:prstDash val="solid"/>
            </a:ln>
          </p:spPr>
          <p:txBody>
            <a:bodyPr/>
            <a:lstStyle/>
            <a:p>
              <a:endParaRPr lang="es-MX"/>
            </a:p>
          </p:txBody>
        </p:sp>
        <p:sp>
          <p:nvSpPr>
            <p:cNvPr id="48" name="Text 46"/>
            <p:cNvSpPr/>
            <p:nvPr/>
          </p:nvSpPr>
          <p:spPr>
            <a:xfrm>
              <a:off x="4398264" y="2633472"/>
              <a:ext cx="1572768" cy="374904"/>
            </a:xfrm>
            <a:prstGeom prst="rect">
              <a:avLst/>
            </a:prstGeom>
            <a:noFill/>
            <a:ln/>
          </p:spPr>
          <p:txBody>
            <a:bodyPr wrap="square" lIns="0" tIns="0" rIns="0" bIns="0" rtlCol="0" anchor="ctr"/>
            <a:lstStyle/>
            <a:p>
              <a:pPr marL="0" indent="0">
                <a:buNone/>
              </a:pPr>
              <a:r>
                <a:rPr lang="en-US" sz="850" dirty="0">
                  <a:solidFill>
                    <a:srgbClr val="64748B"/>
                  </a:solidFill>
                </a:rPr>
                <a:t>Banner superior en móvil 300×100 px</a:t>
              </a:r>
              <a:endParaRPr lang="en-US" sz="850" dirty="0"/>
            </a:p>
          </p:txBody>
        </p:sp>
        <p:sp>
          <p:nvSpPr>
            <p:cNvPr id="69" name="Shape 67"/>
            <p:cNvSpPr/>
            <p:nvPr/>
          </p:nvSpPr>
          <p:spPr>
            <a:xfrm>
              <a:off x="6217920" y="2633472"/>
              <a:ext cx="2834640" cy="374904"/>
            </a:xfrm>
            <a:prstGeom prst="rect">
              <a:avLst/>
            </a:prstGeom>
            <a:solidFill>
              <a:srgbClr val="FFFFFF"/>
            </a:solidFill>
            <a:ln w="12700">
              <a:solidFill>
                <a:srgbClr val="CBD5E1"/>
              </a:solidFill>
              <a:prstDash val="solid"/>
            </a:ln>
          </p:spPr>
          <p:txBody>
            <a:bodyPr/>
            <a:lstStyle/>
            <a:p>
              <a:endParaRPr lang="es-MX"/>
            </a:p>
          </p:txBody>
        </p:sp>
        <p:sp>
          <p:nvSpPr>
            <p:cNvPr id="70" name="Text 68"/>
            <p:cNvSpPr/>
            <p:nvPr/>
          </p:nvSpPr>
          <p:spPr>
            <a:xfrm>
              <a:off x="6327648" y="2633472"/>
              <a:ext cx="960120" cy="374904"/>
            </a:xfrm>
            <a:prstGeom prst="rect">
              <a:avLst/>
            </a:prstGeom>
            <a:noFill/>
            <a:ln/>
          </p:spPr>
          <p:txBody>
            <a:bodyPr wrap="square" lIns="0" tIns="0" rIns="0" bIns="0" rtlCol="0" anchor="ctr"/>
            <a:lstStyle/>
            <a:p>
              <a:pPr marL="0" indent="0">
                <a:buNone/>
              </a:pPr>
              <a:r>
                <a:rPr lang="en-US" sz="900" b="1" dirty="0">
                  <a:solidFill>
                    <a:srgbClr val="263980"/>
                  </a:solidFill>
                </a:rPr>
                <a:t>THP</a:t>
              </a:r>
              <a:endParaRPr lang="en-US" sz="900" dirty="0"/>
            </a:p>
          </p:txBody>
        </p:sp>
        <p:sp>
          <p:nvSpPr>
            <p:cNvPr id="71" name="Shape 69"/>
            <p:cNvSpPr/>
            <p:nvPr/>
          </p:nvSpPr>
          <p:spPr>
            <a:xfrm>
              <a:off x="7296912" y="2706624"/>
              <a:ext cx="18288" cy="228600"/>
            </a:xfrm>
            <a:prstGeom prst="rect">
              <a:avLst/>
            </a:prstGeom>
            <a:solidFill>
              <a:srgbClr val="46C2CE"/>
            </a:solidFill>
            <a:ln w="12700">
              <a:solidFill>
                <a:srgbClr val="46C2CE"/>
              </a:solidFill>
              <a:prstDash val="solid"/>
            </a:ln>
          </p:spPr>
          <p:txBody>
            <a:bodyPr/>
            <a:lstStyle/>
            <a:p>
              <a:endParaRPr lang="es-MX"/>
            </a:p>
          </p:txBody>
        </p:sp>
        <p:sp>
          <p:nvSpPr>
            <p:cNvPr id="72" name="Text 70"/>
            <p:cNvSpPr/>
            <p:nvPr/>
          </p:nvSpPr>
          <p:spPr>
            <a:xfrm>
              <a:off x="7370064" y="2633472"/>
              <a:ext cx="1572768" cy="374904"/>
            </a:xfrm>
            <a:prstGeom prst="rect">
              <a:avLst/>
            </a:prstGeom>
            <a:noFill/>
            <a:ln/>
          </p:spPr>
          <p:txBody>
            <a:bodyPr wrap="square" lIns="0" tIns="0" rIns="0" bIns="0" rtlCol="0" anchor="ctr"/>
            <a:lstStyle/>
            <a:p>
              <a:pPr marL="0" indent="0">
                <a:buNone/>
              </a:pPr>
              <a:r>
                <a:rPr lang="en-US" sz="850" dirty="0">
                  <a:solidFill>
                    <a:srgbClr val="64748B"/>
                  </a:solidFill>
                </a:rPr>
                <a:t>Tu Hijo en Portada — campaña propia con cobertura masiva en todo el sitio</a:t>
              </a:r>
              <a:endParaRPr lang="en-US" sz="850" dirty="0"/>
            </a:p>
          </p:txBody>
        </p:sp>
      </p:grpSp>
      <p:grpSp>
        <p:nvGrpSpPr>
          <p:cNvPr id="82" name="Grupo 81">
            <a:extLst>
              <a:ext uri="{FF2B5EF4-FFF2-40B4-BE49-F238E27FC236}">
                <a16:creationId xmlns:a16="http://schemas.microsoft.com/office/drawing/2014/main" id="{A065300F-43B1-CA33-05E3-916DA0EAAD08}"/>
              </a:ext>
            </a:extLst>
          </p:cNvPr>
          <p:cNvGrpSpPr/>
          <p:nvPr/>
        </p:nvGrpSpPr>
        <p:grpSpPr>
          <a:xfrm>
            <a:off x="274320" y="4268586"/>
            <a:ext cx="8778240" cy="374904"/>
            <a:chOff x="274320" y="3063240"/>
            <a:chExt cx="8778240" cy="374904"/>
          </a:xfrm>
        </p:grpSpPr>
        <p:sp>
          <p:nvSpPr>
            <p:cNvPr id="25" name="Shape 23"/>
            <p:cNvSpPr/>
            <p:nvPr/>
          </p:nvSpPr>
          <p:spPr>
            <a:xfrm>
              <a:off x="274320" y="3063240"/>
              <a:ext cx="2834640" cy="374904"/>
            </a:xfrm>
            <a:prstGeom prst="rect">
              <a:avLst/>
            </a:prstGeom>
            <a:solidFill>
              <a:srgbClr val="EEF2FF"/>
            </a:solidFill>
            <a:ln w="12700">
              <a:solidFill>
                <a:srgbClr val="CBD5E1"/>
              </a:solidFill>
              <a:prstDash val="solid"/>
            </a:ln>
          </p:spPr>
          <p:txBody>
            <a:bodyPr/>
            <a:lstStyle/>
            <a:p>
              <a:endParaRPr lang="es-MX"/>
            </a:p>
          </p:txBody>
        </p:sp>
        <p:sp>
          <p:nvSpPr>
            <p:cNvPr id="26" name="Text 24"/>
            <p:cNvSpPr/>
            <p:nvPr/>
          </p:nvSpPr>
          <p:spPr>
            <a:xfrm>
              <a:off x="384048" y="3063240"/>
              <a:ext cx="960120" cy="374904"/>
            </a:xfrm>
            <a:prstGeom prst="rect">
              <a:avLst/>
            </a:prstGeom>
            <a:noFill/>
            <a:ln/>
          </p:spPr>
          <p:txBody>
            <a:bodyPr wrap="square" lIns="0" tIns="0" rIns="0" bIns="0" rtlCol="0" anchor="ctr"/>
            <a:lstStyle/>
            <a:p>
              <a:pPr marL="0" indent="0">
                <a:buNone/>
              </a:pPr>
              <a:r>
                <a:rPr lang="en-US" sz="900" b="1" dirty="0">
                  <a:solidFill>
                    <a:srgbClr val="263980"/>
                  </a:solidFill>
                </a:rPr>
                <a:t>Keyword / Par clave-valor</a:t>
              </a:r>
              <a:endParaRPr lang="en-US" sz="900" dirty="0"/>
            </a:p>
          </p:txBody>
        </p:sp>
        <p:sp>
          <p:nvSpPr>
            <p:cNvPr id="27" name="Shape 25"/>
            <p:cNvSpPr/>
            <p:nvPr/>
          </p:nvSpPr>
          <p:spPr>
            <a:xfrm>
              <a:off x="1353312" y="3136392"/>
              <a:ext cx="18288" cy="228600"/>
            </a:xfrm>
            <a:prstGeom prst="rect">
              <a:avLst/>
            </a:prstGeom>
            <a:solidFill>
              <a:srgbClr val="46C2CE"/>
            </a:solidFill>
            <a:ln w="12700">
              <a:solidFill>
                <a:srgbClr val="46C2CE"/>
              </a:solidFill>
              <a:prstDash val="solid"/>
            </a:ln>
          </p:spPr>
          <p:txBody>
            <a:bodyPr/>
            <a:lstStyle/>
            <a:p>
              <a:endParaRPr lang="es-MX"/>
            </a:p>
          </p:txBody>
        </p:sp>
        <p:sp>
          <p:nvSpPr>
            <p:cNvPr id="28" name="Text 26"/>
            <p:cNvSpPr/>
            <p:nvPr/>
          </p:nvSpPr>
          <p:spPr>
            <a:xfrm>
              <a:off x="1426464" y="3063240"/>
              <a:ext cx="1572768" cy="374904"/>
            </a:xfrm>
            <a:prstGeom prst="rect">
              <a:avLst/>
            </a:prstGeom>
            <a:noFill/>
            <a:ln/>
          </p:spPr>
          <p:txBody>
            <a:bodyPr wrap="square" lIns="0" tIns="0" rIns="0" bIns="0" rtlCol="0" anchor="ctr"/>
            <a:lstStyle/>
            <a:p>
              <a:pPr marL="0" indent="0">
                <a:buNone/>
              </a:pPr>
              <a:r>
                <a:rPr lang="en-US" sz="850" dirty="0">
                  <a:solidFill>
                    <a:srgbClr val="64748B"/>
                  </a:solidFill>
                </a:rPr>
                <a:t>Etiqueta de segmentación que conecta el banner con su contexto</a:t>
              </a:r>
              <a:endParaRPr lang="en-US" sz="850" dirty="0"/>
            </a:p>
          </p:txBody>
        </p:sp>
        <p:sp>
          <p:nvSpPr>
            <p:cNvPr id="49" name="Shape 47"/>
            <p:cNvSpPr/>
            <p:nvPr/>
          </p:nvSpPr>
          <p:spPr>
            <a:xfrm>
              <a:off x="3246120" y="3063240"/>
              <a:ext cx="2834640" cy="374904"/>
            </a:xfrm>
            <a:prstGeom prst="rect">
              <a:avLst/>
            </a:prstGeom>
            <a:solidFill>
              <a:srgbClr val="EEF2FF"/>
            </a:solidFill>
            <a:ln w="12700">
              <a:solidFill>
                <a:srgbClr val="CBD5E1"/>
              </a:solidFill>
              <a:prstDash val="solid"/>
            </a:ln>
          </p:spPr>
          <p:txBody>
            <a:bodyPr/>
            <a:lstStyle/>
            <a:p>
              <a:endParaRPr lang="es-MX"/>
            </a:p>
          </p:txBody>
        </p:sp>
        <p:sp>
          <p:nvSpPr>
            <p:cNvPr id="50" name="Text 48"/>
            <p:cNvSpPr/>
            <p:nvPr/>
          </p:nvSpPr>
          <p:spPr>
            <a:xfrm>
              <a:off x="3355848" y="3063240"/>
              <a:ext cx="960120" cy="374904"/>
            </a:xfrm>
            <a:prstGeom prst="rect">
              <a:avLst/>
            </a:prstGeom>
            <a:noFill/>
            <a:ln/>
          </p:spPr>
          <p:txBody>
            <a:bodyPr wrap="square" lIns="0" tIns="0" rIns="0" bIns="0" rtlCol="0" anchor="ctr"/>
            <a:lstStyle/>
            <a:p>
              <a:pPr marL="0" indent="0">
                <a:buNone/>
              </a:pPr>
              <a:r>
                <a:rPr lang="en-US" sz="900" b="1" dirty="0">
                  <a:solidFill>
                    <a:srgbClr val="263980"/>
                  </a:solidFill>
                </a:rPr>
                <a:t>Programática</a:t>
              </a:r>
              <a:endParaRPr lang="en-US" sz="900" dirty="0"/>
            </a:p>
          </p:txBody>
        </p:sp>
        <p:sp>
          <p:nvSpPr>
            <p:cNvPr id="51" name="Shape 49"/>
            <p:cNvSpPr/>
            <p:nvPr/>
          </p:nvSpPr>
          <p:spPr>
            <a:xfrm>
              <a:off x="4325112" y="3136392"/>
              <a:ext cx="18288" cy="228600"/>
            </a:xfrm>
            <a:prstGeom prst="rect">
              <a:avLst/>
            </a:prstGeom>
            <a:solidFill>
              <a:srgbClr val="46C2CE"/>
            </a:solidFill>
            <a:ln w="12700">
              <a:solidFill>
                <a:srgbClr val="46C2CE"/>
              </a:solidFill>
              <a:prstDash val="solid"/>
            </a:ln>
          </p:spPr>
          <p:txBody>
            <a:bodyPr/>
            <a:lstStyle/>
            <a:p>
              <a:endParaRPr lang="es-MX"/>
            </a:p>
          </p:txBody>
        </p:sp>
        <p:sp>
          <p:nvSpPr>
            <p:cNvPr id="52" name="Text 50"/>
            <p:cNvSpPr/>
            <p:nvPr/>
          </p:nvSpPr>
          <p:spPr>
            <a:xfrm>
              <a:off x="4398264" y="3063240"/>
              <a:ext cx="1572768" cy="374904"/>
            </a:xfrm>
            <a:prstGeom prst="rect">
              <a:avLst/>
            </a:prstGeom>
            <a:noFill/>
            <a:ln/>
          </p:spPr>
          <p:txBody>
            <a:bodyPr wrap="square" lIns="0" tIns="0" rIns="0" bIns="0" rtlCol="0" anchor="ctr"/>
            <a:lstStyle/>
            <a:p>
              <a:pPr marL="0" indent="0">
                <a:buNone/>
              </a:pPr>
              <a:r>
                <a:rPr lang="en-US" sz="850" dirty="0">
                  <a:solidFill>
                    <a:srgbClr val="64748B"/>
                  </a:solidFill>
                </a:rPr>
                <a:t>Sistema automático que decide en tiempo real qué anuncio mostrar</a:t>
              </a:r>
              <a:endParaRPr lang="en-US" sz="850" dirty="0"/>
            </a:p>
          </p:txBody>
        </p:sp>
        <p:sp>
          <p:nvSpPr>
            <p:cNvPr id="73" name="Shape 71"/>
            <p:cNvSpPr/>
            <p:nvPr/>
          </p:nvSpPr>
          <p:spPr>
            <a:xfrm>
              <a:off x="6217920" y="3063240"/>
              <a:ext cx="2834640" cy="374904"/>
            </a:xfrm>
            <a:prstGeom prst="rect">
              <a:avLst/>
            </a:prstGeom>
            <a:solidFill>
              <a:srgbClr val="EEF2FF"/>
            </a:solidFill>
            <a:ln w="12700">
              <a:solidFill>
                <a:srgbClr val="CBD5E1"/>
              </a:solidFill>
              <a:prstDash val="solid"/>
            </a:ln>
          </p:spPr>
          <p:txBody>
            <a:bodyPr/>
            <a:lstStyle/>
            <a:p>
              <a:endParaRPr lang="es-MX"/>
            </a:p>
          </p:txBody>
        </p:sp>
        <p:sp>
          <p:nvSpPr>
            <p:cNvPr id="74" name="Text 72"/>
            <p:cNvSpPr/>
            <p:nvPr/>
          </p:nvSpPr>
          <p:spPr>
            <a:xfrm>
              <a:off x="6327648" y="3063240"/>
              <a:ext cx="960120" cy="374904"/>
            </a:xfrm>
            <a:prstGeom prst="rect">
              <a:avLst/>
            </a:prstGeom>
            <a:noFill/>
            <a:ln/>
          </p:spPr>
          <p:txBody>
            <a:bodyPr wrap="square" lIns="0" tIns="0" rIns="0" bIns="0" rtlCol="0" anchor="ctr"/>
            <a:lstStyle/>
            <a:p>
              <a:pPr marL="0" indent="0">
                <a:buNone/>
              </a:pPr>
              <a:r>
                <a:rPr lang="en-US" sz="900" b="1" dirty="0">
                  <a:solidFill>
                    <a:srgbClr val="263980"/>
                  </a:solidFill>
                </a:rPr>
                <a:t>Prioridad de precios (12)</a:t>
              </a:r>
              <a:endParaRPr lang="en-US" sz="900" dirty="0"/>
            </a:p>
          </p:txBody>
        </p:sp>
        <p:sp>
          <p:nvSpPr>
            <p:cNvPr id="75" name="Shape 73"/>
            <p:cNvSpPr/>
            <p:nvPr/>
          </p:nvSpPr>
          <p:spPr>
            <a:xfrm>
              <a:off x="7296912" y="3136392"/>
              <a:ext cx="18288" cy="228600"/>
            </a:xfrm>
            <a:prstGeom prst="rect">
              <a:avLst/>
            </a:prstGeom>
            <a:solidFill>
              <a:srgbClr val="46C2CE"/>
            </a:solidFill>
            <a:ln w="12700">
              <a:solidFill>
                <a:srgbClr val="46C2CE"/>
              </a:solidFill>
              <a:prstDash val="solid"/>
            </a:ln>
          </p:spPr>
          <p:txBody>
            <a:bodyPr/>
            <a:lstStyle/>
            <a:p>
              <a:endParaRPr lang="es-MX"/>
            </a:p>
          </p:txBody>
        </p:sp>
        <p:sp>
          <p:nvSpPr>
            <p:cNvPr id="76" name="Text 74"/>
            <p:cNvSpPr/>
            <p:nvPr/>
          </p:nvSpPr>
          <p:spPr>
            <a:xfrm>
              <a:off x="7370064" y="3063240"/>
              <a:ext cx="1572768" cy="374904"/>
            </a:xfrm>
            <a:prstGeom prst="rect">
              <a:avLst/>
            </a:prstGeom>
            <a:noFill/>
            <a:ln/>
          </p:spPr>
          <p:txBody>
            <a:bodyPr wrap="square" lIns="0" tIns="0" rIns="0" bIns="0" rtlCol="0" anchor="ctr"/>
            <a:lstStyle/>
            <a:p>
              <a:pPr marL="0" indent="0">
                <a:buNone/>
              </a:pPr>
              <a:r>
                <a:rPr lang="en-US" sz="850" dirty="0">
                  <a:solidFill>
                    <a:srgbClr val="64748B"/>
                  </a:solidFill>
                </a:rPr>
                <a:t>Tipo de línea para programática — cede espacio a campañas directas</a:t>
              </a:r>
              <a:endParaRPr lang="en-US" sz="850" dirty="0"/>
            </a:p>
          </p:txBody>
        </p:sp>
      </p:grpSp>
      <p:sp>
        <p:nvSpPr>
          <p:cNvPr id="77" name="Shape 75"/>
          <p:cNvSpPr/>
          <p:nvPr/>
        </p:nvSpPr>
        <p:spPr>
          <a:xfrm>
            <a:off x="0" y="4846320"/>
            <a:ext cx="9144000" cy="297180"/>
          </a:xfrm>
          <a:prstGeom prst="rect">
            <a:avLst/>
          </a:prstGeom>
          <a:solidFill>
            <a:srgbClr val="263980"/>
          </a:solidFill>
          <a:ln w="12700">
            <a:solidFill>
              <a:srgbClr val="263980"/>
            </a:solidFill>
            <a:prstDash val="solid"/>
          </a:ln>
        </p:spPr>
        <p:txBody>
          <a:bodyPr/>
          <a:lstStyle/>
          <a:p>
            <a:endParaRPr lang="es-MX"/>
          </a:p>
        </p:txBody>
      </p:sp>
      <p:sp>
        <p:nvSpPr>
          <p:cNvPr id="78" name="Text 76"/>
          <p:cNvSpPr/>
          <p:nvPr/>
        </p:nvSpPr>
        <p:spPr>
          <a:xfrm>
            <a:off x="274320" y="4846320"/>
            <a:ext cx="6400800" cy="297180"/>
          </a:xfrm>
          <a:prstGeom prst="rect">
            <a:avLst/>
          </a:prstGeom>
          <a:noFill/>
          <a:ln/>
        </p:spPr>
        <p:txBody>
          <a:bodyPr wrap="square" lIns="0" tIns="0" rIns="0" bIns="0" rtlCol="0" anchor="ctr"/>
          <a:lstStyle/>
          <a:p>
            <a:r>
              <a:rPr lang="es-MX" sz="800" dirty="0" err="1">
                <a:solidFill>
                  <a:srgbClr val="AABBEE"/>
                </a:solidFill>
              </a:rPr>
              <a:t>Sunname</a:t>
            </a:r>
            <a:r>
              <a:rPr lang="es-MX" sz="800" dirty="0">
                <a:solidFill>
                  <a:srgbClr val="AABBEE"/>
                </a:solidFill>
              </a:rPr>
              <a:t> Technologies  · Sfera </a:t>
            </a:r>
            <a:r>
              <a:rPr lang="es-MX" sz="800" dirty="0" err="1">
                <a:solidFill>
                  <a:srgbClr val="AABBEE"/>
                </a:solidFill>
              </a:rPr>
              <a:t>MediaGroup</a:t>
            </a:r>
            <a:r>
              <a:rPr lang="es-MX" sz="800" dirty="0">
                <a:solidFill>
                  <a:srgbClr val="AABBEE"/>
                </a:solidFill>
              </a:rPr>
              <a:t> · Google Ad Manager · Marzo 2026</a:t>
            </a:r>
          </a:p>
        </p:txBody>
      </p:sp>
      <p:pic>
        <p:nvPicPr>
          <p:cNvPr id="81" name="Gráfico 80">
            <a:extLst>
              <a:ext uri="{FF2B5EF4-FFF2-40B4-BE49-F238E27FC236}">
                <a16:creationId xmlns:a16="http://schemas.microsoft.com/office/drawing/2014/main" id="{D66C0820-FA79-50EB-D07E-D1CD6BA7D0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533" y="4731536"/>
            <a:ext cx="1393444" cy="54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C1A56"/>
        </a:solidFill>
        <a:effectLst/>
      </p:bgPr>
    </p:bg>
    <p:spTree>
      <p:nvGrpSpPr>
        <p:cNvPr id="1" name=""/>
        <p:cNvGrpSpPr/>
        <p:nvPr/>
      </p:nvGrpSpPr>
      <p:grpSpPr>
        <a:xfrm>
          <a:off x="0" y="0"/>
          <a:ext cx="0" cy="0"/>
          <a:chOff x="0" y="0"/>
          <a:chExt cx="0" cy="0"/>
        </a:xfrm>
      </p:grpSpPr>
      <p:sp>
        <p:nvSpPr>
          <p:cNvPr id="2" name="Shape 0"/>
          <p:cNvSpPr/>
          <p:nvPr/>
        </p:nvSpPr>
        <p:spPr>
          <a:xfrm>
            <a:off x="-731520" y="-731520"/>
            <a:ext cx="3200400" cy="3200400"/>
          </a:xfrm>
          <a:prstGeom prst="ellipse">
            <a:avLst/>
          </a:prstGeom>
          <a:solidFill>
            <a:srgbClr val="7F52A0">
              <a:alpha val="30000"/>
            </a:srgbClr>
          </a:solidFill>
          <a:ln w="12700">
            <a:solidFill>
              <a:srgbClr val="7F52A0">
                <a:alpha val="40000"/>
              </a:srgbClr>
            </a:solidFill>
            <a:prstDash val="solid"/>
          </a:ln>
        </p:spPr>
        <p:txBody>
          <a:bodyPr/>
          <a:lstStyle/>
          <a:p>
            <a:endParaRPr lang="es-MX"/>
          </a:p>
        </p:txBody>
      </p:sp>
      <p:sp>
        <p:nvSpPr>
          <p:cNvPr id="3" name="Shape 1"/>
          <p:cNvSpPr/>
          <p:nvPr/>
        </p:nvSpPr>
        <p:spPr>
          <a:xfrm>
            <a:off x="6858000" y="2926080"/>
            <a:ext cx="2743200" cy="2743200"/>
          </a:xfrm>
          <a:prstGeom prst="ellipse">
            <a:avLst/>
          </a:prstGeom>
          <a:solidFill>
            <a:srgbClr val="263980">
              <a:alpha val="40000"/>
            </a:srgbClr>
          </a:solidFill>
          <a:ln w="12700">
            <a:solidFill>
              <a:srgbClr val="263980">
                <a:alpha val="50000"/>
              </a:srgbClr>
            </a:solidFill>
            <a:prstDash val="solid"/>
          </a:ln>
        </p:spPr>
        <p:txBody>
          <a:bodyPr/>
          <a:lstStyle/>
          <a:p>
            <a:endParaRPr lang="es-MX"/>
          </a:p>
        </p:txBody>
      </p:sp>
      <p:sp>
        <p:nvSpPr>
          <p:cNvPr id="4" name="Shape 2"/>
          <p:cNvSpPr/>
          <p:nvPr/>
        </p:nvSpPr>
        <p:spPr>
          <a:xfrm>
            <a:off x="7498080" y="-457200"/>
            <a:ext cx="1828800" cy="1828800"/>
          </a:xfrm>
          <a:prstGeom prst="ellipse">
            <a:avLst/>
          </a:prstGeom>
          <a:solidFill>
            <a:srgbClr val="46C2CE">
              <a:alpha val="25000"/>
            </a:srgbClr>
          </a:solidFill>
          <a:ln w="12700">
            <a:solidFill>
              <a:srgbClr val="46C2CE">
                <a:alpha val="35000"/>
              </a:srgbClr>
            </a:solidFill>
            <a:prstDash val="solid"/>
          </a:ln>
        </p:spPr>
        <p:txBody>
          <a:bodyPr/>
          <a:lstStyle/>
          <a:p>
            <a:endParaRPr lang="es-MX"/>
          </a:p>
        </p:txBody>
      </p:sp>
      <p:sp>
        <p:nvSpPr>
          <p:cNvPr id="5" name="Shape 3"/>
          <p:cNvSpPr/>
          <p:nvPr/>
        </p:nvSpPr>
        <p:spPr>
          <a:xfrm>
            <a:off x="0" y="0"/>
            <a:ext cx="164592" cy="5143500"/>
          </a:xfrm>
          <a:prstGeom prst="rect">
            <a:avLst/>
          </a:prstGeom>
          <a:solidFill>
            <a:srgbClr val="46C2CE"/>
          </a:solidFill>
          <a:ln w="12700">
            <a:solidFill>
              <a:srgbClr val="46C2CE"/>
            </a:solidFill>
            <a:prstDash val="solid"/>
          </a:ln>
        </p:spPr>
        <p:txBody>
          <a:bodyPr/>
          <a:lstStyle/>
          <a:p>
            <a:endParaRPr lang="es-MX"/>
          </a:p>
        </p:txBody>
      </p:sp>
      <p:sp>
        <p:nvSpPr>
          <p:cNvPr id="8" name="Text 6"/>
          <p:cNvSpPr/>
          <p:nvPr/>
        </p:nvSpPr>
        <p:spPr>
          <a:xfrm>
            <a:off x="411480" y="1188720"/>
            <a:ext cx="7315200" cy="594360"/>
          </a:xfrm>
          <a:prstGeom prst="rect">
            <a:avLst/>
          </a:prstGeom>
          <a:noFill/>
          <a:ln/>
        </p:spPr>
        <p:txBody>
          <a:bodyPr wrap="square" lIns="0" tIns="0" rIns="0" bIns="0" rtlCol="0" anchor="ctr"/>
          <a:lstStyle/>
          <a:p>
            <a:pPr marL="0" indent="0">
              <a:buNone/>
            </a:pPr>
            <a:r>
              <a:rPr lang="en-US" sz="3600" b="1" dirty="0">
                <a:solidFill>
                  <a:srgbClr val="46C2CE"/>
                </a:solidFill>
              </a:rPr>
              <a:t>¡Curso completado!</a:t>
            </a:r>
            <a:endParaRPr lang="en-US" sz="3600" dirty="0"/>
          </a:p>
        </p:txBody>
      </p:sp>
      <p:sp>
        <p:nvSpPr>
          <p:cNvPr id="9" name="Text 7"/>
          <p:cNvSpPr/>
          <p:nvPr/>
        </p:nvSpPr>
        <p:spPr>
          <a:xfrm>
            <a:off x="411480" y="1828800"/>
            <a:ext cx="7315200" cy="411480"/>
          </a:xfrm>
          <a:prstGeom prst="rect">
            <a:avLst/>
          </a:prstGeom>
          <a:noFill/>
          <a:ln/>
        </p:spPr>
        <p:txBody>
          <a:bodyPr wrap="square" lIns="0" tIns="0" rIns="0" bIns="0" rtlCol="0" anchor="ctr"/>
          <a:lstStyle/>
          <a:p>
            <a:pPr marL="0" indent="0">
              <a:buNone/>
            </a:pPr>
            <a:r>
              <a:rPr lang="en-US" sz="1600" dirty="0">
                <a:solidFill>
                  <a:srgbClr val="FFFFFF"/>
                </a:solidFill>
              </a:rPr>
              <a:t>Ahora tienes las herramientas para gestionar banners en Google Ad Manager</a:t>
            </a:r>
            <a:endParaRPr lang="en-US" sz="1600" dirty="0"/>
          </a:p>
        </p:txBody>
      </p:sp>
      <p:sp>
        <p:nvSpPr>
          <p:cNvPr id="10" name="Shape 8"/>
          <p:cNvSpPr/>
          <p:nvPr/>
        </p:nvSpPr>
        <p:spPr>
          <a:xfrm>
            <a:off x="411480" y="2377440"/>
            <a:ext cx="594360" cy="594360"/>
          </a:xfrm>
          <a:prstGeom prst="ellipse">
            <a:avLst/>
          </a:prstGeom>
          <a:solidFill>
            <a:srgbClr val="263980"/>
          </a:solidFill>
          <a:ln w="19050">
            <a:solidFill>
              <a:srgbClr val="46C2CE"/>
            </a:solidFill>
            <a:prstDash val="solid"/>
          </a:ln>
        </p:spPr>
        <p:txBody>
          <a:bodyPr/>
          <a:lstStyle/>
          <a:p>
            <a:endParaRPr lang="es-MX"/>
          </a:p>
        </p:txBody>
      </p:sp>
      <p:pic>
        <p:nvPicPr>
          <p:cNvPr id="11" name="Image 0" descr="preencoded.png"/>
          <p:cNvPicPr>
            <a:picLocks noChangeAspect="1"/>
          </p:cNvPicPr>
          <p:nvPr/>
        </p:nvPicPr>
        <p:blipFill>
          <a:blip r:embed="rId3"/>
          <a:stretch>
            <a:fillRect/>
          </a:stretch>
        </p:blipFill>
        <p:spPr>
          <a:xfrm>
            <a:off x="512064" y="2468880"/>
            <a:ext cx="393192" cy="393192"/>
          </a:xfrm>
          <a:prstGeom prst="rect">
            <a:avLst/>
          </a:prstGeom>
        </p:spPr>
      </p:pic>
      <p:sp>
        <p:nvSpPr>
          <p:cNvPr id="12" name="Text 9"/>
          <p:cNvSpPr/>
          <p:nvPr/>
        </p:nvSpPr>
        <p:spPr>
          <a:xfrm>
            <a:off x="274320" y="3035808"/>
            <a:ext cx="1005840" cy="274320"/>
          </a:xfrm>
          <a:prstGeom prst="rect">
            <a:avLst/>
          </a:prstGeom>
          <a:noFill/>
          <a:ln/>
        </p:spPr>
        <p:txBody>
          <a:bodyPr wrap="square" lIns="0" tIns="0" rIns="0" bIns="0" rtlCol="0" anchor="ctr"/>
          <a:lstStyle/>
          <a:p>
            <a:pPr marL="0" indent="0" algn="ctr">
              <a:buNone/>
            </a:pPr>
            <a:r>
              <a:rPr lang="en-US" sz="950" dirty="0">
                <a:solidFill>
                  <a:srgbClr val="CBD5E1"/>
                </a:solidFill>
              </a:rPr>
              <a:t>Keywords</a:t>
            </a:r>
            <a:endParaRPr lang="en-US" sz="950" dirty="0"/>
          </a:p>
        </p:txBody>
      </p:sp>
      <p:sp>
        <p:nvSpPr>
          <p:cNvPr id="13" name="Shape 10"/>
          <p:cNvSpPr/>
          <p:nvPr/>
        </p:nvSpPr>
        <p:spPr>
          <a:xfrm>
            <a:off x="2103120" y="2377440"/>
            <a:ext cx="594360" cy="594360"/>
          </a:xfrm>
          <a:prstGeom prst="ellipse">
            <a:avLst/>
          </a:prstGeom>
          <a:solidFill>
            <a:srgbClr val="263980"/>
          </a:solidFill>
          <a:ln w="19050">
            <a:solidFill>
              <a:srgbClr val="46C2CE"/>
            </a:solidFill>
            <a:prstDash val="solid"/>
          </a:ln>
        </p:spPr>
        <p:txBody>
          <a:bodyPr/>
          <a:lstStyle/>
          <a:p>
            <a:endParaRPr lang="es-MX"/>
          </a:p>
        </p:txBody>
      </p:sp>
      <p:pic>
        <p:nvPicPr>
          <p:cNvPr id="14" name="Image 1" descr="preencoded.png"/>
          <p:cNvPicPr>
            <a:picLocks noChangeAspect="1"/>
          </p:cNvPicPr>
          <p:nvPr/>
        </p:nvPicPr>
        <p:blipFill>
          <a:blip r:embed="rId4"/>
          <a:stretch>
            <a:fillRect/>
          </a:stretch>
        </p:blipFill>
        <p:spPr>
          <a:xfrm>
            <a:off x="2203704" y="2468880"/>
            <a:ext cx="393192" cy="393192"/>
          </a:xfrm>
          <a:prstGeom prst="rect">
            <a:avLst/>
          </a:prstGeom>
        </p:spPr>
      </p:pic>
      <p:sp>
        <p:nvSpPr>
          <p:cNvPr id="15" name="Text 11"/>
          <p:cNvSpPr/>
          <p:nvPr/>
        </p:nvSpPr>
        <p:spPr>
          <a:xfrm>
            <a:off x="1965960" y="3035808"/>
            <a:ext cx="1005840" cy="274320"/>
          </a:xfrm>
          <a:prstGeom prst="rect">
            <a:avLst/>
          </a:prstGeom>
          <a:noFill/>
          <a:ln/>
        </p:spPr>
        <p:txBody>
          <a:bodyPr wrap="square" lIns="0" tIns="0" rIns="0" bIns="0" rtlCol="0" anchor="ctr"/>
          <a:lstStyle/>
          <a:p>
            <a:pPr marL="0" indent="0" algn="ctr">
              <a:buNone/>
            </a:pPr>
            <a:r>
              <a:rPr lang="en-US" sz="950" dirty="0">
                <a:solidFill>
                  <a:srgbClr val="CBD5E1"/>
                </a:solidFill>
              </a:rPr>
              <a:t>Pedidos</a:t>
            </a:r>
            <a:endParaRPr lang="en-US" sz="950" dirty="0"/>
          </a:p>
        </p:txBody>
      </p:sp>
      <p:sp>
        <p:nvSpPr>
          <p:cNvPr id="16" name="Shape 12"/>
          <p:cNvSpPr/>
          <p:nvPr/>
        </p:nvSpPr>
        <p:spPr>
          <a:xfrm>
            <a:off x="3794760" y="2377440"/>
            <a:ext cx="594360" cy="594360"/>
          </a:xfrm>
          <a:prstGeom prst="ellipse">
            <a:avLst/>
          </a:prstGeom>
          <a:solidFill>
            <a:srgbClr val="263980"/>
          </a:solidFill>
          <a:ln w="19050">
            <a:solidFill>
              <a:srgbClr val="46C2CE"/>
            </a:solidFill>
            <a:prstDash val="solid"/>
          </a:ln>
        </p:spPr>
        <p:txBody>
          <a:bodyPr/>
          <a:lstStyle/>
          <a:p>
            <a:endParaRPr lang="es-MX"/>
          </a:p>
        </p:txBody>
      </p:sp>
      <p:pic>
        <p:nvPicPr>
          <p:cNvPr id="17" name="Image 2" descr="preencoded.png"/>
          <p:cNvPicPr>
            <a:picLocks noChangeAspect="1"/>
          </p:cNvPicPr>
          <p:nvPr/>
        </p:nvPicPr>
        <p:blipFill>
          <a:blip r:embed="rId5"/>
          <a:stretch>
            <a:fillRect/>
          </a:stretch>
        </p:blipFill>
        <p:spPr>
          <a:xfrm>
            <a:off x="3895344" y="2468880"/>
            <a:ext cx="393192" cy="393192"/>
          </a:xfrm>
          <a:prstGeom prst="rect">
            <a:avLst/>
          </a:prstGeom>
        </p:spPr>
      </p:pic>
      <p:sp>
        <p:nvSpPr>
          <p:cNvPr id="18" name="Text 13"/>
          <p:cNvSpPr/>
          <p:nvPr/>
        </p:nvSpPr>
        <p:spPr>
          <a:xfrm>
            <a:off x="3657600" y="3035808"/>
            <a:ext cx="1005840" cy="274320"/>
          </a:xfrm>
          <a:prstGeom prst="rect">
            <a:avLst/>
          </a:prstGeom>
          <a:noFill/>
          <a:ln/>
        </p:spPr>
        <p:txBody>
          <a:bodyPr wrap="square" lIns="0" tIns="0" rIns="0" bIns="0" rtlCol="0" anchor="ctr"/>
          <a:lstStyle/>
          <a:p>
            <a:pPr marL="0" indent="0" algn="ctr">
              <a:buNone/>
            </a:pPr>
            <a:r>
              <a:rPr lang="en-US" sz="950" dirty="0">
                <a:solidFill>
                  <a:srgbClr val="CBD5E1"/>
                </a:solidFill>
              </a:rPr>
              <a:t>Campañas</a:t>
            </a:r>
            <a:endParaRPr lang="en-US" sz="950" dirty="0"/>
          </a:p>
        </p:txBody>
      </p:sp>
      <p:sp>
        <p:nvSpPr>
          <p:cNvPr id="19" name="Shape 14"/>
          <p:cNvSpPr/>
          <p:nvPr/>
        </p:nvSpPr>
        <p:spPr>
          <a:xfrm>
            <a:off x="5486400" y="2377440"/>
            <a:ext cx="594360" cy="594360"/>
          </a:xfrm>
          <a:prstGeom prst="ellipse">
            <a:avLst/>
          </a:prstGeom>
          <a:solidFill>
            <a:srgbClr val="263980"/>
          </a:solidFill>
          <a:ln w="19050">
            <a:solidFill>
              <a:srgbClr val="46C2CE"/>
            </a:solidFill>
            <a:prstDash val="solid"/>
          </a:ln>
        </p:spPr>
        <p:txBody>
          <a:bodyPr/>
          <a:lstStyle/>
          <a:p>
            <a:endParaRPr lang="es-MX"/>
          </a:p>
        </p:txBody>
      </p:sp>
      <p:pic>
        <p:nvPicPr>
          <p:cNvPr id="20" name="Image 3" descr="preencoded.png"/>
          <p:cNvPicPr>
            <a:picLocks noChangeAspect="1"/>
          </p:cNvPicPr>
          <p:nvPr/>
        </p:nvPicPr>
        <p:blipFill>
          <a:blip r:embed="rId6"/>
          <a:stretch>
            <a:fillRect/>
          </a:stretch>
        </p:blipFill>
        <p:spPr>
          <a:xfrm>
            <a:off x="5586984" y="2468880"/>
            <a:ext cx="393192" cy="393192"/>
          </a:xfrm>
          <a:prstGeom prst="rect">
            <a:avLst/>
          </a:prstGeom>
        </p:spPr>
      </p:pic>
      <p:sp>
        <p:nvSpPr>
          <p:cNvPr id="21" name="Text 15"/>
          <p:cNvSpPr/>
          <p:nvPr/>
        </p:nvSpPr>
        <p:spPr>
          <a:xfrm>
            <a:off x="5349240" y="3035808"/>
            <a:ext cx="1005840" cy="274320"/>
          </a:xfrm>
          <a:prstGeom prst="rect">
            <a:avLst/>
          </a:prstGeom>
          <a:noFill/>
          <a:ln/>
        </p:spPr>
        <p:txBody>
          <a:bodyPr wrap="square" lIns="0" tIns="0" rIns="0" bIns="0" rtlCol="0" anchor="ctr"/>
          <a:lstStyle/>
          <a:p>
            <a:pPr marL="0" indent="0" algn="ctr">
              <a:buNone/>
            </a:pPr>
            <a:r>
              <a:rPr lang="en-US" sz="950" dirty="0">
                <a:solidFill>
                  <a:srgbClr val="CBD5E1"/>
                </a:solidFill>
              </a:rPr>
              <a:t>Informes</a:t>
            </a:r>
            <a:endParaRPr lang="en-US" sz="950" dirty="0"/>
          </a:p>
        </p:txBody>
      </p:sp>
      <p:sp>
        <p:nvSpPr>
          <p:cNvPr id="22" name="Shape 16"/>
          <p:cNvSpPr/>
          <p:nvPr/>
        </p:nvSpPr>
        <p:spPr>
          <a:xfrm>
            <a:off x="7178040" y="2377440"/>
            <a:ext cx="594360" cy="594360"/>
          </a:xfrm>
          <a:prstGeom prst="ellipse">
            <a:avLst/>
          </a:prstGeom>
          <a:solidFill>
            <a:srgbClr val="263980"/>
          </a:solidFill>
          <a:ln w="19050">
            <a:solidFill>
              <a:srgbClr val="46C2CE"/>
            </a:solidFill>
            <a:prstDash val="solid"/>
          </a:ln>
        </p:spPr>
        <p:txBody>
          <a:bodyPr/>
          <a:lstStyle/>
          <a:p>
            <a:endParaRPr lang="es-MX"/>
          </a:p>
        </p:txBody>
      </p:sp>
      <p:pic>
        <p:nvPicPr>
          <p:cNvPr id="23" name="Image 4" descr="preencoded.png"/>
          <p:cNvPicPr>
            <a:picLocks noChangeAspect="1"/>
          </p:cNvPicPr>
          <p:nvPr/>
        </p:nvPicPr>
        <p:blipFill>
          <a:blip r:embed="rId7"/>
          <a:stretch>
            <a:fillRect/>
          </a:stretch>
        </p:blipFill>
        <p:spPr>
          <a:xfrm>
            <a:off x="7278624" y="2468880"/>
            <a:ext cx="393192" cy="393192"/>
          </a:xfrm>
          <a:prstGeom prst="rect">
            <a:avLst/>
          </a:prstGeom>
        </p:spPr>
      </p:pic>
      <p:sp>
        <p:nvSpPr>
          <p:cNvPr id="24" name="Text 17"/>
          <p:cNvSpPr/>
          <p:nvPr/>
        </p:nvSpPr>
        <p:spPr>
          <a:xfrm>
            <a:off x="7040880" y="3035808"/>
            <a:ext cx="1005840" cy="274320"/>
          </a:xfrm>
          <a:prstGeom prst="rect">
            <a:avLst/>
          </a:prstGeom>
          <a:noFill/>
          <a:ln/>
        </p:spPr>
        <p:txBody>
          <a:bodyPr wrap="square" lIns="0" tIns="0" rIns="0" bIns="0" rtlCol="0" anchor="ctr"/>
          <a:lstStyle/>
          <a:p>
            <a:pPr marL="0" indent="0" algn="ctr">
              <a:buNone/>
            </a:pPr>
            <a:r>
              <a:rPr lang="en-US" sz="950" dirty="0">
                <a:solidFill>
                  <a:srgbClr val="CBD5E1"/>
                </a:solidFill>
              </a:rPr>
              <a:t>Operación</a:t>
            </a:r>
            <a:endParaRPr lang="en-US" sz="950" dirty="0"/>
          </a:p>
        </p:txBody>
      </p:sp>
      <p:sp>
        <p:nvSpPr>
          <p:cNvPr id="25" name="Shape 18"/>
          <p:cNvSpPr/>
          <p:nvPr/>
        </p:nvSpPr>
        <p:spPr>
          <a:xfrm>
            <a:off x="0" y="3977640"/>
            <a:ext cx="9144000" cy="1165860"/>
          </a:xfrm>
          <a:prstGeom prst="rect">
            <a:avLst/>
          </a:prstGeom>
          <a:solidFill>
            <a:srgbClr val="1A1040"/>
          </a:solidFill>
          <a:ln w="12700">
            <a:solidFill>
              <a:srgbClr val="1A1040"/>
            </a:solidFill>
            <a:prstDash val="solid"/>
          </a:ln>
        </p:spPr>
        <p:txBody>
          <a:bodyPr/>
          <a:lstStyle/>
          <a:p>
            <a:endParaRPr lang="es-MX"/>
          </a:p>
        </p:txBody>
      </p:sp>
      <p:sp>
        <p:nvSpPr>
          <p:cNvPr id="26" name="Shape 19"/>
          <p:cNvSpPr/>
          <p:nvPr/>
        </p:nvSpPr>
        <p:spPr>
          <a:xfrm>
            <a:off x="0" y="3977640"/>
            <a:ext cx="164592" cy="1165860"/>
          </a:xfrm>
          <a:prstGeom prst="rect">
            <a:avLst/>
          </a:prstGeom>
          <a:solidFill>
            <a:srgbClr val="46C2CE"/>
          </a:solidFill>
          <a:ln w="12700">
            <a:solidFill>
              <a:srgbClr val="46C2CE"/>
            </a:solidFill>
            <a:prstDash val="solid"/>
          </a:ln>
        </p:spPr>
        <p:txBody>
          <a:bodyPr/>
          <a:lstStyle/>
          <a:p>
            <a:endParaRPr lang="es-MX"/>
          </a:p>
        </p:txBody>
      </p:sp>
      <p:sp>
        <p:nvSpPr>
          <p:cNvPr id="27" name="Text 20"/>
          <p:cNvSpPr/>
          <p:nvPr/>
        </p:nvSpPr>
        <p:spPr>
          <a:xfrm>
            <a:off x="411480" y="4041648"/>
            <a:ext cx="2743200" cy="274320"/>
          </a:xfrm>
          <a:prstGeom prst="rect">
            <a:avLst/>
          </a:prstGeom>
          <a:noFill/>
          <a:ln/>
        </p:spPr>
        <p:txBody>
          <a:bodyPr wrap="square" lIns="0" tIns="0" rIns="0" bIns="0" rtlCol="0" anchor="ctr"/>
          <a:lstStyle/>
          <a:p>
            <a:pPr marL="0" indent="0">
              <a:buNone/>
            </a:pPr>
            <a:r>
              <a:rPr lang="en-US" sz="900" b="1" kern="0" spc="200" dirty="0">
                <a:solidFill>
                  <a:srgbClr val="46C2CE"/>
                </a:solidFill>
              </a:rPr>
              <a:t>Contacto</a:t>
            </a:r>
            <a:endParaRPr lang="en-US" sz="900" dirty="0"/>
          </a:p>
        </p:txBody>
      </p:sp>
      <p:sp>
        <p:nvSpPr>
          <p:cNvPr id="28" name="Text 21"/>
          <p:cNvSpPr/>
          <p:nvPr/>
        </p:nvSpPr>
        <p:spPr>
          <a:xfrm>
            <a:off x="411480" y="4297680"/>
            <a:ext cx="4114800" cy="320040"/>
          </a:xfrm>
          <a:prstGeom prst="rect">
            <a:avLst/>
          </a:prstGeom>
          <a:noFill/>
          <a:ln/>
        </p:spPr>
        <p:txBody>
          <a:bodyPr wrap="square" lIns="0" tIns="0" rIns="0" bIns="0" rtlCol="0" anchor="ctr"/>
          <a:lstStyle/>
          <a:p>
            <a:pPr marL="0" indent="0">
              <a:buNone/>
            </a:pPr>
            <a:r>
              <a:rPr lang="en-US" sz="1800" b="1" dirty="0">
                <a:solidFill>
                  <a:srgbClr val="FFFFFF"/>
                </a:solidFill>
              </a:rPr>
              <a:t>Eduardo Acevedo</a:t>
            </a:r>
            <a:endParaRPr lang="en-US" sz="1800" dirty="0"/>
          </a:p>
        </p:txBody>
      </p:sp>
      <p:sp>
        <p:nvSpPr>
          <p:cNvPr id="29" name="Text 22"/>
          <p:cNvSpPr/>
          <p:nvPr/>
        </p:nvSpPr>
        <p:spPr>
          <a:xfrm>
            <a:off x="411480" y="4617720"/>
            <a:ext cx="4114800" cy="274320"/>
          </a:xfrm>
          <a:prstGeom prst="rect">
            <a:avLst/>
          </a:prstGeom>
          <a:noFill/>
          <a:ln/>
        </p:spPr>
        <p:txBody>
          <a:bodyPr wrap="square" lIns="0" tIns="0" rIns="0" bIns="0" rtlCol="0" anchor="ctr"/>
          <a:lstStyle/>
          <a:p>
            <a:r>
              <a:rPr lang="en-US" sz="1100" dirty="0">
                <a:solidFill>
                  <a:srgbClr val="46C2CE"/>
                </a:solidFill>
              </a:rPr>
              <a:t>info@sunname.com | www.sunname.com.mx</a:t>
            </a:r>
          </a:p>
        </p:txBody>
      </p:sp>
      <p:sp>
        <p:nvSpPr>
          <p:cNvPr id="30" name="Text 23"/>
          <p:cNvSpPr/>
          <p:nvPr/>
        </p:nvSpPr>
        <p:spPr>
          <a:xfrm>
            <a:off x="4572000" y="4343400"/>
            <a:ext cx="4297680" cy="256032"/>
          </a:xfrm>
          <a:prstGeom prst="rect">
            <a:avLst/>
          </a:prstGeom>
          <a:noFill/>
          <a:ln/>
        </p:spPr>
        <p:txBody>
          <a:bodyPr wrap="square" lIns="0" tIns="0" rIns="0" bIns="0" rtlCol="0" anchor="ctr"/>
          <a:lstStyle/>
          <a:p>
            <a:pPr marL="0" indent="0" algn="r">
              <a:buNone/>
            </a:pPr>
            <a:r>
              <a:rPr lang="en-US" sz="1000" dirty="0">
                <a:solidFill>
                  <a:srgbClr val="CBD5E1"/>
                </a:solidFill>
              </a:rPr>
              <a:t>Sunname Technologies</a:t>
            </a:r>
            <a:endParaRPr lang="en-US" sz="1000" dirty="0"/>
          </a:p>
        </p:txBody>
      </p:sp>
      <p:sp>
        <p:nvSpPr>
          <p:cNvPr id="31" name="Text 24"/>
          <p:cNvSpPr/>
          <p:nvPr/>
        </p:nvSpPr>
        <p:spPr>
          <a:xfrm>
            <a:off x="6355080" y="4663440"/>
            <a:ext cx="2514600" cy="228600"/>
          </a:xfrm>
          <a:prstGeom prst="rect">
            <a:avLst/>
          </a:prstGeom>
          <a:noFill/>
          <a:ln/>
        </p:spPr>
        <p:txBody>
          <a:bodyPr wrap="square" lIns="0" tIns="0" rIns="0" bIns="0" rtlCol="0" anchor="ctr"/>
          <a:lstStyle/>
          <a:p>
            <a:pPr marL="0" indent="0" algn="r">
              <a:buNone/>
            </a:pPr>
            <a:r>
              <a:rPr lang="es-MX" sz="850" dirty="0">
                <a:solidFill>
                  <a:srgbClr val="6688BB"/>
                </a:solidFill>
              </a:rPr>
              <a:t>Sfera </a:t>
            </a:r>
            <a:r>
              <a:rPr lang="es-MX" sz="850" dirty="0" err="1">
                <a:solidFill>
                  <a:srgbClr val="6688BB"/>
                </a:solidFill>
              </a:rPr>
              <a:t>MediaGroup</a:t>
            </a:r>
            <a:r>
              <a:rPr lang="es-MX" sz="850" dirty="0">
                <a:solidFill>
                  <a:srgbClr val="6688BB"/>
                </a:solidFill>
              </a:rPr>
              <a:t> · Google Ad Manager · Marzo 2026</a:t>
            </a:r>
          </a:p>
        </p:txBody>
      </p:sp>
      <p:pic>
        <p:nvPicPr>
          <p:cNvPr id="33" name="Gráfico 32">
            <a:extLst>
              <a:ext uri="{FF2B5EF4-FFF2-40B4-BE49-F238E27FC236}">
                <a16:creationId xmlns:a16="http://schemas.microsoft.com/office/drawing/2014/main" id="{9914588C-EB46-CDF5-DEE4-FF2887418DC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176" y="3592"/>
            <a:ext cx="2786892" cy="108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TotalTime>
  <Words>3174</Words>
  <Application>Microsoft Office PowerPoint</Application>
  <PresentationFormat>Presentación en pantalla (16:9)</PresentationFormat>
  <Paragraphs>578</Paragraphs>
  <Slides>25</Slides>
  <Notes>25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Aptos</vt: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Banners con Google Ad Manager</dc:title>
  <dc:subject>PptxGenJS Presentation</dc:subject>
  <dc:creator>Eduardo Acevedo - Sunname Technologies</dc:creator>
  <cp:lastModifiedBy>Eduardo Acevedo Garcia</cp:lastModifiedBy>
  <cp:revision>26</cp:revision>
  <dcterms:created xsi:type="dcterms:W3CDTF">2026-03-08T21:27:05Z</dcterms:created>
  <dcterms:modified xsi:type="dcterms:W3CDTF">2026-03-10T17:01:14Z</dcterms:modified>
</cp:coreProperties>
</file>