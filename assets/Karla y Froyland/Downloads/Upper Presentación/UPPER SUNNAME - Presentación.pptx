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dec5e78e40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" name="Google Shape;10;g3dec5e78e40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g3dec5e78e40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ecdcd9198_21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g3decdcd9198_21_46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g3decdcd9198_21_46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ecdcd9198_21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g3decdcd9198_21_63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g3decdcd9198_21_63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ecdcd9198_21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g3decdcd9198_21_69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decdcd9198_21_69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ecdcd9198_21_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decdcd9198_21_71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3decdcd9198_21_71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ecdcd9198_21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decdcd9198_21_61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decdcd9198_21_61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d55879fb_17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ded55879fb_17_4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ded55879fb_17_4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ed55879fb_17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ded55879fb_17_8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tu operación depende de personas… no es escalable. Esto es clave: los procesos deben estar sistematizados para poder crecer.</a:t>
            </a:r>
            <a:endParaRPr/>
          </a:p>
        </p:txBody>
      </p:sp>
      <p:sp>
        <p:nvSpPr>
          <p:cNvPr id="126" name="Google Shape;126;g3ded55879fb_17_8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ec5e78e40_2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dec5e78e40_2_7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dec5e78e40_2_7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ecdcd9198_21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decdcd9198_21_75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decdcd9198_21_75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cdcd9198_2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decdcd9198_21_1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decdcd9198_21_1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d55879fb_17_199:notes"/>
          <p:cNvSpPr txBox="1">
            <a:spLocks noGrp="1"/>
          </p:cNvSpPr>
          <p:nvPr>
            <p:ph type="body" idx="1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ed55879f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ded55879fb_0_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ded55879fb_0_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ec6bbe5bf_0_1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dec6bbe5bf_0_118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Control de entradas y salidas, Visibilidad de inventario por ubicación, Reducción de errores en surtido, Mejora en tiempos de entrega, Escalabilidad sin perder control</a:t>
            </a:r>
            <a:endParaRPr/>
          </a:p>
        </p:txBody>
      </p:sp>
      <p:sp>
        <p:nvSpPr>
          <p:cNvPr id="202" name="Google Shape;202;g3dec6bbe5bf_0_118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ecdcd9198_21_8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g3decdcd9198_21_83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g3decdcd9198_21_83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ecdcd9198_21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decdcd9198_21_87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decdcd9198_21_87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ec6bbe5bf_0_1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3dec6bbe5bf_0_193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dec6bbe5bf_0_193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ec6bbe5bf_0_1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3dec6bbe5bf_0_149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dec6bbe5bf_0_149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ec5e78e40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3dec5e78e40_2_16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dec5e78e40_2_16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ed55879f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ded55879fb_0_5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ded55879fb_0_5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ed55879f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ded55879fb_0_5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ded55879fb_0_5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ecdcd9198_21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decdcd9198_21_40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g3decdcd9198_21_40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ecdcd9198_21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3decdcd9198_21_59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decdcd9198_21_59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ecdcd9198_21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g3decdcd9198_21_68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g3decdcd9198_21_68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ec5e78e40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3dec5e78e40_2_1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3dec5e78e40_2_1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ecdcd9198_21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g3decdcd9198_21_67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decdcd9198_21_67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d6c5981fdc_56_0)">
  <p:cSld name="Generated (g3d6c5981fdc_56_0)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YFJfF81_O2k" TargetMode="External"/><Relationship Id="rId5" Type="http://schemas.openxmlformats.org/officeDocument/2006/relationships/image" Target="../media/image27.jp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2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5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"/>
          <p:cNvSpPr/>
          <p:nvPr/>
        </p:nvSpPr>
        <p:spPr>
          <a:xfrm>
            <a:off x="731520" y="1188720"/>
            <a:ext cx="76809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lang="es" sz="2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Hoy muchas operaciones logísticas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lang="es" sz="26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siguen viviendo en </a:t>
            </a:r>
            <a:r>
              <a:rPr lang="es" sz="2600" b="1" i="0" u="none" strike="noStrike" cap="non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Excel</a:t>
            </a:r>
            <a:r>
              <a:rPr lang="es" sz="26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s" sz="2600" b="1" i="0" u="none" strike="noStrike" cap="non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WhatsApp</a:t>
            </a:r>
            <a:r>
              <a:rPr lang="es" sz="26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y </a:t>
            </a:r>
            <a:r>
              <a:rPr lang="es" sz="2600" b="1" i="0" u="none" strike="noStrike" cap="non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buena memoria…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200"/>
              <a:buFont typeface="Calibri"/>
              <a:buNone/>
            </a:pPr>
            <a:r>
              <a:rPr lang="es" sz="2200" b="0" i="1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hasta que crecen…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3200400" y="4389120"/>
            <a:ext cx="2743200" cy="36576"/>
          </a:xfrm>
          <a:prstGeom prst="rect">
            <a:avLst/>
          </a:prstGeom>
          <a:solidFill>
            <a:srgbClr val="46C2CE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Google Shape;1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23;p5"/>
          <p:cNvGrpSpPr/>
          <p:nvPr/>
        </p:nvGrpSpPr>
        <p:grpSpPr>
          <a:xfrm>
            <a:off x="757238" y="1138238"/>
            <a:ext cx="7629600" cy="2867100"/>
            <a:chOff x="757238" y="1138238"/>
            <a:chExt cx="7629600" cy="2867100"/>
          </a:xfrm>
        </p:grpSpPr>
        <p:pic>
          <p:nvPicPr>
            <p:cNvPr id="24" name="Google Shape;24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57238" y="1138238"/>
              <a:ext cx="7629600" cy="286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5"/>
            <p:cNvSpPr txBox="1"/>
            <p:nvPr/>
          </p:nvSpPr>
          <p:spPr>
            <a:xfrm>
              <a:off x="762000" y="1143000"/>
              <a:ext cx="762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58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Crecer…</a:t>
              </a:r>
              <a:endParaRPr sz="5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s" sz="8200" b="0">
                  <a:solidFill>
                    <a:srgbClr val="46C2C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sin control</a:t>
              </a:r>
              <a:endParaRPr sz="8200" b="0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6" name="Google Shape;26;p5"/>
          <p:cNvSpPr/>
          <p:nvPr/>
        </p:nvSpPr>
        <p:spPr>
          <a:xfrm>
            <a:off x="3429000" y="4191000"/>
            <a:ext cx="2286000" cy="38100"/>
          </a:xfrm>
          <a:prstGeom prst="roundRect">
            <a:avLst>
              <a:gd name="adj" fmla="val 50000"/>
            </a:avLst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54864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s"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¿Te suena familiar?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548640" y="868680"/>
            <a:ext cx="1828800" cy="32100"/>
          </a:xfrm>
          <a:prstGeom prst="rect">
            <a:avLst/>
          </a:prstGeom>
          <a:solidFill>
            <a:srgbClr val="46C2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548640" y="1234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1143000" y="1371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Errores de inventario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3291840" y="1234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>
            <a:off x="3886200" y="1371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Retrasos en entregas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035040" y="1234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" name="Google Shape;43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220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/>
          <p:nvPr/>
        </p:nvSpPr>
        <p:spPr>
          <a:xfrm>
            <a:off x="6629400" y="1371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Falta de visibilidad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48640" y="2377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580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1143000" y="2514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Dependencia de personas clave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291840" y="2377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2900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3886200" y="2514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Inventarios no confiables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035040" y="2377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72200" y="2606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6629400" y="2514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Pedidos manuales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48640" y="3520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5800" y="3749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1143000" y="3657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Poca trazabilidad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291840" y="3520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29000" y="3749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3886200" y="3657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Integraciones inexistentes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035040" y="3520440"/>
            <a:ext cx="25602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7840"/>
            </a:srgbClr>
          </a:solidFill>
          <a:ln w="9525" cap="flat" cmpd="sng">
            <a:solidFill>
              <a:srgbClr val="46C2CE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72200" y="3749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"/>
          <p:cNvSpPr/>
          <p:nvPr/>
        </p:nvSpPr>
        <p:spPr>
          <a:xfrm>
            <a:off x="6629400" y="3657600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Mucho retrabajo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7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grpSp>
          <p:nvGrpSpPr>
            <p:cNvPr id="70" name="Google Shape;70;p7"/>
            <p:cNvGrpSpPr/>
            <p:nvPr/>
          </p:nvGrpSpPr>
          <p:grpSpPr>
            <a:xfrm>
              <a:off x="-1905000" y="-2857500"/>
              <a:ext cx="13906500" cy="9906000"/>
              <a:chOff x="-1905000" y="-2857500"/>
              <a:chExt cx="13906500" cy="9906000"/>
            </a:xfrm>
          </p:grpSpPr>
          <p:sp>
            <p:nvSpPr>
              <p:cNvPr id="71" name="Google Shape;71;p7"/>
              <p:cNvSpPr/>
              <p:nvPr/>
            </p:nvSpPr>
            <p:spPr>
              <a:xfrm>
                <a:off x="6286500" y="-2857500"/>
                <a:ext cx="5715000" cy="5715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7"/>
              <p:cNvSpPr/>
              <p:nvPr/>
            </p:nvSpPr>
            <p:spPr>
              <a:xfrm>
                <a:off x="-1905000" y="3238500"/>
                <a:ext cx="3810000" cy="3810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3" name="Google Shape;73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7"/>
            <p:cNvPicPr preferRelativeResize="0"/>
            <p:nvPr/>
          </p:nvPicPr>
          <p:blipFill rotWithShape="1">
            <a:blip r:embed="rId5">
              <a:alphaModFix/>
            </a:blip>
            <a:srcRect t="318" b="318"/>
            <a:stretch/>
          </p:blipFill>
          <p:spPr>
            <a:xfrm>
              <a:off x="6983987" y="7"/>
              <a:ext cx="2160000" cy="832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" name="Google Shape;75;p7"/>
          <p:cNvSpPr/>
          <p:nvPr/>
        </p:nvSpPr>
        <p:spPr>
          <a:xfrm>
            <a:off x="952500" y="1428750"/>
            <a:ext cx="3429000" cy="2286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9525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952500" y="1428750"/>
            <a:ext cx="3429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0">
              <a:solidFill>
                <a:srgbClr val="46C2C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2800" b="1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Excel</a:t>
            </a:r>
            <a:endParaRPr sz="2800" b="1">
              <a:solidFill>
                <a:srgbClr val="46C2C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 es control</a:t>
            </a:r>
            <a:endParaRPr sz="2000" b="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762500" y="1428750"/>
            <a:ext cx="3429000" cy="2286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9525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4762500" y="1428750"/>
            <a:ext cx="3429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0" dirty="0">
              <a:solidFill>
                <a:srgbClr val="46C2C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2800" b="1" dirty="0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WhatsApp</a:t>
            </a:r>
            <a:endParaRPr sz="2800" b="1" dirty="0">
              <a:solidFill>
                <a:srgbClr val="46C2CE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0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no es trazabilidad</a:t>
            </a:r>
            <a:endParaRPr sz="2000" b="0" dirty="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9" name="Google Shape;79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7000" y="1825488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07000" y="1753500"/>
            <a:ext cx="54000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8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grpSp>
          <p:nvGrpSpPr>
            <p:cNvPr id="87" name="Google Shape;87;p8"/>
            <p:cNvGrpSpPr/>
            <p:nvPr/>
          </p:nvGrpSpPr>
          <p:grpSpPr>
            <a:xfrm>
              <a:off x="-1905000" y="-2857500"/>
              <a:ext cx="13906500" cy="9906000"/>
              <a:chOff x="-1905000" y="-2857500"/>
              <a:chExt cx="13906500" cy="9906000"/>
            </a:xfrm>
          </p:grpSpPr>
          <p:sp>
            <p:nvSpPr>
              <p:cNvPr id="88" name="Google Shape;88;p8"/>
              <p:cNvSpPr/>
              <p:nvPr/>
            </p:nvSpPr>
            <p:spPr>
              <a:xfrm>
                <a:off x="6286500" y="-2857500"/>
                <a:ext cx="5715000" cy="5715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8"/>
              <p:cNvSpPr/>
              <p:nvPr/>
            </p:nvSpPr>
            <p:spPr>
              <a:xfrm>
                <a:off x="-1905000" y="3238500"/>
                <a:ext cx="3810000" cy="3810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0" name="Google Shape;90;p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8"/>
            <p:cNvPicPr preferRelativeResize="0"/>
            <p:nvPr/>
          </p:nvPicPr>
          <p:blipFill rotWithShape="1">
            <a:blip r:embed="rId5">
              <a:alphaModFix/>
            </a:blip>
            <a:srcRect t="318" b="318"/>
            <a:stretch/>
          </p:blipFill>
          <p:spPr>
            <a:xfrm>
              <a:off x="6983987" y="7"/>
              <a:ext cx="2160000" cy="832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" name="Google Shape;92;p8"/>
          <p:cNvGrpSpPr/>
          <p:nvPr/>
        </p:nvGrpSpPr>
        <p:grpSpPr>
          <a:xfrm>
            <a:off x="952500" y="1428750"/>
            <a:ext cx="3429000" cy="2286000"/>
            <a:chOff x="952500" y="1428750"/>
            <a:chExt cx="3429000" cy="2286000"/>
          </a:xfrm>
        </p:grpSpPr>
        <p:sp>
          <p:nvSpPr>
            <p:cNvPr id="93" name="Google Shape;93;p8"/>
            <p:cNvSpPr/>
            <p:nvPr/>
          </p:nvSpPr>
          <p:spPr>
            <a:xfrm>
              <a:off x="952500" y="1428750"/>
              <a:ext cx="3429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8000"/>
              </a:srgbClr>
            </a:solidFill>
            <a:ln w="9525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 txBox="1"/>
            <p:nvPr/>
          </p:nvSpPr>
          <p:spPr>
            <a:xfrm>
              <a:off x="952500" y="1428750"/>
              <a:ext cx="3429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dirty="0">
                <a:solidFill>
                  <a:srgbClr val="46C2C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s" sz="2800" b="1" dirty="0">
                  <a:solidFill>
                    <a:srgbClr val="46C2C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Más ventas</a:t>
              </a:r>
              <a:endParaRPr sz="2800" b="1" dirty="0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95" name="Google Shape;95;p8"/>
          <p:cNvSpPr txBox="1"/>
          <p:nvPr/>
        </p:nvSpPr>
        <p:spPr>
          <a:xfrm>
            <a:off x="4381500" y="1428750"/>
            <a:ext cx="381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b="1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≠</a:t>
            </a:r>
            <a:endParaRPr sz="4800" b="1">
              <a:solidFill>
                <a:srgbClr val="46C2C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96" name="Google Shape;96;p8"/>
          <p:cNvGrpSpPr/>
          <p:nvPr/>
        </p:nvGrpSpPr>
        <p:grpSpPr>
          <a:xfrm>
            <a:off x="4762500" y="1428750"/>
            <a:ext cx="3429000" cy="2286000"/>
            <a:chOff x="4762500" y="1428750"/>
            <a:chExt cx="3429000" cy="2286000"/>
          </a:xfrm>
        </p:grpSpPr>
        <p:sp>
          <p:nvSpPr>
            <p:cNvPr id="97" name="Google Shape;97;p8"/>
            <p:cNvSpPr/>
            <p:nvPr/>
          </p:nvSpPr>
          <p:spPr>
            <a:xfrm>
              <a:off x="4762500" y="1428750"/>
              <a:ext cx="3429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8000"/>
              </a:srgbClr>
            </a:solidFill>
            <a:ln w="9525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 txBox="1"/>
            <p:nvPr/>
          </p:nvSpPr>
          <p:spPr>
            <a:xfrm>
              <a:off x="4762500" y="1428750"/>
              <a:ext cx="3429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dirty="0">
                <a:solidFill>
                  <a:srgbClr val="46C2C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s" sz="2800" b="1" dirty="0">
                  <a:solidFill>
                    <a:srgbClr val="46C2C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Más orden</a:t>
              </a:r>
              <a:endParaRPr sz="2800" b="1" dirty="0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99" name="Google Shape;99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97000" y="188954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07000" y="1889545"/>
            <a:ext cx="54000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/>
          <p:nvPr/>
        </p:nvSpPr>
        <p:spPr>
          <a:xfrm>
            <a:off x="731520" y="914400"/>
            <a:ext cx="77724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0" i="0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rPr>
              <a:t>El problema no es</a:t>
            </a:r>
            <a:endParaRPr sz="3600" b="0" i="0">
              <a:solidFill>
                <a:srgbClr val="A0AE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0" i="0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rPr>
              <a:t>trabajar mucho…</a:t>
            </a:r>
            <a:endParaRPr sz="3600" b="0" i="0">
              <a:solidFill>
                <a:srgbClr val="A0AE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0" i="0">
              <a:solidFill>
                <a:srgbClr val="A0AE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 i="0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es trabajar sin sistema.</a:t>
            </a:r>
            <a:endParaRPr sz="3600" b="0" i="0">
              <a:solidFill>
                <a:srgbClr val="A0AEC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8" name="Google Shape;108;p9"/>
          <p:cNvPicPr preferRelativeResize="0"/>
          <p:nvPr/>
        </p:nvPicPr>
        <p:blipFill rotWithShape="1">
          <a:blip r:embed="rId5">
            <a:alphaModFix/>
          </a:blip>
          <a:srcRect t="318" b="318"/>
          <a:stretch/>
        </p:blipFill>
        <p:spPr>
          <a:xfrm>
            <a:off x="6983987" y="7"/>
            <a:ext cx="2160000" cy="83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9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sp>
          <p:nvSpPr>
            <p:cNvPr id="110" name="Google Shape;110;p9"/>
            <p:cNvSpPr/>
            <p:nvPr/>
          </p:nvSpPr>
          <p:spPr>
            <a:xfrm>
              <a:off x="6286500" y="-2857500"/>
              <a:ext cx="5715000" cy="5715000"/>
            </a:xfrm>
            <a:prstGeom prst="ellipse">
              <a:avLst/>
            </a:prstGeom>
            <a:solidFill>
              <a:srgbClr val="46C2CE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-1905000" y="3238500"/>
              <a:ext cx="3810000" cy="3810000"/>
            </a:xfrm>
            <a:prstGeom prst="ellipse">
              <a:avLst/>
            </a:prstGeom>
            <a:solidFill>
              <a:srgbClr val="46C2CE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"/>
          <p:cNvSpPr txBox="1"/>
          <p:nvPr/>
        </p:nvSpPr>
        <p:spPr>
          <a:xfrm>
            <a:off x="4286250" y="820420"/>
            <a:ext cx="571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0">
              <a:solidFill>
                <a:srgbClr val="46C2C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19" name="Google Shape;119;p10"/>
          <p:cNvSpPr txBox="1"/>
          <p:nvPr/>
        </p:nvSpPr>
        <p:spPr>
          <a:xfrm>
            <a:off x="762000" y="1524000"/>
            <a:ext cx="7620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2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Transformación tecnológica</a:t>
            </a:r>
            <a:endParaRPr sz="5200"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4400" b="1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ya no es una opción</a:t>
            </a:r>
            <a:endParaRPr sz="4400" b="1">
              <a:solidFill>
                <a:srgbClr val="46C2C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3143250" y="4381500"/>
            <a:ext cx="2857500" cy="38100"/>
          </a:xfrm>
          <a:prstGeom prst="roundRect">
            <a:avLst>
              <a:gd name="adj" fmla="val 50000"/>
            </a:avLst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1988" y="836163"/>
            <a:ext cx="54000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1"/>
          <p:cNvSpPr/>
          <p:nvPr/>
        </p:nvSpPr>
        <p:spPr>
          <a:xfrm>
            <a:off x="0" y="5086350"/>
            <a:ext cx="9144000" cy="57300"/>
          </a:xfrm>
          <a:prstGeom prst="rect">
            <a:avLst/>
          </a:prstGeom>
          <a:solidFill>
            <a:srgbClr val="46C2CE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1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sp>
          <p:nvSpPr>
            <p:cNvPr id="133" name="Google Shape;133;p11"/>
            <p:cNvSpPr/>
            <p:nvPr/>
          </p:nvSpPr>
          <p:spPr>
            <a:xfrm>
              <a:off x="6286500" y="-2857500"/>
              <a:ext cx="5715000" cy="5715000"/>
            </a:xfrm>
            <a:prstGeom prst="ellipse">
              <a:avLst/>
            </a:prstGeom>
            <a:solidFill>
              <a:srgbClr val="46C2CE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-1905000" y="3238500"/>
              <a:ext cx="3810000" cy="3810000"/>
            </a:xfrm>
            <a:prstGeom prst="ellipse">
              <a:avLst/>
            </a:prstGeom>
            <a:solidFill>
              <a:srgbClr val="46C2CE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11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sp>
          <p:nvSpPr>
            <p:cNvPr id="136" name="Google Shape;136;p11"/>
            <p:cNvSpPr/>
            <p:nvPr/>
          </p:nvSpPr>
          <p:spPr>
            <a:xfrm>
              <a:off x="6286500" y="-2857500"/>
              <a:ext cx="5715000" cy="5715000"/>
            </a:xfrm>
            <a:prstGeom prst="ellipse">
              <a:avLst/>
            </a:prstGeom>
            <a:solidFill>
              <a:srgbClr val="46C2CE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-1905000" y="3238500"/>
              <a:ext cx="3810000" cy="3810000"/>
            </a:xfrm>
            <a:prstGeom prst="ellipse">
              <a:avLst/>
            </a:prstGeom>
            <a:solidFill>
              <a:srgbClr val="46C2CE">
                <a:alpha val="5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11"/>
          <p:cNvGrpSpPr/>
          <p:nvPr/>
        </p:nvGrpSpPr>
        <p:grpSpPr>
          <a:xfrm>
            <a:off x="762000" y="1238250"/>
            <a:ext cx="7620000" cy="2667000"/>
            <a:chOff x="762000" y="1238250"/>
            <a:chExt cx="7620000" cy="2667000"/>
          </a:xfrm>
        </p:grpSpPr>
        <p:sp>
          <p:nvSpPr>
            <p:cNvPr id="139" name="Google Shape;139;p11"/>
            <p:cNvSpPr/>
            <p:nvPr/>
          </p:nvSpPr>
          <p:spPr>
            <a:xfrm>
              <a:off x="762000" y="1238250"/>
              <a:ext cx="76200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1"/>
            <p:cNvSpPr txBox="1"/>
            <p:nvPr/>
          </p:nvSpPr>
          <p:spPr>
            <a:xfrm>
              <a:off x="762000" y="1238250"/>
              <a:ext cx="7620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600" b="0">
                  <a:solidFill>
                    <a:srgbClr val="A0AEC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Si tu operación depende de personas…</a:t>
              </a:r>
              <a:endParaRPr sz="3600" b="0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ctr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s" sz="6800" b="1">
                  <a:solidFill>
                    <a:srgbClr val="F59E0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no es escalable</a:t>
              </a:r>
              <a:endParaRPr sz="6800" b="1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141" name="Google Shape;141;p11"/>
          <p:cNvSpPr/>
          <p:nvPr/>
        </p:nvSpPr>
        <p:spPr>
          <a:xfrm>
            <a:off x="3143250" y="4191000"/>
            <a:ext cx="2857500" cy="38100"/>
          </a:xfrm>
          <a:prstGeom prst="roundRect">
            <a:avLst>
              <a:gd name="adj" fmla="val 50000"/>
            </a:avLst>
          </a:prstGeom>
          <a:solidFill>
            <a:srgbClr val="46C2CE">
              <a:alpha val="8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" name="Google Shape;142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2000" y="783446"/>
            <a:ext cx="540000" cy="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12"/>
          <p:cNvGrpSpPr/>
          <p:nvPr/>
        </p:nvGrpSpPr>
        <p:grpSpPr>
          <a:xfrm>
            <a:off x="457200" y="772163"/>
            <a:ext cx="8229600" cy="3599173"/>
            <a:chOff x="457200" y="967052"/>
            <a:chExt cx="8229600" cy="3599173"/>
          </a:xfrm>
        </p:grpSpPr>
        <p:grpSp>
          <p:nvGrpSpPr>
            <p:cNvPr id="150" name="Google Shape;150;p12"/>
            <p:cNvGrpSpPr/>
            <p:nvPr/>
          </p:nvGrpSpPr>
          <p:grpSpPr>
            <a:xfrm>
              <a:off x="457200" y="2152185"/>
              <a:ext cx="8229600" cy="2414040"/>
              <a:chOff x="457200" y="2152185"/>
              <a:chExt cx="8229600" cy="2414040"/>
            </a:xfrm>
          </p:grpSpPr>
          <p:sp>
            <p:nvSpPr>
              <p:cNvPr id="151" name="Google Shape;151;p12"/>
              <p:cNvSpPr/>
              <p:nvPr/>
            </p:nvSpPr>
            <p:spPr>
              <a:xfrm>
                <a:off x="457200" y="2152185"/>
                <a:ext cx="82296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200"/>
                  <a:buFont typeface="Trebuchet MS"/>
                  <a:buNone/>
                </a:pPr>
                <a:r>
                  <a:rPr lang="es" sz="3200" b="0" i="0" u="none" strike="noStrike" cap="none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Cómo la digitalización está</a:t>
                </a:r>
                <a:endParaRPr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46C2CE"/>
                  </a:buClr>
                  <a:buSzPts val="3800"/>
                  <a:buFont typeface="Trebuchet MS"/>
                  <a:buNone/>
                </a:pPr>
                <a:r>
                  <a:rPr lang="es" sz="3800" b="1" i="0" u="none" strike="noStrike" cap="none">
                    <a:solidFill>
                      <a:srgbClr val="46C2CE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transformando</a:t>
                </a:r>
                <a:r>
                  <a:rPr lang="es" sz="3800" b="1" i="0" u="none" strike="noStrike" cap="none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almacenes</a:t>
                </a:r>
                <a:endParaRPr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800"/>
                  <a:buFont typeface="Trebuchet MS"/>
                  <a:buNone/>
                </a:pPr>
                <a:r>
                  <a:rPr lang="es" sz="3800" b="1" i="0" u="none" strike="noStrike" cap="none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y operaciones</a:t>
                </a:r>
                <a:endParaRPr sz="3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2743200" y="4529625"/>
                <a:ext cx="3657600" cy="36600"/>
              </a:xfrm>
              <a:prstGeom prst="rect">
                <a:avLst/>
              </a:prstGeom>
              <a:solidFill>
                <a:srgbClr val="46C2CE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53" name="Google Shape;15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37971" y="1003052"/>
              <a:ext cx="3031956" cy="6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2" title="SUN001_Rebranding_Sunname_LogotipoS_white.png"/>
            <p:cNvPicPr preferRelativeResize="0"/>
            <p:nvPr/>
          </p:nvPicPr>
          <p:blipFill rotWithShape="1">
            <a:blip r:embed="rId5">
              <a:alphaModFix/>
            </a:blip>
            <a:srcRect t="22417" b="22423"/>
            <a:stretch/>
          </p:blipFill>
          <p:spPr>
            <a:xfrm>
              <a:off x="5126396" y="967052"/>
              <a:ext cx="3370286" cy="7199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3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grpSp>
          <p:nvGrpSpPr>
            <p:cNvPr id="161" name="Google Shape;161;p13"/>
            <p:cNvGrpSpPr/>
            <p:nvPr/>
          </p:nvGrpSpPr>
          <p:grpSpPr>
            <a:xfrm>
              <a:off x="-1905000" y="-2857500"/>
              <a:ext cx="13906500" cy="9906000"/>
              <a:chOff x="-1905000" y="-2857500"/>
              <a:chExt cx="13906500" cy="9906000"/>
            </a:xfrm>
          </p:grpSpPr>
          <p:sp>
            <p:nvSpPr>
              <p:cNvPr id="162" name="Google Shape;162;p13"/>
              <p:cNvSpPr/>
              <p:nvPr/>
            </p:nvSpPr>
            <p:spPr>
              <a:xfrm>
                <a:off x="6286500" y="-2857500"/>
                <a:ext cx="5715000" cy="5715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-1905000" y="3238500"/>
                <a:ext cx="3810000" cy="3810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64" name="Google Shape;164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3"/>
            <p:cNvPicPr preferRelativeResize="0"/>
            <p:nvPr/>
          </p:nvPicPr>
          <p:blipFill rotWithShape="1">
            <a:blip r:embed="rId5">
              <a:alphaModFix/>
            </a:blip>
            <a:srcRect t="318" b="318"/>
            <a:stretch/>
          </p:blipFill>
          <p:spPr>
            <a:xfrm>
              <a:off x="6983987" y="7"/>
              <a:ext cx="2160000" cy="832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13"/>
          <p:cNvSpPr/>
          <p:nvPr/>
        </p:nvSpPr>
        <p:spPr>
          <a:xfrm>
            <a:off x="914400" y="1097280"/>
            <a:ext cx="73152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800"/>
              <a:buFont typeface="Calibri"/>
              <a:buNone/>
            </a:pPr>
            <a:r>
              <a:rPr lang="es" sz="2800" b="0" i="1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Entonces…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¿cómo se ve una </a:t>
            </a:r>
            <a:r>
              <a:rPr lang="es" sz="3800" b="1" i="0" u="none" strike="noStrike" cap="non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operación</a:t>
            </a:r>
            <a:endParaRPr sz="2800" b="0" i="0" u="none" strike="noStrike" cap="none">
              <a:solidFill>
                <a:srgbClr val="46C2C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lang="es" sz="3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 </a:t>
            </a:r>
            <a:r>
              <a:rPr lang="es" sz="3800" b="1" i="0" u="none" strike="noStrike" cap="non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</a:t>
            </a:r>
            <a:r>
              <a:rPr lang="es" sz="3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/>
          <p:cNvPicPr preferRelativeResize="0"/>
          <p:nvPr/>
        </p:nvPicPr>
        <p:blipFill>
          <a:blip r:embed="rId4">
            <a:alphaModFix/>
          </a:blip>
          <a:srcRect t="4545" b="4545"/>
          <a:stretch/>
        </p:blipFill>
        <p:spPr>
          <a:xfrm>
            <a:off x="4572000" y="666750"/>
            <a:ext cx="4191000" cy="38100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</p:pic>
      <p:sp>
        <p:nvSpPr>
          <p:cNvPr id="174" name="Google Shape;174;p14"/>
          <p:cNvSpPr txBox="1"/>
          <p:nvPr/>
        </p:nvSpPr>
        <p:spPr>
          <a:xfrm>
            <a:off x="571500" y="1333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 b="1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Upper Logistics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s" sz="3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está en esta transformación</a:t>
            </a:r>
            <a:endParaRPr/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3238500"/>
            <a:ext cx="3429000" cy="381000"/>
            <a:chOff x="571500" y="3238500"/>
            <a:chExt cx="3429000" cy="381000"/>
          </a:xfrm>
        </p:grpSpPr>
        <p:sp>
          <p:nvSpPr>
            <p:cNvPr id="176" name="Google Shape;176;p14"/>
            <p:cNvSpPr/>
            <p:nvPr/>
          </p:nvSpPr>
          <p:spPr>
            <a:xfrm>
              <a:off x="571500" y="3238500"/>
              <a:ext cx="3429000" cy="381000"/>
            </a:xfrm>
            <a:prstGeom prst="roundRect">
              <a:avLst>
                <a:gd name="adj" fmla="val 50000"/>
              </a:avLst>
            </a:prstGeom>
            <a:solidFill>
              <a:srgbClr val="46C2CE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762000" y="3238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46C2C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Todo conectado en tiempo real</a:t>
              </a:r>
              <a:endParaRPr/>
            </a:p>
          </p:txBody>
        </p:sp>
      </p:grpSp>
      <p:pic>
        <p:nvPicPr>
          <p:cNvPr id="178" name="Google Shape;1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2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5"/>
          <p:cNvPicPr preferRelativeResize="0"/>
          <p:nvPr/>
        </p:nvPicPr>
        <p:blipFill rotWithShape="1">
          <a:blip r:embed="rId4">
            <a:alphaModFix/>
          </a:blip>
          <a:srcRect l="10"/>
          <a:stretch/>
        </p:blipFill>
        <p:spPr>
          <a:xfrm>
            <a:off x="6981825" y="0"/>
            <a:ext cx="2160000" cy="8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476250" y="1333500"/>
            <a:ext cx="3429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30" b="0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rPr>
              <a:t>Descubre el poder de Odoo</a:t>
            </a:r>
            <a:endParaRPr sz="1530" b="0">
              <a:solidFill>
                <a:srgbClr val="A0AE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" sz="357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Gestión </a:t>
            </a:r>
            <a:r>
              <a:rPr lang="es" sz="3570" b="1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Inteligente</a:t>
            </a:r>
            <a:r>
              <a:rPr lang="es" sz="357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y Conectada</a:t>
            </a:r>
            <a:endParaRPr sz="1190" b="0">
              <a:solidFill>
                <a:srgbClr val="A0AE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4095750" y="1504950"/>
            <a:ext cx="4610100" cy="2610000"/>
          </a:xfrm>
          <a:prstGeom prst="roundRect">
            <a:avLst>
              <a:gd name="adj" fmla="val 6569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46C2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5" name="Google Shape;185;p15"/>
          <p:cNvPicPr preferRelativeResize="0"/>
          <p:nvPr/>
        </p:nvPicPr>
        <p:blipFill rotWithShape="1">
          <a:blip r:embed="rId5">
            <a:alphaModFix/>
          </a:blip>
          <a:srcRect l="1513" r="1522"/>
          <a:stretch/>
        </p:blipFill>
        <p:spPr>
          <a:xfrm>
            <a:off x="4114800" y="1524000"/>
            <a:ext cx="4572000" cy="2571900"/>
          </a:xfrm>
          <a:prstGeom prst="roundRect">
            <a:avLst>
              <a:gd name="adj" fmla="val 5925"/>
            </a:avLst>
          </a:prstGeom>
          <a:noFill/>
          <a:ln>
            <a:noFill/>
          </a:ln>
        </p:spPr>
      </p:pic>
      <p:sp>
        <p:nvSpPr>
          <p:cNvPr id="186" name="Google Shape;186;p15">
            <a:hlinkClick r:id="rId6"/>
          </p:cNvPr>
          <p:cNvSpPr/>
          <p:nvPr/>
        </p:nvSpPr>
        <p:spPr>
          <a:xfrm>
            <a:off x="4114800" y="1524000"/>
            <a:ext cx="4572000" cy="2571900"/>
          </a:xfrm>
          <a:prstGeom prst="roundRect">
            <a:avLst>
              <a:gd name="adj" fmla="val 5925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">
            <a:hlinkClick r:id="rId6"/>
          </p:cNvPr>
          <p:cNvSpPr/>
          <p:nvPr/>
        </p:nvSpPr>
        <p:spPr>
          <a:xfrm>
            <a:off x="5972175" y="2381250"/>
            <a:ext cx="857400" cy="857400"/>
          </a:xfrm>
          <a:prstGeom prst="ellipse">
            <a:avLst/>
          </a:prstGeom>
          <a:solidFill>
            <a:srgbClr val="46C2CE">
              <a:alpha val="9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5543550" y="4191000"/>
            <a:ext cx="1714500" cy="381000"/>
          </a:xfrm>
          <a:prstGeom prst="roundRect">
            <a:avLst>
              <a:gd name="adj" fmla="val 50000"/>
            </a:avLst>
          </a:prstGeom>
          <a:solidFill>
            <a:srgbClr val="46C2CE">
              <a:alpha val="1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">
            <a:hlinkClick r:id="rId6"/>
          </p:cNvPr>
          <p:cNvSpPr txBox="1"/>
          <p:nvPr/>
        </p:nvSpPr>
        <p:spPr>
          <a:xfrm>
            <a:off x="5543550" y="4191000"/>
            <a:ext cx="1714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46C2CE"/>
                </a:solidFill>
                <a:latin typeface="Calibri"/>
                <a:ea typeface="Calibri"/>
                <a:cs typeface="Calibri"/>
                <a:sym typeface="Calibri"/>
              </a:rPr>
              <a:t>VER DEMOSTRACIÓN</a:t>
            </a:r>
            <a:endParaRPr sz="1200" b="1">
              <a:solidFill>
                <a:srgbClr val="46C2C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áfico 2" descr="Reproducir con relleno sólido">
            <a:hlinkClick r:id="rId6"/>
            <a:extLst>
              <a:ext uri="{FF2B5EF4-FFF2-40B4-BE49-F238E27FC236}">
                <a16:creationId xmlns:a16="http://schemas.microsoft.com/office/drawing/2014/main" id="{69C4D853-6765-13B8-131B-83824F146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0875" y="262995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800" y="231750"/>
            <a:ext cx="8330401" cy="46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title="SUN001_Rebranding_Sunname_LogotipoS_white.png"/>
          <p:cNvPicPr preferRelativeResize="0"/>
          <p:nvPr/>
        </p:nvPicPr>
        <p:blipFill rotWithShape="1">
          <a:blip r:embed="rId5">
            <a:alphaModFix/>
          </a:blip>
          <a:srcRect t="308" b="318"/>
          <a:stretch/>
        </p:blipFill>
        <p:spPr>
          <a:xfrm>
            <a:off x="6983987" y="7"/>
            <a:ext cx="2160000" cy="8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457200" y="3810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rPr>
              <a:t>Cuando digitalizas, no solo creces…</a:t>
            </a:r>
            <a:endParaRPr sz="2400">
              <a:solidFill>
                <a:srgbClr val="A0AEC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creces con </a:t>
            </a:r>
            <a:r>
              <a:rPr lang="es" sz="3600" b="1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orden</a:t>
            </a:r>
            <a:endParaRPr sz="3600"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5" name="Google Shape;205;p17"/>
          <p:cNvGrpSpPr/>
          <p:nvPr/>
        </p:nvGrpSpPr>
        <p:grpSpPr>
          <a:xfrm>
            <a:off x="452438" y="1519238"/>
            <a:ext cx="2600400" cy="1533600"/>
            <a:chOff x="452438" y="1519238"/>
            <a:chExt cx="2600400" cy="1533600"/>
          </a:xfrm>
        </p:grpSpPr>
        <p:pic>
          <p:nvPicPr>
            <p:cNvPr id="206" name="Google Shape;206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2438" y="1519238"/>
              <a:ext cx="2600400" cy="15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7"/>
            <p:cNvSpPr txBox="1"/>
            <p:nvPr/>
          </p:nvSpPr>
          <p:spPr>
            <a:xfrm>
              <a:off x="647700" y="2190750"/>
              <a:ext cx="2209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Control de entradas y salidas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8" name="Google Shape;20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1838" y="1519238"/>
            <a:ext cx="2600400" cy="15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3467100" y="1741673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46C2C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3467100" y="2190750"/>
            <a:ext cx="22098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Visibilidad de inventario por ubicación</a:t>
            </a:r>
            <a:endParaRPr sz="16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17"/>
          <p:cNvGrpSpPr/>
          <p:nvPr/>
        </p:nvGrpSpPr>
        <p:grpSpPr>
          <a:xfrm>
            <a:off x="6091238" y="1519238"/>
            <a:ext cx="2600400" cy="1533600"/>
            <a:chOff x="6091238" y="1519238"/>
            <a:chExt cx="2600400" cy="1533600"/>
          </a:xfrm>
        </p:grpSpPr>
        <p:pic>
          <p:nvPicPr>
            <p:cNvPr id="212" name="Google Shape;212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091238" y="1519238"/>
              <a:ext cx="2600400" cy="15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7"/>
            <p:cNvSpPr txBox="1"/>
            <p:nvPr/>
          </p:nvSpPr>
          <p:spPr>
            <a:xfrm>
              <a:off x="6286500" y="2190750"/>
              <a:ext cx="2209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Reducción de errores en surtido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1862138" y="3233738"/>
            <a:ext cx="2600400" cy="1533600"/>
            <a:chOff x="1862138" y="3233738"/>
            <a:chExt cx="2600400" cy="1533600"/>
          </a:xfrm>
        </p:grpSpPr>
        <p:pic>
          <p:nvPicPr>
            <p:cNvPr id="215" name="Google Shape;215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62138" y="3233738"/>
              <a:ext cx="2600400" cy="15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7"/>
            <p:cNvSpPr txBox="1"/>
            <p:nvPr/>
          </p:nvSpPr>
          <p:spPr>
            <a:xfrm>
              <a:off x="2057400" y="3905250"/>
              <a:ext cx="2209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Mejora en tiempos de entrega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4681538" y="3233738"/>
            <a:ext cx="2600400" cy="1533600"/>
            <a:chOff x="4681538" y="3233738"/>
            <a:chExt cx="2600400" cy="1533600"/>
          </a:xfrm>
        </p:grpSpPr>
        <p:pic>
          <p:nvPicPr>
            <p:cNvPr id="218" name="Google Shape;218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81538" y="3233738"/>
              <a:ext cx="2600400" cy="1533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17"/>
            <p:cNvSpPr txBox="1"/>
            <p:nvPr/>
          </p:nvSpPr>
          <p:spPr>
            <a:xfrm>
              <a:off x="4876800" y="3905250"/>
              <a:ext cx="2209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Escalabilidad sin perder control</a:t>
              </a:r>
              <a:endParaRPr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0" name="Google Shape;22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825" y="1770173"/>
            <a:ext cx="324000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5386" y="1770173"/>
            <a:ext cx="324000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65192" y="3453496"/>
            <a:ext cx="324000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23485" y="3453500"/>
            <a:ext cx="324000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86;p21">
            <a:extLst>
              <a:ext uri="{FF2B5EF4-FFF2-40B4-BE49-F238E27FC236}">
                <a16:creationId xmlns:a16="http://schemas.microsoft.com/office/drawing/2014/main" id="{DB48CDEB-3996-2718-CFCD-5CCC4989DA34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00538" y="1770173"/>
            <a:ext cx="324000" cy="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457200" y="38100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El flujo integrado</a:t>
            </a:r>
            <a:endParaRPr sz="3200"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2" name="Google Shape;23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2657475"/>
            <a:ext cx="67818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8"/>
          <p:cNvGrpSpPr/>
          <p:nvPr/>
        </p:nvGrpSpPr>
        <p:grpSpPr>
          <a:xfrm>
            <a:off x="571500" y="1714500"/>
            <a:ext cx="1714500" cy="1905000"/>
            <a:chOff x="0" y="0"/>
            <a:chExt cx="1714500" cy="1905000"/>
          </a:xfrm>
        </p:grpSpPr>
        <p:sp>
          <p:nvSpPr>
            <p:cNvPr id="234" name="Google Shape;234;p18"/>
            <p:cNvSpPr/>
            <p:nvPr/>
          </p:nvSpPr>
          <p:spPr>
            <a:xfrm>
              <a:off x="0" y="0"/>
              <a:ext cx="1714500" cy="1905000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5000"/>
              </a:srgbClr>
            </a:solidFill>
            <a:ln w="143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8"/>
            <p:cNvSpPr txBox="1"/>
            <p:nvPr/>
          </p:nvSpPr>
          <p:spPr>
            <a:xfrm>
              <a:off x="95250" y="952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Venta</a:t>
              </a:r>
              <a:endPara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36" name="Google Shape;236;p18"/>
          <p:cNvGrpSpPr/>
          <p:nvPr/>
        </p:nvGrpSpPr>
        <p:grpSpPr>
          <a:xfrm>
            <a:off x="6858000" y="1714500"/>
            <a:ext cx="1714500" cy="1905000"/>
            <a:chOff x="0" y="0"/>
            <a:chExt cx="1714500" cy="1905000"/>
          </a:xfrm>
        </p:grpSpPr>
        <p:sp>
          <p:nvSpPr>
            <p:cNvPr id="237" name="Google Shape;237;p18"/>
            <p:cNvSpPr/>
            <p:nvPr/>
          </p:nvSpPr>
          <p:spPr>
            <a:xfrm>
              <a:off x="0" y="0"/>
              <a:ext cx="1714500" cy="1905000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5000"/>
              </a:srgbClr>
            </a:solidFill>
            <a:ln w="143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95250" y="952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Cobranza</a:t>
              </a:r>
              <a:endPara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39" name="Google Shape;239;p18"/>
          <p:cNvGrpSpPr/>
          <p:nvPr/>
        </p:nvGrpSpPr>
        <p:grpSpPr>
          <a:xfrm>
            <a:off x="762000" y="4191000"/>
            <a:ext cx="7620000" cy="381000"/>
            <a:chOff x="762000" y="4191000"/>
            <a:chExt cx="7620000" cy="381000"/>
          </a:xfrm>
        </p:grpSpPr>
        <p:sp>
          <p:nvSpPr>
            <p:cNvPr id="240" name="Google Shape;240;p18"/>
            <p:cNvSpPr/>
            <p:nvPr/>
          </p:nvSpPr>
          <p:spPr>
            <a:xfrm>
              <a:off x="762000" y="4191000"/>
              <a:ext cx="7620000" cy="381000"/>
            </a:xfrm>
            <a:prstGeom prst="roundRect">
              <a:avLst>
                <a:gd name="adj" fmla="val 50000"/>
              </a:avLst>
            </a:prstGeom>
            <a:solidFill>
              <a:srgbClr val="46C2CE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8"/>
            <p:cNvSpPr txBox="1"/>
            <p:nvPr/>
          </p:nvSpPr>
          <p:spPr>
            <a:xfrm>
              <a:off x="762000" y="419100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00" i="1">
                  <a:solidFill>
                    <a:srgbClr val="A0AEC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Un flujo continuo, sin interrupciones, sin retrabajo</a:t>
              </a:r>
              <a:endParaRPr sz="1400" i="1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242" name="Google Shape;2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4754" y="1943102"/>
            <a:ext cx="468000" cy="46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" name="Google Shape;244;p18"/>
          <p:cNvGrpSpPr/>
          <p:nvPr/>
        </p:nvGrpSpPr>
        <p:grpSpPr>
          <a:xfrm>
            <a:off x="4762500" y="1714500"/>
            <a:ext cx="1714500" cy="1905000"/>
            <a:chOff x="0" y="0"/>
            <a:chExt cx="1714500" cy="1905000"/>
          </a:xfrm>
        </p:grpSpPr>
        <p:sp>
          <p:nvSpPr>
            <p:cNvPr id="245" name="Google Shape;245;p18"/>
            <p:cNvSpPr/>
            <p:nvPr/>
          </p:nvSpPr>
          <p:spPr>
            <a:xfrm>
              <a:off x="0" y="0"/>
              <a:ext cx="1714500" cy="1905000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5000"/>
              </a:srgbClr>
            </a:solidFill>
            <a:ln w="143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8"/>
            <p:cNvSpPr txBox="1"/>
            <p:nvPr/>
          </p:nvSpPr>
          <p:spPr>
            <a:xfrm>
              <a:off x="95250" y="952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Entrega</a:t>
              </a:r>
              <a:endPara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grpSp>
        <p:nvGrpSpPr>
          <p:cNvPr id="247" name="Google Shape;247;p18"/>
          <p:cNvGrpSpPr/>
          <p:nvPr/>
        </p:nvGrpSpPr>
        <p:grpSpPr>
          <a:xfrm>
            <a:off x="2667000" y="1714500"/>
            <a:ext cx="1714500" cy="1905000"/>
            <a:chOff x="0" y="0"/>
            <a:chExt cx="1714500" cy="1905000"/>
          </a:xfrm>
        </p:grpSpPr>
        <p:sp>
          <p:nvSpPr>
            <p:cNvPr id="248" name="Google Shape;248;p18"/>
            <p:cNvSpPr/>
            <p:nvPr/>
          </p:nvSpPr>
          <p:spPr>
            <a:xfrm>
              <a:off x="0" y="0"/>
              <a:ext cx="1714500" cy="1905000"/>
            </a:xfrm>
            <a:prstGeom prst="roundRect">
              <a:avLst>
                <a:gd name="adj" fmla="val 8333"/>
              </a:avLst>
            </a:prstGeom>
            <a:solidFill>
              <a:srgbClr val="FFFFFF">
                <a:alpha val="5000"/>
              </a:srgbClr>
            </a:solidFill>
            <a:ln w="1430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8"/>
            <p:cNvSpPr txBox="1"/>
            <p:nvPr/>
          </p:nvSpPr>
          <p:spPr>
            <a:xfrm>
              <a:off x="95250" y="95250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Inventario</a:t>
              </a:r>
              <a:endParaRPr sz="18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250" name="Google Shape;25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90250" y="1943102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85750" y="1943102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81250" y="1943102"/>
            <a:ext cx="468000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19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grpSp>
          <p:nvGrpSpPr>
            <p:cNvPr id="259" name="Google Shape;259;p19"/>
            <p:cNvGrpSpPr/>
            <p:nvPr/>
          </p:nvGrpSpPr>
          <p:grpSpPr>
            <a:xfrm>
              <a:off x="-1905000" y="-2857500"/>
              <a:ext cx="13906500" cy="9906000"/>
              <a:chOff x="-1905000" y="-2857500"/>
              <a:chExt cx="13906500" cy="9906000"/>
            </a:xfrm>
          </p:grpSpPr>
          <p:sp>
            <p:nvSpPr>
              <p:cNvPr id="260" name="Google Shape;260;p19"/>
              <p:cNvSpPr/>
              <p:nvPr/>
            </p:nvSpPr>
            <p:spPr>
              <a:xfrm>
                <a:off x="6286500" y="-2857500"/>
                <a:ext cx="5715000" cy="5715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9"/>
              <p:cNvSpPr/>
              <p:nvPr/>
            </p:nvSpPr>
            <p:spPr>
              <a:xfrm>
                <a:off x="-1905000" y="3238500"/>
                <a:ext cx="3810000" cy="3810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62" name="Google Shape;262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19"/>
            <p:cNvPicPr preferRelativeResize="0"/>
            <p:nvPr/>
          </p:nvPicPr>
          <p:blipFill rotWithShape="1">
            <a:blip r:embed="rId5">
              <a:alphaModFix/>
            </a:blip>
            <a:srcRect t="318" b="318"/>
            <a:stretch/>
          </p:blipFill>
          <p:spPr>
            <a:xfrm>
              <a:off x="6983987" y="7"/>
              <a:ext cx="2160000" cy="832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" name="Google Shape;264;p19"/>
          <p:cNvSpPr/>
          <p:nvPr/>
        </p:nvSpPr>
        <p:spPr>
          <a:xfrm>
            <a:off x="914400" y="1097280"/>
            <a:ext cx="7315200" cy="29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3600"/>
              <a:buFont typeface="Trebuchet MS"/>
              <a:buNone/>
            </a:pPr>
            <a:r>
              <a:rPr lang="es" sz="3600" b="0" i="0" u="none" strike="noStrike" cap="none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rPr>
              <a:t>No persigues información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la información llega a ti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762000" y="1333500"/>
            <a:ext cx="76200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El almacén deja de ser</a:t>
            </a:r>
            <a:endParaRPr sz="5400"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s" sz="7200" b="1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caos</a:t>
            </a:r>
            <a:endParaRPr sz="7200" b="1">
              <a:solidFill>
                <a:srgbClr val="F59E0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2" name="Google Shape;27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8" y="947738"/>
            <a:ext cx="2486100" cy="32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476250" y="952500"/>
            <a:ext cx="24765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190500" rIns="190500" bIns="190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46C2C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Saber qué tienes</a:t>
            </a:r>
            <a:endParaRPr sz="2400" b="1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0" name="Google Shape;28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8988" y="947738"/>
            <a:ext cx="2486100" cy="32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3333750" y="952500"/>
            <a:ext cx="24765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190500" rIns="190500" bIns="190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dirty="0">
              <a:solidFill>
                <a:srgbClr val="46C2CE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marL="0" lvl="0" indent="0" algn="ctr" rt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s" sz="2400" b="1" dirty="0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dónde está</a:t>
            </a:r>
            <a:endParaRPr sz="2400" b="1" dirty="0">
              <a:solidFill>
                <a:srgbClr val="46C2C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2" name="Google Shape;28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86488" y="947738"/>
            <a:ext cx="2486100" cy="32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6191250" y="952500"/>
            <a:ext cx="24765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190500" rIns="190500" bIns="190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F59E0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y qué sigue</a:t>
            </a:r>
            <a:endParaRPr sz="2400" b="1">
              <a:solidFill>
                <a:srgbClr val="F59E0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4" name="Google Shape;2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9100" y="1680300"/>
            <a:ext cx="730800" cy="7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9025" y="1680300"/>
            <a:ext cx="730800" cy="73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25650" y="1680300"/>
            <a:ext cx="730800" cy="7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2"/>
          <p:cNvGrpSpPr/>
          <p:nvPr/>
        </p:nvGrpSpPr>
        <p:grpSpPr>
          <a:xfrm>
            <a:off x="457195" y="869950"/>
            <a:ext cx="8229600" cy="3657600"/>
            <a:chOff x="731520" y="731520"/>
            <a:chExt cx="8229600" cy="3657600"/>
          </a:xfrm>
        </p:grpSpPr>
        <p:sp>
          <p:nvSpPr>
            <p:cNvPr id="294" name="Google Shape;294;p22"/>
            <p:cNvSpPr/>
            <p:nvPr/>
          </p:nvSpPr>
          <p:spPr>
            <a:xfrm>
              <a:off x="731520" y="731520"/>
              <a:ext cx="2560320" cy="3657600"/>
            </a:xfrm>
            <a:prstGeom prst="roundRect">
              <a:avLst>
                <a:gd name="adj" fmla="val 4286"/>
              </a:avLst>
            </a:prstGeom>
            <a:solidFill>
              <a:srgbClr val="FFFFFF">
                <a:alpha val="7058"/>
              </a:srgbClr>
            </a:solidFill>
            <a:ln w="12700" cap="flat" cmpd="sng">
              <a:solidFill>
                <a:srgbClr val="46C2CE">
                  <a:alpha val="5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5" name="Google Shape;295;p22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45920" y="1188720"/>
              <a:ext cx="731520" cy="731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2"/>
            <p:cNvSpPr/>
            <p:nvPr/>
          </p:nvSpPr>
          <p:spPr>
            <a:xfrm>
              <a:off x="731520" y="2194560"/>
              <a:ext cx="2560320" cy="1645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Trebuchet MS"/>
                <a:buNone/>
              </a:pPr>
              <a:r>
                <a:rPr lang="es" sz="2600" b="1" i="0" u="none" strike="noStrike" cap="non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Menos</a:t>
              </a:r>
              <a:endPara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Trebuchet MS"/>
                <a:buNone/>
              </a:pPr>
              <a:r>
                <a:rPr lang="es" sz="2600" b="1" i="0" u="none" strike="noStrike" cap="non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errores</a:t>
              </a:r>
              <a:endPara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1463040" y="4023360"/>
              <a:ext cx="1097280" cy="36576"/>
            </a:xfrm>
            <a:prstGeom prst="rect">
              <a:avLst/>
            </a:prstGeom>
            <a:solidFill>
              <a:srgbClr val="46C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3566160" y="731520"/>
              <a:ext cx="2560320" cy="3657600"/>
            </a:xfrm>
            <a:prstGeom prst="roundRect">
              <a:avLst>
                <a:gd name="adj" fmla="val 4286"/>
              </a:avLst>
            </a:prstGeom>
            <a:solidFill>
              <a:srgbClr val="FFFFFF">
                <a:alpha val="7058"/>
              </a:srgbClr>
            </a:solidFill>
            <a:ln w="12700" cap="flat" cmpd="sng">
              <a:solidFill>
                <a:srgbClr val="7F52A0">
                  <a:alpha val="5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9" name="Google Shape;299;p22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480560" y="1188720"/>
              <a:ext cx="731520" cy="731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22"/>
            <p:cNvSpPr/>
            <p:nvPr/>
          </p:nvSpPr>
          <p:spPr>
            <a:xfrm>
              <a:off x="3566160" y="2194560"/>
              <a:ext cx="2560320" cy="1645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Trebuchet MS"/>
                <a:buNone/>
              </a:pPr>
              <a:r>
                <a:rPr lang="es" sz="2600" b="1" i="0" u="none" strike="noStrike" cap="non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Más</a:t>
              </a:r>
              <a:endPara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Trebuchet MS"/>
                <a:buNone/>
              </a:pPr>
              <a:r>
                <a:rPr lang="es" sz="2600" b="1" i="0" u="none" strike="noStrike" cap="non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control</a:t>
              </a:r>
              <a:endPara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4297680" y="4023360"/>
              <a:ext cx="1097280" cy="36576"/>
            </a:xfrm>
            <a:prstGeom prst="rect">
              <a:avLst/>
            </a:prstGeom>
            <a:solidFill>
              <a:srgbClr val="7F52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6400800" y="731520"/>
              <a:ext cx="2560320" cy="3657600"/>
            </a:xfrm>
            <a:prstGeom prst="roundRect">
              <a:avLst>
                <a:gd name="adj" fmla="val 4286"/>
              </a:avLst>
            </a:prstGeom>
            <a:solidFill>
              <a:srgbClr val="FFFFFF">
                <a:alpha val="7058"/>
              </a:srgbClr>
            </a:solidFill>
            <a:ln w="12700" cap="flat" cmpd="sng">
              <a:solidFill>
                <a:srgbClr val="F59E0B">
                  <a:alpha val="50196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03" name="Google Shape;303;p22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315200" y="1188720"/>
              <a:ext cx="731520" cy="731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2"/>
            <p:cNvSpPr/>
            <p:nvPr/>
          </p:nvSpPr>
          <p:spPr>
            <a:xfrm>
              <a:off x="6400800" y="2194560"/>
              <a:ext cx="2560320" cy="1645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Trebuchet MS"/>
                <a:buNone/>
              </a:pPr>
              <a:r>
                <a:rPr lang="es" sz="2600" b="1" i="0" u="none" strike="noStrike" cap="non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Más</a:t>
              </a:r>
              <a:endPara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600"/>
                <a:buFont typeface="Trebuchet MS"/>
                <a:buNone/>
              </a:pPr>
              <a:r>
                <a:rPr lang="es" sz="2600" b="1" i="0" u="none" strike="noStrike" cap="non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crecimiento</a:t>
              </a:r>
              <a:endParaRPr sz="2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7132320" y="4023360"/>
              <a:ext cx="1097280" cy="36576"/>
            </a:xfrm>
            <a:prstGeom prst="rect">
              <a:avLst/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6" name="Google Shape;30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p23"/>
          <p:cNvGrpSpPr/>
          <p:nvPr/>
        </p:nvGrpSpPr>
        <p:grpSpPr>
          <a:xfrm>
            <a:off x="762000" y="952500"/>
            <a:ext cx="7620000" cy="3238500"/>
            <a:chOff x="762000" y="952500"/>
            <a:chExt cx="7620000" cy="3238500"/>
          </a:xfrm>
        </p:grpSpPr>
        <p:sp>
          <p:nvSpPr>
            <p:cNvPr id="315" name="Google Shape;315;p23"/>
            <p:cNvSpPr/>
            <p:nvPr/>
          </p:nvSpPr>
          <p:spPr>
            <a:xfrm>
              <a:off x="762000" y="952500"/>
              <a:ext cx="7620000" cy="3238500"/>
            </a:xfrm>
            <a:prstGeom prst="roundRect">
              <a:avLst>
                <a:gd name="adj" fmla="val 5882"/>
              </a:avLst>
            </a:prstGeom>
            <a:solidFill>
              <a:srgbClr val="FFFFFF">
                <a:alpha val="5000"/>
              </a:srgbClr>
            </a:solidFill>
            <a:ln w="19050" cap="flat" cmpd="sng">
              <a:solidFill>
                <a:srgbClr val="F59E0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4095750" y="1333500"/>
              <a:ext cx="952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7" name="Google Shape;317;p23"/>
            <p:cNvGrpSpPr/>
            <p:nvPr/>
          </p:nvGrpSpPr>
          <p:grpSpPr>
            <a:xfrm>
              <a:off x="1143000" y="2381250"/>
              <a:ext cx="6858000" cy="1333500"/>
              <a:chOff x="1143000" y="2381250"/>
              <a:chExt cx="6858000" cy="1333500"/>
            </a:xfrm>
          </p:grpSpPr>
          <p:sp>
            <p:nvSpPr>
              <p:cNvPr id="318" name="Google Shape;318;p23"/>
              <p:cNvSpPr/>
              <p:nvPr/>
            </p:nvSpPr>
            <p:spPr>
              <a:xfrm>
                <a:off x="1143000" y="2381250"/>
                <a:ext cx="6858000" cy="1333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 txBox="1"/>
              <p:nvPr/>
            </p:nvSpPr>
            <p:spPr>
              <a:xfrm>
                <a:off x="1143000" y="2381250"/>
                <a:ext cx="68580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" sz="3330" b="1">
                    <a:solidFill>
                      <a:srgbClr val="FFFF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No tener sistema…</a:t>
                </a:r>
                <a:endParaRPr sz="333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  <a:p>
                <a:pPr marL="0" lvl="0" indent="0" algn="ctr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s" sz="4440" b="1">
                    <a:solidFill>
                      <a:srgbClr val="F59E0B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es riesgoso</a:t>
                </a:r>
                <a:endParaRPr sz="333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  <p:sp>
        <p:nvSpPr>
          <p:cNvPr id="320" name="Google Shape;320;p23"/>
          <p:cNvSpPr/>
          <p:nvPr/>
        </p:nvSpPr>
        <p:spPr>
          <a:xfrm>
            <a:off x="3143250" y="4476750"/>
            <a:ext cx="2857500" cy="38100"/>
          </a:xfrm>
          <a:prstGeom prst="roundRect">
            <a:avLst>
              <a:gd name="adj" fmla="val 50000"/>
            </a:avLst>
          </a:prstGeom>
          <a:solidFill>
            <a:srgbClr val="F59E0B">
              <a:alpha val="5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6233" y="1380505"/>
            <a:ext cx="731520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24"/>
          <p:cNvGrpSpPr/>
          <p:nvPr/>
        </p:nvGrpSpPr>
        <p:grpSpPr>
          <a:xfrm>
            <a:off x="762000" y="952500"/>
            <a:ext cx="7620000" cy="3559201"/>
            <a:chOff x="762000" y="952500"/>
            <a:chExt cx="7620000" cy="3559201"/>
          </a:xfrm>
        </p:grpSpPr>
        <p:sp>
          <p:nvSpPr>
            <p:cNvPr id="330" name="Google Shape;330;p24"/>
            <p:cNvSpPr/>
            <p:nvPr/>
          </p:nvSpPr>
          <p:spPr>
            <a:xfrm>
              <a:off x="762000" y="952500"/>
              <a:ext cx="7620000" cy="3238500"/>
            </a:xfrm>
            <a:prstGeom prst="roundRect">
              <a:avLst>
                <a:gd name="adj" fmla="val 5882"/>
              </a:avLst>
            </a:prstGeom>
            <a:solidFill>
              <a:srgbClr val="FFFFFF">
                <a:alpha val="5000"/>
              </a:srgbClr>
            </a:solidFill>
            <a:ln w="19050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4"/>
            <p:cNvSpPr txBox="1"/>
            <p:nvPr/>
          </p:nvSpPr>
          <p:spPr>
            <a:xfrm>
              <a:off x="1143000" y="2286000"/>
              <a:ext cx="685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360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Crecer con orden</a:t>
              </a:r>
              <a:endParaRPr sz="36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s" sz="4800" b="1">
                  <a:solidFill>
                    <a:srgbClr val="46C2C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es una decisión</a:t>
              </a:r>
              <a:endParaRPr sz="4800" b="1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3143250" y="4473601"/>
              <a:ext cx="2857500" cy="38100"/>
            </a:xfrm>
            <a:prstGeom prst="roundRect">
              <a:avLst>
                <a:gd name="adj" fmla="val 50000"/>
              </a:avLst>
            </a:prstGeom>
            <a:solidFill>
              <a:srgbClr val="46C2CE">
                <a:alpha val="5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33" name="Google Shape;33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913" y="1371150"/>
            <a:ext cx="832175" cy="83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5"/>
          <p:cNvPicPr preferRelativeResize="0"/>
          <p:nvPr/>
        </p:nvPicPr>
        <p:blipFill rotWithShape="1">
          <a:blip r:embed="rId4">
            <a:alphaModFix/>
          </a:blip>
          <a:srcRect l="20" r="30"/>
          <a:stretch/>
        </p:blipFill>
        <p:spPr>
          <a:xfrm>
            <a:off x="3363750" y="-204825"/>
            <a:ext cx="2416500" cy="180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25"/>
          <p:cNvGrpSpPr/>
          <p:nvPr/>
        </p:nvGrpSpPr>
        <p:grpSpPr>
          <a:xfrm>
            <a:off x="571500" y="1333500"/>
            <a:ext cx="8001000" cy="2857500"/>
            <a:chOff x="571500" y="1333500"/>
            <a:chExt cx="8001000" cy="2857500"/>
          </a:xfrm>
        </p:grpSpPr>
        <p:sp>
          <p:nvSpPr>
            <p:cNvPr id="341" name="Google Shape;341;p25"/>
            <p:cNvSpPr/>
            <p:nvPr/>
          </p:nvSpPr>
          <p:spPr>
            <a:xfrm>
              <a:off x="571500" y="1333500"/>
              <a:ext cx="8001000" cy="28575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5000"/>
              </a:srgbClr>
            </a:solidFill>
            <a:ln w="9525" cap="flat" cmpd="sng">
              <a:solidFill>
                <a:srgbClr val="46C2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5"/>
            <p:cNvSpPr txBox="1"/>
            <p:nvPr/>
          </p:nvSpPr>
          <p:spPr>
            <a:xfrm>
              <a:off x="857250" y="1619250"/>
              <a:ext cx="42864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380" b="0">
                  <a:solidFill>
                    <a:srgbClr val="A0AEC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Alguna vez has vendido algo…</a:t>
              </a:r>
              <a:endParaRPr sz="2380" b="0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s" sz="4420" b="1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¿que no tenías?</a:t>
              </a:r>
              <a:endParaRPr sz="442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343" name="Google Shape;343;p2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19725" y="1714500"/>
              <a:ext cx="19200" cy="2095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4" name="Google Shape;344;p25"/>
          <p:cNvGrpSpPr/>
          <p:nvPr/>
        </p:nvGrpSpPr>
        <p:grpSpPr>
          <a:xfrm>
            <a:off x="2857500" y="4476750"/>
            <a:ext cx="4095750" cy="228600"/>
            <a:chOff x="2857500" y="4476750"/>
            <a:chExt cx="4095750" cy="228600"/>
          </a:xfrm>
        </p:grpSpPr>
        <p:pic>
          <p:nvPicPr>
            <p:cNvPr id="345" name="Google Shape;345;p2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857500" y="44767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25"/>
            <p:cNvSpPr txBox="1"/>
            <p:nvPr/>
          </p:nvSpPr>
          <p:spPr>
            <a:xfrm>
              <a:off x="3143250" y="4476750"/>
              <a:ext cx="152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 u="sng" strike="noStrike">
                  <a:solidFill>
                    <a:srgbClr val="46C2CE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sunname.com.mx</a:t>
              </a:r>
              <a:endParaRPr sz="1200" u="sng" strike="noStrike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347" name="Google Shape;347;p2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953000" y="44767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25"/>
            <p:cNvSpPr txBox="1"/>
            <p:nvPr/>
          </p:nvSpPr>
          <p:spPr>
            <a:xfrm>
              <a:off x="5238750" y="447675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A0AEC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+52 1 771 101 4687</a:t>
              </a:r>
              <a:endParaRPr sz="1200">
                <a:solidFill>
                  <a:srgbClr val="A0AEC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349" name="Google Shape;349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9000" y="1733550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5"/>
          <p:cNvSpPr txBox="1"/>
          <p:nvPr/>
        </p:nvSpPr>
        <p:spPr>
          <a:xfrm>
            <a:off x="5905500" y="3819525"/>
            <a:ext cx="20955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6C2CE"/>
                </a:solidFill>
                <a:latin typeface="Trebuchet MS"/>
                <a:ea typeface="Trebuchet MS"/>
                <a:cs typeface="Trebuchet MS"/>
                <a:sym typeface="Trebuchet MS"/>
              </a:rPr>
              <a:t>Escanea para saber más</a:t>
            </a:r>
            <a:endParaRPr sz="1000">
              <a:solidFill>
                <a:srgbClr val="46C2C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6"/>
          <p:cNvGrpSpPr/>
          <p:nvPr/>
        </p:nvGrpSpPr>
        <p:grpSpPr>
          <a:xfrm>
            <a:off x="-1905000" y="-2857500"/>
            <a:ext cx="13906500" cy="9906000"/>
            <a:chOff x="-1905000" y="-2857500"/>
            <a:chExt cx="13906500" cy="9906000"/>
          </a:xfrm>
        </p:grpSpPr>
        <p:grpSp>
          <p:nvGrpSpPr>
            <p:cNvPr id="357" name="Google Shape;357;p26"/>
            <p:cNvGrpSpPr/>
            <p:nvPr/>
          </p:nvGrpSpPr>
          <p:grpSpPr>
            <a:xfrm>
              <a:off x="-1905000" y="-2857500"/>
              <a:ext cx="13906500" cy="9906000"/>
              <a:chOff x="-1905000" y="-2857500"/>
              <a:chExt cx="13906500" cy="9906000"/>
            </a:xfrm>
          </p:grpSpPr>
          <p:sp>
            <p:nvSpPr>
              <p:cNvPr id="358" name="Google Shape;358;p26"/>
              <p:cNvSpPr/>
              <p:nvPr/>
            </p:nvSpPr>
            <p:spPr>
              <a:xfrm>
                <a:off x="6286500" y="-2857500"/>
                <a:ext cx="5715000" cy="5715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6"/>
              <p:cNvSpPr/>
              <p:nvPr/>
            </p:nvSpPr>
            <p:spPr>
              <a:xfrm>
                <a:off x="-1905000" y="3238500"/>
                <a:ext cx="3810000" cy="3810000"/>
              </a:xfrm>
              <a:prstGeom prst="ellipse">
                <a:avLst/>
              </a:prstGeom>
              <a:solidFill>
                <a:srgbClr val="46C2CE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0" name="Google Shape;360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26"/>
            <p:cNvPicPr preferRelativeResize="0"/>
            <p:nvPr/>
          </p:nvPicPr>
          <p:blipFill rotWithShape="1">
            <a:blip r:embed="rId5">
              <a:alphaModFix/>
            </a:blip>
            <a:srcRect t="318" b="318"/>
            <a:stretch/>
          </p:blipFill>
          <p:spPr>
            <a:xfrm>
              <a:off x="6983987" y="7"/>
              <a:ext cx="2160000" cy="832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/>
          <p:cNvPicPr preferRelativeResize="0"/>
          <p:nvPr/>
        </p:nvPicPr>
        <p:blipFill rotWithShape="1">
          <a:blip r:embed="rId4">
            <a:alphaModFix/>
          </a:blip>
          <a:srcRect t="318" b="318"/>
          <a:stretch/>
        </p:blipFill>
        <p:spPr>
          <a:xfrm>
            <a:off x="6983987" y="7"/>
            <a:ext cx="2160000" cy="8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3988" y="7"/>
            <a:ext cx="2160000" cy="83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327</Words>
  <Application>Microsoft Office PowerPoint</Application>
  <PresentationFormat>Presentación en pantalla (16:9)</PresentationFormat>
  <Paragraphs>114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Material Icons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Eduardo Acevedo Garcia</cp:lastModifiedBy>
  <cp:revision>2</cp:revision>
  <dcterms:modified xsi:type="dcterms:W3CDTF">2026-04-16T19:52:28Z</dcterms:modified>
</cp:coreProperties>
</file>