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 userDrawn="1">
          <p15:clr>
            <a:srgbClr val="A4A3A4"/>
          </p15:clr>
        </p15:guide>
        <p15:guide id="3" orient="horz" pos="1597" userDrawn="1">
          <p15:clr>
            <a:srgbClr val="A4A3A4"/>
          </p15:clr>
        </p15:guide>
        <p15:guide id="4" orient="horz" pos="12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C2CE"/>
    <a:srgbClr val="263980"/>
    <a:srgbClr val="2C1A56"/>
    <a:srgbClr val="7F52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14" y="276"/>
      </p:cViewPr>
      <p:guideLst>
        <p:guide pos="2880"/>
        <p:guide orient="horz" pos="1597"/>
        <p:guide orient="horz" pos="1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861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0" Type="http://schemas.openxmlformats.org/officeDocument/2006/relationships/image" Target="../media/image10.png"/><Relationship Id="rId4" Type="http://schemas.openxmlformats.org/officeDocument/2006/relationships/image" Target="../media/image13.png"/><Relationship Id="rId9" Type="http://schemas.openxmlformats.org/officeDocument/2006/relationships/image" Target="../media/image9.png"/><Relationship Id="rId1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7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33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3.png"/><Relationship Id="rId3" Type="http://schemas.openxmlformats.org/officeDocument/2006/relationships/image" Target="../media/image34.png"/><Relationship Id="rId7" Type="http://schemas.openxmlformats.org/officeDocument/2006/relationships/image" Target="../media/image3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8.png"/><Relationship Id="rId5" Type="http://schemas.openxmlformats.org/officeDocument/2006/relationships/image" Target="../media/image18.png"/><Relationship Id="rId15" Type="http://schemas.openxmlformats.org/officeDocument/2006/relationships/image" Target="../media/image13.png"/><Relationship Id="rId10" Type="http://schemas.openxmlformats.org/officeDocument/2006/relationships/image" Target="../media/image29.png"/><Relationship Id="rId4" Type="http://schemas.openxmlformats.org/officeDocument/2006/relationships/image" Target="../media/image30.png"/><Relationship Id="rId9" Type="http://schemas.openxmlformats.org/officeDocument/2006/relationships/image" Target="../media/image32.png"/><Relationship Id="rId1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15.png"/><Relationship Id="rId5" Type="http://schemas.openxmlformats.org/officeDocument/2006/relationships/image" Target="../media/image4.png"/><Relationship Id="rId10" Type="http://schemas.openxmlformats.org/officeDocument/2006/relationships/image" Target="../media/image5.png"/><Relationship Id="rId4" Type="http://schemas.openxmlformats.org/officeDocument/2006/relationships/image" Target="../media/image12.png"/><Relationship Id="rId9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472119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69399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GUÍA COMPLETA DE PRUEBAS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209479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2C39A"/>
                </a:solidFill>
              </a:rPr>
              <a:t>PARA MÓDULOS DE ODOO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3032439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</a:rPr>
              <a:t>Manual para Consultores y Desarrolladores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3855399"/>
            <a:ext cx="365760" cy="365760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DCCB4D42-2959-F6FD-9BF9-68388639DE15}"/>
              </a:ext>
            </a:extLst>
          </p:cNvPr>
          <p:cNvGrpSpPr/>
          <p:nvPr/>
        </p:nvGrpSpPr>
        <p:grpSpPr>
          <a:xfrm>
            <a:off x="2560320" y="3855399"/>
            <a:ext cx="4023360" cy="365760"/>
            <a:chOff x="3200400" y="4114800"/>
            <a:chExt cx="4023360" cy="365760"/>
          </a:xfrm>
        </p:grpSpPr>
        <p:pic>
          <p:nvPicPr>
            <p:cNvPr id="7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00400" y="4114800"/>
              <a:ext cx="365760" cy="365760"/>
            </a:xfrm>
            <a:prstGeom prst="rect">
              <a:avLst/>
            </a:prstGeom>
          </p:spPr>
        </p:pic>
        <p:pic>
          <p:nvPicPr>
            <p:cNvPr id="8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29200" y="4114800"/>
              <a:ext cx="365760" cy="365760"/>
            </a:xfrm>
            <a:prstGeom prst="rect">
              <a:avLst/>
            </a:prstGeom>
          </p:spPr>
        </p:pic>
        <p:pic>
          <p:nvPicPr>
            <p:cNvPr id="9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58000" y="4114800"/>
              <a:ext cx="365760" cy="365760"/>
            </a:xfrm>
            <a:prstGeom prst="rect">
              <a:avLst/>
            </a:prstGeom>
          </p:spPr>
        </p:pic>
      </p:grpSp>
      <p:sp>
        <p:nvSpPr>
          <p:cNvPr id="10" name="Text 3"/>
          <p:cNvSpPr/>
          <p:nvPr/>
        </p:nvSpPr>
        <p:spPr>
          <a:xfrm>
            <a:off x="457200" y="440403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Sunname Technologies | Versión 1.0 - Febrero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¿Por qué necesitamos esta guía?</a:t>
            </a:r>
            <a:endParaRPr lang="en-US" sz="2800" dirty="0"/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ECC19223-9BA3-E419-B910-0EAEC9CC60FC}"/>
              </a:ext>
            </a:extLst>
          </p:cNvPr>
          <p:cNvGrpSpPr/>
          <p:nvPr/>
        </p:nvGrpSpPr>
        <p:grpSpPr>
          <a:xfrm>
            <a:off x="1328474" y="1382300"/>
            <a:ext cx="6487052" cy="3040380"/>
            <a:chOff x="1328474" y="1097280"/>
            <a:chExt cx="6487052" cy="3040380"/>
          </a:xfrm>
        </p:grpSpPr>
        <p:sp>
          <p:nvSpPr>
            <p:cNvPr id="7" name="Shape 3"/>
            <p:cNvSpPr/>
            <p:nvPr/>
          </p:nvSpPr>
          <p:spPr>
            <a:xfrm>
              <a:off x="1328474" y="1097280"/>
              <a:ext cx="6487052" cy="822960"/>
            </a:xfrm>
            <a:prstGeom prst="rect">
              <a:avLst/>
            </a:prstGeom>
            <a:solidFill>
              <a:srgbClr val="E8F5F7"/>
            </a:solidFill>
            <a:ln/>
          </p:spPr>
          <p:txBody>
            <a:bodyPr/>
            <a:lstStyle/>
            <a:p>
              <a:endParaRPr lang="es-MX"/>
            </a:p>
          </p:txBody>
        </p: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5CFD9C5E-8DB1-6766-5FB3-1D2A19B4CA23}"/>
                </a:ext>
              </a:extLst>
            </p:cNvPr>
            <p:cNvGrpSpPr/>
            <p:nvPr/>
          </p:nvGrpSpPr>
          <p:grpSpPr>
            <a:xfrm>
              <a:off x="2463048" y="1188720"/>
              <a:ext cx="640080" cy="640080"/>
              <a:chOff x="731520" y="1188720"/>
              <a:chExt cx="640080" cy="640080"/>
            </a:xfrm>
          </p:grpSpPr>
          <p:sp>
            <p:nvSpPr>
              <p:cNvPr id="5" name="Shape 2"/>
              <p:cNvSpPr/>
              <p:nvPr/>
            </p:nvSpPr>
            <p:spPr>
              <a:xfrm>
                <a:off x="731520" y="1188720"/>
                <a:ext cx="640080" cy="640080"/>
              </a:xfrm>
              <a:prstGeom prst="ellipse">
                <a:avLst/>
              </a:prstGeom>
              <a:solidFill>
                <a:srgbClr val="FEF3C7"/>
              </a:solidFill>
              <a:ln/>
            </p:spPr>
            <p:txBody>
              <a:bodyPr/>
              <a:lstStyle/>
              <a:p>
                <a:endParaRPr lang="es-MX"/>
              </a:p>
            </p:txBody>
          </p:sp>
          <p:pic>
            <p:nvPicPr>
              <p:cNvPr id="6" name="Image 1" descr="preencoded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8680" y="1325880"/>
                <a:ext cx="365760" cy="365760"/>
              </a:xfrm>
              <a:prstGeom prst="rect">
                <a:avLst/>
              </a:prstGeom>
            </p:spPr>
          </p:pic>
        </p:grpSp>
        <p:sp>
          <p:nvSpPr>
            <p:cNvPr id="8" name="Text 4"/>
            <p:cNvSpPr/>
            <p:nvPr/>
          </p:nvSpPr>
          <p:spPr>
            <a:xfrm>
              <a:off x="1328474" y="1280160"/>
              <a:ext cx="648705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14F5A"/>
                  </a:solidFill>
                </a:rPr>
                <a:t>PROBLEMA IDENTIFICADO</a:t>
              </a:r>
              <a:endParaRPr lang="en-US" sz="1800" dirty="0"/>
            </a:p>
          </p:txBody>
        </p: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DF067EBA-D546-4F20-E19F-370418419AB1}"/>
                </a:ext>
              </a:extLst>
            </p:cNvPr>
            <p:cNvGrpSpPr/>
            <p:nvPr/>
          </p:nvGrpSpPr>
          <p:grpSpPr>
            <a:xfrm>
              <a:off x="1328474" y="2171700"/>
              <a:ext cx="6487052" cy="1965960"/>
              <a:chOff x="640080" y="2171700"/>
              <a:chExt cx="6487052" cy="1965960"/>
            </a:xfrm>
          </p:grpSpPr>
          <p:pic>
            <p:nvPicPr>
              <p:cNvPr id="9" name="Image 2" descr="preencoded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0080" y="2217420"/>
                <a:ext cx="182181" cy="228600"/>
              </a:xfrm>
              <a:prstGeom prst="rect">
                <a:avLst/>
              </a:prstGeom>
            </p:spPr>
          </p:pic>
          <p:sp>
            <p:nvSpPr>
              <p:cNvPr id="10" name="Text 5"/>
              <p:cNvSpPr/>
              <p:nvPr/>
            </p:nvSpPr>
            <p:spPr>
              <a:xfrm>
                <a:off x="1005840" y="2171700"/>
                <a:ext cx="6121292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1A1A1A"/>
                    </a:solidFill>
                  </a:rPr>
                  <a:t>Los módulos funcionan bien inicialmente, pero con el tiempo aparecen problemas</a:t>
                </a:r>
                <a:endParaRPr lang="en-US" sz="1400" dirty="0"/>
              </a:p>
            </p:txBody>
          </p:sp>
          <p:pic>
            <p:nvPicPr>
              <p:cNvPr id="11" name="Image 3" descr="preencoded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0080" y="2628900"/>
                <a:ext cx="182181" cy="228600"/>
              </a:xfrm>
              <a:prstGeom prst="rect">
                <a:avLst/>
              </a:prstGeom>
            </p:spPr>
          </p:pic>
          <p:sp>
            <p:nvSpPr>
              <p:cNvPr id="12" name="Text 6"/>
              <p:cNvSpPr/>
              <p:nvPr/>
            </p:nvSpPr>
            <p:spPr>
              <a:xfrm>
                <a:off x="1005840" y="2583180"/>
                <a:ext cx="6121292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1A1A1A"/>
                    </a:solidFill>
                  </a:rPr>
                  <a:t>No se prueban todas las interacciones con otros módulos instalados</a:t>
                </a:r>
                <a:endParaRPr lang="en-US" sz="1400" dirty="0"/>
              </a:p>
            </p:txBody>
          </p:sp>
          <p:pic>
            <p:nvPicPr>
              <p:cNvPr id="13" name="Image 4" descr="preencoded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0080" y="3040380"/>
                <a:ext cx="182181" cy="228600"/>
              </a:xfrm>
              <a:prstGeom prst="rect">
                <a:avLst/>
              </a:prstGeom>
            </p:spPr>
          </p:pic>
          <p:sp>
            <p:nvSpPr>
              <p:cNvPr id="14" name="Text 7"/>
              <p:cNvSpPr/>
              <p:nvPr/>
            </p:nvSpPr>
            <p:spPr>
              <a:xfrm>
                <a:off x="1005840" y="2994660"/>
                <a:ext cx="6121292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1A1A1A"/>
                    </a:solidFill>
                  </a:rPr>
                  <a:t>Falta un protocolo estandarizado de pruebas de calidad</a:t>
                </a:r>
                <a:endParaRPr lang="en-US" sz="1400" dirty="0"/>
              </a:p>
            </p:txBody>
          </p:sp>
          <p:pic>
            <p:nvPicPr>
              <p:cNvPr id="15" name="Image 5" descr="preencoded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0080" y="3451860"/>
                <a:ext cx="182181" cy="228600"/>
              </a:xfrm>
              <a:prstGeom prst="rect">
                <a:avLst/>
              </a:prstGeom>
            </p:spPr>
          </p:pic>
          <p:sp>
            <p:nvSpPr>
              <p:cNvPr id="16" name="Text 8"/>
              <p:cNvSpPr/>
              <p:nvPr/>
            </p:nvSpPr>
            <p:spPr>
              <a:xfrm>
                <a:off x="1005840" y="3406140"/>
                <a:ext cx="6121292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1A1A1A"/>
                    </a:solidFill>
                  </a:rPr>
                  <a:t>Desarrolladores externos desconocen el ecosistema completo</a:t>
                </a:r>
                <a:endParaRPr lang="en-US" sz="1400" dirty="0"/>
              </a:p>
            </p:txBody>
          </p:sp>
          <p:pic>
            <p:nvPicPr>
              <p:cNvPr id="17" name="Image 6" descr="preencoded.png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0080" y="3863340"/>
                <a:ext cx="182181" cy="228600"/>
              </a:xfrm>
              <a:prstGeom prst="rect">
                <a:avLst/>
              </a:prstGeom>
            </p:spPr>
          </p:pic>
          <p:sp>
            <p:nvSpPr>
              <p:cNvPr id="18" name="Text 9"/>
              <p:cNvSpPr/>
              <p:nvPr/>
            </p:nvSpPr>
            <p:spPr>
              <a:xfrm>
                <a:off x="1005840" y="3817620"/>
                <a:ext cx="6121292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1A1A1A"/>
                    </a:solidFill>
                  </a:rPr>
                  <a:t>Errores aparecen solo con carga real de datos o usuarios simultáneos</a:t>
                </a:r>
                <a:endParaRPr lang="en-US" sz="1400" dirty="0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Estructura del Manual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840480" cy="338328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MX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3DFACC01-F0D5-E297-0517-CBD3EA64EFB9}"/>
              </a:ext>
            </a:extLst>
          </p:cNvPr>
          <p:cNvGrpSpPr/>
          <p:nvPr/>
        </p:nvGrpSpPr>
        <p:grpSpPr>
          <a:xfrm>
            <a:off x="611550" y="1312030"/>
            <a:ext cx="720000" cy="720000"/>
            <a:chOff x="640080" y="1267580"/>
            <a:chExt cx="822960" cy="822960"/>
          </a:xfrm>
        </p:grpSpPr>
        <p:sp>
          <p:nvSpPr>
            <p:cNvPr id="6" name="Shape 3"/>
            <p:cNvSpPr/>
            <p:nvPr/>
          </p:nvSpPr>
          <p:spPr>
            <a:xfrm>
              <a:off x="640080" y="1267580"/>
              <a:ext cx="822960" cy="82296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7240" y="1404740"/>
              <a:ext cx="548640" cy="548640"/>
            </a:xfrm>
            <a:prstGeom prst="rect">
              <a:avLst/>
            </a:prstGeom>
          </p:spPr>
        </p:pic>
      </p:grpSp>
      <p:sp>
        <p:nvSpPr>
          <p:cNvPr id="8" name="Text 4"/>
          <p:cNvSpPr/>
          <p:nvPr/>
        </p:nvSpPr>
        <p:spPr>
          <a:xfrm>
            <a:off x="640080" y="1604037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PARTE 1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40080" y="1969797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Para Consultores No </a:t>
            </a:r>
            <a:r>
              <a:rPr lang="en-US" sz="1400" i="1" dirty="0" err="1">
                <a:solidFill>
                  <a:srgbClr val="FFFFFF"/>
                </a:solidFill>
              </a:rPr>
              <a:t>Técnicos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297440" y="2552700"/>
            <a:ext cx="2160000" cy="1800000"/>
          </a:xfrm>
          <a:prstGeom prst="rect">
            <a:avLst/>
          </a:prstGeom>
          <a:noFill/>
          <a:ln/>
        </p:spPr>
        <p:txBody>
          <a:bodyPr wrap="square" numCol="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Pruebas Funcionales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Casos Extremos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Permisos y Seguridad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Compatibilidad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Rendimiento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Validación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Idiomas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Usabilidad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846320" y="1188720"/>
            <a:ext cx="3840480" cy="3383280"/>
          </a:xfrm>
          <a:prstGeom prst="rect">
            <a:avLst/>
          </a:prstGeom>
          <a:solidFill>
            <a:srgbClr val="014F5A"/>
          </a:solidFill>
          <a:ln/>
        </p:spPr>
        <p:txBody>
          <a:bodyPr/>
          <a:lstStyle/>
          <a:p>
            <a:endParaRPr lang="es-MX"/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5730B1BF-BFAE-11CD-CE7E-6CE37680BEC8}"/>
              </a:ext>
            </a:extLst>
          </p:cNvPr>
          <p:cNvGrpSpPr/>
          <p:nvPr/>
        </p:nvGrpSpPr>
        <p:grpSpPr>
          <a:xfrm>
            <a:off x="5000670" y="1312030"/>
            <a:ext cx="720000" cy="720000"/>
            <a:chOff x="5029200" y="1267580"/>
            <a:chExt cx="822960" cy="822960"/>
          </a:xfrm>
        </p:grpSpPr>
        <p:sp>
          <p:nvSpPr>
            <p:cNvPr id="12" name="Shape 8"/>
            <p:cNvSpPr/>
            <p:nvPr/>
          </p:nvSpPr>
          <p:spPr>
            <a:xfrm>
              <a:off x="5029200" y="1267580"/>
              <a:ext cx="822960" cy="82296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13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66360" y="1404740"/>
              <a:ext cx="548640" cy="548640"/>
            </a:xfrm>
            <a:prstGeom prst="rect">
              <a:avLst/>
            </a:prstGeom>
          </p:spPr>
        </p:pic>
      </p:grpSp>
      <p:sp>
        <p:nvSpPr>
          <p:cNvPr id="14" name="Text 9"/>
          <p:cNvSpPr/>
          <p:nvPr/>
        </p:nvSpPr>
        <p:spPr>
          <a:xfrm>
            <a:off x="5029200" y="1604037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PARTE 2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5029200" y="1969797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Para Desarrolladores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686560" y="2432050"/>
            <a:ext cx="2160000" cy="1800000"/>
          </a:xfrm>
          <a:prstGeom prst="rect">
            <a:avLst/>
          </a:prstGeom>
          <a:noFill/>
          <a:ln/>
        </p:spPr>
        <p:txBody>
          <a:bodyPr wrap="square" numCol="1" rtlCol="0" anchor="ctr"/>
          <a:lstStyle/>
          <a:p>
            <a:r>
              <a:rPr lang="en-US" sz="1600" dirty="0">
                <a:solidFill>
                  <a:srgbClr val="FFFFFF"/>
                </a:solidFill>
              </a:rPr>
              <a:t>• Revisión de Código</a:t>
            </a:r>
          </a:p>
          <a:p>
            <a:r>
              <a:rPr lang="en-US" sz="1600" dirty="0">
                <a:solidFill>
                  <a:srgbClr val="FFFFFF"/>
                </a:solidFill>
              </a:rPr>
              <a:t>• </a:t>
            </a:r>
            <a:r>
              <a:rPr lang="en-US" sz="1600" dirty="0" err="1">
                <a:solidFill>
                  <a:srgbClr val="FFFFFF"/>
                </a:solidFill>
              </a:rPr>
              <a:t>Integración</a:t>
            </a:r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dirty="0">
                <a:solidFill>
                  <a:srgbClr val="FFFFFF"/>
                </a:solidFill>
              </a:rPr>
              <a:t>• </a:t>
            </a:r>
            <a:r>
              <a:rPr lang="en-US" sz="1600" dirty="0" err="1">
                <a:solidFill>
                  <a:srgbClr val="FFFFFF"/>
                </a:solidFill>
              </a:rPr>
              <a:t>Pruebas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Unitarias</a:t>
            </a:r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dirty="0">
                <a:solidFill>
                  <a:srgbClr val="FFFFFF"/>
                </a:solidFill>
              </a:rPr>
              <a:t>• Performance</a:t>
            </a:r>
          </a:p>
          <a:p>
            <a:r>
              <a:rPr lang="en-US" sz="1600" dirty="0">
                <a:solidFill>
                  <a:srgbClr val="FFFFFF"/>
                </a:solidFill>
              </a:rPr>
              <a:t>• </a:t>
            </a:r>
            <a:r>
              <a:rPr lang="en-US" sz="1600" dirty="0" err="1">
                <a:solidFill>
                  <a:srgbClr val="FFFFFF"/>
                </a:solidFill>
              </a:rPr>
              <a:t>Migración</a:t>
            </a:r>
            <a:endParaRPr lang="en-US" sz="1600" dirty="0">
              <a:solidFill>
                <a:srgbClr val="FFFFFF"/>
              </a:solidFill>
            </a:endParaRPr>
          </a:p>
          <a:p>
            <a:r>
              <a:rPr lang="en-US" sz="1600" dirty="0">
                <a:solidFill>
                  <a:srgbClr val="FFFFFF"/>
                </a:solidFill>
              </a:rPr>
              <a:t>• Logs</a:t>
            </a:r>
          </a:p>
          <a:p>
            <a:r>
              <a:rPr lang="en-US" sz="1600" dirty="0">
                <a:solidFill>
                  <a:srgbClr val="FFFFFF"/>
                </a:solidFill>
              </a:rPr>
              <a:t>• Checklist Técnico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A8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22592EAC-FDE9-945B-AE18-54E9024E435A}"/>
              </a:ext>
            </a:extLst>
          </p:cNvPr>
          <p:cNvGrpSpPr/>
          <p:nvPr/>
        </p:nvGrpSpPr>
        <p:grpSpPr>
          <a:xfrm>
            <a:off x="457200" y="788670"/>
            <a:ext cx="8229600" cy="3566160"/>
            <a:chOff x="457200" y="1097280"/>
            <a:chExt cx="8229600" cy="3566160"/>
          </a:xfrm>
        </p:grpSpPr>
        <p:sp>
          <p:nvSpPr>
            <p:cNvPr id="2" name="Shape 0"/>
            <p:cNvSpPr/>
            <p:nvPr/>
          </p:nvSpPr>
          <p:spPr>
            <a:xfrm>
              <a:off x="3429000" y="1097280"/>
              <a:ext cx="2286000" cy="228600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86200" y="1554480"/>
              <a:ext cx="1371600" cy="1371600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457200" y="3657600"/>
              <a:ext cx="8229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200" b="1" dirty="0">
                  <a:solidFill>
                    <a:srgbClr val="FFFFFF"/>
                  </a:solidFill>
                </a:rPr>
                <a:t>PARTE 1</a:t>
              </a:r>
              <a:endParaRPr lang="en-US" sz="42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457200" y="420624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14F5A"/>
                  </a:solidFill>
                </a:rPr>
                <a:t>GUÍA PARA CONSULTORES NO TÉCNICOS</a:t>
              </a:r>
              <a:endParaRPr lang="en-US" sz="24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1. Pruebas Funcionales Básicas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457200" cy="457200"/>
          </a:xfrm>
          <a:prstGeom prst="ellipse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115568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0515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F5A"/>
                </a:solidFill>
              </a:rPr>
              <a:t>¿Qué son?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188720" y="13258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Verifican que el módulo hace exactamente lo que debe hacer según los requerimientos.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1828800"/>
            <a:ext cx="2651760" cy="2651760"/>
          </a:xfrm>
          <a:prstGeom prst="rect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6"/>
          <p:cNvSpPr/>
          <p:nvPr/>
        </p:nvSpPr>
        <p:spPr>
          <a:xfrm>
            <a:off x="1508760" y="19659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7"/>
          <p:cNvSpPr/>
          <p:nvPr/>
        </p:nvSpPr>
        <p:spPr>
          <a:xfrm>
            <a:off x="1508760" y="2057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265176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4F5A"/>
                </a:solidFill>
              </a:rPr>
              <a:t>Revisión de Documentación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731520" y="37490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Descripción del módulo</a:t>
            </a:r>
            <a:endParaRPr lang="en-US" sz="10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Funcionalidades incluidas</a:t>
            </a:r>
            <a:endParaRPr lang="en-US" sz="10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Capturas de pantalla</a:t>
            </a:r>
            <a:endParaRPr lang="en-US" sz="10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Instrucciones config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337560" y="1828800"/>
            <a:ext cx="2651760" cy="2651760"/>
          </a:xfrm>
          <a:prstGeom prst="rect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Shape 11"/>
          <p:cNvSpPr/>
          <p:nvPr/>
        </p:nvSpPr>
        <p:spPr>
          <a:xfrm>
            <a:off x="4389120" y="19659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2"/>
          <p:cNvSpPr/>
          <p:nvPr/>
        </p:nvSpPr>
        <p:spPr>
          <a:xfrm>
            <a:off x="4389120" y="2057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2651760"/>
            <a:ext cx="640080" cy="6400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52044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4F5A"/>
                </a:solidFill>
              </a:rPr>
              <a:t>Instalación en Pruebas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611880" y="37490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NUNCA en producción</a:t>
            </a:r>
            <a:endParaRPr lang="en-US" sz="10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Anotar errores</a:t>
            </a:r>
            <a:endParaRPr lang="en-US" sz="10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Verificar menús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217920" y="1828800"/>
            <a:ext cx="2651760" cy="2651760"/>
          </a:xfrm>
          <a:prstGeom prst="rect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Shape 16"/>
          <p:cNvSpPr/>
          <p:nvPr/>
        </p:nvSpPr>
        <p:spPr>
          <a:xfrm>
            <a:off x="7269480" y="19659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17"/>
          <p:cNvSpPr/>
          <p:nvPr/>
        </p:nvSpPr>
        <p:spPr>
          <a:xfrm>
            <a:off x="7269480" y="2057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0" y="2651760"/>
            <a:ext cx="640080" cy="6400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0080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4F5A"/>
                </a:solidFill>
              </a:rPr>
              <a:t>Camino Feliz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492240" y="37490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Caso de uso simple</a:t>
            </a:r>
            <a:endParaRPr lang="en-US" sz="10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Proceso paso a paso</a:t>
            </a:r>
            <a:endParaRPr lang="en-US" sz="10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Verificar resultado</a:t>
            </a:r>
            <a:endParaRPr lang="en-US" sz="10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Documentar capturas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2. Pruebas de Casos Extremos (Edge Cases)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3882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Situaciones inusuales o límite que pueden romper el sistema</a:t>
            </a:r>
            <a:endParaRPr lang="en-US" sz="140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B71F8C3F-D421-7276-12BA-EBD01AB95D8D}"/>
              </a:ext>
            </a:extLst>
          </p:cNvPr>
          <p:cNvGrpSpPr/>
          <p:nvPr/>
        </p:nvGrpSpPr>
        <p:grpSpPr>
          <a:xfrm>
            <a:off x="365760" y="1819706"/>
            <a:ext cx="8412480" cy="2331720"/>
            <a:chOff x="457200" y="1371600"/>
            <a:chExt cx="8412480" cy="2331720"/>
          </a:xfrm>
        </p:grpSpPr>
        <p:sp>
          <p:nvSpPr>
            <p:cNvPr id="6" name="Shape 3"/>
            <p:cNvSpPr/>
            <p:nvPr/>
          </p:nvSpPr>
          <p:spPr>
            <a:xfrm>
              <a:off x="457200" y="1371600"/>
              <a:ext cx="2651760" cy="1097280"/>
            </a:xfrm>
            <a:prstGeom prst="rect">
              <a:avLst/>
            </a:prstGeom>
            <a:solidFill>
              <a:srgbClr val="FEE2E2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4360" y="1600200"/>
              <a:ext cx="457200" cy="457200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1143000" y="150876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Campos Vacíos</a:t>
              </a:r>
              <a:endParaRPr lang="en-US" sz="120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1143000" y="1810512"/>
              <a:ext cx="18288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1A1A"/>
                  </a:solidFill>
                </a:rPr>
                <a:t>Dejar campos importantes vacíos</a:t>
              </a:r>
              <a:endParaRPr lang="en-US" sz="1000" dirty="0"/>
            </a:p>
          </p:txBody>
        </p:sp>
        <p:sp>
          <p:nvSpPr>
            <p:cNvPr id="10" name="Shape 6"/>
            <p:cNvSpPr/>
            <p:nvPr/>
          </p:nvSpPr>
          <p:spPr>
            <a:xfrm>
              <a:off x="3337560" y="1371600"/>
              <a:ext cx="2651760" cy="1097280"/>
            </a:xfrm>
            <a:prstGeom prst="rect">
              <a:avLst/>
            </a:prstGeom>
            <a:solidFill>
              <a:srgbClr val="FEF3C7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74720" y="1600200"/>
              <a:ext cx="457200" cy="457200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4023360" y="150876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Valores Cero/Negativos</a:t>
              </a:r>
              <a:endParaRPr lang="en-US" sz="1200" dirty="0"/>
            </a:p>
          </p:txBody>
        </p:sp>
        <p:sp>
          <p:nvSpPr>
            <p:cNvPr id="13" name="Text 8"/>
            <p:cNvSpPr/>
            <p:nvPr/>
          </p:nvSpPr>
          <p:spPr>
            <a:xfrm>
              <a:off x="4023360" y="1810512"/>
              <a:ext cx="18288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1A1A"/>
                  </a:solidFill>
                </a:rPr>
                <a:t>Intentar 0, -1, números grandes</a:t>
              </a:r>
              <a:endParaRPr lang="en-US" sz="1000" dirty="0"/>
            </a:p>
          </p:txBody>
        </p:sp>
        <p:sp>
          <p:nvSpPr>
            <p:cNvPr id="14" name="Shape 9"/>
            <p:cNvSpPr/>
            <p:nvPr/>
          </p:nvSpPr>
          <p:spPr>
            <a:xfrm>
              <a:off x="6217920" y="1371600"/>
              <a:ext cx="2651760" cy="1097280"/>
            </a:xfrm>
            <a:prstGeom prst="rect">
              <a:avLst/>
            </a:prstGeom>
            <a:solidFill>
              <a:srgbClr val="DBEAFE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15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55080" y="1600200"/>
              <a:ext cx="457200" cy="457200"/>
            </a:xfrm>
            <a:prstGeom prst="rect">
              <a:avLst/>
            </a:prstGeom>
          </p:spPr>
        </p:pic>
        <p:sp>
          <p:nvSpPr>
            <p:cNvPr id="16" name="Text 10"/>
            <p:cNvSpPr/>
            <p:nvPr/>
          </p:nvSpPr>
          <p:spPr>
            <a:xfrm>
              <a:off x="6903720" y="150876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Texto Muy Largo</a:t>
              </a:r>
              <a:endParaRPr lang="en-US" sz="1200" dirty="0"/>
            </a:p>
          </p:txBody>
        </p:sp>
        <p:sp>
          <p:nvSpPr>
            <p:cNvPr id="17" name="Text 11"/>
            <p:cNvSpPr/>
            <p:nvPr/>
          </p:nvSpPr>
          <p:spPr>
            <a:xfrm>
              <a:off x="6903720" y="1810512"/>
              <a:ext cx="18288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1A1A"/>
                  </a:solidFill>
                </a:rPr>
                <a:t>Textos extremadamente largos</a:t>
              </a:r>
              <a:endParaRPr lang="en-US" sz="1000" dirty="0"/>
            </a:p>
          </p:txBody>
        </p:sp>
        <p:sp>
          <p:nvSpPr>
            <p:cNvPr id="18" name="Shape 12"/>
            <p:cNvSpPr/>
            <p:nvPr/>
          </p:nvSpPr>
          <p:spPr>
            <a:xfrm>
              <a:off x="457200" y="2606040"/>
              <a:ext cx="2651760" cy="1097280"/>
            </a:xfrm>
            <a:prstGeom prst="rect">
              <a:avLst/>
            </a:prstGeom>
            <a:solidFill>
              <a:srgbClr val="E9D5FF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19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4360" y="2834640"/>
              <a:ext cx="457200" cy="457200"/>
            </a:xfrm>
            <a:prstGeom prst="rect">
              <a:avLst/>
            </a:prstGeom>
          </p:spPr>
        </p:pic>
        <p:sp>
          <p:nvSpPr>
            <p:cNvPr id="20" name="Text 13"/>
            <p:cNvSpPr/>
            <p:nvPr/>
          </p:nvSpPr>
          <p:spPr>
            <a:xfrm>
              <a:off x="1143000" y="274320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Caracteres Especiales</a:t>
              </a:r>
              <a:endParaRPr lang="en-US" sz="1200" dirty="0"/>
            </a:p>
          </p:txBody>
        </p:sp>
        <p:sp>
          <p:nvSpPr>
            <p:cNvPr id="21" name="Text 14"/>
            <p:cNvSpPr/>
            <p:nvPr/>
          </p:nvSpPr>
          <p:spPr>
            <a:xfrm>
              <a:off x="1143000" y="3044952"/>
              <a:ext cx="18288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1A1A"/>
                  </a:solidFill>
                </a:rPr>
                <a:t>ñ, @#$%&amp;, emojis 😀</a:t>
              </a:r>
              <a:endParaRPr lang="en-US" sz="1000" dirty="0"/>
            </a:p>
          </p:txBody>
        </p:sp>
        <p:sp>
          <p:nvSpPr>
            <p:cNvPr id="22" name="Shape 15"/>
            <p:cNvSpPr/>
            <p:nvPr/>
          </p:nvSpPr>
          <p:spPr>
            <a:xfrm>
              <a:off x="3337560" y="2606040"/>
              <a:ext cx="2651760" cy="1097280"/>
            </a:xfrm>
            <a:prstGeom prst="rect">
              <a:avLst/>
            </a:prstGeom>
            <a:solidFill>
              <a:srgbClr val="FED7AA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23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74720" y="2834640"/>
              <a:ext cx="457200" cy="457200"/>
            </a:xfrm>
            <a:prstGeom prst="rect">
              <a:avLst/>
            </a:prstGeom>
          </p:spPr>
        </p:pic>
        <p:sp>
          <p:nvSpPr>
            <p:cNvPr id="24" name="Text 16"/>
            <p:cNvSpPr/>
            <p:nvPr/>
          </p:nvSpPr>
          <p:spPr>
            <a:xfrm>
              <a:off x="4023360" y="274320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Fechas Inválidas</a:t>
              </a:r>
              <a:endParaRPr lang="en-US" sz="1200" dirty="0"/>
            </a:p>
          </p:txBody>
        </p:sp>
        <p:sp>
          <p:nvSpPr>
            <p:cNvPr id="25" name="Text 17"/>
            <p:cNvSpPr/>
            <p:nvPr/>
          </p:nvSpPr>
          <p:spPr>
            <a:xfrm>
              <a:off x="4023360" y="3044952"/>
              <a:ext cx="18288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1A1A"/>
                  </a:solidFill>
                </a:rPr>
                <a:t>Pasado, futuro, 29 feb no bisiesto</a:t>
              </a:r>
              <a:endParaRPr lang="en-US" sz="1000" dirty="0"/>
            </a:p>
          </p:txBody>
        </p:sp>
        <p:sp>
          <p:nvSpPr>
            <p:cNvPr id="26" name="Shape 18"/>
            <p:cNvSpPr/>
            <p:nvPr/>
          </p:nvSpPr>
          <p:spPr>
            <a:xfrm>
              <a:off x="6217920" y="2606040"/>
              <a:ext cx="2651760" cy="1097280"/>
            </a:xfrm>
            <a:prstGeom prst="rect">
              <a:avLst/>
            </a:prstGeom>
            <a:solidFill>
              <a:srgbClr val="FEE2E2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27" name="Image 6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55080" y="2834640"/>
              <a:ext cx="457200" cy="457200"/>
            </a:xfrm>
            <a:prstGeom prst="rect">
              <a:avLst/>
            </a:prstGeom>
          </p:spPr>
        </p:pic>
        <p:sp>
          <p:nvSpPr>
            <p:cNvPr id="28" name="Text 19"/>
            <p:cNvSpPr/>
            <p:nvPr/>
          </p:nvSpPr>
          <p:spPr>
            <a:xfrm>
              <a:off x="6903720" y="274320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Borrar en Proceso</a:t>
              </a:r>
              <a:endParaRPr lang="en-US" sz="1200" dirty="0"/>
            </a:p>
          </p:txBody>
        </p:sp>
        <p:sp>
          <p:nvSpPr>
            <p:cNvPr id="29" name="Text 20"/>
            <p:cNvSpPr/>
            <p:nvPr/>
          </p:nvSpPr>
          <p:spPr>
            <a:xfrm>
              <a:off x="6903720" y="3044952"/>
              <a:ext cx="18288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1A1A"/>
                  </a:solidFill>
                </a:rPr>
                <a:t>Empezar, borrar, datos huérfanos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</a:rPr>
              <a:t>Ejemplo</a:t>
            </a:r>
            <a:r>
              <a:rPr lang="en-US" sz="2600" b="1" dirty="0">
                <a:solidFill>
                  <a:srgbClr val="FFFFFF"/>
                </a:solidFill>
              </a:rPr>
              <a:t>: Módulo de Comisiones</a:t>
            </a:r>
            <a:endParaRPr lang="en-US" sz="2600" dirty="0"/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058E7E68-D9B2-EA93-75F7-1108B21A1E44}"/>
              </a:ext>
            </a:extLst>
          </p:cNvPr>
          <p:cNvGrpSpPr/>
          <p:nvPr/>
        </p:nvGrpSpPr>
        <p:grpSpPr>
          <a:xfrm>
            <a:off x="1330037" y="1097280"/>
            <a:ext cx="6483927" cy="3291840"/>
            <a:chOff x="457200" y="1097280"/>
            <a:chExt cx="6483927" cy="3291840"/>
          </a:xfrm>
        </p:grpSpPr>
        <p:sp>
          <p:nvSpPr>
            <p:cNvPr id="5" name="Shape 2"/>
            <p:cNvSpPr/>
            <p:nvPr/>
          </p:nvSpPr>
          <p:spPr>
            <a:xfrm>
              <a:off x="457200" y="1097280"/>
              <a:ext cx="3200400" cy="3291840"/>
            </a:xfrm>
            <a:prstGeom prst="rect">
              <a:avLst/>
            </a:prstGeom>
            <a:solidFill>
              <a:srgbClr val="E8F5F7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71600" y="1371600"/>
              <a:ext cx="1371600" cy="1371600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640080" y="2926080"/>
              <a:ext cx="2834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014F5A"/>
                  </a:solidFill>
                </a:rPr>
                <a:t>CASOS EXTREMOS</a:t>
              </a:r>
              <a:endParaRPr lang="en-US" sz="1600" dirty="0"/>
            </a:p>
          </p:txBody>
        </p:sp>
        <p:sp>
          <p:nvSpPr>
            <p:cNvPr id="8" name="Text 4"/>
            <p:cNvSpPr/>
            <p:nvPr/>
          </p:nvSpPr>
          <p:spPr>
            <a:xfrm>
              <a:off x="640080" y="3200400"/>
              <a:ext cx="283464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014F5A"/>
                  </a:solidFill>
                </a:rPr>
                <a:t>a probar:</a:t>
              </a:r>
              <a:endParaRPr lang="en-US" sz="1400" dirty="0"/>
            </a:p>
          </p:txBody>
        </p:sp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0A8AE376-D39C-4FB2-E449-55862C49C536}"/>
                </a:ext>
              </a:extLst>
            </p:cNvPr>
            <p:cNvGrpSpPr/>
            <p:nvPr/>
          </p:nvGrpSpPr>
          <p:grpSpPr>
            <a:xfrm>
              <a:off x="3931920" y="1371600"/>
              <a:ext cx="3009207" cy="2606040"/>
              <a:chOff x="3931920" y="1371600"/>
              <a:chExt cx="3009207" cy="2606040"/>
            </a:xfrm>
          </p:grpSpPr>
          <p:sp>
            <p:nvSpPr>
              <p:cNvPr id="11" name="Text 6"/>
              <p:cNvSpPr/>
              <p:nvPr/>
            </p:nvSpPr>
            <p:spPr>
              <a:xfrm>
                <a:off x="4389120" y="1389888"/>
                <a:ext cx="2552007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1A1A1A"/>
                    </a:solidFill>
                  </a:rPr>
                  <a:t>¿Comisión de 0%?</a:t>
                </a:r>
                <a:endParaRPr lang="en-US" sz="1400" dirty="0"/>
              </a:p>
            </p:txBody>
          </p:sp>
          <p:sp>
            <p:nvSpPr>
              <p:cNvPr id="14" name="Text 8"/>
              <p:cNvSpPr/>
              <p:nvPr/>
            </p:nvSpPr>
            <p:spPr>
              <a:xfrm>
                <a:off x="4389120" y="1847088"/>
                <a:ext cx="2552007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1A1A1A"/>
                    </a:solidFill>
                  </a:rPr>
                  <a:t>¿Comisión de 150%?</a:t>
                </a:r>
                <a:endParaRPr lang="en-US" sz="1400" dirty="0"/>
              </a:p>
            </p:txBody>
          </p:sp>
          <p:sp>
            <p:nvSpPr>
              <p:cNvPr id="17" name="Text 10"/>
              <p:cNvSpPr/>
              <p:nvPr/>
            </p:nvSpPr>
            <p:spPr>
              <a:xfrm>
                <a:off x="4389120" y="2304288"/>
                <a:ext cx="2552007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1A1A1A"/>
                    </a:solidFill>
                  </a:rPr>
                  <a:t>¿Ventas con 100% descuento?</a:t>
                </a:r>
                <a:endParaRPr lang="en-US" sz="1400" dirty="0"/>
              </a:p>
            </p:txBody>
          </p:sp>
          <p:sp>
            <p:nvSpPr>
              <p:cNvPr id="20" name="Text 12"/>
              <p:cNvSpPr/>
              <p:nvPr/>
            </p:nvSpPr>
            <p:spPr>
              <a:xfrm>
                <a:off x="4389120" y="2761488"/>
                <a:ext cx="2552007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1A1A1A"/>
                    </a:solidFill>
                  </a:rPr>
                  <a:t>¿Cancelar venta con comisión?</a:t>
                </a:r>
                <a:endParaRPr lang="en-US" sz="1400" dirty="0"/>
              </a:p>
            </p:txBody>
          </p:sp>
          <p:sp>
            <p:nvSpPr>
              <p:cNvPr id="23" name="Text 14"/>
              <p:cNvSpPr/>
              <p:nvPr/>
            </p:nvSpPr>
            <p:spPr>
              <a:xfrm>
                <a:off x="4389120" y="3218688"/>
                <a:ext cx="2552007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1A1A1A"/>
                    </a:solidFill>
                  </a:rPr>
                  <a:t>¿Dos vendedores, misma venta?</a:t>
                </a:r>
                <a:endParaRPr lang="en-US" sz="1400" dirty="0"/>
              </a:p>
            </p:txBody>
          </p:sp>
          <p:sp>
            <p:nvSpPr>
              <p:cNvPr id="9" name="Shape 5"/>
              <p:cNvSpPr/>
              <p:nvPr/>
            </p:nvSpPr>
            <p:spPr>
              <a:xfrm>
                <a:off x="3931920" y="1371600"/>
                <a:ext cx="320040" cy="320040"/>
              </a:xfrm>
              <a:prstGeom prst="ellipse">
                <a:avLst/>
              </a:prstGeom>
              <a:solidFill>
                <a:srgbClr val="00A896"/>
              </a:solidFill>
              <a:ln/>
            </p:spPr>
            <p:txBody>
              <a:bodyPr/>
              <a:lstStyle/>
              <a:p>
                <a:endParaRPr lang="es-MX"/>
              </a:p>
            </p:txBody>
          </p:sp>
          <p:pic>
            <p:nvPicPr>
              <p:cNvPr id="10" name="Image 2" descr="preencoded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77640" y="1417320"/>
                <a:ext cx="228600" cy="228600"/>
              </a:xfrm>
              <a:prstGeom prst="rect">
                <a:avLst/>
              </a:prstGeom>
            </p:spPr>
          </p:pic>
          <p:sp>
            <p:nvSpPr>
              <p:cNvPr id="12" name="Shape 7"/>
              <p:cNvSpPr/>
              <p:nvPr/>
            </p:nvSpPr>
            <p:spPr>
              <a:xfrm>
                <a:off x="3931920" y="1828800"/>
                <a:ext cx="320040" cy="320040"/>
              </a:xfrm>
              <a:prstGeom prst="ellipse">
                <a:avLst/>
              </a:prstGeom>
              <a:solidFill>
                <a:srgbClr val="00A896"/>
              </a:solidFill>
              <a:ln/>
            </p:spPr>
            <p:txBody>
              <a:bodyPr/>
              <a:lstStyle/>
              <a:p>
                <a:endParaRPr lang="es-MX"/>
              </a:p>
            </p:txBody>
          </p:sp>
          <p:pic>
            <p:nvPicPr>
              <p:cNvPr id="13" name="Image 3" descr="preencoded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77640" y="1874520"/>
                <a:ext cx="228600" cy="228600"/>
              </a:xfrm>
              <a:prstGeom prst="rect">
                <a:avLst/>
              </a:prstGeom>
            </p:spPr>
          </p:pic>
          <p:sp>
            <p:nvSpPr>
              <p:cNvPr id="15" name="Shape 9"/>
              <p:cNvSpPr/>
              <p:nvPr/>
            </p:nvSpPr>
            <p:spPr>
              <a:xfrm>
                <a:off x="3931920" y="2286000"/>
                <a:ext cx="320040" cy="320040"/>
              </a:xfrm>
              <a:prstGeom prst="ellipse">
                <a:avLst/>
              </a:prstGeom>
              <a:solidFill>
                <a:srgbClr val="00A896"/>
              </a:solidFill>
              <a:ln/>
            </p:spPr>
            <p:txBody>
              <a:bodyPr/>
              <a:lstStyle/>
              <a:p>
                <a:endParaRPr lang="es-MX"/>
              </a:p>
            </p:txBody>
          </p:sp>
          <p:pic>
            <p:nvPicPr>
              <p:cNvPr id="16" name="Image 4" descr="preencoded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77640" y="2331720"/>
                <a:ext cx="228600" cy="228600"/>
              </a:xfrm>
              <a:prstGeom prst="rect">
                <a:avLst/>
              </a:prstGeom>
            </p:spPr>
          </p:pic>
          <p:sp>
            <p:nvSpPr>
              <p:cNvPr id="18" name="Shape 11"/>
              <p:cNvSpPr/>
              <p:nvPr/>
            </p:nvSpPr>
            <p:spPr>
              <a:xfrm>
                <a:off x="3931920" y="2743200"/>
                <a:ext cx="320040" cy="320040"/>
              </a:xfrm>
              <a:prstGeom prst="ellipse">
                <a:avLst/>
              </a:prstGeom>
              <a:solidFill>
                <a:srgbClr val="00A896"/>
              </a:solidFill>
              <a:ln/>
            </p:spPr>
            <p:txBody>
              <a:bodyPr/>
              <a:lstStyle/>
              <a:p>
                <a:endParaRPr lang="es-MX"/>
              </a:p>
            </p:txBody>
          </p:sp>
          <p:pic>
            <p:nvPicPr>
              <p:cNvPr id="19" name="Image 5" descr="preencoded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77640" y="2788920"/>
                <a:ext cx="228600" cy="228600"/>
              </a:xfrm>
              <a:prstGeom prst="rect">
                <a:avLst/>
              </a:prstGeom>
            </p:spPr>
          </p:pic>
          <p:sp>
            <p:nvSpPr>
              <p:cNvPr id="21" name="Shape 13"/>
              <p:cNvSpPr/>
              <p:nvPr/>
            </p:nvSpPr>
            <p:spPr>
              <a:xfrm>
                <a:off x="3931920" y="3200400"/>
                <a:ext cx="320040" cy="320040"/>
              </a:xfrm>
              <a:prstGeom prst="ellipse">
                <a:avLst/>
              </a:prstGeom>
              <a:solidFill>
                <a:srgbClr val="00A896"/>
              </a:solidFill>
              <a:ln/>
            </p:spPr>
            <p:txBody>
              <a:bodyPr/>
              <a:lstStyle/>
              <a:p>
                <a:endParaRPr lang="es-MX"/>
              </a:p>
            </p:txBody>
          </p:sp>
          <p:pic>
            <p:nvPicPr>
              <p:cNvPr id="22" name="Image 6" descr="preencoded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77640" y="3246120"/>
                <a:ext cx="228600" cy="228600"/>
              </a:xfrm>
              <a:prstGeom prst="rect">
                <a:avLst/>
              </a:prstGeom>
            </p:spPr>
          </p:pic>
          <p:sp>
            <p:nvSpPr>
              <p:cNvPr id="24" name="Shape 15"/>
              <p:cNvSpPr/>
              <p:nvPr/>
            </p:nvSpPr>
            <p:spPr>
              <a:xfrm>
                <a:off x="3931920" y="3657600"/>
                <a:ext cx="320040" cy="320040"/>
              </a:xfrm>
              <a:prstGeom prst="ellipse">
                <a:avLst/>
              </a:prstGeom>
              <a:solidFill>
                <a:srgbClr val="00A896"/>
              </a:solidFill>
              <a:ln/>
            </p:spPr>
            <p:txBody>
              <a:bodyPr/>
              <a:lstStyle/>
              <a:p>
                <a:endParaRPr lang="es-MX"/>
              </a:p>
            </p:txBody>
          </p:sp>
          <p:pic>
            <p:nvPicPr>
              <p:cNvPr id="25" name="Image 7" descr="preencoded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77640" y="3703320"/>
                <a:ext cx="228600" cy="228600"/>
              </a:xfrm>
              <a:prstGeom prst="rect">
                <a:avLst/>
              </a:prstGeom>
            </p:spPr>
          </p:pic>
          <p:sp>
            <p:nvSpPr>
              <p:cNvPr id="26" name="Text 16"/>
              <p:cNvSpPr/>
              <p:nvPr/>
            </p:nvSpPr>
            <p:spPr>
              <a:xfrm>
                <a:off x="4389120" y="3675888"/>
                <a:ext cx="2552007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1A1A1A"/>
                    </a:solidFill>
                  </a:rPr>
                  <a:t>¿Sin regla de comisión?</a:t>
                </a:r>
                <a:endParaRPr lang="en-US" sz="1400" dirty="0"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3. Pruebas de Permisos y Seguridad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430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</a:rPr>
              <a:t>CRÍTICO PARA SEGURIDAD: Usuario sin permisos accediendo a datos es problema GRAVE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F5A"/>
                </a:solidFill>
              </a:rPr>
              <a:t>Proceso de Verificación:</a:t>
            </a:r>
            <a:endParaRPr lang="en-US" sz="1600" dirty="0"/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67A6ADE6-D6B0-01ED-BF03-B7293DA413E1}"/>
              </a:ext>
            </a:extLst>
          </p:cNvPr>
          <p:cNvGrpSpPr/>
          <p:nvPr/>
        </p:nvGrpSpPr>
        <p:grpSpPr>
          <a:xfrm>
            <a:off x="457200" y="2286000"/>
            <a:ext cx="2194560" cy="2103120"/>
            <a:chOff x="640080" y="2286000"/>
            <a:chExt cx="2194560" cy="2103120"/>
          </a:xfrm>
        </p:grpSpPr>
        <p:sp>
          <p:nvSpPr>
            <p:cNvPr id="9" name="Shape 5"/>
            <p:cNvSpPr/>
            <p:nvPr/>
          </p:nvSpPr>
          <p:spPr>
            <a:xfrm>
              <a:off x="640080" y="2286000"/>
              <a:ext cx="2194560" cy="2103120"/>
            </a:xfrm>
            <a:prstGeom prst="rect">
              <a:avLst/>
            </a:prstGeom>
            <a:solidFill>
              <a:srgbClr val="E8F5F7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10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67360" y="2423160"/>
              <a:ext cx="540000" cy="540000"/>
            </a:xfrm>
            <a:prstGeom prst="rect">
              <a:avLst/>
            </a:prstGeom>
          </p:spPr>
        </p:pic>
        <p:sp>
          <p:nvSpPr>
            <p:cNvPr id="11" name="Text 6"/>
            <p:cNvSpPr/>
            <p:nvPr/>
          </p:nvSpPr>
          <p:spPr>
            <a:xfrm>
              <a:off x="640080" y="3154680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14F5A"/>
                  </a:solidFill>
                </a:rPr>
                <a:t>IDENTIFICAR ROLES</a:t>
              </a:r>
              <a:endParaRPr lang="en-US" sz="1300" dirty="0"/>
            </a:p>
          </p:txBody>
        </p:sp>
        <p:sp>
          <p:nvSpPr>
            <p:cNvPr id="12" name="Text 7"/>
            <p:cNvSpPr/>
            <p:nvPr/>
          </p:nvSpPr>
          <p:spPr>
            <a:xfrm>
              <a:off x="935875" y="3520440"/>
              <a:ext cx="1602971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lnSpc>
                  <a:spcPts val="1300"/>
                </a:lnSpc>
                <a:buSzPct val="100000"/>
                <a:buChar char="•"/>
              </a:pPr>
              <a:r>
                <a:rPr lang="en-US" sz="1000" dirty="0" err="1">
                  <a:solidFill>
                    <a:srgbClr val="1A1A1A"/>
                  </a:solidFill>
                </a:rPr>
                <a:t>Usuario</a:t>
              </a:r>
              <a:r>
                <a:rPr lang="en-US" sz="1000" dirty="0">
                  <a:solidFill>
                    <a:srgbClr val="1A1A1A"/>
                  </a:solidFill>
                </a:rPr>
                <a:t> </a:t>
              </a:r>
              <a:r>
                <a:rPr lang="en-US" sz="1000" dirty="0" err="1">
                  <a:solidFill>
                    <a:srgbClr val="1A1A1A"/>
                  </a:solidFill>
                </a:rPr>
                <a:t>básico</a:t>
              </a:r>
              <a:endParaRPr lang="en-US" sz="1000" dirty="0"/>
            </a:p>
            <a:p>
              <a:pPr marL="342900" indent="-342900">
                <a:lnSpc>
                  <a:spcPts val="1300"/>
                </a:lnSpc>
                <a:buSzPct val="100000"/>
                <a:buChar char="•"/>
              </a:pPr>
              <a:r>
                <a:rPr lang="en-US" sz="1000" dirty="0" err="1">
                  <a:solidFill>
                    <a:srgbClr val="1A1A1A"/>
                  </a:solidFill>
                </a:rPr>
                <a:t>Usuario</a:t>
              </a:r>
              <a:r>
                <a:rPr lang="en-US" sz="1000" dirty="0">
                  <a:solidFill>
                    <a:srgbClr val="1A1A1A"/>
                  </a:solidFill>
                </a:rPr>
                <a:t> </a:t>
              </a:r>
              <a:r>
                <a:rPr lang="en-US" sz="1000" dirty="0" err="1">
                  <a:solidFill>
                    <a:srgbClr val="1A1A1A"/>
                  </a:solidFill>
                </a:rPr>
                <a:t>avanzado</a:t>
              </a:r>
              <a:endParaRPr lang="en-US" sz="1000" dirty="0"/>
            </a:p>
            <a:p>
              <a:pPr marL="342900" indent="-342900">
                <a:lnSpc>
                  <a:spcPts val="1300"/>
                </a:lnSpc>
                <a:buSzPct val="100000"/>
                <a:buChar char="•"/>
              </a:pPr>
              <a:r>
                <a:rPr lang="en-US" sz="1000" dirty="0">
                  <a:solidFill>
                    <a:srgbClr val="1A1A1A"/>
                  </a:solidFill>
                </a:rPr>
                <a:t>Manager</a:t>
              </a:r>
              <a:endParaRPr lang="en-US" sz="1000" dirty="0"/>
            </a:p>
            <a:p>
              <a:pPr marL="342900" indent="-342900">
                <a:lnSpc>
                  <a:spcPts val="1300"/>
                </a:lnSpc>
                <a:buSzPct val="100000"/>
                <a:buChar char="•"/>
              </a:pPr>
              <a:r>
                <a:rPr lang="en-US" sz="1000" dirty="0">
                  <a:solidFill>
                    <a:srgbClr val="1A1A1A"/>
                  </a:solidFill>
                </a:rPr>
                <a:t>Admin</a:t>
              </a:r>
              <a:endParaRPr lang="en-US" sz="1000" dirty="0"/>
            </a:p>
            <a:p>
              <a:pPr marL="342900" indent="-342900">
                <a:lnSpc>
                  <a:spcPts val="1300"/>
                </a:lnSpc>
                <a:buSzPct val="100000"/>
                <a:buChar char="•"/>
              </a:pPr>
              <a:r>
                <a:rPr lang="en-US" sz="1000" dirty="0">
                  <a:solidFill>
                    <a:srgbClr val="1A1A1A"/>
                  </a:solidFill>
                </a:rPr>
                <a:t>Sin </a:t>
              </a:r>
              <a:r>
                <a:rPr lang="en-US" sz="1000" dirty="0" err="1">
                  <a:solidFill>
                    <a:srgbClr val="1A1A1A"/>
                  </a:solidFill>
                </a:rPr>
                <a:t>acceso</a:t>
              </a:r>
              <a:endParaRPr lang="en-US" sz="1000" dirty="0"/>
            </a:p>
          </p:txBody>
        </p:sp>
      </p:grpSp>
      <p:sp>
        <p:nvSpPr>
          <p:cNvPr id="13" name="Shape 8"/>
          <p:cNvSpPr/>
          <p:nvPr/>
        </p:nvSpPr>
        <p:spPr>
          <a:xfrm>
            <a:off x="2841569" y="3291840"/>
            <a:ext cx="457200" cy="274320"/>
          </a:xfrm>
          <a:prstGeom prst="rightArrow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MX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DC7B3254-E746-9CE9-D0E6-AE68BEE55E7E}"/>
              </a:ext>
            </a:extLst>
          </p:cNvPr>
          <p:cNvGrpSpPr/>
          <p:nvPr/>
        </p:nvGrpSpPr>
        <p:grpSpPr>
          <a:xfrm>
            <a:off x="3474720" y="2286000"/>
            <a:ext cx="2194560" cy="2103120"/>
            <a:chOff x="3657600" y="2286000"/>
            <a:chExt cx="2194560" cy="2103120"/>
          </a:xfrm>
        </p:grpSpPr>
        <p:sp>
          <p:nvSpPr>
            <p:cNvPr id="14" name="Shape 9"/>
            <p:cNvSpPr/>
            <p:nvPr/>
          </p:nvSpPr>
          <p:spPr>
            <a:xfrm>
              <a:off x="3657600" y="2286000"/>
              <a:ext cx="2194560" cy="2103120"/>
            </a:xfrm>
            <a:prstGeom prst="rect">
              <a:avLst/>
            </a:prstGeom>
            <a:solidFill>
              <a:srgbClr val="E8F5F7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15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84880" y="2423160"/>
              <a:ext cx="540000" cy="540000"/>
            </a:xfrm>
            <a:prstGeom prst="rect">
              <a:avLst/>
            </a:prstGeom>
          </p:spPr>
        </p:pic>
        <p:sp>
          <p:nvSpPr>
            <p:cNvPr id="16" name="Text 10"/>
            <p:cNvSpPr/>
            <p:nvPr/>
          </p:nvSpPr>
          <p:spPr>
            <a:xfrm>
              <a:off x="3657600" y="3154680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14F5A"/>
                  </a:solidFill>
                </a:rPr>
                <a:t>CREAR USUARIOS</a:t>
              </a:r>
              <a:endParaRPr lang="en-US" sz="1300" dirty="0"/>
            </a:p>
          </p:txBody>
        </p:sp>
        <p:sp>
          <p:nvSpPr>
            <p:cNvPr id="17" name="Text 11"/>
            <p:cNvSpPr/>
            <p:nvPr/>
          </p:nvSpPr>
          <p:spPr>
            <a:xfrm>
              <a:off x="3953395" y="3520440"/>
              <a:ext cx="1602971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lnSpc>
                  <a:spcPts val="1300"/>
                </a:lnSpc>
                <a:buSzPct val="100000"/>
                <a:buChar char="•"/>
              </a:pPr>
              <a:r>
                <a:rPr lang="en-US" sz="1000" dirty="0">
                  <a:solidFill>
                    <a:srgbClr val="1A1A1A"/>
                  </a:solidFill>
                </a:rPr>
                <a:t>Crear por rol</a:t>
              </a:r>
              <a:endParaRPr lang="en-US" sz="1000" dirty="0"/>
            </a:p>
            <a:p>
              <a:pPr marL="342900" indent="-342900">
                <a:lnSpc>
                  <a:spcPts val="1300"/>
                </a:lnSpc>
                <a:buSzPct val="100000"/>
                <a:buChar char="•"/>
              </a:pPr>
              <a:r>
                <a:rPr lang="en-US" sz="1000" dirty="0">
                  <a:solidFill>
                    <a:srgbClr val="1A1A1A"/>
                  </a:solidFill>
                </a:rPr>
                <a:t>Asignar permisos</a:t>
              </a:r>
              <a:endParaRPr lang="en-US" sz="1000" dirty="0"/>
            </a:p>
            <a:p>
              <a:pPr marL="342900" indent="-342900">
                <a:lnSpc>
                  <a:spcPts val="1300"/>
                </a:lnSpc>
                <a:buSzPct val="100000"/>
                <a:buChar char="•"/>
              </a:pPr>
              <a:r>
                <a:rPr lang="en-US" sz="1000" dirty="0">
                  <a:solidFill>
                    <a:srgbClr val="1A1A1A"/>
                  </a:solidFill>
                </a:rPr>
                <a:t>Anotar contraseñas</a:t>
              </a:r>
              <a:endParaRPr lang="en-US" sz="1000" dirty="0"/>
            </a:p>
          </p:txBody>
        </p:sp>
      </p:grpSp>
      <p:sp>
        <p:nvSpPr>
          <p:cNvPr id="18" name="Shape 12"/>
          <p:cNvSpPr/>
          <p:nvPr/>
        </p:nvSpPr>
        <p:spPr>
          <a:xfrm>
            <a:off x="5845231" y="3291840"/>
            <a:ext cx="457200" cy="274320"/>
          </a:xfrm>
          <a:prstGeom prst="rightArrow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MX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D3E26B96-0BED-6D30-2C47-70B1F97B7C03}"/>
              </a:ext>
            </a:extLst>
          </p:cNvPr>
          <p:cNvGrpSpPr/>
          <p:nvPr/>
        </p:nvGrpSpPr>
        <p:grpSpPr>
          <a:xfrm>
            <a:off x="6492240" y="2286000"/>
            <a:ext cx="2194560" cy="2103120"/>
            <a:chOff x="6492240" y="2286000"/>
            <a:chExt cx="2194560" cy="2103120"/>
          </a:xfrm>
        </p:grpSpPr>
        <p:sp>
          <p:nvSpPr>
            <p:cNvPr id="19" name="Shape 13"/>
            <p:cNvSpPr/>
            <p:nvPr/>
          </p:nvSpPr>
          <p:spPr>
            <a:xfrm>
              <a:off x="6492240" y="2286000"/>
              <a:ext cx="2194560" cy="2103120"/>
            </a:xfrm>
            <a:prstGeom prst="rect">
              <a:avLst/>
            </a:prstGeom>
            <a:solidFill>
              <a:srgbClr val="E8F5F7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20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02400" y="2423160"/>
              <a:ext cx="540000" cy="540000"/>
            </a:xfrm>
            <a:prstGeom prst="rect">
              <a:avLst/>
            </a:prstGeom>
          </p:spPr>
        </p:pic>
        <p:sp>
          <p:nvSpPr>
            <p:cNvPr id="21" name="Text 14"/>
            <p:cNvSpPr/>
            <p:nvPr/>
          </p:nvSpPr>
          <p:spPr>
            <a:xfrm>
              <a:off x="6492240" y="3154680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14F5A"/>
                  </a:solidFill>
                </a:rPr>
                <a:t>PROBAR CON CADA ROL</a:t>
              </a:r>
              <a:endParaRPr lang="en-US" sz="1300" dirty="0"/>
            </a:p>
          </p:txBody>
        </p:sp>
        <p:sp>
          <p:nvSpPr>
            <p:cNvPr id="22" name="Text 15"/>
            <p:cNvSpPr/>
            <p:nvPr/>
          </p:nvSpPr>
          <p:spPr>
            <a:xfrm>
              <a:off x="6970915" y="3520440"/>
              <a:ext cx="1602971" cy="8686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lnSpc>
                  <a:spcPts val="1300"/>
                </a:lnSpc>
                <a:buSzPct val="100000"/>
                <a:buChar char="•"/>
              </a:pPr>
              <a:r>
                <a:rPr lang="en-US" sz="1000" dirty="0">
                  <a:solidFill>
                    <a:srgbClr val="1A1A1A"/>
                  </a:solidFill>
                </a:rPr>
                <a:t>¿Ve el menú?</a:t>
              </a:r>
              <a:endParaRPr lang="en-US" sz="1000" dirty="0"/>
            </a:p>
            <a:p>
              <a:pPr marL="342900" indent="-342900">
                <a:lnSpc>
                  <a:spcPts val="1300"/>
                </a:lnSpc>
                <a:buSzPct val="100000"/>
                <a:buChar char="•"/>
              </a:pPr>
              <a:r>
                <a:rPr lang="en-US" sz="1000" dirty="0">
                  <a:solidFill>
                    <a:srgbClr val="1A1A1A"/>
                  </a:solidFill>
                </a:rPr>
                <a:t>¿Puede crear?</a:t>
              </a:r>
              <a:endParaRPr lang="en-US" sz="1000" dirty="0"/>
            </a:p>
            <a:p>
              <a:pPr marL="342900" indent="-342900">
                <a:lnSpc>
                  <a:spcPts val="1300"/>
                </a:lnSpc>
                <a:buSzPct val="100000"/>
                <a:buChar char="•"/>
              </a:pPr>
              <a:r>
                <a:rPr lang="en-US" sz="1000" dirty="0">
                  <a:solidFill>
                    <a:srgbClr val="1A1A1A"/>
                  </a:solidFill>
                </a:rPr>
                <a:t>¿Puede modificar?</a:t>
              </a:r>
              <a:endParaRPr lang="en-US" sz="1000" dirty="0"/>
            </a:p>
            <a:p>
              <a:pPr marL="342900" indent="-342900">
                <a:lnSpc>
                  <a:spcPts val="1300"/>
                </a:lnSpc>
                <a:buSzPct val="100000"/>
                <a:buChar char="•"/>
              </a:pPr>
              <a:r>
                <a:rPr lang="en-US" sz="1000" dirty="0">
                  <a:solidFill>
                    <a:srgbClr val="1A1A1A"/>
                  </a:solidFill>
                </a:rPr>
                <a:t>¿Puede borrar?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4. Compatibilidad con Otros Módulos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4300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114300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1B1B"/>
                </a:solidFill>
              </a:rPr>
              <a:t>PRUEBA MÁS IMPORTANTE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280160" y="141732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1B1B"/>
                </a:solidFill>
              </a:rPr>
              <a:t>Aquí aparecen la mayoría de problemas: módulos funcionan solos pero fallan con otros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6"/>
          <p:cNvSpPr/>
          <p:nvPr/>
        </p:nvSpPr>
        <p:spPr>
          <a:xfrm>
            <a:off x="457200" y="21214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Proceso de Prueba de Integración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651760"/>
            <a:ext cx="2651760" cy="1828800"/>
          </a:xfrm>
          <a:prstGeom prst="rect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8"/>
          <p:cNvSpPr/>
          <p:nvPr/>
        </p:nvSpPr>
        <p:spPr>
          <a:xfrm>
            <a:off x="1417320" y="27889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29718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4F5A"/>
                </a:solidFill>
              </a:rPr>
              <a:t>Inventario Módulos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31520" y="3977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1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Mismas tablas</a:t>
            </a:r>
            <a:endParaRPr lang="en-US" sz="1000" dirty="0"/>
          </a:p>
          <a:p>
            <a:pPr marL="342900" indent="-342900">
              <a:lnSpc>
                <a:spcPts val="11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Mismos formularios</a:t>
            </a:r>
            <a:endParaRPr lang="en-US" sz="1000" dirty="0"/>
          </a:p>
          <a:p>
            <a:pPr marL="342900" indent="-342900">
              <a:lnSpc>
                <a:spcPts val="11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Flujos similares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383280" y="2651760"/>
            <a:ext cx="2651760" cy="1828800"/>
          </a:xfrm>
          <a:prstGeom prst="rect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Shape 12"/>
          <p:cNvSpPr/>
          <p:nvPr/>
        </p:nvSpPr>
        <p:spPr>
          <a:xfrm>
            <a:off x="4343400" y="27889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29718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56616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4F5A"/>
                </a:solidFill>
              </a:rPr>
              <a:t>Flujos Cruzados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3657600" y="3977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1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Usar AMBOS simultáneos</a:t>
            </a:r>
            <a:endParaRPr lang="en-US" sz="1000" dirty="0"/>
          </a:p>
          <a:p>
            <a:pPr marL="342900" indent="-342900">
              <a:lnSpc>
                <a:spcPts val="11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Alternar orden</a:t>
            </a:r>
            <a:endParaRPr lang="en-US" sz="1000" dirty="0"/>
          </a:p>
          <a:p>
            <a:pPr marL="342900" indent="-342900">
              <a:lnSpc>
                <a:spcPts val="11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Buscar inconsistencias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309360" y="2651760"/>
            <a:ext cx="2651760" cy="1828800"/>
          </a:xfrm>
          <a:prstGeom prst="rect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Shape 16"/>
          <p:cNvSpPr/>
          <p:nvPr/>
        </p:nvSpPr>
        <p:spPr>
          <a:xfrm>
            <a:off x="7269480" y="27889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360" y="297180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9224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4F5A"/>
                </a:solidFill>
              </a:rPr>
              <a:t>Vistas Compartidas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583680" y="3977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1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Todos campos aparecen</a:t>
            </a:r>
            <a:endParaRPr lang="en-US" sz="1000" dirty="0"/>
          </a:p>
          <a:p>
            <a:pPr marL="342900" indent="-342900">
              <a:lnSpc>
                <a:spcPts val="11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Sin duplicados</a:t>
            </a:r>
            <a:endParaRPr lang="en-US" sz="1000" dirty="0"/>
          </a:p>
          <a:p>
            <a:pPr marL="342900" indent="-342900">
              <a:lnSpc>
                <a:spcPts val="11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Formularios acomodados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5. Pruebas de Rendimiento Básicas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188720"/>
            <a:ext cx="1828800" cy="1828800"/>
          </a:xfrm>
          <a:prstGeom prst="arc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645920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0" y="10972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F5A"/>
                </a:solidFill>
              </a:rPr>
              <a:t>Tiempos Aceptables: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0" y="1508760"/>
          <a:ext cx="5943600" cy="21945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Acción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✓ Bueno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⚠ Preocupante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Abrir lista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&lt; 3 seg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&gt; 8 seg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Abrir formulario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&lt; 2 seg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&gt; 5 seg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Guardar registro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&lt; 1 seg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&gt; 3 seg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Generar reporte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&lt; 10 seg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&gt; 30 seg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Buscar/Filtrar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&lt; 2 seg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&gt; 5 seg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233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4069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2400E"/>
                </a:solidFill>
              </a:rPr>
              <a:t>Tip: Probar con volumen realista: 100+ productos, 500+ ventas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6, 7 y 8: Validación, Idiomas y Usabilidad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651760" cy="329184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3"/>
          <p:cNvSpPr/>
          <p:nvPr/>
        </p:nvSpPr>
        <p:spPr>
          <a:xfrm>
            <a:off x="1325880" y="12801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150876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4F5A"/>
                </a:solidFill>
              </a:rPr>
              <a:t>Validación de Datos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31520" y="28346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Campos obligatorios</a:t>
            </a:r>
            <a:endParaRPr lang="en-US" sz="11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Lógica de negocio</a:t>
            </a:r>
            <a:endParaRPr lang="en-US" sz="11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Formatos correctos</a:t>
            </a:r>
            <a:endParaRPr lang="en-US" sz="11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Mensajes claros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383280" y="1097280"/>
            <a:ext cx="2651760" cy="32918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7"/>
          <p:cNvSpPr/>
          <p:nvPr/>
        </p:nvSpPr>
        <p:spPr>
          <a:xfrm>
            <a:off x="4251960" y="12801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15087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6616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4F5A"/>
                </a:solidFill>
              </a:rPr>
              <a:t>Idioma y Traducciones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657600" y="28346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Etiquetas campos</a:t>
            </a:r>
            <a:endParaRPr lang="en-US" sz="11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Mensajes error</a:t>
            </a:r>
            <a:endParaRPr lang="en-US" sz="11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Títulos menús</a:t>
            </a:r>
            <a:endParaRPr lang="en-US" sz="11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Reportes</a:t>
            </a:r>
            <a:endParaRPr lang="en-US" sz="11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Botones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309360" y="1097280"/>
            <a:ext cx="2651760" cy="329184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Shape 11"/>
          <p:cNvSpPr/>
          <p:nvPr/>
        </p:nvSpPr>
        <p:spPr>
          <a:xfrm>
            <a:off x="7178040" y="12801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15087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9224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4F5A"/>
                </a:solidFill>
              </a:rPr>
              <a:t>Usabilidad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583680" y="28346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Navegación intuitiva</a:t>
            </a:r>
            <a:endParaRPr lang="en-US" sz="11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Tooltips</a:t>
            </a:r>
            <a:endParaRPr lang="en-US" sz="11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Flujo lógico</a:t>
            </a:r>
            <a:endParaRPr lang="en-US" sz="11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Valores defecto</a:t>
            </a:r>
            <a:endParaRPr lang="en-US" sz="11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Manual usuario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✓ Checklist Final para Consultores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Antes de dar tu aprobación:</a:t>
            </a:r>
            <a:endParaRPr lang="en-US" sz="1400" dirty="0"/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8D52A05C-F3F7-5790-966D-4788D888B8E8}"/>
              </a:ext>
            </a:extLst>
          </p:cNvPr>
          <p:cNvGrpSpPr/>
          <p:nvPr/>
        </p:nvGrpSpPr>
        <p:grpSpPr>
          <a:xfrm>
            <a:off x="1227766" y="1371600"/>
            <a:ext cx="6688469" cy="2240280"/>
            <a:chOff x="640080" y="1371600"/>
            <a:chExt cx="6688469" cy="2240280"/>
          </a:xfrm>
        </p:grpSpPr>
        <p:sp>
          <p:nvSpPr>
            <p:cNvPr id="6" name="Shape 3"/>
            <p:cNvSpPr/>
            <p:nvPr/>
          </p:nvSpPr>
          <p:spPr>
            <a:xfrm>
              <a:off x="640080" y="1371600"/>
              <a:ext cx="320040" cy="320040"/>
            </a:xfrm>
            <a:prstGeom prst="ellipse">
              <a:avLst/>
            </a:prstGeom>
            <a:solidFill>
              <a:srgbClr val="E8F5F7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3232" y="1444752"/>
              <a:ext cx="173736" cy="173736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1097280" y="1389888"/>
              <a:ext cx="2486901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1A"/>
                  </a:solidFill>
                </a:rPr>
                <a:t>☐ Revisión documentación completa</a:t>
              </a:r>
              <a:endParaRPr lang="en-US" sz="1200" dirty="0"/>
            </a:p>
          </p:txBody>
        </p:sp>
        <p:sp>
          <p:nvSpPr>
            <p:cNvPr id="9" name="Shape 5"/>
            <p:cNvSpPr/>
            <p:nvPr/>
          </p:nvSpPr>
          <p:spPr>
            <a:xfrm>
              <a:off x="640080" y="1755648"/>
              <a:ext cx="320040" cy="320040"/>
            </a:xfrm>
            <a:prstGeom prst="ellipse">
              <a:avLst/>
            </a:prstGeom>
            <a:solidFill>
              <a:srgbClr val="E8F5F7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10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232" y="1828800"/>
              <a:ext cx="173736" cy="173736"/>
            </a:xfrm>
            <a:prstGeom prst="rect">
              <a:avLst/>
            </a:prstGeom>
          </p:spPr>
        </p:pic>
        <p:sp>
          <p:nvSpPr>
            <p:cNvPr id="11" name="Text 6"/>
            <p:cNvSpPr/>
            <p:nvPr/>
          </p:nvSpPr>
          <p:spPr>
            <a:xfrm>
              <a:off x="1097280" y="1773936"/>
              <a:ext cx="2486901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1A"/>
                  </a:solidFill>
                </a:rPr>
                <a:t>☐ Instalación sin errores</a:t>
              </a:r>
              <a:endParaRPr lang="en-US" sz="1200" dirty="0"/>
            </a:p>
          </p:txBody>
        </p:sp>
        <p:sp>
          <p:nvSpPr>
            <p:cNvPr id="12" name="Shape 7"/>
            <p:cNvSpPr/>
            <p:nvPr/>
          </p:nvSpPr>
          <p:spPr>
            <a:xfrm>
              <a:off x="640080" y="2139696"/>
              <a:ext cx="320040" cy="320040"/>
            </a:xfrm>
            <a:prstGeom prst="ellipse">
              <a:avLst/>
            </a:prstGeom>
            <a:solidFill>
              <a:srgbClr val="E8F5F7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13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3232" y="2212848"/>
              <a:ext cx="173736" cy="173736"/>
            </a:xfrm>
            <a:prstGeom prst="rect">
              <a:avLst/>
            </a:prstGeom>
          </p:spPr>
        </p:pic>
        <p:sp>
          <p:nvSpPr>
            <p:cNvPr id="14" name="Text 8"/>
            <p:cNvSpPr/>
            <p:nvPr/>
          </p:nvSpPr>
          <p:spPr>
            <a:xfrm>
              <a:off x="1097280" y="2157984"/>
              <a:ext cx="2486901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1A"/>
                  </a:solidFill>
                </a:rPr>
                <a:t>☐ Flujo principal correcto</a:t>
              </a:r>
              <a:endParaRPr lang="en-US" sz="1200" dirty="0"/>
            </a:p>
          </p:txBody>
        </p:sp>
        <p:sp>
          <p:nvSpPr>
            <p:cNvPr id="15" name="Shape 9"/>
            <p:cNvSpPr/>
            <p:nvPr/>
          </p:nvSpPr>
          <p:spPr>
            <a:xfrm>
              <a:off x="640080" y="2523744"/>
              <a:ext cx="320040" cy="320040"/>
            </a:xfrm>
            <a:prstGeom prst="ellipse">
              <a:avLst/>
            </a:prstGeom>
            <a:solidFill>
              <a:srgbClr val="E8F5F7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16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3232" y="2596896"/>
              <a:ext cx="173736" cy="173736"/>
            </a:xfrm>
            <a:prstGeom prst="rect">
              <a:avLst/>
            </a:prstGeom>
          </p:spPr>
        </p:pic>
        <p:sp>
          <p:nvSpPr>
            <p:cNvPr id="17" name="Text 10"/>
            <p:cNvSpPr/>
            <p:nvPr/>
          </p:nvSpPr>
          <p:spPr>
            <a:xfrm>
              <a:off x="1097280" y="2542032"/>
              <a:ext cx="2486901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1A"/>
                  </a:solidFill>
                </a:rPr>
                <a:t>☐ 5+ casos extremos probados</a:t>
              </a:r>
              <a:endParaRPr lang="en-US" sz="1200" dirty="0"/>
            </a:p>
          </p:txBody>
        </p:sp>
        <p:sp>
          <p:nvSpPr>
            <p:cNvPr id="18" name="Shape 11"/>
            <p:cNvSpPr/>
            <p:nvPr/>
          </p:nvSpPr>
          <p:spPr>
            <a:xfrm>
              <a:off x="640080" y="2907792"/>
              <a:ext cx="320040" cy="320040"/>
            </a:xfrm>
            <a:prstGeom prst="ellipse">
              <a:avLst/>
            </a:prstGeom>
            <a:solidFill>
              <a:srgbClr val="E8F5F7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19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13232" y="2980944"/>
              <a:ext cx="173736" cy="173736"/>
            </a:xfrm>
            <a:prstGeom prst="rect">
              <a:avLst/>
            </a:prstGeom>
          </p:spPr>
        </p:pic>
        <p:sp>
          <p:nvSpPr>
            <p:cNvPr id="20" name="Text 12"/>
            <p:cNvSpPr/>
            <p:nvPr/>
          </p:nvSpPr>
          <p:spPr>
            <a:xfrm>
              <a:off x="1097280" y="2926080"/>
              <a:ext cx="2486901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1A"/>
                  </a:solidFill>
                </a:rPr>
                <a:t>☐ Permisos verificados 3+ roles</a:t>
              </a:r>
              <a:endParaRPr lang="en-US" sz="1200" dirty="0"/>
            </a:p>
          </p:txBody>
        </p:sp>
        <p:sp>
          <p:nvSpPr>
            <p:cNvPr id="21" name="Shape 13"/>
            <p:cNvSpPr/>
            <p:nvPr/>
          </p:nvSpPr>
          <p:spPr>
            <a:xfrm>
              <a:off x="640080" y="3291840"/>
              <a:ext cx="320040" cy="320040"/>
            </a:xfrm>
            <a:prstGeom prst="ellipse">
              <a:avLst/>
            </a:prstGeom>
            <a:solidFill>
              <a:srgbClr val="E8F5F7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22" name="Image 6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13232" y="3364992"/>
              <a:ext cx="173736" cy="173736"/>
            </a:xfrm>
            <a:prstGeom prst="rect">
              <a:avLst/>
            </a:prstGeom>
          </p:spPr>
        </p:pic>
        <p:sp>
          <p:nvSpPr>
            <p:cNvPr id="23" name="Text 14"/>
            <p:cNvSpPr/>
            <p:nvPr/>
          </p:nvSpPr>
          <p:spPr>
            <a:xfrm>
              <a:off x="1097280" y="3310128"/>
              <a:ext cx="2486901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1A"/>
                  </a:solidFill>
                </a:rPr>
                <a:t>☐ Compatibilidad confirmada</a:t>
              </a:r>
              <a:endParaRPr lang="en-US" sz="1200" dirty="0"/>
            </a:p>
          </p:txBody>
        </p:sp>
        <p:sp>
          <p:nvSpPr>
            <p:cNvPr id="24" name="Shape 15"/>
            <p:cNvSpPr/>
            <p:nvPr/>
          </p:nvSpPr>
          <p:spPr>
            <a:xfrm>
              <a:off x="4846320" y="1371600"/>
              <a:ext cx="320040" cy="320040"/>
            </a:xfrm>
            <a:prstGeom prst="ellipse">
              <a:avLst/>
            </a:prstGeom>
            <a:solidFill>
              <a:srgbClr val="E8F5F7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25" name="Image 7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919472" y="1444752"/>
              <a:ext cx="173736" cy="173736"/>
            </a:xfrm>
            <a:prstGeom prst="rect">
              <a:avLst/>
            </a:prstGeom>
          </p:spPr>
        </p:pic>
        <p:sp>
          <p:nvSpPr>
            <p:cNvPr id="26" name="Text 16"/>
            <p:cNvSpPr/>
            <p:nvPr/>
          </p:nvSpPr>
          <p:spPr>
            <a:xfrm>
              <a:off x="5303520" y="1389888"/>
              <a:ext cx="2025029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1A"/>
                  </a:solidFill>
                </a:rPr>
                <a:t>☐ Volumen realista de datos</a:t>
              </a:r>
              <a:endParaRPr lang="en-US" sz="1200" dirty="0"/>
            </a:p>
          </p:txBody>
        </p:sp>
        <p:sp>
          <p:nvSpPr>
            <p:cNvPr id="27" name="Shape 17"/>
            <p:cNvSpPr/>
            <p:nvPr/>
          </p:nvSpPr>
          <p:spPr>
            <a:xfrm>
              <a:off x="4846320" y="1755648"/>
              <a:ext cx="320040" cy="320040"/>
            </a:xfrm>
            <a:prstGeom prst="ellipse">
              <a:avLst/>
            </a:prstGeom>
            <a:solidFill>
              <a:srgbClr val="E8F5F7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28" name="Image 8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919472" y="1828800"/>
              <a:ext cx="173736" cy="173736"/>
            </a:xfrm>
            <a:prstGeom prst="rect">
              <a:avLst/>
            </a:prstGeom>
          </p:spPr>
        </p:pic>
        <p:sp>
          <p:nvSpPr>
            <p:cNvPr id="29" name="Text 18"/>
            <p:cNvSpPr/>
            <p:nvPr/>
          </p:nvSpPr>
          <p:spPr>
            <a:xfrm>
              <a:off x="5303520" y="1773936"/>
              <a:ext cx="2025029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1A"/>
                  </a:solidFill>
                </a:rPr>
                <a:t>☐ Validaciones funcionando</a:t>
              </a:r>
              <a:endParaRPr lang="en-US" sz="1200" dirty="0"/>
            </a:p>
          </p:txBody>
        </p:sp>
        <p:sp>
          <p:nvSpPr>
            <p:cNvPr id="30" name="Shape 19"/>
            <p:cNvSpPr/>
            <p:nvPr/>
          </p:nvSpPr>
          <p:spPr>
            <a:xfrm>
              <a:off x="4846320" y="2139696"/>
              <a:ext cx="320040" cy="320040"/>
            </a:xfrm>
            <a:prstGeom prst="ellipse">
              <a:avLst/>
            </a:prstGeom>
            <a:solidFill>
              <a:srgbClr val="E8F5F7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31" name="Image 9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919472" y="2212848"/>
              <a:ext cx="173736" cy="173736"/>
            </a:xfrm>
            <a:prstGeom prst="rect">
              <a:avLst/>
            </a:prstGeom>
          </p:spPr>
        </p:pic>
        <p:sp>
          <p:nvSpPr>
            <p:cNvPr id="32" name="Text 20"/>
            <p:cNvSpPr/>
            <p:nvPr/>
          </p:nvSpPr>
          <p:spPr>
            <a:xfrm>
              <a:off x="5303520" y="2157984"/>
              <a:ext cx="2025029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1A"/>
                  </a:solidFill>
                </a:rPr>
                <a:t>☐ Traducciones completas</a:t>
              </a:r>
              <a:endParaRPr lang="en-US" sz="1200" dirty="0"/>
            </a:p>
          </p:txBody>
        </p:sp>
        <p:sp>
          <p:nvSpPr>
            <p:cNvPr id="33" name="Shape 21"/>
            <p:cNvSpPr/>
            <p:nvPr/>
          </p:nvSpPr>
          <p:spPr>
            <a:xfrm>
              <a:off x="4846320" y="2523744"/>
              <a:ext cx="320040" cy="320040"/>
            </a:xfrm>
            <a:prstGeom prst="ellipse">
              <a:avLst/>
            </a:prstGeom>
            <a:solidFill>
              <a:srgbClr val="E8F5F7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34" name="Image 10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19472" y="2596896"/>
              <a:ext cx="173736" cy="173736"/>
            </a:xfrm>
            <a:prstGeom prst="rect">
              <a:avLst/>
            </a:prstGeom>
          </p:spPr>
        </p:pic>
        <p:sp>
          <p:nvSpPr>
            <p:cNvPr id="35" name="Text 22"/>
            <p:cNvSpPr/>
            <p:nvPr/>
          </p:nvSpPr>
          <p:spPr>
            <a:xfrm>
              <a:off x="5303520" y="2542032"/>
              <a:ext cx="2025029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1A"/>
                  </a:solidFill>
                </a:rPr>
                <a:t>☐ Usabilidad aceptable</a:t>
              </a:r>
              <a:endParaRPr lang="en-US" sz="1200" dirty="0"/>
            </a:p>
          </p:txBody>
        </p:sp>
        <p:sp>
          <p:nvSpPr>
            <p:cNvPr id="36" name="Shape 23"/>
            <p:cNvSpPr/>
            <p:nvPr/>
          </p:nvSpPr>
          <p:spPr>
            <a:xfrm>
              <a:off x="4846320" y="2907792"/>
              <a:ext cx="320040" cy="320040"/>
            </a:xfrm>
            <a:prstGeom prst="ellipse">
              <a:avLst/>
            </a:prstGeom>
            <a:solidFill>
              <a:srgbClr val="E8F5F7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37" name="Image 11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919472" y="2980944"/>
              <a:ext cx="173736" cy="173736"/>
            </a:xfrm>
            <a:prstGeom prst="rect">
              <a:avLst/>
            </a:prstGeom>
          </p:spPr>
        </p:pic>
        <p:sp>
          <p:nvSpPr>
            <p:cNvPr id="38" name="Text 24"/>
            <p:cNvSpPr/>
            <p:nvPr/>
          </p:nvSpPr>
          <p:spPr>
            <a:xfrm>
              <a:off x="5303520" y="2926080"/>
              <a:ext cx="2025029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1A"/>
                  </a:solidFill>
                </a:rPr>
                <a:t>☐ Documentación disponible</a:t>
              </a:r>
              <a:endParaRPr lang="en-US" sz="1200" dirty="0"/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BFE21A10-5307-AEB0-12A0-C0F623782BEB}"/>
              </a:ext>
            </a:extLst>
          </p:cNvPr>
          <p:cNvGrpSpPr/>
          <p:nvPr/>
        </p:nvGrpSpPr>
        <p:grpSpPr>
          <a:xfrm>
            <a:off x="457200" y="3946595"/>
            <a:ext cx="8229600" cy="914400"/>
            <a:chOff x="457200" y="3606205"/>
            <a:chExt cx="8229600" cy="914400"/>
          </a:xfrm>
        </p:grpSpPr>
        <p:sp>
          <p:nvSpPr>
            <p:cNvPr id="39" name="Shape 25"/>
            <p:cNvSpPr/>
            <p:nvPr/>
          </p:nvSpPr>
          <p:spPr>
            <a:xfrm>
              <a:off x="457200" y="3606205"/>
              <a:ext cx="8229600" cy="914400"/>
            </a:xfrm>
            <a:prstGeom prst="rect">
              <a:avLst/>
            </a:prstGeom>
            <a:solidFill>
              <a:srgbClr val="E8F5F7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40" name="Image 12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31520" y="3794760"/>
              <a:ext cx="457200" cy="457200"/>
            </a:xfrm>
            <a:prstGeom prst="rect">
              <a:avLst/>
            </a:prstGeom>
          </p:spPr>
        </p:pic>
        <p:sp>
          <p:nvSpPr>
            <p:cNvPr id="41" name="Text 26"/>
            <p:cNvSpPr/>
            <p:nvPr/>
          </p:nvSpPr>
          <p:spPr>
            <a:xfrm>
              <a:off x="1371600" y="3703320"/>
              <a:ext cx="7132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14F5A"/>
                  </a:solidFill>
                </a:rPr>
                <a:t>RECORDATORIO</a:t>
              </a:r>
              <a:endParaRPr lang="en-US" sz="1400" dirty="0"/>
            </a:p>
          </p:txBody>
        </p:sp>
        <p:sp>
          <p:nvSpPr>
            <p:cNvPr id="42" name="Text 27"/>
            <p:cNvSpPr/>
            <p:nvPr/>
          </p:nvSpPr>
          <p:spPr>
            <a:xfrm>
              <a:off x="1371600" y="4023360"/>
              <a:ext cx="71323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1A"/>
                  </a:solidFill>
                </a:rPr>
                <a:t>Como consultor, eres el primer filtro de calidad. Conoces las necesidades del negocio y la perspectiva del usuario final.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4F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9F700C5-6D4E-D9B2-D798-1FDBC85D7CEE}"/>
              </a:ext>
            </a:extLst>
          </p:cNvPr>
          <p:cNvGrpSpPr/>
          <p:nvPr/>
        </p:nvGrpSpPr>
        <p:grpSpPr>
          <a:xfrm>
            <a:off x="457200" y="788670"/>
            <a:ext cx="8229600" cy="3566160"/>
            <a:chOff x="457200" y="1097280"/>
            <a:chExt cx="8229600" cy="3566160"/>
          </a:xfrm>
        </p:grpSpPr>
        <p:sp>
          <p:nvSpPr>
            <p:cNvPr id="2" name="Shape 0"/>
            <p:cNvSpPr/>
            <p:nvPr/>
          </p:nvSpPr>
          <p:spPr>
            <a:xfrm>
              <a:off x="3429000" y="1097280"/>
              <a:ext cx="2286000" cy="228600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86200" y="1554480"/>
              <a:ext cx="1371600" cy="1371600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457200" y="3657600"/>
              <a:ext cx="8229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200" b="1" dirty="0">
                  <a:solidFill>
                    <a:srgbClr val="FFFFFF"/>
                  </a:solidFill>
                </a:rPr>
                <a:t>PARTE 2</a:t>
              </a:r>
              <a:endParaRPr lang="en-US" sz="42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457200" y="420624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02C39A"/>
                  </a:solidFill>
                </a:rPr>
                <a:t>GUÍA PARA DESARROLLADORES</a:t>
              </a:r>
              <a:endParaRPr lang="en-US" sz="24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4F5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1. Revisión de Código (Code Review)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F5A"/>
                </a:solidFill>
              </a:rPr>
              <a:t>Aspectos Críticos a Revisar: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4114800" cy="1371600"/>
          </a:xfrm>
          <a:prstGeom prst="rect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9164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5727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4F5A"/>
                </a:solidFill>
              </a:rPr>
              <a:t>Estructura Módulo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325880" y="193852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models/, views/, security/</a:t>
            </a:r>
            <a:endParaRPr lang="en-US" sz="10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__manifest__.py completo</a:t>
            </a:r>
            <a:endParaRPr lang="en-US" sz="10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Sin .pyc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937760" y="1463040"/>
            <a:ext cx="4114800" cy="1371600"/>
          </a:xfrm>
          <a:prstGeom prst="rect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69164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806440" y="15727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4F5A"/>
                </a:solidFill>
              </a:rPr>
              <a:t>Herencia Correcta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5806440" y="193852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_inherit para extender</a:t>
            </a:r>
            <a:endParaRPr lang="en-US" sz="10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Siempre super()</a:t>
            </a:r>
            <a:endParaRPr lang="en-US" sz="10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No sobrescribir sin super()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57200" y="3108960"/>
            <a:ext cx="4114800" cy="1371600"/>
          </a:xfrm>
          <a:prstGeom prst="rect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337560"/>
            <a:ext cx="548640" cy="5486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32186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4F5A"/>
                </a:solidFill>
              </a:rPr>
              <a:t>Campos Computados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325880" y="358444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@api.depends()</a:t>
            </a:r>
            <a:endParaRPr lang="en-US" sz="10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store=True necesario</a:t>
            </a:r>
            <a:endParaRPr lang="en-US" sz="10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for loop con self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937760" y="3108960"/>
            <a:ext cx="4114800" cy="1371600"/>
          </a:xfrm>
          <a:prstGeom prst="rect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3337560"/>
            <a:ext cx="548640" cy="5486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806440" y="32186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4F5A"/>
                </a:solidFill>
              </a:rPr>
              <a:t>Seguridad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5806440" y="358444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ir.model.access.csv</a:t>
            </a:r>
            <a:endParaRPr lang="en-US" sz="10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Permisos por grupo</a:t>
            </a:r>
            <a:endParaRPr lang="en-US" sz="10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</a:rPr>
              <a:t>Mínimo privilegio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Ejemplo: Herencia Correcta vs Incorrecta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18872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1B1B"/>
                </a:solidFill>
              </a:rPr>
              <a:t>INCORRECTO - Sin super()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57200" y="1645919"/>
            <a:ext cx="4114800" cy="1554479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5"/>
          <p:cNvSpPr/>
          <p:nvPr/>
        </p:nvSpPr>
        <p:spPr>
          <a:xfrm>
            <a:off x="640080" y="1783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action_confirm(self):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MALO: No llama super()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self.state = 'sale'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</a:t>
            </a:r>
            <a:endParaRPr lang="en-US" sz="1100" dirty="0"/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B63F82A0-69A9-8CE4-790E-6FDF945760BF}"/>
              </a:ext>
            </a:extLst>
          </p:cNvPr>
          <p:cNvGrpSpPr/>
          <p:nvPr/>
        </p:nvGrpSpPr>
        <p:grpSpPr>
          <a:xfrm>
            <a:off x="457200" y="3291840"/>
            <a:ext cx="4114800" cy="457200"/>
            <a:chOff x="457200" y="3017520"/>
            <a:chExt cx="4114800" cy="457200"/>
          </a:xfrm>
        </p:grpSpPr>
        <p:sp>
          <p:nvSpPr>
            <p:cNvPr id="10" name="Shape 6"/>
            <p:cNvSpPr/>
            <p:nvPr/>
          </p:nvSpPr>
          <p:spPr>
            <a:xfrm>
              <a:off x="457200" y="3017520"/>
              <a:ext cx="4114800" cy="457200"/>
            </a:xfrm>
            <a:prstGeom prst="rect">
              <a:avLst/>
            </a:prstGeom>
            <a:solidFill>
              <a:srgbClr val="FED7AA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080" y="3108960"/>
              <a:ext cx="274320" cy="274320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1005840" y="3154680"/>
              <a:ext cx="3474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92400E"/>
                  </a:solidFill>
                </a:rPr>
                <a:t>Borra funcionalidad existente</a:t>
              </a:r>
              <a:endParaRPr lang="en-US" sz="1100" dirty="0"/>
            </a:p>
          </p:txBody>
        </p:sp>
      </p:grpSp>
      <p:sp>
        <p:nvSpPr>
          <p:cNvPr id="13" name="Shape 8"/>
          <p:cNvSpPr/>
          <p:nvPr/>
        </p:nvSpPr>
        <p:spPr>
          <a:xfrm>
            <a:off x="4846320" y="1097280"/>
            <a:ext cx="4114800" cy="45720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118872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9496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</a:rPr>
              <a:t>CORRECTO - Con super()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846320" y="1645920"/>
            <a:ext cx="4114800" cy="155448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1"/>
          <p:cNvSpPr/>
          <p:nvPr/>
        </p:nvSpPr>
        <p:spPr>
          <a:xfrm>
            <a:off x="5029200" y="17830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action_confirm(self):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BIEN: Llama super()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 = super().action_confirm()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Tu código adicional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self._calculate_commission()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846320" y="3291840"/>
            <a:ext cx="4114800" cy="45720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38328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94960" y="34290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F46"/>
                </a:solidFill>
              </a:rPr>
              <a:t>Mantiene funcionalidad original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4F5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2. Pruebas de Integración con Otros Módulos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430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1B1B"/>
                </a:solidFill>
              </a:rPr>
              <a:t>PROBLEMA PRINCIPAL: Módulos funcionan solos pero fallan con otros instalados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F5A"/>
                </a:solidFill>
              </a:rPr>
              <a:t>Tipos de Conflictos: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57200" y="2286000"/>
            <a:ext cx="8229600" cy="77724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2316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395728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Vistas XML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280160" y="26517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Dos módulos modifican misma vista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120640" y="2651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0A896"/>
                </a:solidFill>
              </a:rPr>
              <a:t>→ Usar xpath con posiciones relativas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57200" y="3154680"/>
            <a:ext cx="8229600" cy="7772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29184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3264408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Métodos Sobrescritos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280160" y="3520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Múltiples módulos sobrescriben mismo método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5120640" y="3520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0A896"/>
                </a:solidFill>
              </a:rPr>
              <a:t>→ Verificar que TODOS llamen super()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ED7A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16052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80160" y="4133088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</a:rPr>
              <a:t>Dependencias Faltantes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280160" y="43891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Módulo funciona si otro está, pero no lo declara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5120640" y="4389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0A896"/>
                </a:solidFill>
              </a:rPr>
              <a:t>→ Probar en BD limpia solo con depends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4F5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3. Pruebas Unitarias Automatizadas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005840"/>
            <a:ext cx="548640" cy="548640"/>
          </a:xfrm>
          <a:prstGeom prst="ellipse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430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Scripts Python que verifican automáticamente cada función. Como un robot que prueba miles de veces en segundos.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57200" y="1737360"/>
            <a:ext cx="4114800" cy="2743200"/>
          </a:xfrm>
          <a:prstGeom prst="rect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874520"/>
            <a:ext cx="822960" cy="8229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0080" y="2788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4F5A"/>
                </a:solidFill>
              </a:rPr>
              <a:t>Estructura tests/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154680"/>
            <a:ext cx="3749040" cy="100584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7"/>
          <p:cNvSpPr/>
          <p:nvPr/>
        </p:nvSpPr>
        <p:spPr>
          <a:xfrm>
            <a:off x="822960" y="32918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module_name/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tests/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├── __init__.py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└── test_*.py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846320" y="1737360"/>
            <a:ext cx="4114800" cy="274320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874520"/>
            <a:ext cx="822960" cy="8229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29200" y="2788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4F5A"/>
                </a:solidFill>
              </a:rPr>
              <a:t>Beneficios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5212080" y="32004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Detectar regresiones rápido</a:t>
            </a:r>
            <a:endParaRPr lang="en-US" sz="11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Casos extremos automáticos</a:t>
            </a:r>
            <a:endParaRPr lang="en-US" sz="11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Documentación viva</a:t>
            </a:r>
            <a:endParaRPr lang="en-US" sz="11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Confianza al cambiar</a:t>
            </a:r>
            <a:endParaRPr lang="en-US" sz="11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Validación pre-producción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4F5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4. Performance y Optimización</a:t>
            </a:r>
            <a:endParaRPr lang="en-US" sz="2600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31A1A5F0-C094-4099-09BD-CED766A13B3C}"/>
              </a:ext>
            </a:extLst>
          </p:cNvPr>
          <p:cNvGrpSpPr/>
          <p:nvPr/>
        </p:nvGrpSpPr>
        <p:grpSpPr>
          <a:xfrm>
            <a:off x="228600" y="1005840"/>
            <a:ext cx="914400" cy="914400"/>
            <a:chOff x="640080" y="1005840"/>
            <a:chExt cx="914400" cy="914400"/>
          </a:xfrm>
        </p:grpSpPr>
        <p:sp>
          <p:nvSpPr>
            <p:cNvPr id="5" name="Shape 2"/>
            <p:cNvSpPr/>
            <p:nvPr/>
          </p:nvSpPr>
          <p:spPr>
            <a:xfrm>
              <a:off x="640080" y="1005840"/>
              <a:ext cx="914400" cy="914400"/>
            </a:xfrm>
            <a:prstGeom prst="ellipse">
              <a:avLst/>
            </a:prstGeom>
            <a:solidFill>
              <a:srgbClr val="E8F5F7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8680" y="1234440"/>
              <a:ext cx="457200" cy="457200"/>
            </a:xfrm>
            <a:prstGeom prst="rect">
              <a:avLst/>
            </a:prstGeom>
          </p:spPr>
        </p:pic>
      </p:grpSp>
      <p:sp>
        <p:nvSpPr>
          <p:cNvPr id="7" name="Text 3"/>
          <p:cNvSpPr/>
          <p:nvPr/>
        </p:nvSpPr>
        <p:spPr>
          <a:xfrm>
            <a:off x="1737360" y="10972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4F5A"/>
                </a:solidFill>
              </a:rPr>
              <a:t>Queries SQL Aceptables: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1463040"/>
          <a:ext cx="6949440" cy="12801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Acción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✓ Aceptables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⚠ Preocupantes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Abrir lista 20 items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&lt; 50 queries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&gt; 200 queries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Abrir formulario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&lt; 30 queries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&gt; 100 queries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Guardar registro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&lt; 20 queries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&gt; 50 queries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1737358" y="2926080"/>
            <a:ext cx="6949442" cy="457200"/>
          </a:xfrm>
          <a:prstGeom prst="rect">
            <a:avLst/>
          </a:prstGeom>
          <a:solidFill>
            <a:srgbClr val="FED7A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652" y="2994660"/>
            <a:ext cx="312928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502332" y="3040380"/>
            <a:ext cx="29840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</a:rPr>
              <a:t>Anti-patrones que Causan Problemas: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7144" y="3529584"/>
            <a:ext cx="268224" cy="274320"/>
          </a:xfrm>
          <a:prstGeom prst="rect">
            <a:avLst/>
          </a:prstGeom>
          <a:noFill/>
        </p:spPr>
      </p:pic>
      <p:sp>
        <p:nvSpPr>
          <p:cNvPr id="13" name="Text 6"/>
          <p:cNvSpPr/>
          <p:nvPr/>
        </p:nvSpPr>
        <p:spPr>
          <a:xfrm>
            <a:off x="2417496" y="3529584"/>
            <a:ext cx="349470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• N+1 queries: búsqueda individual en loop</a:t>
            </a:r>
            <a:endParaRPr lang="en-US" sz="1200" dirty="0"/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5460076B-D2BB-42FD-FA02-BF4073E6574D}"/>
              </a:ext>
            </a:extLst>
          </p:cNvPr>
          <p:cNvGrpSpPr/>
          <p:nvPr/>
        </p:nvGrpSpPr>
        <p:grpSpPr>
          <a:xfrm>
            <a:off x="1887144" y="3983382"/>
            <a:ext cx="4025061" cy="274320"/>
            <a:chOff x="1886636" y="3877056"/>
            <a:chExt cx="4025061" cy="274320"/>
          </a:xfrm>
        </p:grpSpPr>
        <p:pic>
          <p:nvPicPr>
            <p:cNvPr id="14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86636" y="3877056"/>
              <a:ext cx="268224" cy="274320"/>
            </a:xfrm>
            <a:prstGeom prst="rect">
              <a:avLst/>
            </a:prstGeom>
          </p:spPr>
        </p:pic>
        <p:sp>
          <p:nvSpPr>
            <p:cNvPr id="15" name="Text 7"/>
            <p:cNvSpPr/>
            <p:nvPr/>
          </p:nvSpPr>
          <p:spPr>
            <a:xfrm>
              <a:off x="2416988" y="3877056"/>
              <a:ext cx="3494709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1A"/>
                  </a:solidFill>
                </a:rPr>
                <a:t>• Campos computados sin store=True en búsquedas</a:t>
              </a:r>
              <a:endParaRPr lang="en-US" sz="1200" dirty="0"/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D1CA8098-7669-7085-2749-6D07219CB65A}"/>
              </a:ext>
            </a:extLst>
          </p:cNvPr>
          <p:cNvGrpSpPr/>
          <p:nvPr/>
        </p:nvGrpSpPr>
        <p:grpSpPr>
          <a:xfrm>
            <a:off x="1887144" y="4437179"/>
            <a:ext cx="4025061" cy="274320"/>
            <a:chOff x="1886636" y="4224528"/>
            <a:chExt cx="4025061" cy="274320"/>
          </a:xfrm>
        </p:grpSpPr>
        <p:pic>
          <p:nvPicPr>
            <p:cNvPr id="16" name="Image 5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886636" y="4224528"/>
              <a:ext cx="268224" cy="274320"/>
            </a:xfrm>
            <a:prstGeom prst="rect">
              <a:avLst/>
            </a:prstGeom>
          </p:spPr>
        </p:pic>
        <p:sp>
          <p:nvSpPr>
            <p:cNvPr id="17" name="Text 8"/>
            <p:cNvSpPr/>
            <p:nvPr/>
          </p:nvSpPr>
          <p:spPr>
            <a:xfrm>
              <a:off x="2416988" y="4224528"/>
              <a:ext cx="3494709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1A"/>
                  </a:solidFill>
                </a:rPr>
                <a:t>• No usar for loop con self en compute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4F5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 y 6: Migración y Análisis de Logs</a:t>
            </a:r>
            <a:endParaRPr lang="en-US" sz="2600" dirty="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BA34247F-619C-60E2-7B91-4D2FE3C3C21D}"/>
              </a:ext>
            </a:extLst>
          </p:cNvPr>
          <p:cNvGrpSpPr/>
          <p:nvPr/>
        </p:nvGrpSpPr>
        <p:grpSpPr>
          <a:xfrm>
            <a:off x="320040" y="1097280"/>
            <a:ext cx="8503920" cy="3291840"/>
            <a:chOff x="457200" y="1097280"/>
            <a:chExt cx="8503920" cy="3291840"/>
          </a:xfrm>
        </p:grpSpPr>
        <p:sp>
          <p:nvSpPr>
            <p:cNvPr id="5" name="Shape 2"/>
            <p:cNvSpPr/>
            <p:nvPr/>
          </p:nvSpPr>
          <p:spPr>
            <a:xfrm>
              <a:off x="457200" y="1097280"/>
              <a:ext cx="4114800" cy="3291840"/>
            </a:xfrm>
            <a:prstGeom prst="rect">
              <a:avLst/>
            </a:prstGeom>
            <a:solidFill>
              <a:srgbClr val="E8F5F7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69463" y="1280160"/>
              <a:ext cx="360000" cy="360000"/>
            </a:xfrm>
            <a:prstGeom prst="rect">
              <a:avLst/>
            </a:prstGeom>
          </p:spPr>
        </p:pic>
        <p:grpSp>
          <p:nvGrpSpPr>
            <p:cNvPr id="39" name="Grupo 38">
              <a:extLst>
                <a:ext uri="{FF2B5EF4-FFF2-40B4-BE49-F238E27FC236}">
                  <a16:creationId xmlns:a16="http://schemas.microsoft.com/office/drawing/2014/main" id="{59FD7374-5E34-2149-92D4-05BD35E23490}"/>
                </a:ext>
              </a:extLst>
            </p:cNvPr>
            <p:cNvGrpSpPr/>
            <p:nvPr/>
          </p:nvGrpSpPr>
          <p:grpSpPr>
            <a:xfrm>
              <a:off x="640080" y="1734877"/>
              <a:ext cx="3749040" cy="2377440"/>
              <a:chOff x="640080" y="2194560"/>
              <a:chExt cx="3749040" cy="2377440"/>
            </a:xfrm>
          </p:grpSpPr>
          <p:sp>
            <p:nvSpPr>
              <p:cNvPr id="7" name="Text 3"/>
              <p:cNvSpPr/>
              <p:nvPr/>
            </p:nvSpPr>
            <p:spPr>
              <a:xfrm>
                <a:off x="640080" y="2194560"/>
                <a:ext cx="374904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014F5A"/>
                    </a:solidFill>
                  </a:rPr>
                  <a:t>Pruebas de Migración</a:t>
                </a:r>
                <a:endParaRPr lang="en-US" sz="1500" dirty="0"/>
              </a:p>
            </p:txBody>
          </p:sp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FF07BEA5-6315-247F-6863-41EABB4992A7}"/>
                  </a:ext>
                </a:extLst>
              </p:cNvPr>
              <p:cNvGrpSpPr/>
              <p:nvPr/>
            </p:nvGrpSpPr>
            <p:grpSpPr>
              <a:xfrm>
                <a:off x="731520" y="2606040"/>
                <a:ext cx="3657600" cy="1965960"/>
                <a:chOff x="731520" y="2606040"/>
                <a:chExt cx="3657600" cy="1965960"/>
              </a:xfrm>
            </p:grpSpPr>
            <p:sp>
              <p:nvSpPr>
                <p:cNvPr id="8" name="Shape 4"/>
                <p:cNvSpPr/>
                <p:nvPr/>
              </p:nvSpPr>
              <p:spPr>
                <a:xfrm>
                  <a:off x="731520" y="2606040"/>
                  <a:ext cx="320040" cy="320040"/>
                </a:xfrm>
                <a:prstGeom prst="ellipse">
                  <a:avLst/>
                </a:prstGeom>
                <a:solidFill>
                  <a:srgbClr val="00A896"/>
                </a:solidFill>
                <a:ln/>
              </p:spPr>
              <p:txBody>
                <a:bodyPr/>
                <a:lstStyle/>
                <a:p>
                  <a:endParaRPr lang="es-MX"/>
                </a:p>
              </p:txBody>
            </p:sp>
            <p:sp>
              <p:nvSpPr>
                <p:cNvPr id="9" name="Text 5"/>
                <p:cNvSpPr/>
                <p:nvPr/>
              </p:nvSpPr>
              <p:spPr>
                <a:xfrm>
                  <a:off x="731520" y="2651760"/>
                  <a:ext cx="320040" cy="2286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</a:rPr>
                    <a:t>1</a:t>
                  </a:r>
                  <a:endParaRPr lang="en-US" sz="1200" dirty="0"/>
                </a:p>
              </p:txBody>
            </p:sp>
            <p:sp>
              <p:nvSpPr>
                <p:cNvPr id="10" name="Text 6"/>
                <p:cNvSpPr/>
                <p:nvPr/>
              </p:nvSpPr>
              <p:spPr>
                <a:xfrm>
                  <a:off x="1188720" y="2651760"/>
                  <a:ext cx="3200400" cy="2286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100" dirty="0">
                      <a:solidFill>
                        <a:srgbClr val="1A1A1A"/>
                      </a:solidFill>
                    </a:rPr>
                    <a:t>Backup producción</a:t>
                  </a:r>
                  <a:endParaRPr lang="en-US" sz="1100" dirty="0"/>
                </a:p>
              </p:txBody>
            </p:sp>
            <p:sp>
              <p:nvSpPr>
                <p:cNvPr id="11" name="Shape 7"/>
                <p:cNvSpPr/>
                <p:nvPr/>
              </p:nvSpPr>
              <p:spPr>
                <a:xfrm>
                  <a:off x="731520" y="3017520"/>
                  <a:ext cx="320040" cy="320040"/>
                </a:xfrm>
                <a:prstGeom prst="ellipse">
                  <a:avLst/>
                </a:prstGeom>
                <a:solidFill>
                  <a:srgbClr val="00A896"/>
                </a:solidFill>
                <a:ln/>
              </p:spPr>
              <p:txBody>
                <a:bodyPr/>
                <a:lstStyle/>
                <a:p>
                  <a:endParaRPr lang="es-MX"/>
                </a:p>
              </p:txBody>
            </p:sp>
            <p:sp>
              <p:nvSpPr>
                <p:cNvPr id="12" name="Text 8"/>
                <p:cNvSpPr/>
                <p:nvPr/>
              </p:nvSpPr>
              <p:spPr>
                <a:xfrm>
                  <a:off x="731520" y="3063240"/>
                  <a:ext cx="320040" cy="2286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</a:rPr>
                    <a:t>2</a:t>
                  </a:r>
                  <a:endParaRPr lang="en-US" sz="1200" dirty="0"/>
                </a:p>
              </p:txBody>
            </p:sp>
            <p:sp>
              <p:nvSpPr>
                <p:cNvPr id="13" name="Text 9"/>
                <p:cNvSpPr/>
                <p:nvPr/>
              </p:nvSpPr>
              <p:spPr>
                <a:xfrm>
                  <a:off x="1188720" y="3063240"/>
                  <a:ext cx="3200400" cy="2286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100" dirty="0">
                      <a:solidFill>
                        <a:srgbClr val="1A1A1A"/>
                      </a:solidFill>
                    </a:rPr>
                    <a:t>Restaurar en pruebas</a:t>
                  </a:r>
                  <a:endParaRPr lang="en-US" sz="1100" dirty="0"/>
                </a:p>
              </p:txBody>
            </p:sp>
            <p:sp>
              <p:nvSpPr>
                <p:cNvPr id="14" name="Shape 10"/>
                <p:cNvSpPr/>
                <p:nvPr/>
              </p:nvSpPr>
              <p:spPr>
                <a:xfrm>
                  <a:off x="731520" y="3429000"/>
                  <a:ext cx="320040" cy="320040"/>
                </a:xfrm>
                <a:prstGeom prst="ellipse">
                  <a:avLst/>
                </a:prstGeom>
                <a:solidFill>
                  <a:srgbClr val="00A896"/>
                </a:solidFill>
                <a:ln/>
              </p:spPr>
              <p:txBody>
                <a:bodyPr/>
                <a:lstStyle/>
                <a:p>
                  <a:endParaRPr lang="es-MX"/>
                </a:p>
              </p:txBody>
            </p:sp>
            <p:sp>
              <p:nvSpPr>
                <p:cNvPr id="15" name="Text 11"/>
                <p:cNvSpPr/>
                <p:nvPr/>
              </p:nvSpPr>
              <p:spPr>
                <a:xfrm>
                  <a:off x="731520" y="3474720"/>
                  <a:ext cx="320040" cy="2286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</a:rPr>
                    <a:t>3</a:t>
                  </a:r>
                  <a:endParaRPr lang="en-US" sz="1200" dirty="0"/>
                </a:p>
              </p:txBody>
            </p:sp>
            <p:sp>
              <p:nvSpPr>
                <p:cNvPr id="16" name="Text 12"/>
                <p:cNvSpPr/>
                <p:nvPr/>
              </p:nvSpPr>
              <p:spPr>
                <a:xfrm>
                  <a:off x="1188720" y="3474720"/>
                  <a:ext cx="3200400" cy="2286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100" dirty="0">
                      <a:solidFill>
                        <a:srgbClr val="1A1A1A"/>
                      </a:solidFill>
                    </a:rPr>
                    <a:t>Actualizar módulo</a:t>
                  </a:r>
                  <a:endParaRPr lang="en-US" sz="1100" dirty="0"/>
                </a:p>
              </p:txBody>
            </p:sp>
            <p:sp>
              <p:nvSpPr>
                <p:cNvPr id="17" name="Shape 13"/>
                <p:cNvSpPr/>
                <p:nvPr/>
              </p:nvSpPr>
              <p:spPr>
                <a:xfrm>
                  <a:off x="731520" y="3840480"/>
                  <a:ext cx="320040" cy="320040"/>
                </a:xfrm>
                <a:prstGeom prst="ellipse">
                  <a:avLst/>
                </a:prstGeom>
                <a:solidFill>
                  <a:srgbClr val="00A896"/>
                </a:solidFill>
                <a:ln/>
              </p:spPr>
              <p:txBody>
                <a:bodyPr/>
                <a:lstStyle/>
                <a:p>
                  <a:endParaRPr lang="es-MX"/>
                </a:p>
              </p:txBody>
            </p:sp>
            <p:sp>
              <p:nvSpPr>
                <p:cNvPr id="18" name="Text 14"/>
                <p:cNvSpPr/>
                <p:nvPr/>
              </p:nvSpPr>
              <p:spPr>
                <a:xfrm>
                  <a:off x="731520" y="3886200"/>
                  <a:ext cx="320040" cy="2286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</a:rPr>
                    <a:t>4</a:t>
                  </a:r>
                  <a:endParaRPr lang="en-US" sz="1200" dirty="0"/>
                </a:p>
              </p:txBody>
            </p:sp>
            <p:sp>
              <p:nvSpPr>
                <p:cNvPr id="19" name="Text 15"/>
                <p:cNvSpPr/>
                <p:nvPr/>
              </p:nvSpPr>
              <p:spPr>
                <a:xfrm>
                  <a:off x="1188720" y="3886200"/>
                  <a:ext cx="3200400" cy="2286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100" dirty="0">
                      <a:solidFill>
                        <a:srgbClr val="1A1A1A"/>
                      </a:solidFill>
                    </a:rPr>
                    <a:t>Verificar integridad datos</a:t>
                  </a:r>
                  <a:endParaRPr lang="en-US" sz="1100" dirty="0"/>
                </a:p>
              </p:txBody>
            </p:sp>
            <p:sp>
              <p:nvSpPr>
                <p:cNvPr id="20" name="Shape 16"/>
                <p:cNvSpPr/>
                <p:nvPr/>
              </p:nvSpPr>
              <p:spPr>
                <a:xfrm>
                  <a:off x="731520" y="4251960"/>
                  <a:ext cx="320040" cy="320040"/>
                </a:xfrm>
                <a:prstGeom prst="ellipse">
                  <a:avLst/>
                </a:prstGeom>
                <a:solidFill>
                  <a:srgbClr val="00A896"/>
                </a:solidFill>
                <a:ln/>
              </p:spPr>
              <p:txBody>
                <a:bodyPr/>
                <a:lstStyle/>
                <a:p>
                  <a:endParaRPr lang="es-MX"/>
                </a:p>
              </p:txBody>
            </p:sp>
            <p:sp>
              <p:nvSpPr>
                <p:cNvPr id="21" name="Text 17"/>
                <p:cNvSpPr/>
                <p:nvPr/>
              </p:nvSpPr>
              <p:spPr>
                <a:xfrm>
                  <a:off x="731520" y="4297680"/>
                  <a:ext cx="320040" cy="2286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FFFFFF"/>
                      </a:solidFill>
                    </a:rPr>
                    <a:t>5</a:t>
                  </a:r>
                  <a:endParaRPr lang="en-US" sz="1200" dirty="0"/>
                </a:p>
              </p:txBody>
            </p:sp>
            <p:sp>
              <p:nvSpPr>
                <p:cNvPr id="22" name="Text 18"/>
                <p:cNvSpPr/>
                <p:nvPr/>
              </p:nvSpPr>
              <p:spPr>
                <a:xfrm>
                  <a:off x="1188720" y="4297680"/>
                  <a:ext cx="3200400" cy="2286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100" dirty="0">
                      <a:solidFill>
                        <a:srgbClr val="1A1A1A"/>
                      </a:solidFill>
                    </a:rPr>
                    <a:t>Scripts de migración</a:t>
                  </a:r>
                  <a:endParaRPr lang="en-US" sz="1100" dirty="0"/>
                </a:p>
              </p:txBody>
            </p:sp>
          </p:grpSp>
        </p:grpSp>
        <p:sp>
          <p:nvSpPr>
            <p:cNvPr id="23" name="Shape 19"/>
            <p:cNvSpPr/>
            <p:nvPr/>
          </p:nvSpPr>
          <p:spPr>
            <a:xfrm>
              <a:off x="4846320" y="1097280"/>
              <a:ext cx="4114800" cy="3291840"/>
            </a:xfrm>
            <a:prstGeom prst="rect">
              <a:avLst/>
            </a:prstGeom>
            <a:solidFill>
              <a:srgbClr val="E8F5F7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24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58583" y="1280160"/>
              <a:ext cx="360000" cy="360000"/>
            </a:xfrm>
            <a:prstGeom prst="rect">
              <a:avLst/>
            </a:prstGeom>
          </p:spPr>
        </p:pic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AEA529CB-AA94-DE46-5E40-9A7572B566E4}"/>
                </a:ext>
              </a:extLst>
            </p:cNvPr>
            <p:cNvGrpSpPr/>
            <p:nvPr/>
          </p:nvGrpSpPr>
          <p:grpSpPr>
            <a:xfrm>
              <a:off x="5029200" y="1734877"/>
              <a:ext cx="3749040" cy="2331720"/>
              <a:chOff x="5029200" y="2194560"/>
              <a:chExt cx="3749040" cy="2331720"/>
            </a:xfrm>
          </p:grpSpPr>
          <p:sp>
            <p:nvSpPr>
              <p:cNvPr id="25" name="Text 20"/>
              <p:cNvSpPr/>
              <p:nvPr/>
            </p:nvSpPr>
            <p:spPr>
              <a:xfrm>
                <a:off x="5029200" y="2194560"/>
                <a:ext cx="374904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014F5A"/>
                    </a:solidFill>
                  </a:rPr>
                  <a:t>Análisis de Logs</a:t>
                </a:r>
                <a:endParaRPr lang="en-US" sz="1500" dirty="0"/>
              </a:p>
            </p:txBody>
          </p:sp>
          <p:sp>
            <p:nvSpPr>
              <p:cNvPr id="26" name="Shape 21"/>
              <p:cNvSpPr/>
              <p:nvPr/>
            </p:nvSpPr>
            <p:spPr>
              <a:xfrm>
                <a:off x="5029200" y="2697480"/>
                <a:ext cx="3749040" cy="548640"/>
              </a:xfrm>
              <a:prstGeom prst="rect">
                <a:avLst/>
              </a:prstGeom>
              <a:solidFill>
                <a:srgbClr val="FEE2E2"/>
              </a:solidFill>
              <a:ln/>
            </p:spPr>
            <p:txBody>
              <a:bodyPr/>
              <a:lstStyle/>
              <a:p>
                <a:endParaRPr lang="es-MX"/>
              </a:p>
            </p:txBody>
          </p:sp>
          <p:pic>
            <p:nvPicPr>
              <p:cNvPr id="27" name="Image 3" descr="preencoded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66360" y="2788920"/>
                <a:ext cx="320040" cy="320040"/>
              </a:xfrm>
              <a:prstGeom prst="rect">
                <a:avLst/>
              </a:prstGeom>
            </p:spPr>
          </p:pic>
          <p:sp>
            <p:nvSpPr>
              <p:cNvPr id="28" name="Text 22"/>
              <p:cNvSpPr/>
              <p:nvPr/>
            </p:nvSpPr>
            <p:spPr>
              <a:xfrm>
                <a:off x="5577840" y="2770632"/>
                <a:ext cx="137160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1A1A1A"/>
                    </a:solidFill>
                  </a:rPr>
                  <a:t>ERROR</a:t>
                </a:r>
                <a:endParaRPr lang="en-US" sz="1100" dirty="0"/>
              </a:p>
            </p:txBody>
          </p:sp>
          <p:sp>
            <p:nvSpPr>
              <p:cNvPr id="29" name="Text 23"/>
              <p:cNvSpPr/>
              <p:nvPr/>
            </p:nvSpPr>
            <p:spPr>
              <a:xfrm>
                <a:off x="5577840" y="2971800"/>
                <a:ext cx="292608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1A1A1A"/>
                    </a:solidFill>
                  </a:rPr>
                  <a:t>Crítico - corregir</a:t>
                </a:r>
                <a:endParaRPr lang="en-US" sz="1000" dirty="0"/>
              </a:p>
            </p:txBody>
          </p:sp>
          <p:sp>
            <p:nvSpPr>
              <p:cNvPr id="30" name="Shape 24"/>
              <p:cNvSpPr/>
              <p:nvPr/>
            </p:nvSpPr>
            <p:spPr>
              <a:xfrm>
                <a:off x="5029200" y="3337560"/>
                <a:ext cx="3749040" cy="548640"/>
              </a:xfrm>
              <a:prstGeom prst="rect">
                <a:avLst/>
              </a:prstGeom>
              <a:solidFill>
                <a:srgbClr val="FEF3C7"/>
              </a:solidFill>
              <a:ln/>
            </p:spPr>
            <p:txBody>
              <a:bodyPr/>
              <a:lstStyle/>
              <a:p>
                <a:endParaRPr lang="es-MX"/>
              </a:p>
            </p:txBody>
          </p:sp>
          <p:pic>
            <p:nvPicPr>
              <p:cNvPr id="31" name="Image 4" descr="preencoded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66360" y="3429000"/>
                <a:ext cx="320040" cy="320040"/>
              </a:xfrm>
              <a:prstGeom prst="rect">
                <a:avLst/>
              </a:prstGeom>
            </p:spPr>
          </p:pic>
          <p:sp>
            <p:nvSpPr>
              <p:cNvPr id="32" name="Text 25"/>
              <p:cNvSpPr/>
              <p:nvPr/>
            </p:nvSpPr>
            <p:spPr>
              <a:xfrm>
                <a:off x="5577840" y="3410712"/>
                <a:ext cx="137160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1A1A1A"/>
                    </a:solidFill>
                  </a:rPr>
                  <a:t>WARNING</a:t>
                </a:r>
                <a:endParaRPr lang="en-US" sz="1100" dirty="0"/>
              </a:p>
            </p:txBody>
          </p:sp>
          <p:sp>
            <p:nvSpPr>
              <p:cNvPr id="33" name="Text 26"/>
              <p:cNvSpPr/>
              <p:nvPr/>
            </p:nvSpPr>
            <p:spPr>
              <a:xfrm>
                <a:off x="5577840" y="3611880"/>
                <a:ext cx="292608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1A1A1A"/>
                    </a:solidFill>
                  </a:rPr>
                  <a:t>Investigar</a:t>
                </a:r>
                <a:endParaRPr lang="en-US" sz="1000" dirty="0"/>
              </a:p>
            </p:txBody>
          </p:sp>
          <p:sp>
            <p:nvSpPr>
              <p:cNvPr id="34" name="Shape 27"/>
              <p:cNvSpPr/>
              <p:nvPr/>
            </p:nvSpPr>
            <p:spPr>
              <a:xfrm>
                <a:off x="5029200" y="3977640"/>
                <a:ext cx="3749040" cy="548640"/>
              </a:xfrm>
              <a:prstGeom prst="rect">
                <a:avLst/>
              </a:prstGeom>
              <a:solidFill>
                <a:srgbClr val="FCE7F3"/>
              </a:solidFill>
              <a:ln/>
            </p:spPr>
            <p:txBody>
              <a:bodyPr/>
              <a:lstStyle/>
              <a:p>
                <a:endParaRPr lang="es-MX"/>
              </a:p>
            </p:txBody>
          </p:sp>
          <p:pic>
            <p:nvPicPr>
              <p:cNvPr id="35" name="Image 5" descr="preencoded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66360" y="4069080"/>
                <a:ext cx="320040" cy="320040"/>
              </a:xfrm>
              <a:prstGeom prst="rect">
                <a:avLst/>
              </a:prstGeom>
            </p:spPr>
          </p:pic>
          <p:sp>
            <p:nvSpPr>
              <p:cNvPr id="36" name="Text 28"/>
              <p:cNvSpPr/>
              <p:nvPr/>
            </p:nvSpPr>
            <p:spPr>
              <a:xfrm>
                <a:off x="5577840" y="4050792"/>
                <a:ext cx="137160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1A1A1A"/>
                    </a:solidFill>
                  </a:rPr>
                  <a:t>AccessError</a:t>
                </a:r>
                <a:endParaRPr lang="en-US" sz="1100" dirty="0"/>
              </a:p>
            </p:txBody>
          </p:sp>
          <p:sp>
            <p:nvSpPr>
              <p:cNvPr id="37" name="Text 29"/>
              <p:cNvSpPr/>
              <p:nvPr/>
            </p:nvSpPr>
            <p:spPr>
              <a:xfrm>
                <a:off x="5577840" y="4251960"/>
                <a:ext cx="2926080" cy="1828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1A1A1A"/>
                    </a:solidFill>
                  </a:rPr>
                  <a:t>Revisar permisos</a:t>
                </a:r>
                <a:endParaRPr lang="en-US" sz="1000" dirty="0"/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✓ Checklist Técnico para Desarrolladores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</a:rPr>
              <a:t>Antes de aprobar para producción: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292608" cy="292608"/>
          </a:xfrm>
          <a:prstGeom prst="ellipse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1435608"/>
            <a:ext cx="164592" cy="1645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389888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☐ Code review completo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40080" y="1719072"/>
            <a:ext cx="292608" cy="292608"/>
          </a:xfrm>
          <a:prstGeom prst="ellipse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1783080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1737360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☐ __manifest__.py con dependencias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40080" y="2066544"/>
            <a:ext cx="292608" cy="292608"/>
          </a:xfrm>
          <a:prstGeom prst="ellipse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2130552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560" y="2084832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☐ ir.model.access.csv completo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640080" y="2414016"/>
            <a:ext cx="292608" cy="292608"/>
          </a:xfrm>
          <a:prstGeom prst="ellipse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" y="2478024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560" y="2432304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☐ Métodos usan super()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640080" y="2761488"/>
            <a:ext cx="292608" cy="292608"/>
          </a:xfrm>
          <a:prstGeom prst="ellipse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" y="2825496"/>
            <a:ext cx="164592" cy="16459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51560" y="2779776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☐ Campos con @api.depends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640080" y="3108960"/>
            <a:ext cx="292608" cy="292608"/>
          </a:xfrm>
          <a:prstGeom prst="ellipse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088" y="3172968"/>
            <a:ext cx="164592" cy="16459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051560" y="3127248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☐ store=True en búsquedas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640080" y="3456432"/>
            <a:ext cx="292608" cy="292608"/>
          </a:xfrm>
          <a:prstGeom prst="ellipse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088" y="3520440"/>
            <a:ext cx="164592" cy="16459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051560" y="3474720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☐ Sin N+1 queries</a:t>
            </a:r>
            <a:endParaRPr lang="en-US" sz="1100" dirty="0"/>
          </a:p>
        </p:txBody>
      </p:sp>
      <p:sp>
        <p:nvSpPr>
          <p:cNvPr id="27" name="Shape 17"/>
          <p:cNvSpPr/>
          <p:nvPr/>
        </p:nvSpPr>
        <p:spPr>
          <a:xfrm>
            <a:off x="4846320" y="1371600"/>
            <a:ext cx="292608" cy="292608"/>
          </a:xfrm>
          <a:prstGeom prst="ellipse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0328" y="1435608"/>
            <a:ext cx="164592" cy="16459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257800" y="1389888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☐ Vistas XML sin conflictos</a:t>
            </a:r>
            <a:endParaRPr lang="en-US" sz="1100" dirty="0"/>
          </a:p>
        </p:txBody>
      </p:sp>
      <p:sp>
        <p:nvSpPr>
          <p:cNvPr id="30" name="Shape 19"/>
          <p:cNvSpPr/>
          <p:nvPr/>
        </p:nvSpPr>
        <p:spPr>
          <a:xfrm>
            <a:off x="4846320" y="1719072"/>
            <a:ext cx="292608" cy="292608"/>
          </a:xfrm>
          <a:prstGeom prst="ellipse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10328" y="1783080"/>
            <a:ext cx="164592" cy="16459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257800" y="173736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☐ Pruebas unitarias pasando</a:t>
            </a:r>
            <a:endParaRPr lang="en-US" sz="1100" dirty="0"/>
          </a:p>
        </p:txBody>
      </p:sp>
      <p:sp>
        <p:nvSpPr>
          <p:cNvPr id="33" name="Shape 21"/>
          <p:cNvSpPr/>
          <p:nvPr/>
        </p:nvSpPr>
        <p:spPr>
          <a:xfrm>
            <a:off x="4846320" y="2066544"/>
            <a:ext cx="292608" cy="292608"/>
          </a:xfrm>
          <a:prstGeom prst="ellipse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0328" y="2130552"/>
            <a:ext cx="164592" cy="164592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5257800" y="2084832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☐ &lt; 200 queries operaciones</a:t>
            </a:r>
            <a:endParaRPr lang="en-US" sz="1100" dirty="0"/>
          </a:p>
        </p:txBody>
      </p:sp>
      <p:sp>
        <p:nvSpPr>
          <p:cNvPr id="36" name="Shape 23"/>
          <p:cNvSpPr/>
          <p:nvPr/>
        </p:nvSpPr>
        <p:spPr>
          <a:xfrm>
            <a:off x="4846320" y="2414016"/>
            <a:ext cx="292608" cy="292608"/>
          </a:xfrm>
          <a:prstGeom prst="ellipse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10328" y="2478024"/>
            <a:ext cx="164592" cy="164592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5257800" y="243230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☐ Logs sin ERRORs</a:t>
            </a:r>
            <a:endParaRPr lang="en-US" sz="1100" dirty="0"/>
          </a:p>
        </p:txBody>
      </p:sp>
      <p:sp>
        <p:nvSpPr>
          <p:cNvPr id="39" name="Shape 25"/>
          <p:cNvSpPr/>
          <p:nvPr/>
        </p:nvSpPr>
        <p:spPr>
          <a:xfrm>
            <a:off x="4846320" y="2761488"/>
            <a:ext cx="292608" cy="292608"/>
          </a:xfrm>
          <a:prstGeom prst="ellipse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328" y="2825496"/>
            <a:ext cx="164592" cy="164592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5257800" y="277977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☐ Probado con datos reales</a:t>
            </a:r>
            <a:endParaRPr lang="en-US" sz="1100" dirty="0"/>
          </a:p>
        </p:txBody>
      </p:sp>
      <p:sp>
        <p:nvSpPr>
          <p:cNvPr id="42" name="Shape 27"/>
          <p:cNvSpPr/>
          <p:nvPr/>
        </p:nvSpPr>
        <p:spPr>
          <a:xfrm>
            <a:off x="4846320" y="3108960"/>
            <a:ext cx="292608" cy="292608"/>
          </a:xfrm>
          <a:prstGeom prst="ellipse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3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10328" y="3172968"/>
            <a:ext cx="164592" cy="164592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5257800" y="3127248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☐ Scripts de migración</a:t>
            </a:r>
            <a:endParaRPr lang="en-US" sz="1100" dirty="0"/>
          </a:p>
        </p:txBody>
      </p:sp>
      <p:sp>
        <p:nvSpPr>
          <p:cNvPr id="45" name="Shape 29"/>
          <p:cNvSpPr/>
          <p:nvPr/>
        </p:nvSpPr>
        <p:spPr>
          <a:xfrm>
            <a:off x="4846320" y="3456432"/>
            <a:ext cx="292608" cy="292608"/>
          </a:xfrm>
          <a:prstGeom prst="ellipse">
            <a:avLst/>
          </a:prstGeom>
          <a:solidFill>
            <a:srgbClr val="E8F5F7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10328" y="3520440"/>
            <a:ext cx="164592" cy="164592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5257800" y="347472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☐ Documentación técnica</a:t>
            </a:r>
            <a:endParaRPr lang="en-US" sz="1100" dirty="0"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E6191FC6-C5E2-1D3B-6501-605269686F53}"/>
              </a:ext>
            </a:extLst>
          </p:cNvPr>
          <p:cNvGrpSpPr/>
          <p:nvPr/>
        </p:nvGrpSpPr>
        <p:grpSpPr>
          <a:xfrm>
            <a:off x="464288" y="4053125"/>
            <a:ext cx="8229600" cy="640080"/>
            <a:chOff x="457200" y="3840480"/>
            <a:chExt cx="8229600" cy="640080"/>
          </a:xfrm>
        </p:grpSpPr>
        <p:sp>
          <p:nvSpPr>
            <p:cNvPr id="48" name="Shape 31"/>
            <p:cNvSpPr/>
            <p:nvPr/>
          </p:nvSpPr>
          <p:spPr>
            <a:xfrm>
              <a:off x="457200" y="3840480"/>
              <a:ext cx="8229600" cy="640080"/>
            </a:xfrm>
            <a:prstGeom prst="rect">
              <a:avLst/>
            </a:prstGeom>
            <a:solidFill>
              <a:srgbClr val="E8F5F7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49" name="Image 15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1520" y="3977640"/>
              <a:ext cx="365760" cy="365760"/>
            </a:xfrm>
            <a:prstGeom prst="rect">
              <a:avLst/>
            </a:prstGeom>
          </p:spPr>
        </p:pic>
        <p:sp>
          <p:nvSpPr>
            <p:cNvPr id="50" name="Text 32"/>
            <p:cNvSpPr/>
            <p:nvPr/>
          </p:nvSpPr>
          <p:spPr>
            <a:xfrm>
              <a:off x="1280160" y="4023360"/>
              <a:ext cx="7223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14F5A"/>
                  </a:solidFill>
                </a:rPr>
                <a:t>Tu responsabilidad: calidad, arquitectura, rendimiento y mantenibilidad a largo plazo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Conclusiones y Recomendaciones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8872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234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Beneficios de Implementar Este Protocolo</a:t>
            </a:r>
            <a:endParaRPr lang="en-US" sz="1600" dirty="0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2AE20F70-1EFE-7872-0B10-6024636D6710}"/>
              </a:ext>
            </a:extLst>
          </p:cNvPr>
          <p:cNvGrpSpPr/>
          <p:nvPr/>
        </p:nvGrpSpPr>
        <p:grpSpPr>
          <a:xfrm>
            <a:off x="731520" y="1864242"/>
            <a:ext cx="3259233" cy="320040"/>
            <a:chOff x="731520" y="1828800"/>
            <a:chExt cx="3259233" cy="320040"/>
          </a:xfrm>
        </p:grpSpPr>
        <p:pic>
          <p:nvPicPr>
            <p:cNvPr id="8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1828800"/>
              <a:ext cx="320040" cy="320040"/>
            </a:xfrm>
            <a:prstGeom prst="rect">
              <a:avLst/>
            </a:prstGeom>
          </p:spPr>
        </p:pic>
        <p:sp>
          <p:nvSpPr>
            <p:cNvPr id="9" name="Text 4"/>
            <p:cNvSpPr/>
            <p:nvPr/>
          </p:nvSpPr>
          <p:spPr>
            <a:xfrm>
              <a:off x="1188720" y="1856232"/>
              <a:ext cx="2802033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A1A1A"/>
                  </a:solidFill>
                </a:rPr>
                <a:t>Menos problemas en producción</a:t>
              </a:r>
              <a:endParaRPr lang="en-US" sz="1300" dirty="0"/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5C8956E5-7E4A-205F-FC35-7AB26E0FF1E6}"/>
              </a:ext>
            </a:extLst>
          </p:cNvPr>
          <p:cNvGrpSpPr/>
          <p:nvPr/>
        </p:nvGrpSpPr>
        <p:grpSpPr>
          <a:xfrm>
            <a:off x="731520" y="2379423"/>
            <a:ext cx="3259233" cy="320040"/>
            <a:chOff x="731520" y="2212848"/>
            <a:chExt cx="3259233" cy="320040"/>
          </a:xfrm>
        </p:grpSpPr>
        <p:pic>
          <p:nvPicPr>
            <p:cNvPr id="10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1520" y="2212848"/>
              <a:ext cx="320040" cy="320040"/>
            </a:xfrm>
            <a:prstGeom prst="rect">
              <a:avLst/>
            </a:prstGeom>
          </p:spPr>
        </p:pic>
        <p:sp>
          <p:nvSpPr>
            <p:cNvPr id="11" name="Text 5"/>
            <p:cNvSpPr/>
            <p:nvPr/>
          </p:nvSpPr>
          <p:spPr>
            <a:xfrm>
              <a:off x="1188720" y="2258568"/>
              <a:ext cx="2802033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A1A1A"/>
                  </a:solidFill>
                </a:rPr>
                <a:t>Ahorro de tiempo en debugging</a:t>
              </a:r>
              <a:endParaRPr lang="en-US" sz="1300" dirty="0"/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C848BD38-4B5D-2AAC-E42D-E9D803D6FA9F}"/>
              </a:ext>
            </a:extLst>
          </p:cNvPr>
          <p:cNvGrpSpPr/>
          <p:nvPr/>
        </p:nvGrpSpPr>
        <p:grpSpPr>
          <a:xfrm>
            <a:off x="731520" y="2894604"/>
            <a:ext cx="3259233" cy="320040"/>
            <a:chOff x="731520" y="2596896"/>
            <a:chExt cx="3259233" cy="320040"/>
          </a:xfrm>
        </p:grpSpPr>
        <p:pic>
          <p:nvPicPr>
            <p:cNvPr id="12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1520" y="2596896"/>
              <a:ext cx="320040" cy="320040"/>
            </a:xfrm>
            <a:prstGeom prst="rect">
              <a:avLst/>
            </a:prstGeom>
          </p:spPr>
        </p:pic>
        <p:sp>
          <p:nvSpPr>
            <p:cNvPr id="13" name="Text 6"/>
            <p:cNvSpPr/>
            <p:nvPr/>
          </p:nvSpPr>
          <p:spPr>
            <a:xfrm>
              <a:off x="1188720" y="2624328"/>
              <a:ext cx="2802033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A1A1A"/>
                  </a:solidFill>
                </a:rPr>
                <a:t>Mejor relación con desarrolladores</a:t>
              </a:r>
              <a:endParaRPr lang="en-US" sz="1300" dirty="0"/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F40E2F87-8598-F261-65B9-E34916C7782A}"/>
              </a:ext>
            </a:extLst>
          </p:cNvPr>
          <p:cNvGrpSpPr/>
          <p:nvPr/>
        </p:nvGrpSpPr>
        <p:grpSpPr>
          <a:xfrm>
            <a:off x="731520" y="3409785"/>
            <a:ext cx="3259233" cy="320040"/>
            <a:chOff x="731520" y="2980944"/>
            <a:chExt cx="3259233" cy="320040"/>
          </a:xfrm>
        </p:grpSpPr>
        <p:pic>
          <p:nvPicPr>
            <p:cNvPr id="14" name="Image 5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2980944"/>
              <a:ext cx="320040" cy="320040"/>
            </a:xfrm>
            <a:prstGeom prst="rect">
              <a:avLst/>
            </a:prstGeom>
          </p:spPr>
        </p:pic>
        <p:sp>
          <p:nvSpPr>
            <p:cNvPr id="15" name="Text 7"/>
            <p:cNvSpPr/>
            <p:nvPr/>
          </p:nvSpPr>
          <p:spPr>
            <a:xfrm>
              <a:off x="1188720" y="3008376"/>
              <a:ext cx="2802033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A1A1A"/>
                  </a:solidFill>
                </a:rPr>
                <a:t>Conocimiento acumulado del equipo</a:t>
              </a:r>
              <a:endParaRPr lang="en-US" sz="1300" dirty="0"/>
            </a:p>
          </p:txBody>
        </p: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475BF717-6A81-A383-1A59-ACAD95911870}"/>
              </a:ext>
            </a:extLst>
          </p:cNvPr>
          <p:cNvGrpSpPr/>
          <p:nvPr/>
        </p:nvGrpSpPr>
        <p:grpSpPr>
          <a:xfrm>
            <a:off x="731520" y="3924966"/>
            <a:ext cx="3259233" cy="320040"/>
            <a:chOff x="731520" y="3889524"/>
            <a:chExt cx="3259233" cy="320040"/>
          </a:xfrm>
        </p:grpSpPr>
        <p:pic>
          <p:nvPicPr>
            <p:cNvPr id="16" name="Image 6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1520" y="3889524"/>
              <a:ext cx="320040" cy="320040"/>
            </a:xfrm>
            <a:prstGeom prst="rect">
              <a:avLst/>
            </a:prstGeom>
          </p:spPr>
        </p:pic>
        <p:sp>
          <p:nvSpPr>
            <p:cNvPr id="17" name="Text 8"/>
            <p:cNvSpPr/>
            <p:nvPr/>
          </p:nvSpPr>
          <p:spPr>
            <a:xfrm>
              <a:off x="1188720" y="3916956"/>
              <a:ext cx="2802033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 err="1">
                  <a:solidFill>
                    <a:srgbClr val="1A1A1A"/>
                  </a:solidFill>
                </a:rPr>
                <a:t>Protección</a:t>
              </a:r>
              <a:r>
                <a:rPr lang="en-US" sz="1300" dirty="0">
                  <a:solidFill>
                    <a:srgbClr val="1A1A1A"/>
                  </a:solidFill>
                </a:rPr>
                <a:t> del negocio y datos</a:t>
              </a:r>
              <a:endParaRPr lang="en-US" sz="1300" dirty="0"/>
            </a:p>
          </p:txBody>
        </p:sp>
      </p:grpSp>
      <p:sp>
        <p:nvSpPr>
          <p:cNvPr id="18" name="Text 9"/>
          <p:cNvSpPr/>
          <p:nvPr/>
        </p:nvSpPr>
        <p:spPr>
          <a:xfrm>
            <a:off x="4572000" y="1856937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14F5A"/>
                </a:solidFill>
              </a:rPr>
              <a:t>Implementación Gradual:</a:t>
            </a:r>
            <a:endParaRPr lang="en-US" sz="1600" dirty="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23F30B4F-C5D9-40ED-6CA1-6DAE984625EB}"/>
              </a:ext>
            </a:extLst>
          </p:cNvPr>
          <p:cNvGrpSpPr/>
          <p:nvPr/>
        </p:nvGrpSpPr>
        <p:grpSpPr>
          <a:xfrm>
            <a:off x="5440680" y="2260620"/>
            <a:ext cx="2377440" cy="548640"/>
            <a:chOff x="5515462" y="2260620"/>
            <a:chExt cx="2377440" cy="548640"/>
          </a:xfrm>
        </p:grpSpPr>
        <p:sp>
          <p:nvSpPr>
            <p:cNvPr id="19" name="Shape 10"/>
            <p:cNvSpPr/>
            <p:nvPr/>
          </p:nvSpPr>
          <p:spPr>
            <a:xfrm>
              <a:off x="5515462" y="2260620"/>
              <a:ext cx="2377440" cy="548640"/>
            </a:xfrm>
            <a:prstGeom prst="rect">
              <a:avLst/>
            </a:prstGeom>
            <a:solidFill>
              <a:srgbClr val="D1FAE5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20" name="Image 7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52622" y="2352060"/>
              <a:ext cx="365760" cy="365760"/>
            </a:xfrm>
            <a:prstGeom prst="rect">
              <a:avLst/>
            </a:prstGeom>
          </p:spPr>
        </p:pic>
        <p:sp>
          <p:nvSpPr>
            <p:cNvPr id="21" name="Text 11"/>
            <p:cNvSpPr/>
            <p:nvPr/>
          </p:nvSpPr>
          <p:spPr>
            <a:xfrm>
              <a:off x="6155542" y="2333772"/>
              <a:ext cx="17373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Fase 1</a:t>
              </a:r>
              <a:endParaRPr lang="en-US" sz="1200" dirty="0"/>
            </a:p>
          </p:txBody>
        </p:sp>
        <p:sp>
          <p:nvSpPr>
            <p:cNvPr id="22" name="Text 12"/>
            <p:cNvSpPr/>
            <p:nvPr/>
          </p:nvSpPr>
          <p:spPr>
            <a:xfrm>
              <a:off x="6155542" y="2534940"/>
              <a:ext cx="17373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1A1A"/>
                  </a:solidFill>
                </a:rPr>
                <a:t>Sem 1-2 - Básico</a:t>
              </a:r>
              <a:endParaRPr lang="en-US" sz="1000" dirty="0"/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C5B09DCC-09A0-F8E7-6C9F-4793EFF26ED0}"/>
              </a:ext>
            </a:extLst>
          </p:cNvPr>
          <p:cNvGrpSpPr/>
          <p:nvPr/>
        </p:nvGrpSpPr>
        <p:grpSpPr>
          <a:xfrm>
            <a:off x="5440680" y="3008904"/>
            <a:ext cx="2377440" cy="548640"/>
            <a:chOff x="5515462" y="3008904"/>
            <a:chExt cx="2377440" cy="548640"/>
          </a:xfrm>
        </p:grpSpPr>
        <p:sp>
          <p:nvSpPr>
            <p:cNvPr id="23" name="Shape 13"/>
            <p:cNvSpPr/>
            <p:nvPr/>
          </p:nvSpPr>
          <p:spPr>
            <a:xfrm>
              <a:off x="5515462" y="3008904"/>
              <a:ext cx="2377440" cy="548640"/>
            </a:xfrm>
            <a:prstGeom prst="rect">
              <a:avLst/>
            </a:prstGeom>
            <a:solidFill>
              <a:srgbClr val="FEF3C7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24" name="Image 8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652622" y="3100344"/>
              <a:ext cx="365760" cy="365760"/>
            </a:xfrm>
            <a:prstGeom prst="rect">
              <a:avLst/>
            </a:prstGeom>
          </p:spPr>
        </p:pic>
        <p:sp>
          <p:nvSpPr>
            <p:cNvPr id="25" name="Text 14"/>
            <p:cNvSpPr/>
            <p:nvPr/>
          </p:nvSpPr>
          <p:spPr>
            <a:xfrm>
              <a:off x="6155542" y="3082056"/>
              <a:ext cx="17373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Fase 2</a:t>
              </a:r>
              <a:endParaRPr lang="en-US" sz="1200" dirty="0"/>
            </a:p>
          </p:txBody>
        </p:sp>
        <p:sp>
          <p:nvSpPr>
            <p:cNvPr id="26" name="Text 15"/>
            <p:cNvSpPr/>
            <p:nvPr/>
          </p:nvSpPr>
          <p:spPr>
            <a:xfrm>
              <a:off x="6155542" y="3283224"/>
              <a:ext cx="17373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1A1A"/>
                  </a:solidFill>
                </a:rPr>
                <a:t>Sem 3-4 - Intermedio</a:t>
              </a:r>
              <a:endParaRPr lang="en-US" sz="1000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4D48FA04-9BB2-A3CC-0528-684B0A57A7A4}"/>
              </a:ext>
            </a:extLst>
          </p:cNvPr>
          <p:cNvGrpSpPr/>
          <p:nvPr/>
        </p:nvGrpSpPr>
        <p:grpSpPr>
          <a:xfrm>
            <a:off x="5440680" y="3757188"/>
            <a:ext cx="2377440" cy="548640"/>
            <a:chOff x="5515462" y="3757188"/>
            <a:chExt cx="2377440" cy="548640"/>
          </a:xfrm>
        </p:grpSpPr>
        <p:sp>
          <p:nvSpPr>
            <p:cNvPr id="27" name="Shape 16"/>
            <p:cNvSpPr/>
            <p:nvPr/>
          </p:nvSpPr>
          <p:spPr>
            <a:xfrm>
              <a:off x="5515462" y="3757188"/>
              <a:ext cx="2377440" cy="548640"/>
            </a:xfrm>
            <a:prstGeom prst="rect">
              <a:avLst/>
            </a:prstGeom>
            <a:solidFill>
              <a:srgbClr val="DBEAFE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28" name="Image 9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652622" y="3848628"/>
              <a:ext cx="365760" cy="365760"/>
            </a:xfrm>
            <a:prstGeom prst="rect">
              <a:avLst/>
            </a:prstGeom>
          </p:spPr>
        </p:pic>
        <p:sp>
          <p:nvSpPr>
            <p:cNvPr id="29" name="Text 17"/>
            <p:cNvSpPr/>
            <p:nvPr/>
          </p:nvSpPr>
          <p:spPr>
            <a:xfrm>
              <a:off x="6155542" y="3830340"/>
              <a:ext cx="17373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1A1A"/>
                  </a:solidFill>
                </a:rPr>
                <a:t>Fase 3</a:t>
              </a:r>
              <a:endParaRPr lang="en-US" sz="1200" dirty="0"/>
            </a:p>
          </p:txBody>
        </p:sp>
        <p:sp>
          <p:nvSpPr>
            <p:cNvPr id="30" name="Text 18"/>
            <p:cNvSpPr/>
            <p:nvPr/>
          </p:nvSpPr>
          <p:spPr>
            <a:xfrm>
              <a:off x="6155542" y="4031508"/>
              <a:ext cx="17373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1A1A1A"/>
                  </a:solidFill>
                </a:rPr>
                <a:t>Mes 2+ - Avanzado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gradFill flip="none" rotWithShape="1">
          <a:gsLst>
            <a:gs pos="2000">
              <a:srgbClr val="46C2CE"/>
            </a:gs>
            <a:gs pos="100000">
              <a:srgbClr val="263980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35B08A6A-02AD-BFB4-194F-D1A47117C0F9}"/>
              </a:ext>
            </a:extLst>
          </p:cNvPr>
          <p:cNvGrpSpPr/>
          <p:nvPr/>
        </p:nvGrpSpPr>
        <p:grpSpPr>
          <a:xfrm>
            <a:off x="457200" y="514350"/>
            <a:ext cx="8229600" cy="4114800"/>
            <a:chOff x="457200" y="822960"/>
            <a:chExt cx="8229600" cy="4114800"/>
          </a:xfrm>
        </p:grpSpPr>
        <p:sp>
          <p:nvSpPr>
            <p:cNvPr id="2" name="Shape 0"/>
            <p:cNvSpPr/>
            <p:nvPr/>
          </p:nvSpPr>
          <p:spPr>
            <a:xfrm>
              <a:off x="3657600" y="822960"/>
              <a:ext cx="1828800" cy="182880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s-MX"/>
            </a:p>
          </p:txBody>
        </p:sp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4800" y="1280160"/>
              <a:ext cx="914400" cy="914400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457200" y="283464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800" dirty="0">
                  <a:solidFill>
                    <a:srgbClr val="FFFFFF"/>
                  </a:solidFill>
                </a:rPr>
                <a:t>La calidad del software</a:t>
              </a:r>
              <a:endParaRPr lang="en-US" sz="28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457200" y="3383280"/>
              <a:ext cx="82296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200" b="1" dirty="0">
                  <a:solidFill>
                    <a:srgbClr val="02C39A"/>
                  </a:solidFill>
                </a:rPr>
                <a:t>NO ES ACCIDENTE</a:t>
              </a:r>
              <a:endParaRPr lang="en-US" sz="4200" dirty="0"/>
            </a:p>
          </p:txBody>
        </p:sp>
        <p:sp>
          <p:nvSpPr>
            <p:cNvPr id="6" name="Shape 3"/>
            <p:cNvSpPr/>
            <p:nvPr/>
          </p:nvSpPr>
          <p:spPr>
            <a:xfrm>
              <a:off x="1828800" y="4206240"/>
              <a:ext cx="5486400" cy="45720"/>
            </a:xfrm>
            <a:prstGeom prst="rect">
              <a:avLst/>
            </a:prstGeom>
            <a:solidFill>
              <a:srgbClr val="02C39A"/>
            </a:solidFill>
            <a:ln/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 4"/>
            <p:cNvSpPr/>
            <p:nvPr/>
          </p:nvSpPr>
          <p:spPr>
            <a:xfrm>
              <a:off x="457200" y="4389120"/>
              <a:ext cx="8229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</a:rPr>
                <a:t>Sunname Technologies</a:t>
              </a:r>
              <a:endParaRPr lang="en-US" sz="18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457200" y="4663440"/>
              <a:ext cx="8229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02C39A"/>
                  </a:solidFill>
                </a:rPr>
                <a:t>¡Éxito en sus proyectos!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1555</TotalTime>
  <Words>1216</Words>
  <Application>Microsoft Office PowerPoint</Application>
  <PresentationFormat>Presentación en pantalla (16:9)</PresentationFormat>
  <Paragraphs>318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Guía de Pruebas para Módulos de Odoo</dc:title>
  <dc:subject>PptxGenJS Presentation</dc:subject>
  <dc:creator>Sunname Technologies</dc:creator>
  <cp:lastModifiedBy>Eduardo Acevedo Garcia</cp:lastModifiedBy>
  <cp:revision>5</cp:revision>
  <dcterms:created xsi:type="dcterms:W3CDTF">2026-02-15T16:20:38Z</dcterms:created>
  <dcterms:modified xsi:type="dcterms:W3CDTF">2026-02-17T16:27:47Z</dcterms:modified>
</cp:coreProperties>
</file>