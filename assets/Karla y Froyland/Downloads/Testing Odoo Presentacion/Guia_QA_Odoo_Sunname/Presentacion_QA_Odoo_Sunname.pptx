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6398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ASSURANCE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457200" y="2377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46C2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Módulos de Odoo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30175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 Funcional y Técnico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Sunname Technologies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82880" y="182880"/>
            <a:ext cx="1371600" cy="1371600"/>
          </a:xfrm>
          <a:prstGeom prst="ellipse">
            <a:avLst/>
          </a:prstGeom>
          <a:solidFill>
            <a:srgbClr val="7F52A0">
              <a:alpha val="3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772400" y="3657600"/>
            <a:ext cx="1097280" cy="1097280"/>
          </a:xfrm>
          <a:prstGeom prst="ellipse">
            <a:avLst/>
          </a:prstGeom>
          <a:solidFill>
            <a:srgbClr val="7F52A0">
              <a:alpha val="30000"/>
            </a:srgbClr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639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Desafío de Sunname Technologies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731520" y="1097280"/>
            <a:ext cx="1097280" cy="1097280"/>
          </a:xfrm>
          <a:prstGeom prst="ellipse">
            <a:avLst/>
          </a:prstGeom>
          <a:solidFill>
            <a:srgbClr val="FFF3CD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9728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⚠️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457200" y="228600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639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Desarrollo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2639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Externo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743200" y="1097280"/>
            <a:ext cx="5943600" cy="640080"/>
          </a:xfrm>
          <a:prstGeom prst="rect">
            <a:avLst/>
          </a:prstGeom>
          <a:solidFill>
            <a:srgbClr val="F5F5F5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926080" y="1097280"/>
            <a:ext cx="5577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Diferentes niveles de experiencia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743200" y="1874520"/>
            <a:ext cx="5943600" cy="640080"/>
          </a:xfrm>
          <a:prstGeom prst="rect">
            <a:avLst/>
          </a:prstGeom>
          <a:solidFill>
            <a:srgbClr val="F5F5F5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926080" y="1874520"/>
            <a:ext cx="5577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Código que funciona... aparentemente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743200" y="2651760"/>
            <a:ext cx="5943600" cy="640080"/>
          </a:xfrm>
          <a:prstGeom prst="rect">
            <a:avLst/>
          </a:prstGeom>
          <a:solidFill>
            <a:srgbClr val="F5F5F5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926080" y="2651760"/>
            <a:ext cx="5577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Errores ocultos en producción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2743200" y="3429000"/>
            <a:ext cx="5943600" cy="640080"/>
          </a:xfrm>
          <a:prstGeom prst="rect">
            <a:avLst/>
          </a:prstGeom>
          <a:solidFill>
            <a:srgbClr val="F5F5F5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926080" y="3429000"/>
            <a:ext cx="5577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Calidad inconsistente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639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Solución: QA Sistemático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1097280" y="1188720"/>
            <a:ext cx="914400" cy="914400"/>
          </a:xfrm>
          <a:prstGeom prst="ellipse">
            <a:avLst/>
          </a:prstGeom>
          <a:solidFill>
            <a:srgbClr val="46C2CE"/>
          </a:solidFill>
          <a:ln/>
        </p:spPr>
      </p:sp>
      <p:sp>
        <p:nvSpPr>
          <p:cNvPr id="4" name="Text 2"/>
          <p:cNvSpPr/>
          <p:nvPr/>
        </p:nvSpPr>
        <p:spPr>
          <a:xfrm>
            <a:off x="1097280" y="118872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📋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31520" y="22860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639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Estandarizar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274320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Protocolos claros y reproducibles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840480" y="1188720"/>
            <a:ext cx="914400" cy="914400"/>
          </a:xfrm>
          <a:prstGeom prst="ellipse">
            <a:avLst/>
          </a:prstGeom>
          <a:solidFill>
            <a:srgbClr val="7F52A0"/>
          </a:solidFill>
          <a:ln/>
        </p:spPr>
      </p:sp>
      <p:sp>
        <p:nvSpPr>
          <p:cNvPr id="8" name="Text 6"/>
          <p:cNvSpPr/>
          <p:nvPr/>
        </p:nvSpPr>
        <p:spPr>
          <a:xfrm>
            <a:off x="3840480" y="118872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🛡️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3474720" y="22860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639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Prevenir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291840" y="274320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Detectar errores antes de producción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583680" y="1188720"/>
            <a:ext cx="914400" cy="914400"/>
          </a:xfrm>
          <a:prstGeom prst="ellipse">
            <a:avLst/>
          </a:prstGeom>
          <a:solidFill>
            <a:srgbClr val="46C2CE"/>
          </a:solidFill>
          <a:ln/>
        </p:spPr>
      </p:sp>
      <p:sp>
        <p:nvSpPr>
          <p:cNvPr id="12" name="Text 10"/>
          <p:cNvSpPr/>
          <p:nvPr/>
        </p:nvSpPr>
        <p:spPr>
          <a:xfrm>
            <a:off x="6583680" y="118872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📚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6217920" y="22860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639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Educar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035040" y="274320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Capacitar al equipo continuamente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C1A5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46C2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PARTE 1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9202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GUÍA PARA CONSULTORES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7F52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 Funcional sin Conocimientos Técnicos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0" y="3566160"/>
            <a:ext cx="3657600" cy="45720"/>
          </a:xfrm>
          <a:prstGeom prst="rect">
            <a:avLst/>
          </a:prstGeom>
          <a:solidFill>
            <a:srgbClr val="46C2CE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639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Experiencia de Usuario (UI/UX)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7F52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basta con que funcione, debe ser usable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3657600" cy="1371600"/>
          </a:xfrm>
          <a:prstGeom prst="rect">
            <a:avLst/>
          </a:prstGeom>
          <a:solidFill>
            <a:srgbClr val="F5F5F5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05840" y="1554480"/>
            <a:ext cx="548640" cy="548640"/>
          </a:xfrm>
          <a:prstGeom prst="ellipse">
            <a:avLst/>
          </a:prstGeom>
          <a:solidFill>
            <a:srgbClr val="46C2CE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5544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🔍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645920" y="16002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639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Búsqueda y Filtros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214884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Todo campo debe ser buscable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029200" y="1371600"/>
            <a:ext cx="3657600" cy="1371600"/>
          </a:xfrm>
          <a:prstGeom prst="rect">
            <a:avLst/>
          </a:prstGeom>
          <a:solidFill>
            <a:srgbClr val="F5F5F5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303520" y="1554480"/>
            <a:ext cx="548640" cy="548640"/>
          </a:xfrm>
          <a:prstGeom prst="ellipse">
            <a:avLst/>
          </a:prstGeom>
          <a:solidFill>
            <a:srgbClr val="7F52A0"/>
          </a:solidFill>
          <a:ln/>
        </p:spPr>
      </p:sp>
      <p:sp>
        <p:nvSpPr>
          <p:cNvPr id="11" name="Text 9"/>
          <p:cNvSpPr/>
          <p:nvPr/>
        </p:nvSpPr>
        <p:spPr>
          <a:xfrm>
            <a:off x="5303520" y="15544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📋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5943600" y="16002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639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Vistas de Lista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303520" y="214884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 clave visible sin abrir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31520" y="3017520"/>
            <a:ext cx="3657600" cy="1371600"/>
          </a:xfrm>
          <a:prstGeom prst="rect">
            <a:avLst/>
          </a:prstGeom>
          <a:solidFill>
            <a:srgbClr val="F5F5F5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005840" y="3200400"/>
            <a:ext cx="548640" cy="548640"/>
          </a:xfrm>
          <a:prstGeom prst="ellipse">
            <a:avLst/>
          </a:prstGeom>
          <a:solidFill>
            <a:srgbClr val="46C2CE"/>
          </a:solidFill>
          <a:ln/>
        </p:spPr>
      </p:sp>
      <p:sp>
        <p:nvSpPr>
          <p:cNvPr id="16" name="Text 14"/>
          <p:cNvSpPr/>
          <p:nvPr/>
        </p:nvSpPr>
        <p:spPr>
          <a:xfrm>
            <a:off x="1005840" y="32004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💬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645920" y="32461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639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Tooltips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05840" y="379476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Ayudas en campos complejos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029200" y="3017520"/>
            <a:ext cx="3657600" cy="1371600"/>
          </a:xfrm>
          <a:prstGeom prst="rect">
            <a:avLst/>
          </a:prstGeom>
          <a:solidFill>
            <a:srgbClr val="F5F5F5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303520" y="3200400"/>
            <a:ext cx="548640" cy="548640"/>
          </a:xfrm>
          <a:prstGeom prst="ellipse">
            <a:avLst/>
          </a:prstGeom>
          <a:solidFill>
            <a:srgbClr val="7F52A0"/>
          </a:solidFill>
          <a:ln/>
        </p:spPr>
      </p:sp>
      <p:sp>
        <p:nvSpPr>
          <p:cNvPr id="21" name="Text 19"/>
          <p:cNvSpPr/>
          <p:nvPr/>
        </p:nvSpPr>
        <p:spPr>
          <a:xfrm>
            <a:off x="5303520" y="32004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✨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5943600" y="32461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639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Valores por Defecto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303520" y="379476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Campos prellenados automáticamente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639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Flujos de Negocio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4114800" cy="457200"/>
          </a:xfrm>
          <a:prstGeom prst="rect">
            <a:avLst/>
          </a:prstGeom>
          <a:solidFill>
            <a:srgbClr val="D1ECF1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0584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639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Happy Path ✅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Crear cotización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93852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Agregar productos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322576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Confirmar orden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706624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Validar entrega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309067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Crear factura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347472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Registrar pago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828800" y="384048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rgbClr val="46C2CE"/>
                </a:solidFill>
              </a:rPr>
              <a:t>✓</a:t>
            </a:r>
            <a:endParaRPr lang="en-US" sz="6000" dirty="0"/>
          </a:p>
        </p:txBody>
      </p:sp>
      <p:sp>
        <p:nvSpPr>
          <p:cNvPr id="12" name="Shape 10"/>
          <p:cNvSpPr/>
          <p:nvPr/>
        </p:nvSpPr>
        <p:spPr>
          <a:xfrm>
            <a:off x="5029200" y="1005840"/>
            <a:ext cx="4114800" cy="457200"/>
          </a:xfrm>
          <a:prstGeom prst="rect">
            <a:avLst/>
          </a:prstGeom>
          <a:solidFill>
            <a:srgbClr val="FFF3CD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0" y="100584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639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Unhappy Path ⚠️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212080" y="15544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Cancelar a mitad de flujo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212080" y="193852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Revertir estados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212080" y="2322576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Eliminar relaciones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212080" y="2706624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Editar después de confirmar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212080" y="309067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Duplicar registros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212080" y="347472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Cambiar valores críticos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00800" y="384048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rgbClr val="000000"/>
                </a:solidFill>
              </a:rPr>
              <a:t>⚠️</a:t>
            </a:r>
            <a:endParaRPr lang="en-US" sz="6000" dirty="0"/>
          </a:p>
        </p:txBody>
      </p:sp>
      <p:sp>
        <p:nvSpPr>
          <p:cNvPr id="21" name="Shape 19"/>
          <p:cNvSpPr/>
          <p:nvPr/>
        </p:nvSpPr>
        <p:spPr>
          <a:xfrm>
            <a:off x="4572000" y="1005840"/>
            <a:ext cx="0" cy="3200400"/>
          </a:xfrm>
          <a:prstGeom prst="line">
            <a:avLst/>
          </a:prstGeom>
          <a:noFill/>
          <a:ln w="25400">
            <a:solidFill>
              <a:srgbClr val="7F52A0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639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Validaciones Críticas</a:t>
            </a:r>
            <a:endParaRPr lang="en-US" sz="4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097280"/>
          <a:ext cx="768096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3200400"/>
                <a:gridCol w="31089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Tipo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98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Qué Probar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98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Error Común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98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Stock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Vender más de disponible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C00000"/>
                          </a:solidFill>
                        </a:rPr>
                        <a:t>Permite stock negativo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Fechas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Entrega antes de pedido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C00000"/>
                          </a:solidFill>
                        </a:rPr>
                        <a:t>No valida lógica temporal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Números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Negativos, cero, decimales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C00000"/>
                          </a:solidFill>
                        </a:rPr>
                        <a:t>Acepta -100 en cantidad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Duplicados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Mismo código/RFC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C00000"/>
                          </a:solidFill>
                        </a:rPr>
                        <a:t>No valida unicidad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Permisos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Usuario sin acceso edita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C00000"/>
                          </a:solidFill>
                        </a:rPr>
                        <a:t>Falta record rules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639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Facturación Electrónica SAT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46C2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🇲🇽 Validación Crítica para México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914400" y="1280160"/>
            <a:ext cx="7315200" cy="2011680"/>
          </a:xfrm>
          <a:prstGeom prst="rect">
            <a:avLst/>
          </a:prstGeom>
          <a:solidFill>
            <a:srgbClr val="FFF3CD"/>
          </a:solidFill>
          <a:ln w="38100">
            <a:solidFill>
              <a:srgbClr val="26398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371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639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Checklist XML CFDI 4.0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371600" y="1828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□ Estructura correcta (Emisor, Receptor, Conceptos)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71600" y="212140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□ Cálculos exactos al centavo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71600" y="241401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□ Sin errores de redondeo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71600" y="2706624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□ Catálogos SAT válidos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71600" y="299923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□ Porcentajes en formato decimal (0.16 no 16)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914400" y="3474720"/>
            <a:ext cx="3474720" cy="914400"/>
          </a:xfrm>
          <a:prstGeom prst="rect">
            <a:avLst/>
          </a:prstGeom>
          <a:solidFill>
            <a:srgbClr val="D1ECF1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097280" y="356616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39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Datos Obligatorios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97280" y="388620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RFC, Régimen Fiscal, CP, Uso CFDI, Forma de Pago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754880" y="3474720"/>
            <a:ext cx="3474720" cy="914400"/>
          </a:xfrm>
          <a:prstGeom prst="rect">
            <a:avLst/>
          </a:prstGeom>
          <a:solidFill>
            <a:srgbClr val="D1ECF1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937760" y="356616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39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Validación RFC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937760" y="388620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checksum, no solo conteo de caracteres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639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Seguridad y Permisos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914400" y="1097280"/>
            <a:ext cx="914400" cy="914400"/>
          </a:xfrm>
          <a:prstGeom prst="ellipse">
            <a:avLst/>
          </a:prstGeom>
          <a:solidFill>
            <a:srgbClr val="263980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09728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👑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210312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639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242316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total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926080" y="1097280"/>
            <a:ext cx="914400" cy="914400"/>
          </a:xfrm>
          <a:prstGeom prst="ellipse">
            <a:avLst/>
          </a:prstGeom>
          <a:solidFill>
            <a:srgbClr val="46C2CE"/>
          </a:solidFill>
          <a:ln/>
        </p:spPr>
      </p:sp>
      <p:sp>
        <p:nvSpPr>
          <p:cNvPr id="8" name="Text 6"/>
          <p:cNvSpPr/>
          <p:nvPr/>
        </p:nvSpPr>
        <p:spPr>
          <a:xfrm>
            <a:off x="2926080" y="109728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👤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2651760" y="210312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639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Usuario Regular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651760" y="242316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Permisos estándar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937760" y="1097280"/>
            <a:ext cx="914400" cy="914400"/>
          </a:xfrm>
          <a:prstGeom prst="ellipse">
            <a:avLst/>
          </a:prstGeom>
          <a:solidFill>
            <a:srgbClr val="7F52A0"/>
          </a:solidFill>
          <a:ln/>
        </p:spPr>
      </p:sp>
      <p:sp>
        <p:nvSpPr>
          <p:cNvPr id="12" name="Text 10"/>
          <p:cNvSpPr/>
          <p:nvPr/>
        </p:nvSpPr>
        <p:spPr>
          <a:xfrm>
            <a:off x="4937760" y="109728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👁️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4663440" y="210312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639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Solo Lectura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663440" y="242316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 sin modificar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949440" y="1097280"/>
            <a:ext cx="914400" cy="914400"/>
          </a:xfrm>
          <a:prstGeom prst="ellipse">
            <a:avLst/>
          </a:prstGeom>
          <a:solidFill>
            <a:srgbClr val="46C2CE"/>
          </a:solidFill>
          <a:ln/>
        </p:spPr>
      </p:sp>
      <p:sp>
        <p:nvSpPr>
          <p:cNvPr id="16" name="Text 14"/>
          <p:cNvSpPr/>
          <p:nvPr/>
        </p:nvSpPr>
        <p:spPr>
          <a:xfrm>
            <a:off x="6949440" y="109728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🌐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6675120" y="210312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639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Portal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675120" y="242316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externo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371600" y="3200400"/>
            <a:ext cx="6400800" cy="1097280"/>
          </a:xfrm>
          <a:prstGeom prst="rect">
            <a:avLst/>
          </a:prstGeom>
          <a:solidFill>
            <a:srgbClr val="FFF3CD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1645920" y="3337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⚠️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2286000" y="33832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639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Chatter = Auditoría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2286000" y="37947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Todo cambio en campos críticos debe registrarse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639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Checklist Final - Consultores</a:t>
            </a:r>
            <a:endParaRPr lang="en-US" sz="4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914400"/>
          <a:ext cx="7315200" cy="914400"/>
        </p:xfrm>
        <a:graphic>
          <a:graphicData uri="http://schemas.openxmlformats.org/drawingml/2006/table">
            <a:tbl>
              <a:tblPr/>
              <a:tblGrid>
                <a:gridCol w="5852160"/>
                <a:gridCol w="14630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Aspecto a Validar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98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Estado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98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Búsqueda y filtros funcionan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☐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Vista de lista clara y navegable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☐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Valores por defecto lógicos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☐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Happy path funciona completo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☐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Cancelaciones no corrompen datos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☐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Validaciones previenen errores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☐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XML CFDI correcto (si aplica)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☐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Reportes precisos y exportables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☐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Permisos por rol funcionan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☐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Chatter registra cambios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☐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914400" y="43891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F52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más de 2 items fallan → RECHAZAR módulo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6398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46C2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PARTE 2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9202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GUÍA PARA DESARROLLADORES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7F52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Análisis Técnico y Revisión de Código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0" y="3566160"/>
            <a:ext cx="3657600" cy="45720"/>
          </a:xfrm>
          <a:prstGeom prst="rect">
            <a:avLst/>
          </a:prstGeom>
          <a:solidFill>
            <a:srgbClr val="46C2CE"/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639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Estructura del Módulo Odoo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731520" y="1005840"/>
            <a:ext cx="3657600" cy="3200400"/>
          </a:xfrm>
          <a:prstGeom prst="rect">
            <a:avLst/>
          </a:prstGeom>
          <a:solidFill>
            <a:srgbClr val="F5F5F5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914400" y="118872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📁 nombre_modulo/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14400" y="150876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📄 __manifest__.py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18288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📁 models/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21488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📁 views/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246888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📁 security/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278892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📁 data/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310896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📁 report/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14400" y="34290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📁 static/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14400" y="37490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📁 tests/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46320" y="11887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6C2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Carpetas organizadas por tipo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846320" y="16459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6C2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Archivos __init__.py presentes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846320" y="21031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6C2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Nombres en snake_case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846320" y="25603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6C2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Sin archivos huérfanos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846320" y="2926080"/>
            <a:ext cx="3840480" cy="1280160"/>
          </a:xfrm>
          <a:prstGeom prst="rect">
            <a:avLst/>
          </a:prstGeom>
          <a:solidFill>
            <a:srgbClr val="D1ECF1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029200" y="30632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639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Manifest Crítico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029200" y="342900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Revisa depends - si importa algo, debe estar declarado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639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Herencia Correcta en Odoo</a:t>
            </a:r>
            <a:endParaRPr lang="en-US" sz="40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914400"/>
          <a:ext cx="768096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3017520"/>
                <a:gridCol w="30175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Tipo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98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Cuándo Usar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98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Ejemplo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98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_inherit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Extender modelo existente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Agregar campo a sale.order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_name + _inherit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Nuevo modelo con base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Modelo con mail.thread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_inherits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Delegar campos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res.users → res.partner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914400" y="2560320"/>
            <a:ext cx="7315200" cy="1828800"/>
          </a:xfrm>
          <a:prstGeom prst="rect">
            <a:avLst/>
          </a:prstGeom>
          <a:solidFill>
            <a:srgbClr val="FFE6E6"/>
          </a:solidFill>
          <a:ln w="38100">
            <a:solidFill>
              <a:srgbClr val="C0000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1188720" y="2697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⚠️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1828800" y="269748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 CRÍTICO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1371600" y="32004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llamar super() en create/write/unlink ROMPE: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645920" y="3520440"/>
            <a:ext cx="5669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Contabilidad automática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645920" y="3776472"/>
            <a:ext cx="5669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Logs de auditoría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645920" y="4032504"/>
            <a:ext cx="5669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Secuencias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645920" y="4288536"/>
            <a:ext cx="5669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Integridad de datos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639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Problema N+1: El Asesino Silencioso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4023360" cy="365760"/>
          </a:xfrm>
          <a:prstGeom prst="rect">
            <a:avLst/>
          </a:prstGeom>
          <a:solidFill>
            <a:srgbClr val="FFE6E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1440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MALO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4023360" cy="1371600"/>
          </a:xfrm>
          <a:prstGeom prst="rect">
            <a:avLst/>
          </a:prstGeom>
          <a:solidFill>
            <a:srgbClr val="2C1A56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50876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order in orders:
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partner = env['res.partner']
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.browse(order.partner_id)
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print(partner.name)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283464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🐌 1000 órdenes = 1001 queries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0" y="914400"/>
            <a:ext cx="4023360" cy="365760"/>
          </a:xfrm>
          <a:prstGeom prst="rect">
            <a:avLst/>
          </a:prstGeom>
          <a:solidFill>
            <a:srgbClr val="E6FFE6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0" y="91440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BIEN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5029200" y="1371600"/>
            <a:ext cx="4023360" cy="1371600"/>
          </a:xfrm>
          <a:prstGeom prst="rect">
            <a:avLst/>
          </a:prstGeom>
          <a:solidFill>
            <a:srgbClr val="263980"/>
          </a:solidFill>
          <a:ln/>
        </p:spPr>
      </p:sp>
      <p:sp>
        <p:nvSpPr>
          <p:cNvPr id="11" name="Text 9"/>
          <p:cNvSpPr/>
          <p:nvPr/>
        </p:nvSpPr>
        <p:spPr>
          <a:xfrm>
            <a:off x="5212080" y="150876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order in orders:
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Prefetch automático
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print(order.partner_id.name)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0" y="283464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8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🚀 1000 órdenes = 2 queries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297680" y="1828800"/>
            <a:ext cx="640080" cy="457200"/>
          </a:xfrm>
          <a:prstGeom prst="rightArrow">
            <a:avLst/>
          </a:prstGeom>
          <a:solidFill>
            <a:srgbClr val="46C2CE"/>
          </a:solidFill>
          <a:ln/>
        </p:spPr>
      </p:sp>
      <p:sp>
        <p:nvSpPr>
          <p:cNvPr id="14" name="Shape 12"/>
          <p:cNvSpPr/>
          <p:nvPr/>
        </p:nvSpPr>
        <p:spPr>
          <a:xfrm>
            <a:off x="1371600" y="3474720"/>
            <a:ext cx="6400800" cy="731520"/>
          </a:xfrm>
          <a:prstGeom prst="rect">
            <a:avLst/>
          </a:prstGeom>
          <a:solidFill>
            <a:srgbClr val="D1ECF1"/>
          </a:solidFill>
          <a:ln/>
        </p:spPr>
      </p:sp>
      <p:sp>
        <p:nvSpPr>
          <p:cNvPr id="15" name="Text 13"/>
          <p:cNvSpPr/>
          <p:nvPr/>
        </p:nvSpPr>
        <p:spPr>
          <a:xfrm>
            <a:off x="1554480" y="3611880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TIP: Activa el profiler en modo debug para detectar N+1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639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Campos Calculados (Computed Fields)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914400" y="1097280"/>
            <a:ext cx="3657600" cy="914400"/>
          </a:xfrm>
          <a:prstGeom prst="rect">
            <a:avLst/>
          </a:prstGeom>
          <a:solidFill>
            <a:srgbClr val="F5F5F5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097280" y="1280160"/>
            <a:ext cx="548640" cy="548640"/>
          </a:xfrm>
          <a:prstGeom prst="ellipse">
            <a:avLst/>
          </a:prstGeom>
          <a:solidFill>
            <a:srgbClr val="46C2CE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12801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💾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828800" y="13258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39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store=True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97280" y="16916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se consulta frecuentemente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0" y="1097280"/>
            <a:ext cx="3657600" cy="914400"/>
          </a:xfrm>
          <a:prstGeom prst="rect">
            <a:avLst/>
          </a:prstGeom>
          <a:solidFill>
            <a:srgbClr val="F5F5F5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212080" y="1280160"/>
            <a:ext cx="548640" cy="548640"/>
          </a:xfrm>
          <a:prstGeom prst="ellipse">
            <a:avLst/>
          </a:prstGeom>
          <a:solidFill>
            <a:srgbClr val="7F52A0"/>
          </a:solidFill>
          <a:ln/>
        </p:spPr>
      </p:sp>
      <p:sp>
        <p:nvSpPr>
          <p:cNvPr id="10" name="Text 8"/>
          <p:cNvSpPr/>
          <p:nvPr/>
        </p:nvSpPr>
        <p:spPr>
          <a:xfrm>
            <a:off x="5212080" y="12801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🔗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5943600" y="13258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39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@api.depends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212080" y="16916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OBLIGATORIO con store=True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14400" y="2286000"/>
            <a:ext cx="3657600" cy="914400"/>
          </a:xfrm>
          <a:prstGeom prst="rect">
            <a:avLst/>
          </a:prstGeom>
          <a:solidFill>
            <a:srgbClr val="F5F5F5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097280" y="2468880"/>
            <a:ext cx="548640" cy="548640"/>
          </a:xfrm>
          <a:prstGeom prst="ellipse">
            <a:avLst/>
          </a:prstGeom>
          <a:solidFill>
            <a:srgbClr val="C00000"/>
          </a:solidFill>
          <a:ln/>
        </p:spPr>
      </p:sp>
      <p:sp>
        <p:nvSpPr>
          <p:cNvPr id="15" name="Text 13"/>
          <p:cNvSpPr/>
          <p:nvPr/>
        </p:nvSpPr>
        <p:spPr>
          <a:xfrm>
            <a:off x="1097280" y="24688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🚫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1828800" y="25146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39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search()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97280" y="288036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Dentro de compute sin store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029200" y="2286000"/>
            <a:ext cx="3657600" cy="914400"/>
          </a:xfrm>
          <a:prstGeom prst="rect">
            <a:avLst/>
          </a:prstGeom>
          <a:solidFill>
            <a:srgbClr val="F5F5F5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212080" y="2468880"/>
            <a:ext cx="548640" cy="548640"/>
          </a:xfrm>
          <a:prstGeom prst="ellipse">
            <a:avLst/>
          </a:prstGeom>
          <a:solidFill>
            <a:srgbClr val="46C2CE"/>
          </a:solidFill>
          <a:ln/>
        </p:spPr>
      </p:sp>
      <p:sp>
        <p:nvSpPr>
          <p:cNvPr id="20" name="Text 18"/>
          <p:cNvSpPr/>
          <p:nvPr/>
        </p:nvSpPr>
        <p:spPr>
          <a:xfrm>
            <a:off x="5212080" y="24688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⏰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5943600" y="25146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39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Evita now()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212080" y="288036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depends, causa recálculos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371600" y="3474720"/>
            <a:ext cx="6400800" cy="914400"/>
          </a:xfrm>
          <a:prstGeom prst="rect">
            <a:avLst/>
          </a:prstGeom>
          <a:solidFill>
            <a:srgbClr val="2C1A56"/>
          </a:solidFill>
          <a:ln/>
        </p:spPr>
      </p:sp>
      <p:sp>
        <p:nvSpPr>
          <p:cNvPr id="24" name="Text 22"/>
          <p:cNvSpPr/>
          <p:nvPr/>
        </p:nvSpPr>
        <p:spPr>
          <a:xfrm>
            <a:off x="1554480" y="3611880"/>
            <a:ext cx="6035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@api.depends('price', 'quantity')
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_compute_total(self):
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rec in self:
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rec.total = rec.price * rec.quantity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639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Seguridad del Código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731520" y="914400"/>
            <a:ext cx="7680960" cy="1645920"/>
          </a:xfrm>
          <a:prstGeom prst="rect">
            <a:avLst/>
          </a:prstGeom>
          <a:solidFill>
            <a:srgbClr val="FFE6E6"/>
          </a:solidFill>
          <a:ln w="25400">
            <a:solidFill>
              <a:srgbClr val="C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005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🚨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463040" y="1005840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INJECTION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97280" y="1554480"/>
            <a:ext cx="6949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❌ PELIGROSO:  query = "SELECT * WHERE name = '" + name + "'"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97280" y="1920240"/>
            <a:ext cx="6949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8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✅ SEGURO:  query = "SELECT * WHERE name = %s" → cr.execute(query, (name,))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31520" y="2743200"/>
            <a:ext cx="7680960" cy="1554480"/>
          </a:xfrm>
          <a:prstGeom prst="rect">
            <a:avLst/>
          </a:prstGeom>
          <a:solidFill>
            <a:srgbClr val="FFF3CD"/>
          </a:solidFill>
          <a:ln w="25400">
            <a:solidFill>
              <a:srgbClr val="FF66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834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⚠️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1463040" y="2834640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6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SUDO() PELIGROSO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097280" y="3383280"/>
            <a:ext cx="6949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sudo() bypasea TODAS las reglas de seguridad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371600" y="3703320"/>
            <a:ext cx="6675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Solo usar cuando sea ABSOLUTAMENTE necesario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371600" y="3913632"/>
            <a:ext cx="6675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DOCUMENTAR por qué es necesario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371600" y="4123944"/>
            <a:ext cx="6675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Revisar cada uso en code review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639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Seguridad en Archivos de Configuración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86868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6C2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ir.model.access.csv</a:t>
            </a:r>
            <a:endParaRPr lang="en-US" sz="20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188720"/>
          <a:ext cx="768096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2194560"/>
                <a:gridCol w="548640"/>
                <a:gridCol w="548640"/>
                <a:gridCol w="548640"/>
                <a:gridCol w="5486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ID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Grupo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R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W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C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U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contrato_user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Vendedor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00000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contrato_mgr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Gerente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731520" y="2194560"/>
            <a:ext cx="7680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R=Read, W=Write, C=Create, U=Unlink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731520" y="256032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F52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 Rules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731520" y="2926080"/>
            <a:ext cx="3657600" cy="82296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8" name="Text 5"/>
          <p:cNvSpPr/>
          <p:nvPr/>
        </p:nvSpPr>
        <p:spPr>
          <a:xfrm>
            <a:off x="914400" y="301752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Vendedor
</a:t>
            </a:r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domain: [('user_id', '=', user.id)]
</a:t>
            </a:r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 solo mis registros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754880" y="2926080"/>
            <a:ext cx="3657600" cy="82296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0" name="Text 7"/>
          <p:cNvSpPr/>
          <p:nvPr/>
        </p:nvSpPr>
        <p:spPr>
          <a:xfrm>
            <a:off x="4937760" y="301752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Gerente
</a:t>
            </a:r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domain: [(1, '=', 1)]
</a:t>
            </a:r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 todos los registros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1371600" y="3931920"/>
            <a:ext cx="6400800" cy="365760"/>
          </a:xfrm>
          <a:prstGeom prst="rect">
            <a:avLst/>
          </a:prstGeom>
          <a:solidFill>
            <a:srgbClr val="FFE6E6"/>
          </a:solidFill>
          <a:ln/>
        </p:spPr>
      </p:sp>
      <p:sp>
        <p:nvSpPr>
          <p:cNvPr id="12" name="Text 9"/>
          <p:cNvSpPr/>
          <p:nvPr/>
        </p:nvSpPr>
        <p:spPr>
          <a:xfrm>
            <a:off x="1554480" y="3977640"/>
            <a:ext cx="6035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Sin ir.model.access.csv → RECHAZAR el módulo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639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Soporte Multi-Compañía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914400" y="914400"/>
            <a:ext cx="7315200" cy="1097280"/>
          </a:xfrm>
          <a:prstGeom prst="rect">
            <a:avLst/>
          </a:prstGeom>
          <a:solidFill>
            <a:srgbClr val="D1ECF1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1097280" y="1005840"/>
            <a:ext cx="6949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639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Campo Obligatorio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371600" y="137160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company_id = fields.Many2one(
</a:t>
            </a:r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'res.company', required=True,
</a:t>
            </a:r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default=lambda self: self.env.company,
</a:t>
            </a:r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index=True
</a:t>
            </a:r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31520" y="2286000"/>
            <a:ext cx="3840480" cy="1645920"/>
          </a:xfrm>
          <a:prstGeom prst="rect">
            <a:avLst/>
          </a:prstGeom>
          <a:solidFill>
            <a:srgbClr val="FFE6E6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3774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MALO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2743200"/>
            <a:ext cx="3474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Mezcla datos de empresas
</a:t>
            </a:r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facturas = env['account.move']
</a:t>
            </a:r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.search([])
</a:t>
            </a:r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 = sum(facturas
</a:t>
            </a:r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.mapped('amount_total'))
</a:t>
            </a:r>
            <a:pPr indent="0" marL="0">
              <a:buNone/>
            </a:pPr>
            <a:r>
              <a:rPr lang="en-US" sz="1000" dirty="0">
                <a:solidFill>
                  <a:srgbClr val="C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¡Suma Empresa A + B!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029200" y="2286000"/>
            <a:ext cx="3840480" cy="1645920"/>
          </a:xfrm>
          <a:prstGeom prst="rect">
            <a:avLst/>
          </a:prstGeom>
          <a:solidFill>
            <a:srgbClr val="E6FFE6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0" y="23774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BIEN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212080" y="2743200"/>
            <a:ext cx="3474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Filtra por compañía actual
</a:t>
            </a:r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facturas = env['account.move']
</a:t>
            </a:r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.search([
</a:t>
            </a:r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('company_id', '=',
</a:t>
            </a:r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env.company.id)
</a:t>
            </a:r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])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639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Checklist Técnico - Desarrolladores</a:t>
            </a:r>
            <a:endParaRPr lang="en-US" sz="40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914400"/>
          <a:ext cx="7315200" cy="914400"/>
        </p:xfrm>
        <a:graphic>
          <a:graphicData uri="http://schemas.openxmlformats.org/drawingml/2006/table">
            <a:tbl>
              <a:tblPr/>
              <a:tblGrid>
                <a:gridCol w="5852160"/>
                <a:gridCol w="14630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Aspecto Técnico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98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✓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98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Manifest completo con dependencias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☐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Código sigue PEP 8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☐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Métodos CRUD usan super()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☐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No hay queries en loops (N+1)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☐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Campos computed con @api.depends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☐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Campos de búsqueda tienen index=True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☐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No hay SQL injection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☐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sudo() solo cuando necesario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☐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ir.model.access.csv completo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☐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Record rules configuradas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☐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Soporte multi-compañía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☐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914400" y="4114800"/>
            <a:ext cx="7315200" cy="365760"/>
          </a:xfrm>
          <a:prstGeom prst="rect">
            <a:avLst/>
          </a:prstGeom>
          <a:solidFill>
            <a:srgbClr val="FFF3CD"/>
          </a:solidFill>
          <a:ln/>
        </p:spPr>
      </p:sp>
      <p:sp>
        <p:nvSpPr>
          <p:cNvPr id="5" name="Text 2"/>
          <p:cNvSpPr/>
          <p:nvPr/>
        </p:nvSpPr>
        <p:spPr>
          <a:xfrm>
            <a:off x="1097280" y="4160520"/>
            <a:ext cx="6949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Rechazar si falla 3+ items críticos (3,4,7,8,9)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639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Proceso de Entrega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2560320" cy="2011680"/>
          </a:xfrm>
          <a:prstGeom prst="rect">
            <a:avLst/>
          </a:prstGeom>
          <a:solidFill>
            <a:srgbClr val="E6FFE6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12344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💻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639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Desarrollo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Desarrolladores externos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25146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Datos dummy, puede romperse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0" y="2011680"/>
            <a:ext cx="457200" cy="274320"/>
          </a:xfrm>
          <a:prstGeom prst="rightArrow">
            <a:avLst/>
          </a:prstGeom>
          <a:solidFill>
            <a:srgbClr val="46C2CE"/>
          </a:solidFill>
          <a:ln/>
        </p:spPr>
      </p:sp>
      <p:sp>
        <p:nvSpPr>
          <p:cNvPr id="9" name="Shape 7"/>
          <p:cNvSpPr/>
          <p:nvPr/>
        </p:nvSpPr>
        <p:spPr>
          <a:xfrm>
            <a:off x="3657600" y="1097280"/>
            <a:ext cx="2560320" cy="2011680"/>
          </a:xfrm>
          <a:prstGeom prst="rect">
            <a:avLst/>
          </a:prstGeom>
          <a:solidFill>
            <a:srgbClr val="FFF3CD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57600" y="12344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🔍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3657600" y="17830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639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Staging/QA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840480" y="21945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 por Sunname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840480" y="25146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Copia de producción, testing exhaustivo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309360" y="2011680"/>
            <a:ext cx="457200" cy="274320"/>
          </a:xfrm>
          <a:prstGeom prst="rightArrow">
            <a:avLst/>
          </a:prstGeom>
          <a:solidFill>
            <a:srgbClr val="46C2CE"/>
          </a:solidFill>
          <a:ln/>
        </p:spPr>
      </p:sp>
      <p:sp>
        <p:nvSpPr>
          <p:cNvPr id="15" name="Shape 13"/>
          <p:cNvSpPr/>
          <p:nvPr/>
        </p:nvSpPr>
        <p:spPr>
          <a:xfrm>
            <a:off x="6766560" y="1097280"/>
            <a:ext cx="2560320" cy="2011680"/>
          </a:xfrm>
          <a:prstGeom prst="rect">
            <a:avLst/>
          </a:prstGeom>
          <a:solidFill>
            <a:srgbClr val="FFE6E6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766560" y="12344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🚀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6766560" y="17830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639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Producción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949440" y="21945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Usuarios finales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949440" y="25146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Datos reales, NUNCA tocar directo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14400" y="3383280"/>
            <a:ext cx="7315200" cy="822960"/>
          </a:xfrm>
          <a:prstGeom prst="rect">
            <a:avLst/>
          </a:prstGeom>
          <a:solidFill>
            <a:srgbClr val="263980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1097280" y="3566160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NUNCA saltar Staging - ni para hot fixes urgentes</a:t>
            </a:r>
            <a:endParaRPr lang="en-US" sz="1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639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¿Por Qué Invertir en QA?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1371600" y="914400"/>
            <a:ext cx="6400800" cy="594360"/>
          </a:xfrm>
          <a:prstGeom prst="rect">
            <a:avLst/>
          </a:prstGeom>
          <a:solidFill>
            <a:srgbClr val="D1ECF1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1554480" y="9829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😌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2194560" y="9829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639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Menos Estrés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114800" y="98298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Menos incidentes en producción = equipo tranquilo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371600" y="1600200"/>
            <a:ext cx="6400800" cy="594360"/>
          </a:xfrm>
          <a:prstGeom prst="rect">
            <a:avLst/>
          </a:prstGeom>
          <a:solidFill>
            <a:srgbClr val="E8F5E9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554480" y="16687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⭐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194560" y="16687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639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Mejor Reputación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114800" y="166878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Clientes satisfechos recomiendan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371600" y="2286000"/>
            <a:ext cx="6400800" cy="594360"/>
          </a:xfrm>
          <a:prstGeom prst="rect">
            <a:avLst/>
          </a:prstGeom>
          <a:solidFill>
            <a:srgbClr val="F3E5F5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554480" y="23545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💎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2194560" y="23545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639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Código de Calidad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114800" y="235458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Menos deuda técnica a largo plazo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371600" y="2971800"/>
            <a:ext cx="6400800" cy="594360"/>
          </a:xfrm>
          <a:prstGeom prst="rect">
            <a:avLst/>
          </a:prstGeom>
          <a:solidFill>
            <a:srgbClr val="FFF3E0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554480" y="30403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📚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2194560" y="30403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639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Procesos Documentados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114800" y="304038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Fácil entrenar nuevo personal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1371600" y="3657600"/>
            <a:ext cx="6400800" cy="594360"/>
          </a:xfrm>
          <a:prstGeom prst="rect">
            <a:avLst/>
          </a:prstGeom>
          <a:solidFill>
            <a:srgbClr val="E8EAF6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1554480" y="37261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🎯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2194560" y="37261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639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Atrae Talento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114800" y="372618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Desarrolladores prefieren cultura de calidad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1371600" y="4206240"/>
            <a:ext cx="6400800" cy="731520"/>
          </a:xfrm>
          <a:prstGeom prst="rect">
            <a:avLst/>
          </a:prstGeom>
          <a:solidFill>
            <a:srgbClr val="263980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1554480" y="4343400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bug en desarrollo = 1 hora
</a:t>
            </a:r>
            <a:pPr algn="ctr" indent="0" marL="0">
              <a:buNone/>
            </a:pPr>
            <a:r>
              <a:rPr lang="en-US" sz="1600" b="1" dirty="0">
                <a:solidFill>
                  <a:srgbClr val="46C2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bug en producción = días + cliente perdido</a:t>
            </a:r>
            <a:endParaRPr lang="en-US" sz="1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2C1A5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74320"/>
            <a:ext cx="1371600" cy="1371600"/>
          </a:xfrm>
          <a:prstGeom prst="ellipse">
            <a:avLst/>
          </a:prstGeom>
          <a:solidFill>
            <a:srgbClr val="7F52A0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3474720"/>
            <a:ext cx="1188720" cy="1188720"/>
          </a:xfrm>
          <a:prstGeom prst="ellipse">
            <a:avLst/>
          </a:prstGeom>
          <a:solidFill>
            <a:srgbClr val="7F52A0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463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CALIDAD GARANTIZADA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457200" y="2194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46C2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Cero Errores en Producción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4114800" y="2834640"/>
            <a:ext cx="914400" cy="914400"/>
          </a:xfrm>
          <a:prstGeom prst="ellipse">
            <a:avLst/>
          </a:prstGeom>
          <a:solidFill>
            <a:srgbClr val="46C2CE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0" y="283464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</a:rPr>
              <a:t>✓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 QA Sistemático Hoy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Sunname Technologies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57200" y="4892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7F52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Expertos en Odoo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Quality Assurance para Módulos de Odoo</dc:title>
  <dc:subject>PptxGenJS Presentation</dc:subject>
  <dc:creator>Sunname Technologies</dc:creator>
  <cp:lastModifiedBy>Sunname Technologies</cp:lastModifiedBy>
  <cp:revision>1</cp:revision>
  <dcterms:created xsi:type="dcterms:W3CDTF">2026-02-11T01:30:14Z</dcterms:created>
  <dcterms:modified xsi:type="dcterms:W3CDTF">2026-02-11T01:30:14Z</dcterms:modified>
</cp:coreProperties>
</file>