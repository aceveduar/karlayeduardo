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</p:sldMasterIdLst>
  <p:notesMasterIdLst>
    <p:notesMasterId r:id="rId39"/>
  </p:notesMasterIdLst>
  <p:sldIdLst>
    <p:sldId id="256" r:id="rId3"/>
    <p:sldId id="291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j2RFChcid72z+Zm87XLmgyODNB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39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6" d="100"/>
          <a:sy n="136" d="100"/>
        </p:scale>
        <p:origin x="10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6398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63980"/>
                </a:solidFill>
                <a:latin typeface="Arial"/>
              </a:rPr>
              <a:t>Empresas por industria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Empresas implementadas</c:v>
                </c:pt>
              </c:strCache>
            </c:strRef>
          </c:tx>
          <c:spPr>
            <a:solidFill>
              <a:srgbClr val="26398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EAF-4884-B596-56FCBAF0B227}"/>
              </c:ext>
            </c:extLst>
          </c:dPt>
          <c:dPt>
            <c:idx val="1"/>
            <c:invertIfNegative val="0"/>
            <c:bubble3D val="0"/>
            <c:spPr>
              <a:solidFill>
                <a:srgbClr val="46C2C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EAF-4884-B596-56FCBAF0B227}"/>
              </c:ext>
            </c:extLst>
          </c:dPt>
          <c:dPt>
            <c:idx val="2"/>
            <c:invertIfNegative val="0"/>
            <c:bubble3D val="0"/>
            <c:spPr>
              <a:solidFill>
                <a:srgbClr val="7F52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EAF-4884-B596-56FCBAF0B22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EEAF-4884-B596-56FCBAF0B227}"/>
              </c:ext>
            </c:extLst>
          </c:dPt>
          <c:dPt>
            <c:idx val="4"/>
            <c:invertIfNegative val="0"/>
            <c:bubble3D val="0"/>
            <c:spPr>
              <a:solidFill>
                <a:srgbClr val="46C2C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EAF-4884-B596-56FCBAF0B22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Manufactura</c:v>
                </c:pt>
                <c:pt idx="1">
                  <c:v>Retail</c:v>
                </c:pt>
                <c:pt idx="2">
                  <c:v>Logística</c:v>
                </c:pt>
                <c:pt idx="3">
                  <c:v>Servicios</c:v>
                </c:pt>
                <c:pt idx="4">
                  <c:v>E-commerce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15</c:v>
                </c:pt>
                <c:pt idx="2">
                  <c:v>8</c:v>
                </c:pt>
                <c:pt idx="3">
                  <c:v>20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EAF-4884-B596-56FCBAF0B2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6398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63980"/>
                </a:solidFill>
                <a:latin typeface="Arial"/>
              </a:rPr>
              <a:t>Distribución de servicios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Distribución de servicios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639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9A6-42CA-A82D-8D2B3D4DCAB9}"/>
              </c:ext>
            </c:extLst>
          </c:dPt>
          <c:dPt>
            <c:idx val="1"/>
            <c:bubble3D val="0"/>
            <c:spPr>
              <a:solidFill>
                <a:srgbClr val="7F52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9A6-42CA-A82D-8D2B3D4DCAB9}"/>
              </c:ext>
            </c:extLst>
          </c:dPt>
          <c:dPt>
            <c:idx val="2"/>
            <c:bubble3D val="0"/>
            <c:spPr>
              <a:solidFill>
                <a:srgbClr val="46C2C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9A6-42CA-A82D-8D2B3D4DCAB9}"/>
              </c:ext>
            </c:extLst>
          </c:dPt>
          <c:dPt>
            <c:idx val="3"/>
            <c:bubble3D val="0"/>
            <c:spPr>
              <a:solidFill>
                <a:srgbClr val="7F52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9A6-42CA-A82D-8D2B3D4DCAB9}"/>
              </c:ext>
            </c:extLst>
          </c:dPt>
          <c:dPt>
            <c:idx val="4"/>
            <c:bubble3D val="0"/>
            <c:spPr>
              <a:solidFill>
                <a:srgbClr val="46C2C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9A6-42CA-A82D-8D2B3D4DCAB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MX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9A6-42CA-A82D-8D2B3D4DCAB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MX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9A6-42CA-A82D-8D2B3D4DCAB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MX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9A6-42CA-A82D-8D2B3D4DCAB9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MX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9A6-42CA-A82D-8D2B3D4DCAB9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MX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9A6-42CA-A82D-8D2B3D4DCAB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Implementación</c:v>
                </c:pt>
                <c:pt idx="1">
                  <c:v>Desarrollo</c:v>
                </c:pt>
                <c:pt idx="2">
                  <c:v>Soporte</c:v>
                </c:pt>
                <c:pt idx="3">
                  <c:v>E-commerce</c:v>
                </c:pt>
                <c:pt idx="4">
                  <c:v>Consultoría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9A6-42CA-A82D-8D2B3D4DCA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" name="Google Shape;4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3" name="Google Shape;55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4" name="Google Shape;59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6" name="Google Shape;63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0" name="Google Shape;68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2" name="Google Shape;72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6" name="Google Shape;76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8" name="Google Shape;80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7" name="Google Shape;85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3" name="Google Shape;88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4" name="Google Shape;91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6" name="Google Shape;94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6" name="Google Shape;986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7" name="Google Shape;987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4" name="Google Shape;1014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5" name="Google Shape;1015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5" name="Google Shape;1065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6" name="Google Shape;1066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9" name="Google Shape;1079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0" name="Google Shape;1080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7" name="Google Shape;1127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8" name="Google Shape;1128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6" name="Google Shape;1166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7" name="Google Shape;1167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3" name="Google Shape;1203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4" name="Google Shape;1204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4" name="Google Shape;1254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5" name="Google Shape;1295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6" name="Google Shape;1296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2" name="Google Shape;134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3" name="Google Shape;1343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9" name="Google Shape;1389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0" name="Google Shape;1390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3" name="Google Shape;1423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4" name="Google Shape;1424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3500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6145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98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303520" y="0"/>
            <a:ext cx="109728" cy="514350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7F52A0">
              <a:alpha val="3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46C2CE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3657600" y="0"/>
            <a:ext cx="1371600" cy="1371600"/>
          </a:xfrm>
          <a:prstGeom prst="ellipse">
            <a:avLst/>
          </a:prstGeom>
          <a:solidFill>
            <a:srgbClr val="7F52A0">
              <a:alpha val="2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365760" y="640080"/>
            <a:ext cx="2377440" cy="347472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365760" y="64008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2C1A56"/>
                </a:solidFill>
                <a:latin typeface="Calibri"/>
                <a:ea typeface="Calibri"/>
                <a:cs typeface="Calibri"/>
                <a:sym typeface="Calibri"/>
              </a:rPr>
              <a:t>PARTNER OFICIAL ODOO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65760" y="118872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Sunname Technologies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65760" y="187452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Transforma tu operación con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65760" y="224028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Odoo ERP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65760" y="288036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D8F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D0D8F0"/>
                </a:solidFill>
                <a:latin typeface="Calibri"/>
                <a:ea typeface="Calibri"/>
                <a:cs typeface="Calibri"/>
                <a:sym typeface="Calibri"/>
              </a:rPr>
              <a:t>La solución líder para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D8F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D0D8F0"/>
                </a:solidFill>
                <a:latin typeface="Calibri"/>
                <a:ea typeface="Calibri"/>
                <a:cs typeface="Calibri"/>
                <a:sym typeface="Calibri"/>
              </a:rPr>
              <a:t>Manufactura y Retail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365760" y="39319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✓ +60 empresas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1993392" y="39319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✓ Partner certificado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3621024" y="39319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✓ Resultados en 3–6 meses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5760720" y="109728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7200"/>
              <a:buFont typeface="Calibri"/>
              <a:buNone/>
            </a:pPr>
            <a:r>
              <a:rPr lang="en-US" sz="72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+60</a:t>
            </a:r>
            <a:endParaRPr sz="7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5760720" y="192024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0D8F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D0D8F0"/>
                </a:solidFill>
                <a:latin typeface="Calibri"/>
                <a:ea typeface="Calibri"/>
                <a:cs typeface="Calibri"/>
                <a:sym typeface="Calibri"/>
              </a:rPr>
              <a:t>Empresas transformadas con Odoo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32;p1"/>
          <p:cNvCxnSpPr/>
          <p:nvPr/>
        </p:nvCxnSpPr>
        <p:spPr>
          <a:xfrm>
            <a:off x="6217920" y="2514600"/>
            <a:ext cx="2011680" cy="0"/>
          </a:xfrm>
          <a:prstGeom prst="straightConnector1">
            <a:avLst/>
          </a:prstGeom>
          <a:noFill/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" name="Google Shape;33;p1"/>
          <p:cNvSpPr/>
          <p:nvPr/>
        </p:nvSpPr>
        <p:spPr>
          <a:xfrm>
            <a:off x="5760720" y="274320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10+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7040880" y="27889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Proyectos manufactura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5760720" y="329184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15+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7040880" y="33375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Tiendas en línea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5760720" y="384048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10+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7040880" y="38862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Sistemas POS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274320" y="4818888"/>
            <a:ext cx="859536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788B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788BB"/>
                </a:solidFill>
                <a:latin typeface="Calibri"/>
                <a:ea typeface="Calibri"/>
                <a:cs typeface="Calibri"/>
                <a:sym typeface="Calibri"/>
              </a:rPr>
              <a:t>www.sunname.com.mx  |  Zimapán, Hidalgo, México  |  +52 1 771 101 4687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1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263980">
              <a:alpha val="50000"/>
            </a:srgbClr>
          </a:solidFill>
          <a:ln w="12700">
            <a:solidFill>
              <a:srgbClr val="263980">
                <a:alpha val="4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7F52A0">
              <a:alpha val="60000"/>
            </a:srgbClr>
          </a:solidFill>
          <a:ln w="12700">
            <a:solidFill>
              <a:srgbClr val="7F52A0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3474720" cy="347472"/>
          </a:xfrm>
          <a:prstGeom prst="roundRect">
            <a:avLst>
              <a:gd name="adj" fmla="val 26316"/>
            </a:avLst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PARTNER OFICIAL ODOO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tu operación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46C2C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 Odoo ERP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5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especializadas para Manufactura y Retail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5D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Implementaciones personalizadas · Resultados en 3-6 meses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6C2C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Partner oficial Odoo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6C2C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Soporte en español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94360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6C2C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Implementación garantizada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97280" y="43159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46C2C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+60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97280" y="4663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Empresas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transformadas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017520" y="43159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46C2C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017520" y="4663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Proyectos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manufactura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37760" y="43159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46C2C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37760" y="4663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Tiendas en línea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operando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858000" y="43159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46C2C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3-6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858000" y="4663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Meses de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858000" y="4800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99B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Sunname Technologies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SUNNAME TECHNOLOGIES · ODOO ERP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2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Contenido de la Presentación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57200" y="1207008"/>
            <a:ext cx="45720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57200" y="1371600"/>
            <a:ext cx="384048" cy="384048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457200" y="13716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932688" y="1380744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El problema: Sistemas desconectados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932688" y="1572768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Manufactura y Retail sin visibilidad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57200" y="1965960"/>
            <a:ext cx="384048" cy="384048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457200" y="19659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932688" y="1975104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Nuestra solución: Odoo ERP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932688" y="2167128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plataforma #1 de código abierto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57200" y="2560320"/>
            <a:ext cx="384048" cy="384048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457200" y="25603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932688" y="2569464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Soluciones por industria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932688" y="2761488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Manufactura · Retail · Integración total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57200" y="3154680"/>
            <a:ext cx="384048" cy="384048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457200" y="31546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932688" y="3163824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Módulos y capacidades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932688" y="3355848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Todo en una sola plataforma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57200" y="3749040"/>
            <a:ext cx="384048" cy="384048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457200" y="37490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932688" y="3758184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Nuestros servicios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932688" y="3950208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Implementación, desarrollo y soporte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4663440" y="1371600"/>
            <a:ext cx="384048" cy="384048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4663440" y="13716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138928" y="1380744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Proceso de implementación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5138928" y="1572768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pasos, sin sorpresas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4663440" y="1965960"/>
            <a:ext cx="384048" cy="384048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4663440" y="19659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5138928" y="1975104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¿Por qué Sunname?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5138928" y="2167128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Diferenciadores clave y certificaciones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4663440" y="2560320"/>
            <a:ext cx="384048" cy="384048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4663440" y="25603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5138928" y="2569464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Resultados y testimonios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5138928" y="2761488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Casos de éxito reales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4663440" y="3154680"/>
            <a:ext cx="384048" cy="384048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"/>
          <p:cNvSpPr/>
          <p:nvPr/>
        </p:nvSpPr>
        <p:spPr>
          <a:xfrm>
            <a:off x="4663440" y="31546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5138928" y="3163824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Próximos pasos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5138928" y="3355848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Demo gratuita y propuesta personalizada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2"/>
          <p:cNvCxnSpPr/>
          <p:nvPr/>
        </p:nvCxnSpPr>
        <p:spPr>
          <a:xfrm>
            <a:off x="4480560" y="1325880"/>
            <a:ext cx="0" cy="3291840"/>
          </a:xfrm>
          <a:prstGeom prst="straightConnector1">
            <a:avLst/>
          </a:prstGeom>
          <a:noFill/>
          <a:ln w="12700" cap="flat" cmpd="sng">
            <a:solidFill>
              <a:srgbClr val="D0D8E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1A56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3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EL DESAFÍO DEL MERCADO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¿Tu empresa opera con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sistemas desconectados?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914400" y="173736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Los sistemas aislados generan errores, pérdidas de tiempo y decisiones basadas en datos incorrectos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365760" y="2331720"/>
            <a:ext cx="2606040" cy="868680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365760" y="2331720"/>
            <a:ext cx="45720" cy="86868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438912" y="23774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896112" y="238658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Excel desactualizado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896112" y="2660904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Datos duplicados y errores manuales constantes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3200400" y="2331720"/>
            <a:ext cx="2606040" cy="868680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3200400" y="2331720"/>
            <a:ext cx="45720" cy="86868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3273552" y="23774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3730752" y="238658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Sistemas sin integración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3730752" y="2660904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Contabilidad, ventas e inventario separados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035040" y="2331720"/>
            <a:ext cx="2606040" cy="868680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6035040" y="2331720"/>
            <a:ext cx="45720" cy="86868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6108192" y="23774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👁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6565392" y="238658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Cero visibilidad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6565392" y="2660904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No sabes qué pasa en tu planta o tiendas en tiempo real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365760" y="3383280"/>
            <a:ext cx="2606040" cy="868680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365760" y="3383280"/>
            <a:ext cx="45720" cy="86868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438912" y="3429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🕒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896112" y="343814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Procesos lentos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896112" y="3712464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Aprobaciones manuales que frenan tu operación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3200400" y="3383280"/>
            <a:ext cx="2606040" cy="868680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3200400" y="3383280"/>
            <a:ext cx="45720" cy="86868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3273552" y="3429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💸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3730752" y="343814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Costos ocultos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3730752" y="3712464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Inventario inflado y desperdicios sin control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6035040" y="3383280"/>
            <a:ext cx="2606040" cy="868680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6035040" y="3383280"/>
            <a:ext cx="45720" cy="86868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6108192" y="3429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📉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6565392" y="343814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Decisiones tardías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6565392" y="3712464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Reportes desactualizados que no ayudan a crecer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SUNNAME TECHNOLOGIES · ODOO ERP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4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0" y="502920"/>
            <a:ext cx="4114800" cy="4315968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7F52A0">
              <a:alpha val="3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2743200" y="274320"/>
            <a:ext cx="1828800" cy="1828800"/>
          </a:xfrm>
          <a:prstGeom prst="ellipse">
            <a:avLst/>
          </a:prstGeom>
          <a:solidFill>
            <a:srgbClr val="46C2CE">
              <a:alpha val="180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274320" y="914400"/>
            <a:ext cx="347472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es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Odoo?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274320" y="21031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El ERP #1 de código abierto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365760" y="269748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10M+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1828800" y="2724912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Usuarios en el mundo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365760" y="320040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82+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1828800" y="3227832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Países con presencia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365760" y="370332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40,000+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1828800" y="3730752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Apps instaladas/día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4389120" y="640080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La plataforma todo-en-uno para tu empresa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4389120" y="1207008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Odoo integra todos los procesos de tu negocio en una sola plataforma modular, flexible y escalable.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4389120" y="1920240"/>
            <a:ext cx="2011680" cy="530352"/>
          </a:xfrm>
          <a:prstGeom prst="rect">
            <a:avLst/>
          </a:prstGeom>
          <a:solidFill>
            <a:srgbClr val="263980">
              <a:alpha val="94901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4498848" y="1920240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🏭 Manufactura y MRP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6583680" y="1920240"/>
            <a:ext cx="2011680" cy="530352"/>
          </a:xfrm>
          <a:prstGeom prst="rect">
            <a:avLst/>
          </a:prstGeom>
          <a:solidFill>
            <a:srgbClr val="263980">
              <a:alpha val="94901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6693408" y="1920240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🛒 Ventas y E-commerce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4389120" y="2578608"/>
            <a:ext cx="2011680" cy="530352"/>
          </a:xfrm>
          <a:prstGeom prst="rect">
            <a:avLst/>
          </a:prstGeom>
          <a:solidFill>
            <a:srgbClr val="263980">
              <a:alpha val="94901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4498848" y="2578608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📦 Inventario y Logística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6583680" y="2578608"/>
            <a:ext cx="2011680" cy="530352"/>
          </a:xfrm>
          <a:prstGeom prst="rect">
            <a:avLst/>
          </a:prstGeom>
          <a:solidFill>
            <a:srgbClr val="263980">
              <a:alpha val="94901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6693408" y="2578608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💰 Contabilidad y Finanzas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4389120" y="3236976"/>
            <a:ext cx="2011680" cy="530352"/>
          </a:xfrm>
          <a:prstGeom prst="rect">
            <a:avLst/>
          </a:prstGeom>
          <a:solidFill>
            <a:srgbClr val="263980">
              <a:alpha val="94901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4498848" y="3236976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👥 CRM y Marketing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6583680" y="3236976"/>
            <a:ext cx="2011680" cy="530352"/>
          </a:xfrm>
          <a:prstGeom prst="rect">
            <a:avLst/>
          </a:prstGeom>
          <a:solidFill>
            <a:srgbClr val="263980">
              <a:alpha val="94901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6693408" y="3236976"/>
            <a:ext cx="18288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🔧 Soporte técnico (Helpdesk)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4389120" y="406908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Un solo proveedor · Un solo sistema · Cero silos de información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MANUFACTURA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5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5669280" y="502920"/>
            <a:ext cx="3474720" cy="4315968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6400800" y="274320"/>
            <a:ext cx="2743200" cy="2743200"/>
          </a:xfrm>
          <a:prstGeom prst="ellipse">
            <a:avLst/>
          </a:prstGeom>
          <a:solidFill>
            <a:srgbClr val="7F52A0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457200" y="685800"/>
            <a:ext cx="49377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Odoo para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Manufactura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457200" y="169164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Control total de tu producción,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 principio a fin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365760" y="2423160"/>
            <a:ext cx="5029200" cy="36576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365760" y="2423160"/>
            <a:ext cx="45720" cy="36576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457200" y="24231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🔩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868680" y="2423160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Órdenes de producción automáticas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868680" y="2606040"/>
            <a:ext cx="43891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Desde solicitud hasta entrega sin intervención manual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365760" y="2862072"/>
            <a:ext cx="5029200" cy="36576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365760" y="2862072"/>
            <a:ext cx="45720" cy="36576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457200" y="28620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868680" y="2862072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Planeación MRP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868680" y="3044952"/>
            <a:ext cx="43891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Optimiza materiales, tiempos y recursos de producción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365760" y="3300984"/>
            <a:ext cx="5029200" cy="36576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365760" y="3300984"/>
            <a:ext cx="45720" cy="36576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457200" y="330098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868680" y="3300984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Trazabilidad total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868680" y="3483864"/>
            <a:ext cx="43891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Lotes y series desde materia prima hasta producto terminado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365760" y="3739896"/>
            <a:ext cx="5029200" cy="36576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365760" y="3739896"/>
            <a:ext cx="45720" cy="36576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457200" y="373989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💲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868680" y="3739896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Costeo real por producto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868680" y="3922776"/>
            <a:ext cx="43891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Conoce el costo exacto de cada orden de trabajo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365760" y="4178808"/>
            <a:ext cx="5029200" cy="36576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365760" y="4178808"/>
            <a:ext cx="45720" cy="36576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457200" y="417880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868680" y="417880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Control de calidad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868680" y="4361688"/>
            <a:ext cx="43891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Puntos de control en cada etapa del proceso productivo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5852160" y="91440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Módulos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clave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5852160" y="1828800"/>
            <a:ext cx="1508760" cy="45720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5852160" y="1828800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🏭 Fabricación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7479792" y="1828800"/>
            <a:ext cx="1508760" cy="45720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7479792" y="1828800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MRP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5852160" y="2423160"/>
            <a:ext cx="1508760" cy="45720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5852160" y="2423160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📦 Inventario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7479792" y="2423160"/>
            <a:ext cx="1508760" cy="45720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7479792" y="2423160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🛒 Compras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5852160" y="3017520"/>
            <a:ext cx="1508760" cy="45720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5"/>
          <p:cNvSpPr/>
          <p:nvPr/>
        </p:nvSpPr>
        <p:spPr>
          <a:xfrm>
            <a:off x="5852160" y="3017520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Calidad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7479792" y="3017520"/>
            <a:ext cx="1508760" cy="45720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7479792" y="3017520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🚚 Logística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MANUFACTURA · CAPACIDADES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6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Control de Producción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de Extremo a Extremo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365760" y="1600200"/>
            <a:ext cx="402336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365760" y="1600200"/>
            <a:ext cx="4023360" cy="347472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457200" y="16002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📋  Órdenes de Trabajo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502920" y="2002536"/>
            <a:ext cx="37490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›  Creación automática desde pedidos de venta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502920" y="2221992"/>
            <a:ext cx="37490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›  Asignación inteligente de operarios y máquinas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502920" y="2441448"/>
            <a:ext cx="37490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›  Seguimiento en tiempo real por turno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502920" y="2660904"/>
            <a:ext cx="37490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›  Reportes de eficiencia por operador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4663440" y="1600200"/>
            <a:ext cx="402336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4663440" y="1600200"/>
            <a:ext cx="4023360" cy="347472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4754880" y="16002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📦  Gestión de Inventario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4800600" y="2002536"/>
            <a:ext cx="37490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›  Control de materias primas y WIP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4800600" y="2221992"/>
            <a:ext cx="37490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›  Reabastecimiento automático por reglas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4800600" y="2441448"/>
            <a:ext cx="37490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›  Múltiples almacenes con ubicaciones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4800600" y="2660904"/>
            <a:ext cx="37490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›  Alertas de stock mínimo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365760" y="3108960"/>
            <a:ext cx="402336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6"/>
          <p:cNvSpPr/>
          <p:nvPr/>
        </p:nvSpPr>
        <p:spPr>
          <a:xfrm>
            <a:off x="365760" y="3108960"/>
            <a:ext cx="4023360" cy="347472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6"/>
          <p:cNvSpPr/>
          <p:nvPr/>
        </p:nvSpPr>
        <p:spPr>
          <a:xfrm>
            <a:off x="457200" y="310896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🔍  Trazabilidad Total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502920" y="3511296"/>
            <a:ext cx="37490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›  Seguimiento por lote y número de serie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502920" y="3730752"/>
            <a:ext cx="37490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›  Historial completo de cada componente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502920" y="3950208"/>
            <a:ext cx="37490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›  Rastreo hacia atrás y hacia adelante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502920" y="4169664"/>
            <a:ext cx="37490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›  Cumplimiento normativo facilitado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4663440" y="3108960"/>
            <a:ext cx="402336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4663440" y="3108960"/>
            <a:ext cx="4023360" cy="347472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6"/>
          <p:cNvSpPr/>
          <p:nvPr/>
        </p:nvSpPr>
        <p:spPr>
          <a:xfrm>
            <a:off x="4754880" y="310896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 Reportes y KPIs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4800600" y="3511296"/>
            <a:ext cx="37490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›  OEE (Eficiencia general de equipos)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4800600" y="3730752"/>
            <a:ext cx="37490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›  Costo real vs presupuestado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4800600" y="3950208"/>
            <a:ext cx="37490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›  Tiempo de ciclo por orden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4800600" y="4169664"/>
            <a:ext cx="37490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›  Dashboard en tiempo real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980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7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MANUFACTURA · MRP Y PLANEACIÓN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Planificación MRP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Materiales correctos · Cantidad exacta · Tiempo justo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365760" y="1828800"/>
            <a:ext cx="2743200" cy="118872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365760" y="19019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📄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868680" y="19202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Lista de Materiales (BoM)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502920" y="2286000"/>
            <a:ext cx="2514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Define componentes, cantidades y variantes por producto. Multi-nivel para productos complejos.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3273552" y="1828800"/>
            <a:ext cx="2743200" cy="118872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3273552" y="19019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3776472" y="19202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Planificación de Demanda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3410712" y="2286000"/>
            <a:ext cx="2514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Proyecta necesidades basadas en pedidos confirmados y previsiones de venta.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6181344" y="1828800"/>
            <a:ext cx="2743200" cy="118872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6181344" y="19019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📅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6684264" y="19202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Programación de Producción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6318504" y="2286000"/>
            <a:ext cx="2514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Genera órdenes de trabajo y de compra automáticamente según disponibilidad.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365760" y="3200400"/>
            <a:ext cx="2743200" cy="118872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365760" y="32735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868680" y="32918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Gestión de Capacidad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502920" y="3657600"/>
            <a:ext cx="2514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Controla cargas de trabajo por máquina y operario para evitar cuellos de botella.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3273552" y="3200400"/>
            <a:ext cx="2743200" cy="118872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3273552" y="32735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♻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3776472" y="32918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Reduce Desperdicios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3410712" y="3657600"/>
            <a:ext cx="2514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Optimiza el inventario de materias primas y reduce el exceso de stock hasta un 30%.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6181344" y="3200400"/>
            <a:ext cx="2743200" cy="118872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6181344" y="32735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🛒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6684264" y="32918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Integración con Compras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6318504" y="3657600"/>
            <a:ext cx="2514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Genera RFQs y órdenes de compra automáticas cuando el stock llega al mínimo.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8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RETAIL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8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0" y="502920"/>
            <a:ext cx="4114800" cy="4315968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46C2CE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274320" y="822960"/>
            <a:ext cx="34747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Odoo para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Retail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274320" y="187452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Todas tus tiendas en una sola plataforma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274320" y="2468880"/>
            <a:ext cx="1664208" cy="457200"/>
          </a:xfrm>
          <a:prstGeom prst="rect">
            <a:avLst/>
          </a:prstGeom>
          <a:solidFill>
            <a:srgbClr val="46C2CE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274320" y="2468880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💳 POS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2057400" y="2468880"/>
            <a:ext cx="1664208" cy="457200"/>
          </a:xfrm>
          <a:prstGeom prst="rect">
            <a:avLst/>
          </a:prstGeom>
          <a:solidFill>
            <a:srgbClr val="46C2CE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2057400" y="2468880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🌐 E-commerce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274320" y="3063240"/>
            <a:ext cx="1664208" cy="457200"/>
          </a:xfrm>
          <a:prstGeom prst="rect">
            <a:avLst/>
          </a:prstGeom>
          <a:solidFill>
            <a:srgbClr val="46C2CE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8"/>
          <p:cNvSpPr/>
          <p:nvPr/>
        </p:nvSpPr>
        <p:spPr>
          <a:xfrm>
            <a:off x="274320" y="3063240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📦 Inventario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2057400" y="3063240"/>
            <a:ext cx="1664208" cy="457200"/>
          </a:xfrm>
          <a:prstGeom prst="rect">
            <a:avLst/>
          </a:prstGeom>
          <a:solidFill>
            <a:srgbClr val="46C2CE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8"/>
          <p:cNvSpPr/>
          <p:nvPr/>
        </p:nvSpPr>
        <p:spPr>
          <a:xfrm>
            <a:off x="2057400" y="3063240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Ventas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274320" y="3657600"/>
            <a:ext cx="1664208" cy="457200"/>
          </a:xfrm>
          <a:prstGeom prst="rect">
            <a:avLst/>
          </a:prstGeom>
          <a:solidFill>
            <a:srgbClr val="46C2CE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8"/>
          <p:cNvSpPr/>
          <p:nvPr/>
        </p:nvSpPr>
        <p:spPr>
          <a:xfrm>
            <a:off x="274320" y="3657600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👥 CRM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2057400" y="3657600"/>
            <a:ext cx="1664208" cy="457200"/>
          </a:xfrm>
          <a:prstGeom prst="rect">
            <a:avLst/>
          </a:prstGeom>
          <a:solidFill>
            <a:srgbClr val="46C2CE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2057400" y="3657600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📧 Marketing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4389120" y="68580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¿Por qué Odoo para Retail?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4297680" y="1280160"/>
            <a:ext cx="4389120" cy="47548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4297680" y="1280160"/>
            <a:ext cx="45720" cy="475488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4370832" y="1280160"/>
            <a:ext cx="4114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📍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4800600" y="1298448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Punto de venta integrado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4800600" y="152704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POS conectado al inventario en tiempo real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4297680" y="1874520"/>
            <a:ext cx="4389120" cy="475488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8"/>
          <p:cNvSpPr/>
          <p:nvPr/>
        </p:nvSpPr>
        <p:spPr>
          <a:xfrm>
            <a:off x="4297680" y="1874520"/>
            <a:ext cx="45720" cy="475488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8"/>
          <p:cNvSpPr/>
          <p:nvPr/>
        </p:nvSpPr>
        <p:spPr>
          <a:xfrm>
            <a:off x="4370832" y="1874520"/>
            <a:ext cx="4114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4800600" y="1892808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Omnicanal unificado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4800600" y="212140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Tiendas físicas, online y distribuidores en uno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4297680" y="2468880"/>
            <a:ext cx="4389120" cy="47548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8"/>
          <p:cNvSpPr/>
          <p:nvPr/>
        </p:nvSpPr>
        <p:spPr>
          <a:xfrm>
            <a:off x="4297680" y="2468880"/>
            <a:ext cx="45720" cy="475488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8"/>
          <p:cNvSpPr/>
          <p:nvPr/>
        </p:nvSpPr>
        <p:spPr>
          <a:xfrm>
            <a:off x="4370832" y="2468880"/>
            <a:ext cx="4114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4800600" y="2487168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Inventario sincronizado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4800600" y="271576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Stock actualizado al instante en todos los canales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4297680" y="3063240"/>
            <a:ext cx="4389120" cy="475488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8"/>
          <p:cNvSpPr/>
          <p:nvPr/>
        </p:nvSpPr>
        <p:spPr>
          <a:xfrm>
            <a:off x="4297680" y="3063240"/>
            <a:ext cx="45720" cy="475488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8"/>
          <p:cNvSpPr/>
          <p:nvPr/>
        </p:nvSpPr>
        <p:spPr>
          <a:xfrm>
            <a:off x="4370832" y="3063240"/>
            <a:ext cx="4114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🎁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4800600" y="3081528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Promociones automáticas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4800600" y="331012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Descuentos y programas de lealtad inteligentes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4297680" y="3657600"/>
            <a:ext cx="4389120" cy="47548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8"/>
          <p:cNvSpPr/>
          <p:nvPr/>
        </p:nvSpPr>
        <p:spPr>
          <a:xfrm>
            <a:off x="4297680" y="3657600"/>
            <a:ext cx="45720" cy="475488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8"/>
          <p:cNvSpPr/>
          <p:nvPr/>
        </p:nvSpPr>
        <p:spPr>
          <a:xfrm>
            <a:off x="4370832" y="3657600"/>
            <a:ext cx="4114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4800600" y="3675888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Reportes por sucursal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4800600" y="390448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Rendimiento detallado por tienda y vendedor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9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RETAIL · PUNTO DE VENTA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9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9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Punto de Venta (POS)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Integrado con tu ERP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914400" y="14173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Sin sincronizaciones manuales. Sin doble captura. Sin errores.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365760" y="1874520"/>
            <a:ext cx="274320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9"/>
          <p:cNvSpPr/>
          <p:nvPr/>
        </p:nvSpPr>
        <p:spPr>
          <a:xfrm>
            <a:off x="365760" y="1874520"/>
            <a:ext cx="274320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9"/>
          <p:cNvSpPr/>
          <p:nvPr/>
        </p:nvSpPr>
        <p:spPr>
          <a:xfrm>
            <a:off x="365760" y="198424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💻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960120" y="201168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Funciona Online y Offline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475488" y="2423160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Nunca pierdas ventas por falta de internet. Sincroniza automáticamente al reconectar.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3273552" y="1874520"/>
            <a:ext cx="274320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9"/>
          <p:cNvSpPr/>
          <p:nvPr/>
        </p:nvSpPr>
        <p:spPr>
          <a:xfrm>
            <a:off x="3273552" y="1874520"/>
            <a:ext cx="274320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9"/>
          <p:cNvSpPr/>
          <p:nvPr/>
        </p:nvSpPr>
        <p:spPr>
          <a:xfrm>
            <a:off x="3273552" y="198424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3867912" y="201168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Inventario en Tiempo Real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3383280" y="2423160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Cada venta descuenta del stock al instante en todos tus almacenes y tiendas.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6181344" y="1874520"/>
            <a:ext cx="274320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6181344" y="1874520"/>
            <a:ext cx="274320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9"/>
          <p:cNvSpPr/>
          <p:nvPr/>
        </p:nvSpPr>
        <p:spPr>
          <a:xfrm>
            <a:off x="6181344" y="198424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💳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6775704" y="201168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Múltiples Formas de Pago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6291072" y="2423160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Efectivo, tarjeta, transferencia, vales y pagos combinados en un solo cobro.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365760" y="3291840"/>
            <a:ext cx="274320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9"/>
          <p:cNvSpPr/>
          <p:nvPr/>
        </p:nvSpPr>
        <p:spPr>
          <a:xfrm>
            <a:off x="365760" y="3291840"/>
            <a:ext cx="274320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365760" y="340156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🎁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960120" y="342900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Lealtad y Promociones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475488" y="3840480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Puntos automáticos, descuentos por volumen y cupones personalizados.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3273552" y="3291840"/>
            <a:ext cx="274320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9"/>
          <p:cNvSpPr/>
          <p:nvPr/>
        </p:nvSpPr>
        <p:spPr>
          <a:xfrm>
            <a:off x="3273552" y="3291840"/>
            <a:ext cx="274320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9"/>
          <p:cNvSpPr/>
          <p:nvPr/>
        </p:nvSpPr>
        <p:spPr>
          <a:xfrm>
            <a:off x="3273552" y="340156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3867912" y="342900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Reportes por Caja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3383280" y="3840480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Cierre diario automático con cuadre de caja, ventas por producto y vendedor.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6181344" y="3291840"/>
            <a:ext cx="274320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9"/>
          <p:cNvSpPr/>
          <p:nvPr/>
        </p:nvSpPr>
        <p:spPr>
          <a:xfrm>
            <a:off x="6181344" y="3291840"/>
            <a:ext cx="274320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9"/>
          <p:cNvSpPr/>
          <p:nvPr/>
        </p:nvSpPr>
        <p:spPr>
          <a:xfrm>
            <a:off x="6181344" y="340156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🖨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6775704" y="342900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Impresión de Tickets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6291072" y="3840480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Compatible con impresoras fiscales, etiquetas de precio y códigos de barras.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980"/>
        </a:solid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0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10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0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RETAIL · E-COMMERCE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 Tienda en Línea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Conectada a tu ERP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365760" y="1828800"/>
            <a:ext cx="4114800" cy="77724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0"/>
          <p:cNvSpPr/>
          <p:nvPr/>
        </p:nvSpPr>
        <p:spPr>
          <a:xfrm>
            <a:off x="365760" y="1828800"/>
            <a:ext cx="45720" cy="77724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0"/>
          <p:cNvSpPr/>
          <p:nvPr/>
        </p:nvSpPr>
        <p:spPr>
          <a:xfrm>
            <a:off x="457200" y="1828800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987552" y="1901952"/>
            <a:ext cx="34015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Tienda Odoo nativa o integración externa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987552" y="2176272"/>
            <a:ext cx="34015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Creamos tu tienda en línea conectada a Odoo o integramos con tu plataforma actual (Shopify, WooCommerce, etc.)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4754880" y="1828800"/>
            <a:ext cx="4114800" cy="77724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4754880" y="1828800"/>
            <a:ext cx="45720" cy="77724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0"/>
          <p:cNvSpPr/>
          <p:nvPr/>
        </p:nvSpPr>
        <p:spPr>
          <a:xfrm>
            <a:off x="4846320" y="1828800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5376672" y="1901952"/>
            <a:ext cx="34015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Sincronización automática de inventario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5376672" y="2176272"/>
            <a:ext cx="34015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Los productos, precios y stock se sincronizan en tiempo real entre tu ERP y tu tienda.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365760" y="2743200"/>
            <a:ext cx="4114800" cy="77724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0"/>
          <p:cNvSpPr/>
          <p:nvPr/>
        </p:nvSpPr>
        <p:spPr>
          <a:xfrm>
            <a:off x="365760" y="2743200"/>
            <a:ext cx="45720" cy="77724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0"/>
          <p:cNvSpPr/>
          <p:nvPr/>
        </p:nvSpPr>
        <p:spPr>
          <a:xfrm>
            <a:off x="457200" y="2743200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987552" y="2816352"/>
            <a:ext cx="34015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Carga masiva de productos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987552" y="3090672"/>
            <a:ext cx="34015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Importamos tu catálogo completo de manera rápida, incluso con web scraping.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4754880" y="2743200"/>
            <a:ext cx="4114800" cy="77724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0"/>
          <p:cNvSpPr/>
          <p:nvPr/>
        </p:nvSpPr>
        <p:spPr>
          <a:xfrm>
            <a:off x="4754880" y="2743200"/>
            <a:ext cx="45720" cy="77724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0"/>
          <p:cNvSpPr/>
          <p:nvPr/>
        </p:nvSpPr>
        <p:spPr>
          <a:xfrm>
            <a:off x="4846320" y="2743200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💳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5376672" y="2816352"/>
            <a:ext cx="34015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Pasarelas de pago integradas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5376672" y="3090672"/>
            <a:ext cx="34015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Stripe, PayPal, OXXO Pay, Conekta y más para maximizar conversiones.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365760" y="3657600"/>
            <a:ext cx="4114800" cy="77724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0"/>
          <p:cNvSpPr/>
          <p:nvPr/>
        </p:nvSpPr>
        <p:spPr>
          <a:xfrm>
            <a:off x="365760" y="3657600"/>
            <a:ext cx="45720" cy="77724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0"/>
          <p:cNvSpPr/>
          <p:nvPr/>
        </p:nvSpPr>
        <p:spPr>
          <a:xfrm>
            <a:off x="457200" y="3657600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987552" y="3730752"/>
            <a:ext cx="34015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Gestión unificada de pedidos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987552" y="4005072"/>
            <a:ext cx="34015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Los pedidos online y en tienda física se gestionan desde el mismo sistema.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4754880" y="3657600"/>
            <a:ext cx="4114800" cy="77724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0"/>
          <p:cNvSpPr/>
          <p:nvPr/>
        </p:nvSpPr>
        <p:spPr>
          <a:xfrm>
            <a:off x="4754880" y="3657600"/>
            <a:ext cx="45720" cy="77724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0"/>
          <p:cNvSpPr/>
          <p:nvPr/>
        </p:nvSpPr>
        <p:spPr>
          <a:xfrm>
            <a:off x="4846320" y="3657600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5376672" y="3730752"/>
            <a:ext cx="34015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Analytics de e-commerce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5376672" y="4005072"/>
            <a:ext cx="34015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Visualiza conversiones, abandono de carrito y productos más vendidos.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SOLUCIÓN INTEGRADA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1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11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Manufactura + Retail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914400" y="1188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Controla desde la materia prima hasta la venta final en un solo sistema integrado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274320" y="1783080"/>
            <a:ext cx="1280160" cy="128016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1"/>
          <p:cNvSpPr/>
          <p:nvPr/>
        </p:nvSpPr>
        <p:spPr>
          <a:xfrm>
            <a:off x="274320" y="178308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🏗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274320" y="242316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Materia Prima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5" name="Google Shape;445;p11"/>
          <p:cNvCxnSpPr/>
          <p:nvPr/>
        </p:nvCxnSpPr>
        <p:spPr>
          <a:xfrm>
            <a:off x="1554480" y="2423160"/>
            <a:ext cx="182880" cy="0"/>
          </a:xfrm>
          <a:prstGeom prst="straightConnector1">
            <a:avLst/>
          </a:prstGeom>
          <a:noFill/>
          <a:ln w="254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6" name="Google Shape;446;p11"/>
          <p:cNvSpPr/>
          <p:nvPr/>
        </p:nvSpPr>
        <p:spPr>
          <a:xfrm>
            <a:off x="1600200" y="2286000"/>
            <a:ext cx="137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1737360" y="1783080"/>
            <a:ext cx="1280160" cy="128016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1"/>
          <p:cNvSpPr/>
          <p:nvPr/>
        </p:nvSpPr>
        <p:spPr>
          <a:xfrm>
            <a:off x="1737360" y="178308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🏭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1737360" y="242316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Producción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0" name="Google Shape;450;p11"/>
          <p:cNvCxnSpPr/>
          <p:nvPr/>
        </p:nvCxnSpPr>
        <p:spPr>
          <a:xfrm>
            <a:off x="3017520" y="2423160"/>
            <a:ext cx="182880" cy="0"/>
          </a:xfrm>
          <a:prstGeom prst="straightConnector1">
            <a:avLst/>
          </a:prstGeom>
          <a:noFill/>
          <a:ln w="254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1" name="Google Shape;451;p11"/>
          <p:cNvSpPr/>
          <p:nvPr/>
        </p:nvSpPr>
        <p:spPr>
          <a:xfrm>
            <a:off x="3063240" y="2286000"/>
            <a:ext cx="137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3200400" y="1783080"/>
            <a:ext cx="1280160" cy="128016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1"/>
          <p:cNvSpPr/>
          <p:nvPr/>
        </p:nvSpPr>
        <p:spPr>
          <a:xfrm>
            <a:off x="3200400" y="178308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3200400" y="242316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Calidad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5" name="Google Shape;455;p11"/>
          <p:cNvCxnSpPr/>
          <p:nvPr/>
        </p:nvCxnSpPr>
        <p:spPr>
          <a:xfrm>
            <a:off x="4480560" y="2423160"/>
            <a:ext cx="182880" cy="0"/>
          </a:xfrm>
          <a:prstGeom prst="straightConnector1">
            <a:avLst/>
          </a:prstGeom>
          <a:noFill/>
          <a:ln w="254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6" name="Google Shape;456;p11"/>
          <p:cNvSpPr/>
          <p:nvPr/>
        </p:nvSpPr>
        <p:spPr>
          <a:xfrm>
            <a:off x="4526280" y="2286000"/>
            <a:ext cx="137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4663440" y="1783080"/>
            <a:ext cx="1280160" cy="128016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1"/>
          <p:cNvSpPr/>
          <p:nvPr/>
        </p:nvSpPr>
        <p:spPr>
          <a:xfrm>
            <a:off x="4663440" y="178308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4663440" y="242316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Almacén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Producto Terminado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0" name="Google Shape;460;p11"/>
          <p:cNvCxnSpPr/>
          <p:nvPr/>
        </p:nvCxnSpPr>
        <p:spPr>
          <a:xfrm>
            <a:off x="5943600" y="2423160"/>
            <a:ext cx="182880" cy="0"/>
          </a:xfrm>
          <a:prstGeom prst="straightConnector1">
            <a:avLst/>
          </a:prstGeom>
          <a:noFill/>
          <a:ln w="254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1" name="Google Shape;461;p11"/>
          <p:cNvSpPr/>
          <p:nvPr/>
        </p:nvSpPr>
        <p:spPr>
          <a:xfrm>
            <a:off x="5989320" y="2286000"/>
            <a:ext cx="137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6126480" y="1783080"/>
            <a:ext cx="1280160" cy="128016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1"/>
          <p:cNvSpPr/>
          <p:nvPr/>
        </p:nvSpPr>
        <p:spPr>
          <a:xfrm>
            <a:off x="6126480" y="178308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🛒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6126480" y="242316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Venta en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Tienda / POS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5" name="Google Shape;465;p11"/>
          <p:cNvCxnSpPr/>
          <p:nvPr/>
        </p:nvCxnSpPr>
        <p:spPr>
          <a:xfrm>
            <a:off x="7406640" y="2423160"/>
            <a:ext cx="182880" cy="0"/>
          </a:xfrm>
          <a:prstGeom prst="straightConnector1">
            <a:avLst/>
          </a:prstGeom>
          <a:noFill/>
          <a:ln w="254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6" name="Google Shape;466;p11"/>
          <p:cNvSpPr/>
          <p:nvPr/>
        </p:nvSpPr>
        <p:spPr>
          <a:xfrm>
            <a:off x="7452360" y="2286000"/>
            <a:ext cx="137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1"/>
          <p:cNvSpPr/>
          <p:nvPr/>
        </p:nvSpPr>
        <p:spPr>
          <a:xfrm>
            <a:off x="7589520" y="1783080"/>
            <a:ext cx="1280160" cy="128016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1"/>
          <p:cNvSpPr/>
          <p:nvPr/>
        </p:nvSpPr>
        <p:spPr>
          <a:xfrm>
            <a:off x="7589520" y="178308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1"/>
          <p:cNvSpPr/>
          <p:nvPr/>
        </p:nvSpPr>
        <p:spPr>
          <a:xfrm>
            <a:off x="7589520" y="242316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E-commerce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1"/>
          <p:cNvSpPr/>
          <p:nvPr/>
        </p:nvSpPr>
        <p:spPr>
          <a:xfrm>
            <a:off x="914400" y="32461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Todo conectado — Un solo sistema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1"/>
          <p:cNvSpPr/>
          <p:nvPr/>
        </p:nvSpPr>
        <p:spPr>
          <a:xfrm>
            <a:off x="457200" y="3749040"/>
            <a:ext cx="4114800" cy="365760"/>
          </a:xfrm>
          <a:prstGeom prst="rect">
            <a:avLst/>
          </a:prstGeom>
          <a:solidFill>
            <a:srgbClr val="E8F4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1"/>
          <p:cNvSpPr/>
          <p:nvPr/>
        </p:nvSpPr>
        <p:spPr>
          <a:xfrm>
            <a:off x="548640" y="3749040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✓  Sin doble captura entre producción y ventas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1"/>
          <p:cNvSpPr/>
          <p:nvPr/>
        </p:nvSpPr>
        <p:spPr>
          <a:xfrm>
            <a:off x="4846320" y="3749040"/>
            <a:ext cx="4114800" cy="365760"/>
          </a:xfrm>
          <a:prstGeom prst="rect">
            <a:avLst/>
          </a:prstGeom>
          <a:solidFill>
            <a:srgbClr val="EEF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1"/>
          <p:cNvSpPr/>
          <p:nvPr/>
        </p:nvSpPr>
        <p:spPr>
          <a:xfrm>
            <a:off x="4937760" y="3749040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✓  Costeo real desde materia prima hasta precio de venta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1"/>
          <p:cNvSpPr/>
          <p:nvPr/>
        </p:nvSpPr>
        <p:spPr>
          <a:xfrm>
            <a:off x="457200" y="4187952"/>
            <a:ext cx="4114800" cy="365760"/>
          </a:xfrm>
          <a:prstGeom prst="rect">
            <a:avLst/>
          </a:prstGeom>
          <a:solidFill>
            <a:srgbClr val="E8F4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1"/>
          <p:cNvSpPr/>
          <p:nvPr/>
        </p:nvSpPr>
        <p:spPr>
          <a:xfrm>
            <a:off x="548640" y="4187952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✓  Trazabilidad completa del producto vendido al cliente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1"/>
          <p:cNvSpPr/>
          <p:nvPr/>
        </p:nvSpPr>
        <p:spPr>
          <a:xfrm>
            <a:off x="4846320" y="4187952"/>
            <a:ext cx="4114800" cy="365760"/>
          </a:xfrm>
          <a:prstGeom prst="rect">
            <a:avLst/>
          </a:prstGeom>
          <a:solidFill>
            <a:srgbClr val="EEF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1"/>
          <p:cNvSpPr/>
          <p:nvPr/>
        </p:nvSpPr>
        <p:spPr>
          <a:xfrm>
            <a:off x="4937760" y="4187952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✓  Reabastecimiento automático basado en ventas reales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PLATAFORMA ODOO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2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12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Todos tus Procesos en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una Sola Plataforma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274320" y="1600200"/>
            <a:ext cx="1572768" cy="438912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2"/>
          <p:cNvSpPr/>
          <p:nvPr/>
        </p:nvSpPr>
        <p:spPr>
          <a:xfrm>
            <a:off x="274320" y="1600200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 Operaciones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274320" y="2075688"/>
            <a:ext cx="157276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2"/>
          <p:cNvSpPr/>
          <p:nvPr/>
        </p:nvSpPr>
        <p:spPr>
          <a:xfrm>
            <a:off x="274320" y="2075688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Fabricación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274320" y="2578608"/>
            <a:ext cx="1572768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12"/>
          <p:cNvSpPr/>
          <p:nvPr/>
        </p:nvSpPr>
        <p:spPr>
          <a:xfrm>
            <a:off x="274320" y="2578608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MRP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274320" y="3081528"/>
            <a:ext cx="157276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2"/>
          <p:cNvSpPr/>
          <p:nvPr/>
        </p:nvSpPr>
        <p:spPr>
          <a:xfrm>
            <a:off x="274320" y="3081528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Inventario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274320" y="3584448"/>
            <a:ext cx="1572768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2"/>
          <p:cNvSpPr/>
          <p:nvPr/>
        </p:nvSpPr>
        <p:spPr>
          <a:xfrm>
            <a:off x="274320" y="3584448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Compras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274320" y="4087368"/>
            <a:ext cx="157276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2"/>
          <p:cNvSpPr/>
          <p:nvPr/>
        </p:nvSpPr>
        <p:spPr>
          <a:xfrm>
            <a:off x="274320" y="4087368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Calidad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1993392" y="1600200"/>
            <a:ext cx="1572768" cy="438912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12"/>
          <p:cNvSpPr/>
          <p:nvPr/>
        </p:nvSpPr>
        <p:spPr>
          <a:xfrm>
            <a:off x="1993392" y="1600200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💰 Ventas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1993392" y="2075688"/>
            <a:ext cx="157276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2"/>
          <p:cNvSpPr/>
          <p:nvPr/>
        </p:nvSpPr>
        <p:spPr>
          <a:xfrm>
            <a:off x="1993392" y="2075688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CRM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1993392" y="2578608"/>
            <a:ext cx="1572768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12"/>
          <p:cNvSpPr/>
          <p:nvPr/>
        </p:nvSpPr>
        <p:spPr>
          <a:xfrm>
            <a:off x="1993392" y="2578608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Ventas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2"/>
          <p:cNvSpPr/>
          <p:nvPr/>
        </p:nvSpPr>
        <p:spPr>
          <a:xfrm>
            <a:off x="1993392" y="3081528"/>
            <a:ext cx="157276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2"/>
          <p:cNvSpPr/>
          <p:nvPr/>
        </p:nvSpPr>
        <p:spPr>
          <a:xfrm>
            <a:off x="1993392" y="3081528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POS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1993392" y="3584448"/>
            <a:ext cx="1572768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12"/>
          <p:cNvSpPr/>
          <p:nvPr/>
        </p:nvSpPr>
        <p:spPr>
          <a:xfrm>
            <a:off x="1993392" y="3584448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E-commerce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1993392" y="4087368"/>
            <a:ext cx="157276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12"/>
          <p:cNvSpPr/>
          <p:nvPr/>
        </p:nvSpPr>
        <p:spPr>
          <a:xfrm>
            <a:off x="1993392" y="4087368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Suscripciones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3712464" y="1600200"/>
            <a:ext cx="1572768" cy="438912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12"/>
          <p:cNvSpPr/>
          <p:nvPr/>
        </p:nvSpPr>
        <p:spPr>
          <a:xfrm>
            <a:off x="3712464" y="1600200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Finanzas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2"/>
          <p:cNvSpPr/>
          <p:nvPr/>
        </p:nvSpPr>
        <p:spPr>
          <a:xfrm>
            <a:off x="3712464" y="2075688"/>
            <a:ext cx="157276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2"/>
          <p:cNvSpPr/>
          <p:nvPr/>
        </p:nvSpPr>
        <p:spPr>
          <a:xfrm>
            <a:off x="3712464" y="2075688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Contabilidad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2"/>
          <p:cNvSpPr/>
          <p:nvPr/>
        </p:nvSpPr>
        <p:spPr>
          <a:xfrm>
            <a:off x="3712464" y="2578608"/>
            <a:ext cx="1572768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12"/>
          <p:cNvSpPr/>
          <p:nvPr/>
        </p:nvSpPr>
        <p:spPr>
          <a:xfrm>
            <a:off x="3712464" y="2578608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Facturación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3712464" y="3081528"/>
            <a:ext cx="157276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2"/>
          <p:cNvSpPr/>
          <p:nvPr/>
        </p:nvSpPr>
        <p:spPr>
          <a:xfrm>
            <a:off x="3712464" y="3081528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Gastos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2"/>
          <p:cNvSpPr/>
          <p:nvPr/>
        </p:nvSpPr>
        <p:spPr>
          <a:xfrm>
            <a:off x="3712464" y="3584448"/>
            <a:ext cx="1572768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2"/>
          <p:cNvSpPr/>
          <p:nvPr/>
        </p:nvSpPr>
        <p:spPr>
          <a:xfrm>
            <a:off x="3712464" y="3584448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Nómina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3712464" y="4087368"/>
            <a:ext cx="157276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12"/>
          <p:cNvSpPr/>
          <p:nvPr/>
        </p:nvSpPr>
        <p:spPr>
          <a:xfrm>
            <a:off x="3712464" y="4087368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CFDI 4.0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2"/>
          <p:cNvSpPr/>
          <p:nvPr/>
        </p:nvSpPr>
        <p:spPr>
          <a:xfrm>
            <a:off x="5431536" y="1600200"/>
            <a:ext cx="1572768" cy="438912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12"/>
          <p:cNvSpPr/>
          <p:nvPr/>
        </p:nvSpPr>
        <p:spPr>
          <a:xfrm>
            <a:off x="5431536" y="1600200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📣 Marketing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2"/>
          <p:cNvSpPr/>
          <p:nvPr/>
        </p:nvSpPr>
        <p:spPr>
          <a:xfrm>
            <a:off x="5431536" y="2075688"/>
            <a:ext cx="157276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2"/>
          <p:cNvSpPr/>
          <p:nvPr/>
        </p:nvSpPr>
        <p:spPr>
          <a:xfrm>
            <a:off x="5431536" y="2075688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Email Marketing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2"/>
          <p:cNvSpPr/>
          <p:nvPr/>
        </p:nvSpPr>
        <p:spPr>
          <a:xfrm>
            <a:off x="5431536" y="2578608"/>
            <a:ext cx="1572768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12"/>
          <p:cNvSpPr/>
          <p:nvPr/>
        </p:nvSpPr>
        <p:spPr>
          <a:xfrm>
            <a:off x="5431536" y="2578608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SMS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2"/>
          <p:cNvSpPr/>
          <p:nvPr/>
        </p:nvSpPr>
        <p:spPr>
          <a:xfrm>
            <a:off x="5431536" y="3081528"/>
            <a:ext cx="157276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12"/>
          <p:cNvSpPr/>
          <p:nvPr/>
        </p:nvSpPr>
        <p:spPr>
          <a:xfrm>
            <a:off x="5431536" y="3081528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Redes Sociales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2"/>
          <p:cNvSpPr/>
          <p:nvPr/>
        </p:nvSpPr>
        <p:spPr>
          <a:xfrm>
            <a:off x="5431536" y="3584448"/>
            <a:ext cx="1572768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12"/>
          <p:cNvSpPr/>
          <p:nvPr/>
        </p:nvSpPr>
        <p:spPr>
          <a:xfrm>
            <a:off x="5431536" y="3584448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Encuestas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2"/>
          <p:cNvSpPr/>
          <p:nvPr/>
        </p:nvSpPr>
        <p:spPr>
          <a:xfrm>
            <a:off x="5431536" y="4087368"/>
            <a:ext cx="157276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12"/>
          <p:cNvSpPr/>
          <p:nvPr/>
        </p:nvSpPr>
        <p:spPr>
          <a:xfrm>
            <a:off x="5431536" y="4087368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Eventos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2"/>
          <p:cNvSpPr/>
          <p:nvPr/>
        </p:nvSpPr>
        <p:spPr>
          <a:xfrm>
            <a:off x="7150608" y="1600200"/>
            <a:ext cx="1572768" cy="438912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12"/>
          <p:cNvSpPr/>
          <p:nvPr/>
        </p:nvSpPr>
        <p:spPr>
          <a:xfrm>
            <a:off x="7150608" y="1600200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🚀 Productividad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2"/>
          <p:cNvSpPr/>
          <p:nvPr/>
        </p:nvSpPr>
        <p:spPr>
          <a:xfrm>
            <a:off x="7150608" y="2075688"/>
            <a:ext cx="157276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12"/>
          <p:cNvSpPr/>
          <p:nvPr/>
        </p:nvSpPr>
        <p:spPr>
          <a:xfrm>
            <a:off x="7150608" y="2075688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Proyectos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2"/>
          <p:cNvSpPr/>
          <p:nvPr/>
        </p:nvSpPr>
        <p:spPr>
          <a:xfrm>
            <a:off x="7150608" y="2578608"/>
            <a:ext cx="1572768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12"/>
          <p:cNvSpPr/>
          <p:nvPr/>
        </p:nvSpPr>
        <p:spPr>
          <a:xfrm>
            <a:off x="7150608" y="2578608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Tareas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2"/>
          <p:cNvSpPr/>
          <p:nvPr/>
        </p:nvSpPr>
        <p:spPr>
          <a:xfrm>
            <a:off x="7150608" y="3081528"/>
            <a:ext cx="157276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12"/>
          <p:cNvSpPr/>
          <p:nvPr/>
        </p:nvSpPr>
        <p:spPr>
          <a:xfrm>
            <a:off x="7150608" y="3081528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Calendario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2"/>
          <p:cNvSpPr/>
          <p:nvPr/>
        </p:nvSpPr>
        <p:spPr>
          <a:xfrm>
            <a:off x="7150608" y="3584448"/>
            <a:ext cx="1572768" cy="4389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12"/>
          <p:cNvSpPr/>
          <p:nvPr/>
        </p:nvSpPr>
        <p:spPr>
          <a:xfrm>
            <a:off x="7150608" y="3584448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Discuss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2"/>
          <p:cNvSpPr/>
          <p:nvPr/>
        </p:nvSpPr>
        <p:spPr>
          <a:xfrm>
            <a:off x="7150608" y="4087368"/>
            <a:ext cx="157276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12"/>
          <p:cNvSpPr/>
          <p:nvPr/>
        </p:nvSpPr>
        <p:spPr>
          <a:xfrm>
            <a:off x="7150608" y="4087368"/>
            <a:ext cx="15727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Helpdesk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2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Deja de usar múltiples sistemas · Un solo login · Un solo proveedor · Cero silos de datos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1A56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13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3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13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13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NUESTROS SERVICIOS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3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Servicios que Garantizan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 Éxito con Odoo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3"/>
          <p:cNvSpPr/>
          <p:nvPr/>
        </p:nvSpPr>
        <p:spPr>
          <a:xfrm>
            <a:off x="365760" y="1783080"/>
            <a:ext cx="2697480" cy="128016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13"/>
          <p:cNvSpPr/>
          <p:nvPr/>
        </p:nvSpPr>
        <p:spPr>
          <a:xfrm>
            <a:off x="365760" y="1783080"/>
            <a:ext cx="269748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13"/>
          <p:cNvSpPr/>
          <p:nvPr/>
        </p:nvSpPr>
        <p:spPr>
          <a:xfrm>
            <a:off x="365760" y="18745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3"/>
          <p:cNvSpPr/>
          <p:nvPr/>
        </p:nvSpPr>
        <p:spPr>
          <a:xfrm>
            <a:off x="987552" y="1892808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Odoo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3"/>
          <p:cNvSpPr/>
          <p:nvPr/>
        </p:nvSpPr>
        <p:spPr>
          <a:xfrm>
            <a:off x="502920" y="2404872"/>
            <a:ext cx="245059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BCCE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BCCEE"/>
                </a:solidFill>
                <a:latin typeface="Calibri"/>
                <a:ea typeface="Calibri"/>
                <a:cs typeface="Calibri"/>
                <a:sym typeface="Calibri"/>
              </a:rPr>
              <a:t>Configuración completa y personalizada para tu industria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3"/>
          <p:cNvSpPr/>
          <p:nvPr/>
        </p:nvSpPr>
        <p:spPr>
          <a:xfrm>
            <a:off x="3246120" y="1783080"/>
            <a:ext cx="2697480" cy="128016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3"/>
          <p:cNvSpPr/>
          <p:nvPr/>
        </p:nvSpPr>
        <p:spPr>
          <a:xfrm>
            <a:off x="3246120" y="1783080"/>
            <a:ext cx="269748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13"/>
          <p:cNvSpPr/>
          <p:nvPr/>
        </p:nvSpPr>
        <p:spPr>
          <a:xfrm>
            <a:off x="3246120" y="18745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💻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3"/>
          <p:cNvSpPr/>
          <p:nvPr/>
        </p:nvSpPr>
        <p:spPr>
          <a:xfrm>
            <a:off x="3867912" y="1892808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Medida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3"/>
          <p:cNvSpPr/>
          <p:nvPr/>
        </p:nvSpPr>
        <p:spPr>
          <a:xfrm>
            <a:off x="3383280" y="2404872"/>
            <a:ext cx="245059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BCCE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BCCEE"/>
                </a:solidFill>
                <a:latin typeface="Calibri"/>
                <a:ea typeface="Calibri"/>
                <a:cs typeface="Calibri"/>
                <a:sym typeface="Calibri"/>
              </a:rPr>
              <a:t>Módulos, reportes e integraciones únicas para tu operación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3"/>
          <p:cNvSpPr/>
          <p:nvPr/>
        </p:nvSpPr>
        <p:spPr>
          <a:xfrm>
            <a:off x="6126480" y="1783080"/>
            <a:ext cx="2697480" cy="128016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13"/>
          <p:cNvSpPr/>
          <p:nvPr/>
        </p:nvSpPr>
        <p:spPr>
          <a:xfrm>
            <a:off x="6126480" y="1783080"/>
            <a:ext cx="269748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13"/>
          <p:cNvSpPr/>
          <p:nvPr/>
        </p:nvSpPr>
        <p:spPr>
          <a:xfrm>
            <a:off x="6126480" y="18745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🎓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3"/>
          <p:cNvSpPr/>
          <p:nvPr/>
        </p:nvSpPr>
        <p:spPr>
          <a:xfrm>
            <a:off x="6748272" y="1892808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Consultoría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 Capacitación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3"/>
          <p:cNvSpPr/>
          <p:nvPr/>
        </p:nvSpPr>
        <p:spPr>
          <a:xfrm>
            <a:off x="6263640" y="2404872"/>
            <a:ext cx="245059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BCCE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BCCEE"/>
                </a:solidFill>
                <a:latin typeface="Calibri"/>
                <a:ea typeface="Calibri"/>
                <a:cs typeface="Calibri"/>
                <a:sym typeface="Calibri"/>
              </a:rPr>
              <a:t>Análisis de procesos y formación completa de tu equipo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3"/>
          <p:cNvSpPr/>
          <p:nvPr/>
        </p:nvSpPr>
        <p:spPr>
          <a:xfrm>
            <a:off x="365760" y="3246120"/>
            <a:ext cx="2697480" cy="128016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13"/>
          <p:cNvSpPr/>
          <p:nvPr/>
        </p:nvSpPr>
        <p:spPr>
          <a:xfrm>
            <a:off x="365760" y="3246120"/>
            <a:ext cx="269748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13"/>
          <p:cNvSpPr/>
          <p:nvPr/>
        </p:nvSpPr>
        <p:spPr>
          <a:xfrm>
            <a:off x="365760" y="33375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3"/>
          <p:cNvSpPr/>
          <p:nvPr/>
        </p:nvSpPr>
        <p:spPr>
          <a:xfrm>
            <a:off x="987552" y="3355848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E-commerce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 Tiendas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3"/>
          <p:cNvSpPr/>
          <p:nvPr/>
        </p:nvSpPr>
        <p:spPr>
          <a:xfrm>
            <a:off x="502920" y="3867912"/>
            <a:ext cx="245059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BCCE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BCCEE"/>
                </a:solidFill>
                <a:latin typeface="Calibri"/>
                <a:ea typeface="Calibri"/>
                <a:cs typeface="Calibri"/>
                <a:sym typeface="Calibri"/>
              </a:rPr>
              <a:t>Tu tienda en línea conectada al ERP con catálogos y pagos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3"/>
          <p:cNvSpPr/>
          <p:nvPr/>
        </p:nvSpPr>
        <p:spPr>
          <a:xfrm>
            <a:off x="3246120" y="3246120"/>
            <a:ext cx="2697480" cy="128016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13"/>
          <p:cNvSpPr/>
          <p:nvPr/>
        </p:nvSpPr>
        <p:spPr>
          <a:xfrm>
            <a:off x="3246120" y="3246120"/>
            <a:ext cx="269748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13"/>
          <p:cNvSpPr/>
          <p:nvPr/>
        </p:nvSpPr>
        <p:spPr>
          <a:xfrm>
            <a:off x="3246120" y="33375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🔧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3"/>
          <p:cNvSpPr/>
          <p:nvPr/>
        </p:nvSpPr>
        <p:spPr>
          <a:xfrm>
            <a:off x="3867912" y="3355848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Soporte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Técnico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3"/>
          <p:cNvSpPr/>
          <p:nvPr/>
        </p:nvSpPr>
        <p:spPr>
          <a:xfrm>
            <a:off x="3383280" y="3867912"/>
            <a:ext cx="245059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BCCE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BCCEE"/>
                </a:solidFill>
                <a:latin typeface="Calibri"/>
                <a:ea typeface="Calibri"/>
                <a:cs typeface="Calibri"/>
                <a:sym typeface="Calibri"/>
              </a:rPr>
              <a:t>Pólizas mensuales con respuesta garantizada en 2 horas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3"/>
          <p:cNvSpPr/>
          <p:nvPr/>
        </p:nvSpPr>
        <p:spPr>
          <a:xfrm>
            <a:off x="6126480" y="3246120"/>
            <a:ext cx="2697480" cy="128016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13"/>
          <p:cNvSpPr/>
          <p:nvPr/>
        </p:nvSpPr>
        <p:spPr>
          <a:xfrm>
            <a:off x="6126480" y="3246120"/>
            <a:ext cx="269748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13"/>
          <p:cNvSpPr/>
          <p:nvPr/>
        </p:nvSpPr>
        <p:spPr>
          <a:xfrm>
            <a:off x="6126480" y="33375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📣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3"/>
          <p:cNvSpPr/>
          <p:nvPr/>
        </p:nvSpPr>
        <p:spPr>
          <a:xfrm>
            <a:off x="6748272" y="3355848"/>
            <a:ext cx="19933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Automatizado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3"/>
          <p:cNvSpPr/>
          <p:nvPr/>
        </p:nvSpPr>
        <p:spPr>
          <a:xfrm>
            <a:off x="6263640" y="3867912"/>
            <a:ext cx="245059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BCCE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BCCEE"/>
                </a:solidFill>
                <a:latin typeface="Calibri"/>
                <a:ea typeface="Calibri"/>
                <a:cs typeface="Calibri"/>
                <a:sym typeface="Calibri"/>
              </a:rPr>
              <a:t>Campañas de email y SMS desde tu base de datos Odoo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14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SERVICIOS · IMPLEMENTACIÓN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14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4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14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4"/>
          <p:cNvSpPr/>
          <p:nvPr/>
        </p:nvSpPr>
        <p:spPr>
          <a:xfrm>
            <a:off x="0" y="502920"/>
            <a:ext cx="3931920" cy="4315968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14"/>
          <p:cNvSpPr/>
          <p:nvPr/>
        </p:nvSpPr>
        <p:spPr>
          <a:xfrm>
            <a:off x="2743200" y="3200400"/>
            <a:ext cx="2286000" cy="2286000"/>
          </a:xfrm>
          <a:prstGeom prst="ellipse">
            <a:avLst/>
          </a:prstGeom>
          <a:solidFill>
            <a:srgbClr val="7F52A0">
              <a:alpha val="2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14"/>
          <p:cNvSpPr/>
          <p:nvPr/>
        </p:nvSpPr>
        <p:spPr>
          <a:xfrm>
            <a:off x="274320" y="822960"/>
            <a:ext cx="33832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Odoo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4"/>
          <p:cNvSpPr/>
          <p:nvPr/>
        </p:nvSpPr>
        <p:spPr>
          <a:xfrm>
            <a:off x="274320" y="182880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Desde el análisis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hasta el arranque productivo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4"/>
          <p:cNvSpPr/>
          <p:nvPr/>
        </p:nvSpPr>
        <p:spPr>
          <a:xfrm>
            <a:off x="274320" y="265176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3-6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4"/>
          <p:cNvSpPr/>
          <p:nvPr/>
        </p:nvSpPr>
        <p:spPr>
          <a:xfrm>
            <a:off x="1645920" y="2679192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meses de duración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4"/>
          <p:cNvSpPr/>
          <p:nvPr/>
        </p:nvSpPr>
        <p:spPr>
          <a:xfrm>
            <a:off x="274320" y="320040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2 meses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4"/>
          <p:cNvSpPr/>
          <p:nvPr/>
        </p:nvSpPr>
        <p:spPr>
          <a:xfrm>
            <a:off x="1645920" y="3227832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de garantía incluida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4"/>
          <p:cNvSpPr/>
          <p:nvPr/>
        </p:nvSpPr>
        <p:spPr>
          <a:xfrm>
            <a:off x="274320" y="374904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+60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4"/>
          <p:cNvSpPr/>
          <p:nvPr/>
        </p:nvSpPr>
        <p:spPr>
          <a:xfrm>
            <a:off x="1645920" y="3776472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implementaciones exitosas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4"/>
          <p:cNvSpPr/>
          <p:nvPr/>
        </p:nvSpPr>
        <p:spPr>
          <a:xfrm>
            <a:off x="4206240" y="6858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¿Qué incluye?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4"/>
          <p:cNvSpPr/>
          <p:nvPr/>
        </p:nvSpPr>
        <p:spPr>
          <a:xfrm>
            <a:off x="4206240" y="1280160"/>
            <a:ext cx="4526280" cy="393192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14"/>
          <p:cNvSpPr/>
          <p:nvPr/>
        </p:nvSpPr>
        <p:spPr>
          <a:xfrm>
            <a:off x="4206240" y="1280160"/>
            <a:ext cx="45720" cy="393192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14"/>
          <p:cNvSpPr/>
          <p:nvPr/>
        </p:nvSpPr>
        <p:spPr>
          <a:xfrm>
            <a:off x="4315968" y="1280160"/>
            <a:ext cx="434340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✓  Levantamiento presencial de procesos en tu planta u oficina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4"/>
          <p:cNvSpPr/>
          <p:nvPr/>
        </p:nvSpPr>
        <p:spPr>
          <a:xfrm>
            <a:off x="4206240" y="1737360"/>
            <a:ext cx="45262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14"/>
          <p:cNvSpPr/>
          <p:nvPr/>
        </p:nvSpPr>
        <p:spPr>
          <a:xfrm>
            <a:off x="4206240" y="1737360"/>
            <a:ext cx="45720" cy="393192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14"/>
          <p:cNvSpPr/>
          <p:nvPr/>
        </p:nvSpPr>
        <p:spPr>
          <a:xfrm>
            <a:off x="4315968" y="1737360"/>
            <a:ext cx="434340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✓  Configuración de todos los módulos necesarios para tu operación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4"/>
          <p:cNvSpPr/>
          <p:nvPr/>
        </p:nvSpPr>
        <p:spPr>
          <a:xfrm>
            <a:off x="4206240" y="2194560"/>
            <a:ext cx="4526280" cy="393192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14"/>
          <p:cNvSpPr/>
          <p:nvPr/>
        </p:nvSpPr>
        <p:spPr>
          <a:xfrm>
            <a:off x="4206240" y="2194560"/>
            <a:ext cx="45720" cy="393192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14"/>
          <p:cNvSpPr/>
          <p:nvPr/>
        </p:nvSpPr>
        <p:spPr>
          <a:xfrm>
            <a:off x="4315968" y="2194560"/>
            <a:ext cx="434340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✓  Migración segura de datos históricos y maestros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4"/>
          <p:cNvSpPr/>
          <p:nvPr/>
        </p:nvSpPr>
        <p:spPr>
          <a:xfrm>
            <a:off x="4206240" y="2651760"/>
            <a:ext cx="45262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14"/>
          <p:cNvSpPr/>
          <p:nvPr/>
        </p:nvSpPr>
        <p:spPr>
          <a:xfrm>
            <a:off x="4206240" y="2651760"/>
            <a:ext cx="45720" cy="393192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14"/>
          <p:cNvSpPr/>
          <p:nvPr/>
        </p:nvSpPr>
        <p:spPr>
          <a:xfrm>
            <a:off x="4315968" y="2651760"/>
            <a:ext cx="434340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✓  Capacitación completa del equipo en el sistema configurado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4"/>
          <p:cNvSpPr/>
          <p:nvPr/>
        </p:nvSpPr>
        <p:spPr>
          <a:xfrm>
            <a:off x="4206240" y="3108960"/>
            <a:ext cx="4526280" cy="393192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14"/>
          <p:cNvSpPr/>
          <p:nvPr/>
        </p:nvSpPr>
        <p:spPr>
          <a:xfrm>
            <a:off x="4206240" y="3108960"/>
            <a:ext cx="45720" cy="393192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14"/>
          <p:cNvSpPr/>
          <p:nvPr/>
        </p:nvSpPr>
        <p:spPr>
          <a:xfrm>
            <a:off x="4315968" y="3108960"/>
            <a:ext cx="434340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✓  Acompañamiento en sitio durante el arranque productivo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4"/>
          <p:cNvSpPr/>
          <p:nvPr/>
        </p:nvSpPr>
        <p:spPr>
          <a:xfrm>
            <a:off x="4206240" y="3566160"/>
            <a:ext cx="45262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14"/>
          <p:cNvSpPr/>
          <p:nvPr/>
        </p:nvSpPr>
        <p:spPr>
          <a:xfrm>
            <a:off x="4206240" y="3566160"/>
            <a:ext cx="45720" cy="393192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14"/>
          <p:cNvSpPr/>
          <p:nvPr/>
        </p:nvSpPr>
        <p:spPr>
          <a:xfrm>
            <a:off x="4315968" y="3566160"/>
            <a:ext cx="434340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✓  2 meses de soporte post-arranque sin costo adicional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4"/>
          <p:cNvSpPr/>
          <p:nvPr/>
        </p:nvSpPr>
        <p:spPr>
          <a:xfrm>
            <a:off x="4206240" y="4023360"/>
            <a:ext cx="4526280" cy="393192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14"/>
          <p:cNvSpPr/>
          <p:nvPr/>
        </p:nvSpPr>
        <p:spPr>
          <a:xfrm>
            <a:off x="4206240" y="4023360"/>
            <a:ext cx="45720" cy="393192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14"/>
          <p:cNvSpPr/>
          <p:nvPr/>
        </p:nvSpPr>
        <p:spPr>
          <a:xfrm>
            <a:off x="4315968" y="4023360"/>
            <a:ext cx="434340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✓  Garantía de arranque o devolvemos tu inversión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5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15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SERVICIOS · DESARROLLO A MEDIDA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15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5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15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5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Desarrollos sin Límites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5"/>
          <p:cNvSpPr/>
          <p:nvPr/>
        </p:nvSpPr>
        <p:spPr>
          <a:xfrm>
            <a:off x="914400" y="1188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¿Necesitas algo que Odoo no hace por defecto? Lo desarrollamos.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5"/>
          <p:cNvSpPr/>
          <p:nvPr/>
        </p:nvSpPr>
        <p:spPr>
          <a:xfrm>
            <a:off x="3200400" y="1664208"/>
            <a:ext cx="2743200" cy="54864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15"/>
          <p:cNvSpPr/>
          <p:nvPr/>
        </p:nvSpPr>
        <p:spPr>
          <a:xfrm>
            <a:off x="3200400" y="1664208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+100 desarrollos personalizados entregados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5"/>
          <p:cNvSpPr/>
          <p:nvPr/>
        </p:nvSpPr>
        <p:spPr>
          <a:xfrm>
            <a:off x="365760" y="2423160"/>
            <a:ext cx="2743200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15"/>
          <p:cNvSpPr/>
          <p:nvPr/>
        </p:nvSpPr>
        <p:spPr>
          <a:xfrm>
            <a:off x="365760" y="2423160"/>
            <a:ext cx="54864" cy="1078992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15"/>
          <p:cNvSpPr/>
          <p:nvPr/>
        </p:nvSpPr>
        <p:spPr>
          <a:xfrm>
            <a:off x="457200" y="2423160"/>
            <a:ext cx="594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5"/>
          <p:cNvSpPr/>
          <p:nvPr/>
        </p:nvSpPr>
        <p:spPr>
          <a:xfrm>
            <a:off x="1051560" y="251460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Reportes Personalizados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5"/>
          <p:cNvSpPr/>
          <p:nvPr/>
        </p:nvSpPr>
        <p:spPr>
          <a:xfrm>
            <a:off x="457200" y="2898648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PDF, Excel y dashboards con KPIs específicos de tu operación y diseño de marca.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5"/>
          <p:cNvSpPr/>
          <p:nvPr/>
        </p:nvSpPr>
        <p:spPr>
          <a:xfrm>
            <a:off x="3273552" y="2423160"/>
            <a:ext cx="2743200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15"/>
          <p:cNvSpPr/>
          <p:nvPr/>
        </p:nvSpPr>
        <p:spPr>
          <a:xfrm>
            <a:off x="3273552" y="2423160"/>
            <a:ext cx="54864" cy="1078992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15"/>
          <p:cNvSpPr/>
          <p:nvPr/>
        </p:nvSpPr>
        <p:spPr>
          <a:xfrm>
            <a:off x="3364992" y="2423160"/>
            <a:ext cx="594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5"/>
          <p:cNvSpPr/>
          <p:nvPr/>
        </p:nvSpPr>
        <p:spPr>
          <a:xfrm>
            <a:off x="3959352" y="251460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Integraciones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5"/>
          <p:cNvSpPr/>
          <p:nvPr/>
        </p:nvSpPr>
        <p:spPr>
          <a:xfrm>
            <a:off x="3364992" y="2898648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Conectamos Odoo con SAP, sistemas de nómina, marketplaces, bancos y APIs externas.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5"/>
          <p:cNvSpPr/>
          <p:nvPr/>
        </p:nvSpPr>
        <p:spPr>
          <a:xfrm>
            <a:off x="6181344" y="2423160"/>
            <a:ext cx="2743200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15"/>
          <p:cNvSpPr/>
          <p:nvPr/>
        </p:nvSpPr>
        <p:spPr>
          <a:xfrm>
            <a:off x="6181344" y="2423160"/>
            <a:ext cx="54864" cy="1078992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15"/>
          <p:cNvSpPr/>
          <p:nvPr/>
        </p:nvSpPr>
        <p:spPr>
          <a:xfrm>
            <a:off x="6272784" y="2423160"/>
            <a:ext cx="594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🧩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5"/>
          <p:cNvSpPr/>
          <p:nvPr/>
        </p:nvSpPr>
        <p:spPr>
          <a:xfrm>
            <a:off x="6867144" y="251460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Módulos a Medida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5"/>
          <p:cNvSpPr/>
          <p:nvPr/>
        </p:nvSpPr>
        <p:spPr>
          <a:xfrm>
            <a:off x="6272784" y="2898648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Funcionalidades únicas que no existen en Odoo estándar, construidas específicamente para ti.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5"/>
          <p:cNvSpPr/>
          <p:nvPr/>
        </p:nvSpPr>
        <p:spPr>
          <a:xfrm>
            <a:off x="365760" y="3657600"/>
            <a:ext cx="2743200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15"/>
          <p:cNvSpPr/>
          <p:nvPr/>
        </p:nvSpPr>
        <p:spPr>
          <a:xfrm>
            <a:off x="365760" y="3657600"/>
            <a:ext cx="54864" cy="1078992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15"/>
          <p:cNvSpPr/>
          <p:nvPr/>
        </p:nvSpPr>
        <p:spPr>
          <a:xfrm>
            <a:off x="457200" y="3657600"/>
            <a:ext cx="594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5"/>
          <p:cNvSpPr/>
          <p:nvPr/>
        </p:nvSpPr>
        <p:spPr>
          <a:xfrm>
            <a:off x="1051560" y="374904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Automatizaciones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5"/>
          <p:cNvSpPr/>
          <p:nvPr/>
        </p:nvSpPr>
        <p:spPr>
          <a:xfrm>
            <a:off x="457200" y="4133088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Flujos automatizados que eliminan tareas repetitivas y reducen el error humano.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5"/>
          <p:cNvSpPr/>
          <p:nvPr/>
        </p:nvSpPr>
        <p:spPr>
          <a:xfrm>
            <a:off x="3273552" y="3657600"/>
            <a:ext cx="2743200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15"/>
          <p:cNvSpPr/>
          <p:nvPr/>
        </p:nvSpPr>
        <p:spPr>
          <a:xfrm>
            <a:off x="3273552" y="3657600"/>
            <a:ext cx="54864" cy="1078992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15"/>
          <p:cNvSpPr/>
          <p:nvPr/>
        </p:nvSpPr>
        <p:spPr>
          <a:xfrm>
            <a:off x="3364992" y="3657600"/>
            <a:ext cx="594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5"/>
          <p:cNvSpPr/>
          <p:nvPr/>
        </p:nvSpPr>
        <p:spPr>
          <a:xfrm>
            <a:off x="3959352" y="374904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Apps Móviles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5"/>
          <p:cNvSpPr/>
          <p:nvPr/>
        </p:nvSpPr>
        <p:spPr>
          <a:xfrm>
            <a:off x="3364992" y="4133088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Extensiones móviles de Odoo para operarios, vendedores y supervisores en campo.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5"/>
          <p:cNvSpPr/>
          <p:nvPr/>
        </p:nvSpPr>
        <p:spPr>
          <a:xfrm>
            <a:off x="6181344" y="3657600"/>
            <a:ext cx="2743200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15"/>
          <p:cNvSpPr/>
          <p:nvPr/>
        </p:nvSpPr>
        <p:spPr>
          <a:xfrm>
            <a:off x="6181344" y="3657600"/>
            <a:ext cx="54864" cy="1078992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15"/>
          <p:cNvSpPr/>
          <p:nvPr/>
        </p:nvSpPr>
        <p:spPr>
          <a:xfrm>
            <a:off x="6272784" y="3657600"/>
            <a:ext cx="594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5"/>
          <p:cNvSpPr/>
          <p:nvPr/>
        </p:nvSpPr>
        <p:spPr>
          <a:xfrm>
            <a:off x="6867144" y="374904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Migraciones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5"/>
          <p:cNvSpPr/>
          <p:nvPr/>
        </p:nvSpPr>
        <p:spPr>
          <a:xfrm>
            <a:off x="6272784" y="4133088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Migración limpia de versiones anteriores de Odoo con todos tus datos y personalizaciones.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980"/>
        </a:solidFill>
        <a:effectLst/>
      </p:bgPr>
    </p:bg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16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6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16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16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SERVICIOS · CONSULTORÍA Y CAPACITACIÓN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6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Consultoría y Capacitación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6"/>
          <p:cNvSpPr/>
          <p:nvPr/>
        </p:nvSpPr>
        <p:spPr>
          <a:xfrm>
            <a:off x="914400" y="12344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Tu equipo aprende el sistema configurado para TU operación, no Odoo genérico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6"/>
          <p:cNvSpPr/>
          <p:nvPr/>
        </p:nvSpPr>
        <p:spPr>
          <a:xfrm>
            <a:off x="365760" y="1783080"/>
            <a:ext cx="4114800" cy="77724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16"/>
          <p:cNvSpPr/>
          <p:nvPr/>
        </p:nvSpPr>
        <p:spPr>
          <a:xfrm>
            <a:off x="365760" y="1783080"/>
            <a:ext cx="45720" cy="77724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16"/>
          <p:cNvSpPr/>
          <p:nvPr/>
        </p:nvSpPr>
        <p:spPr>
          <a:xfrm>
            <a:off x="457200" y="1783080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6"/>
          <p:cNvSpPr/>
          <p:nvPr/>
        </p:nvSpPr>
        <p:spPr>
          <a:xfrm>
            <a:off x="1005840" y="187452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Análisis de procesos actuales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6"/>
          <p:cNvSpPr/>
          <p:nvPr/>
        </p:nvSpPr>
        <p:spPr>
          <a:xfrm>
            <a:off x="1005840" y="21488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Mapeamos tu operación real —flujos, cuellos de botella y oportunidades de mejora— antes de configurar nada.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6"/>
          <p:cNvSpPr/>
          <p:nvPr/>
        </p:nvSpPr>
        <p:spPr>
          <a:xfrm>
            <a:off x="4754880" y="1783080"/>
            <a:ext cx="4114800" cy="77724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16"/>
          <p:cNvSpPr/>
          <p:nvPr/>
        </p:nvSpPr>
        <p:spPr>
          <a:xfrm>
            <a:off x="4754880" y="1783080"/>
            <a:ext cx="45720" cy="77724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16"/>
          <p:cNvSpPr/>
          <p:nvPr/>
        </p:nvSpPr>
        <p:spPr>
          <a:xfrm>
            <a:off x="4846320" y="1783080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📐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6"/>
          <p:cNvSpPr/>
          <p:nvPr/>
        </p:nvSpPr>
        <p:spPr>
          <a:xfrm>
            <a:off x="5394960" y="187452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Diseño de la solución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6"/>
          <p:cNvSpPr/>
          <p:nvPr/>
        </p:nvSpPr>
        <p:spPr>
          <a:xfrm>
            <a:off x="5394960" y="21488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Definimos la arquitectura de Odoo más adecuada para tu industria, con documentación detallada.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6"/>
          <p:cNvSpPr/>
          <p:nvPr/>
        </p:nvSpPr>
        <p:spPr>
          <a:xfrm>
            <a:off x="365760" y="2697480"/>
            <a:ext cx="4114800" cy="77724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16"/>
          <p:cNvSpPr/>
          <p:nvPr/>
        </p:nvSpPr>
        <p:spPr>
          <a:xfrm>
            <a:off x="365760" y="2697480"/>
            <a:ext cx="45720" cy="77724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16"/>
          <p:cNvSpPr/>
          <p:nvPr/>
        </p:nvSpPr>
        <p:spPr>
          <a:xfrm>
            <a:off x="457200" y="2697480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🎓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6"/>
          <p:cNvSpPr/>
          <p:nvPr/>
        </p:nvSpPr>
        <p:spPr>
          <a:xfrm>
            <a:off x="1005840" y="278892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Capacitación en sitio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6"/>
          <p:cNvSpPr/>
          <p:nvPr/>
        </p:nvSpPr>
        <p:spPr>
          <a:xfrm>
            <a:off x="1005840" y="30632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Formación presencial para cada perfil: directivos, operarios, almacenistas, contadores y vendedores.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6"/>
          <p:cNvSpPr/>
          <p:nvPr/>
        </p:nvSpPr>
        <p:spPr>
          <a:xfrm>
            <a:off x="4754880" y="2697480"/>
            <a:ext cx="4114800" cy="77724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16"/>
          <p:cNvSpPr/>
          <p:nvPr/>
        </p:nvSpPr>
        <p:spPr>
          <a:xfrm>
            <a:off x="4754880" y="2697480"/>
            <a:ext cx="45720" cy="77724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16"/>
          <p:cNvSpPr/>
          <p:nvPr/>
        </p:nvSpPr>
        <p:spPr>
          <a:xfrm>
            <a:off x="4846320" y="2697480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📹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6"/>
          <p:cNvSpPr/>
          <p:nvPr/>
        </p:nvSpPr>
        <p:spPr>
          <a:xfrm>
            <a:off x="5394960" y="278892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Videos y manuales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6"/>
          <p:cNvSpPr/>
          <p:nvPr/>
        </p:nvSpPr>
        <p:spPr>
          <a:xfrm>
            <a:off x="5394960" y="30632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Documentación personalizada y grabaciones para onboarding de nuevo personal sin costo extra.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6"/>
          <p:cNvSpPr/>
          <p:nvPr/>
        </p:nvSpPr>
        <p:spPr>
          <a:xfrm>
            <a:off x="365760" y="3611880"/>
            <a:ext cx="4114800" cy="77724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16"/>
          <p:cNvSpPr/>
          <p:nvPr/>
        </p:nvSpPr>
        <p:spPr>
          <a:xfrm>
            <a:off x="365760" y="3611880"/>
            <a:ext cx="45720" cy="77724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16"/>
          <p:cNvSpPr/>
          <p:nvPr/>
        </p:nvSpPr>
        <p:spPr>
          <a:xfrm>
            <a:off x="457200" y="3611880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🤝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6"/>
          <p:cNvSpPr/>
          <p:nvPr/>
        </p:nvSpPr>
        <p:spPr>
          <a:xfrm>
            <a:off x="1005840" y="370332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Acompañamiento post-arranque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6"/>
          <p:cNvSpPr/>
          <p:nvPr/>
        </p:nvSpPr>
        <p:spPr>
          <a:xfrm>
            <a:off x="1005840" y="39776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Seguimiento semanal las primeras semanas para resolver dudas y ajustar configuraciones.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6"/>
          <p:cNvSpPr/>
          <p:nvPr/>
        </p:nvSpPr>
        <p:spPr>
          <a:xfrm>
            <a:off x="4754880" y="3611880"/>
            <a:ext cx="4114800" cy="77724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16"/>
          <p:cNvSpPr/>
          <p:nvPr/>
        </p:nvSpPr>
        <p:spPr>
          <a:xfrm>
            <a:off x="4754880" y="3611880"/>
            <a:ext cx="45720" cy="77724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16"/>
          <p:cNvSpPr/>
          <p:nvPr/>
        </p:nvSpPr>
        <p:spPr>
          <a:xfrm>
            <a:off x="4846320" y="3611880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🏅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6"/>
          <p:cNvSpPr/>
          <p:nvPr/>
        </p:nvSpPr>
        <p:spPr>
          <a:xfrm>
            <a:off x="5394960" y="370332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Certificación Odoo Learning Partner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6"/>
          <p:cNvSpPr/>
          <p:nvPr/>
        </p:nvSpPr>
        <p:spPr>
          <a:xfrm>
            <a:off x="5394960" y="39776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Somos Learning Partner oficial. Nuestros consultores están certificados con las mejores prácticas.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17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17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SERVICIOS · SOPORTE TÉCNICO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17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7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17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7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Soporte Técnico Continuo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7"/>
          <p:cNvSpPr/>
          <p:nvPr/>
        </p:nvSpPr>
        <p:spPr>
          <a:xfrm>
            <a:off x="914400" y="1188720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Tu negocio no se detiene. Nosotros tampoco.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7"/>
          <p:cNvSpPr/>
          <p:nvPr/>
        </p:nvSpPr>
        <p:spPr>
          <a:xfrm>
            <a:off x="2743200" y="1664208"/>
            <a:ext cx="3657600" cy="59436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17"/>
          <p:cNvSpPr/>
          <p:nvPr/>
        </p:nvSpPr>
        <p:spPr>
          <a:xfrm>
            <a:off x="2743200" y="1664208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Respuesta en menos de 2 horas · Disponible por WhatsApp, correo y videollamada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7"/>
          <p:cNvSpPr/>
          <p:nvPr/>
        </p:nvSpPr>
        <p:spPr>
          <a:xfrm>
            <a:off x="365760" y="2468880"/>
            <a:ext cx="274320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17"/>
          <p:cNvSpPr/>
          <p:nvPr/>
        </p:nvSpPr>
        <p:spPr>
          <a:xfrm>
            <a:off x="365760" y="2468880"/>
            <a:ext cx="2743200" cy="457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17"/>
          <p:cNvSpPr/>
          <p:nvPr/>
        </p:nvSpPr>
        <p:spPr>
          <a:xfrm>
            <a:off x="365760" y="2560320"/>
            <a:ext cx="594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7"/>
          <p:cNvSpPr/>
          <p:nvPr/>
        </p:nvSpPr>
        <p:spPr>
          <a:xfrm>
            <a:off x="960120" y="2578608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WhatsApp directo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7"/>
          <p:cNvSpPr/>
          <p:nvPr/>
        </p:nvSpPr>
        <p:spPr>
          <a:xfrm>
            <a:off x="457200" y="2944368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Contacto inmediato con tu consultor asignado vía WhatsApp para incidencias urgentes.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7"/>
          <p:cNvSpPr/>
          <p:nvPr/>
        </p:nvSpPr>
        <p:spPr>
          <a:xfrm>
            <a:off x="3273552" y="2468880"/>
            <a:ext cx="274320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17"/>
          <p:cNvSpPr/>
          <p:nvPr/>
        </p:nvSpPr>
        <p:spPr>
          <a:xfrm>
            <a:off x="3273552" y="2468880"/>
            <a:ext cx="2743200" cy="457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17"/>
          <p:cNvSpPr/>
          <p:nvPr/>
        </p:nvSpPr>
        <p:spPr>
          <a:xfrm>
            <a:off x="3273552" y="2560320"/>
            <a:ext cx="594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📧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7"/>
          <p:cNvSpPr/>
          <p:nvPr/>
        </p:nvSpPr>
        <p:spPr>
          <a:xfrm>
            <a:off x="3867912" y="2578608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Correo y videollamada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7"/>
          <p:cNvSpPr/>
          <p:nvPr/>
        </p:nvSpPr>
        <p:spPr>
          <a:xfrm>
            <a:off x="3364992" y="2944368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Canal formal para seguimiento de tickets, reportes y reuniones de revisión.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7"/>
          <p:cNvSpPr/>
          <p:nvPr/>
        </p:nvSpPr>
        <p:spPr>
          <a:xfrm>
            <a:off x="6181344" y="2468880"/>
            <a:ext cx="274320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17"/>
          <p:cNvSpPr/>
          <p:nvPr/>
        </p:nvSpPr>
        <p:spPr>
          <a:xfrm>
            <a:off x="6181344" y="2468880"/>
            <a:ext cx="2743200" cy="457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17"/>
          <p:cNvSpPr/>
          <p:nvPr/>
        </p:nvSpPr>
        <p:spPr>
          <a:xfrm>
            <a:off x="6181344" y="2560320"/>
            <a:ext cx="594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7"/>
          <p:cNvSpPr/>
          <p:nvPr/>
        </p:nvSpPr>
        <p:spPr>
          <a:xfrm>
            <a:off x="6775704" y="2578608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Actualizaciones continuas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7"/>
          <p:cNvSpPr/>
          <p:nvPr/>
        </p:nvSpPr>
        <p:spPr>
          <a:xfrm>
            <a:off x="6272784" y="2944368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Mantenemos tu Odoo actualizado con las últimas versiones y parches de seguridad.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7"/>
          <p:cNvSpPr/>
          <p:nvPr/>
        </p:nvSpPr>
        <p:spPr>
          <a:xfrm>
            <a:off x="365760" y="3657600"/>
            <a:ext cx="274320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17"/>
          <p:cNvSpPr/>
          <p:nvPr/>
        </p:nvSpPr>
        <p:spPr>
          <a:xfrm>
            <a:off x="365760" y="3657600"/>
            <a:ext cx="2743200" cy="457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17"/>
          <p:cNvSpPr/>
          <p:nvPr/>
        </p:nvSpPr>
        <p:spPr>
          <a:xfrm>
            <a:off x="365760" y="3749040"/>
            <a:ext cx="594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💾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7"/>
          <p:cNvSpPr/>
          <p:nvPr/>
        </p:nvSpPr>
        <p:spPr>
          <a:xfrm>
            <a:off x="960120" y="3767328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Respaldo de base de datos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7"/>
          <p:cNvSpPr/>
          <p:nvPr/>
        </p:nvSpPr>
        <p:spPr>
          <a:xfrm>
            <a:off x="457200" y="4133088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Backups automáticos diarios de tu información crítica con restauración garantizada.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7"/>
          <p:cNvSpPr/>
          <p:nvPr/>
        </p:nvSpPr>
        <p:spPr>
          <a:xfrm>
            <a:off x="3273552" y="3657600"/>
            <a:ext cx="274320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17"/>
          <p:cNvSpPr/>
          <p:nvPr/>
        </p:nvSpPr>
        <p:spPr>
          <a:xfrm>
            <a:off x="3273552" y="3657600"/>
            <a:ext cx="2743200" cy="457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17"/>
          <p:cNvSpPr/>
          <p:nvPr/>
        </p:nvSpPr>
        <p:spPr>
          <a:xfrm>
            <a:off x="3273552" y="3749040"/>
            <a:ext cx="594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7"/>
          <p:cNvSpPr/>
          <p:nvPr/>
        </p:nvSpPr>
        <p:spPr>
          <a:xfrm>
            <a:off x="3867912" y="3767328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Pólizas mensuales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7"/>
          <p:cNvSpPr/>
          <p:nvPr/>
        </p:nvSpPr>
        <p:spPr>
          <a:xfrm>
            <a:off x="3364992" y="4133088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Paquetes de horas flexibles según el nivel de soporte que necesita tu operación.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7"/>
          <p:cNvSpPr/>
          <p:nvPr/>
        </p:nvSpPr>
        <p:spPr>
          <a:xfrm>
            <a:off x="6181344" y="3657600"/>
            <a:ext cx="2743200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17"/>
          <p:cNvSpPr/>
          <p:nvPr/>
        </p:nvSpPr>
        <p:spPr>
          <a:xfrm>
            <a:off x="6181344" y="3657600"/>
            <a:ext cx="2743200" cy="457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7"/>
          <p:cNvSpPr/>
          <p:nvPr/>
        </p:nvSpPr>
        <p:spPr>
          <a:xfrm>
            <a:off x="6181344" y="3749040"/>
            <a:ext cx="594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🛡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7"/>
          <p:cNvSpPr/>
          <p:nvPr/>
        </p:nvSpPr>
        <p:spPr>
          <a:xfrm>
            <a:off x="6775704" y="3767328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Garantía post-implementación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17"/>
          <p:cNvSpPr/>
          <p:nvPr/>
        </p:nvSpPr>
        <p:spPr>
          <a:xfrm>
            <a:off x="6272784" y="4133088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meses de soporte incluido después del arranque sin costo adicional.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980"/>
        </a:solidFill>
        <a:effectLst/>
      </p:bgPr>
    </p:bg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18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8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18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8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18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SERVICIOS · MARKETING AUTOMATIZADO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8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Marketing Automatizado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desde tu ERP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18"/>
          <p:cNvSpPr/>
          <p:nvPr/>
        </p:nvSpPr>
        <p:spPr>
          <a:xfrm>
            <a:off x="914400" y="1572768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Conecta tu base de clientes Odoo con campañas que venden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8"/>
          <p:cNvSpPr/>
          <p:nvPr/>
        </p:nvSpPr>
        <p:spPr>
          <a:xfrm>
            <a:off x="365760" y="2103120"/>
            <a:ext cx="2743200" cy="114300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18"/>
          <p:cNvSpPr/>
          <p:nvPr/>
        </p:nvSpPr>
        <p:spPr>
          <a:xfrm>
            <a:off x="365760" y="2103120"/>
            <a:ext cx="45720" cy="114300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18"/>
          <p:cNvSpPr/>
          <p:nvPr/>
        </p:nvSpPr>
        <p:spPr>
          <a:xfrm>
            <a:off x="457200" y="21031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📧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8"/>
          <p:cNvSpPr/>
          <p:nvPr/>
        </p:nvSpPr>
        <p:spPr>
          <a:xfrm>
            <a:off x="1051560" y="221284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Email Marketing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8"/>
          <p:cNvSpPr/>
          <p:nvPr/>
        </p:nvSpPr>
        <p:spPr>
          <a:xfrm>
            <a:off x="502920" y="2606040"/>
            <a:ext cx="25146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Campañas segmentadas con datos de compra, historial y comportamiento de tu propia base Odoo.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8"/>
          <p:cNvSpPr/>
          <p:nvPr/>
        </p:nvSpPr>
        <p:spPr>
          <a:xfrm>
            <a:off x="3273552" y="2103120"/>
            <a:ext cx="2743200" cy="114300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18"/>
          <p:cNvSpPr/>
          <p:nvPr/>
        </p:nvSpPr>
        <p:spPr>
          <a:xfrm>
            <a:off x="3273552" y="2103120"/>
            <a:ext cx="45720" cy="114300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18"/>
          <p:cNvSpPr/>
          <p:nvPr/>
        </p:nvSpPr>
        <p:spPr>
          <a:xfrm>
            <a:off x="3364992" y="21031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8"/>
          <p:cNvSpPr/>
          <p:nvPr/>
        </p:nvSpPr>
        <p:spPr>
          <a:xfrm>
            <a:off x="3959352" y="221284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SMS Marketing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8"/>
          <p:cNvSpPr/>
          <p:nvPr/>
        </p:nvSpPr>
        <p:spPr>
          <a:xfrm>
            <a:off x="3410712" y="2606040"/>
            <a:ext cx="25146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Mensajes personalizados a clientes con probabilidad de compra basada en su historial.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18"/>
          <p:cNvSpPr/>
          <p:nvPr/>
        </p:nvSpPr>
        <p:spPr>
          <a:xfrm>
            <a:off x="6181344" y="2103120"/>
            <a:ext cx="2743200" cy="114300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18"/>
          <p:cNvSpPr/>
          <p:nvPr/>
        </p:nvSpPr>
        <p:spPr>
          <a:xfrm>
            <a:off x="6181344" y="2103120"/>
            <a:ext cx="45720" cy="114300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18"/>
          <p:cNvSpPr/>
          <p:nvPr/>
        </p:nvSpPr>
        <p:spPr>
          <a:xfrm>
            <a:off x="6272784" y="21031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🛒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18"/>
          <p:cNvSpPr/>
          <p:nvPr/>
        </p:nvSpPr>
        <p:spPr>
          <a:xfrm>
            <a:off x="6867144" y="221284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Recuperación de carritos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8"/>
          <p:cNvSpPr/>
          <p:nvPr/>
        </p:nvSpPr>
        <p:spPr>
          <a:xfrm>
            <a:off x="6318504" y="2606040"/>
            <a:ext cx="25146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Emails automáticos para clientes que abandonaron el carrito en tu tienda en línea.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18"/>
          <p:cNvSpPr/>
          <p:nvPr/>
        </p:nvSpPr>
        <p:spPr>
          <a:xfrm>
            <a:off x="365760" y="3429000"/>
            <a:ext cx="2743200" cy="114300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18"/>
          <p:cNvSpPr/>
          <p:nvPr/>
        </p:nvSpPr>
        <p:spPr>
          <a:xfrm>
            <a:off x="365760" y="3429000"/>
            <a:ext cx="45720" cy="114300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18"/>
          <p:cNvSpPr/>
          <p:nvPr/>
        </p:nvSpPr>
        <p:spPr>
          <a:xfrm>
            <a:off x="457200" y="342900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18"/>
          <p:cNvSpPr/>
          <p:nvPr/>
        </p:nvSpPr>
        <p:spPr>
          <a:xfrm>
            <a:off x="1051560" y="353872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Automatizaciones por comportamiento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18"/>
          <p:cNvSpPr/>
          <p:nvPr/>
        </p:nvSpPr>
        <p:spPr>
          <a:xfrm>
            <a:off x="502920" y="3931920"/>
            <a:ext cx="25146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Flujos de emails según acciones: primera compra, sin actividad, cumpleaños, etc.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18"/>
          <p:cNvSpPr/>
          <p:nvPr/>
        </p:nvSpPr>
        <p:spPr>
          <a:xfrm>
            <a:off x="3273552" y="3429000"/>
            <a:ext cx="2743200" cy="114300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18"/>
          <p:cNvSpPr/>
          <p:nvPr/>
        </p:nvSpPr>
        <p:spPr>
          <a:xfrm>
            <a:off x="3273552" y="3429000"/>
            <a:ext cx="45720" cy="114300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18"/>
          <p:cNvSpPr/>
          <p:nvPr/>
        </p:nvSpPr>
        <p:spPr>
          <a:xfrm>
            <a:off x="3364992" y="342900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18"/>
          <p:cNvSpPr/>
          <p:nvPr/>
        </p:nvSpPr>
        <p:spPr>
          <a:xfrm>
            <a:off x="3959352" y="353872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Analytics y conversiones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18"/>
          <p:cNvSpPr/>
          <p:nvPr/>
        </p:nvSpPr>
        <p:spPr>
          <a:xfrm>
            <a:off x="3410712" y="3931920"/>
            <a:ext cx="25146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Tasas de apertura, clics, conversiones y revenue generado por cada campaña.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18"/>
          <p:cNvSpPr/>
          <p:nvPr/>
        </p:nvSpPr>
        <p:spPr>
          <a:xfrm>
            <a:off x="6181344" y="3429000"/>
            <a:ext cx="2743200" cy="114300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18"/>
          <p:cNvSpPr/>
          <p:nvPr/>
        </p:nvSpPr>
        <p:spPr>
          <a:xfrm>
            <a:off x="6181344" y="3429000"/>
            <a:ext cx="45720" cy="114300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18"/>
          <p:cNvSpPr/>
          <p:nvPr/>
        </p:nvSpPr>
        <p:spPr>
          <a:xfrm>
            <a:off x="6272784" y="342900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18"/>
          <p:cNvSpPr/>
          <p:nvPr/>
        </p:nvSpPr>
        <p:spPr>
          <a:xfrm>
            <a:off x="6867144" y="353872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Integración nativa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18"/>
          <p:cNvSpPr/>
          <p:nvPr/>
        </p:nvSpPr>
        <p:spPr>
          <a:xfrm>
            <a:off x="6318504" y="3931920"/>
            <a:ext cx="25146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Todo dentro de Odoo o integrado con Mailchimp, HubSpot o plataformas externas.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19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PROCESO DE IMPLEMENTACIÓN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1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19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19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19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19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Implementación Clara,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Sin Sorpresas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19"/>
          <p:cNvSpPr/>
          <p:nvPr/>
        </p:nvSpPr>
        <p:spPr>
          <a:xfrm>
            <a:off x="914400" y="1417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 4 pasos llevamos tu operación de procesos manuales a un ERP totalmente funcional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8" name="Google Shape;818;p19"/>
          <p:cNvCxnSpPr/>
          <p:nvPr/>
        </p:nvCxnSpPr>
        <p:spPr>
          <a:xfrm>
            <a:off x="2331720" y="2651760"/>
            <a:ext cx="182880" cy="0"/>
          </a:xfrm>
          <a:prstGeom prst="straightConnector1">
            <a:avLst/>
          </a:prstGeom>
          <a:noFill/>
          <a:ln w="254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9" name="Google Shape;819;p19"/>
          <p:cNvSpPr/>
          <p:nvPr/>
        </p:nvSpPr>
        <p:spPr>
          <a:xfrm>
            <a:off x="365760" y="1920240"/>
            <a:ext cx="1920240" cy="2606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19"/>
          <p:cNvSpPr/>
          <p:nvPr/>
        </p:nvSpPr>
        <p:spPr>
          <a:xfrm>
            <a:off x="365760" y="1920240"/>
            <a:ext cx="1920240" cy="475488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19"/>
          <p:cNvSpPr/>
          <p:nvPr/>
        </p:nvSpPr>
        <p:spPr>
          <a:xfrm>
            <a:off x="365760" y="1920240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19"/>
          <p:cNvSpPr/>
          <p:nvPr/>
        </p:nvSpPr>
        <p:spPr>
          <a:xfrm>
            <a:off x="868680" y="1920240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Diagnóstico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19"/>
          <p:cNvSpPr/>
          <p:nvPr/>
        </p:nvSpPr>
        <p:spPr>
          <a:xfrm>
            <a:off x="365760" y="242316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19"/>
          <p:cNvSpPr/>
          <p:nvPr/>
        </p:nvSpPr>
        <p:spPr>
          <a:xfrm>
            <a:off x="365760" y="3035808"/>
            <a:ext cx="1920240" cy="292608"/>
          </a:xfrm>
          <a:prstGeom prst="rect">
            <a:avLst/>
          </a:prstGeom>
          <a:solidFill>
            <a:srgbClr val="E8F4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19"/>
          <p:cNvSpPr/>
          <p:nvPr/>
        </p:nvSpPr>
        <p:spPr>
          <a:xfrm>
            <a:off x="365760" y="303580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⏱ 1-2 semanas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19"/>
          <p:cNvSpPr/>
          <p:nvPr/>
        </p:nvSpPr>
        <p:spPr>
          <a:xfrm>
            <a:off x="457200" y="3364992"/>
            <a:ext cx="17373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Agendamos visita a tu planta u oficina. Entendemos tu operación y mostramos Odoo en vivo.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7" name="Google Shape;827;p19"/>
          <p:cNvCxnSpPr/>
          <p:nvPr/>
        </p:nvCxnSpPr>
        <p:spPr>
          <a:xfrm>
            <a:off x="4480560" y="2651760"/>
            <a:ext cx="182880" cy="0"/>
          </a:xfrm>
          <a:prstGeom prst="straightConnector1">
            <a:avLst/>
          </a:prstGeom>
          <a:noFill/>
          <a:ln w="254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28" name="Google Shape;828;p19"/>
          <p:cNvSpPr/>
          <p:nvPr/>
        </p:nvSpPr>
        <p:spPr>
          <a:xfrm>
            <a:off x="2514600" y="1920240"/>
            <a:ext cx="1920240" cy="2606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19"/>
          <p:cNvSpPr/>
          <p:nvPr/>
        </p:nvSpPr>
        <p:spPr>
          <a:xfrm>
            <a:off x="2514600" y="1920240"/>
            <a:ext cx="1920240" cy="475488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19"/>
          <p:cNvSpPr/>
          <p:nvPr/>
        </p:nvSpPr>
        <p:spPr>
          <a:xfrm>
            <a:off x="2514600" y="1920240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19"/>
          <p:cNvSpPr/>
          <p:nvPr/>
        </p:nvSpPr>
        <p:spPr>
          <a:xfrm>
            <a:off x="3017520" y="1920240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Propuesta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Personalizada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19"/>
          <p:cNvSpPr/>
          <p:nvPr/>
        </p:nvSpPr>
        <p:spPr>
          <a:xfrm>
            <a:off x="2514600" y="242316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19"/>
          <p:cNvSpPr/>
          <p:nvPr/>
        </p:nvSpPr>
        <p:spPr>
          <a:xfrm>
            <a:off x="2514600" y="3035808"/>
            <a:ext cx="1920240" cy="292608"/>
          </a:xfrm>
          <a:prstGeom prst="rect">
            <a:avLst/>
          </a:prstGeom>
          <a:solidFill>
            <a:srgbClr val="E8F4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19"/>
          <p:cNvSpPr/>
          <p:nvPr/>
        </p:nvSpPr>
        <p:spPr>
          <a:xfrm>
            <a:off x="2514600" y="303580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⏱ 1 semana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19"/>
          <p:cNvSpPr/>
          <p:nvPr/>
        </p:nvSpPr>
        <p:spPr>
          <a:xfrm>
            <a:off x="2606040" y="3364992"/>
            <a:ext cx="17373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Propuesta detallada con módulos, personalizaciones, cronograma e inversión sin letra chica.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6" name="Google Shape;836;p19"/>
          <p:cNvCxnSpPr/>
          <p:nvPr/>
        </p:nvCxnSpPr>
        <p:spPr>
          <a:xfrm>
            <a:off x="6629400" y="2651760"/>
            <a:ext cx="182880" cy="0"/>
          </a:xfrm>
          <a:prstGeom prst="straightConnector1">
            <a:avLst/>
          </a:prstGeom>
          <a:noFill/>
          <a:ln w="254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7" name="Google Shape;837;p19"/>
          <p:cNvSpPr/>
          <p:nvPr/>
        </p:nvSpPr>
        <p:spPr>
          <a:xfrm>
            <a:off x="4663440" y="1920240"/>
            <a:ext cx="1920240" cy="2606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19"/>
          <p:cNvSpPr/>
          <p:nvPr/>
        </p:nvSpPr>
        <p:spPr>
          <a:xfrm>
            <a:off x="4663440" y="1920240"/>
            <a:ext cx="1920240" cy="475488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19"/>
          <p:cNvSpPr/>
          <p:nvPr/>
        </p:nvSpPr>
        <p:spPr>
          <a:xfrm>
            <a:off x="4663440" y="1920240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19"/>
          <p:cNvSpPr/>
          <p:nvPr/>
        </p:nvSpPr>
        <p:spPr>
          <a:xfrm>
            <a:off x="5166360" y="1920240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Configuración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19"/>
          <p:cNvSpPr/>
          <p:nvPr/>
        </p:nvSpPr>
        <p:spPr>
          <a:xfrm>
            <a:off x="4663440" y="242316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19"/>
          <p:cNvSpPr/>
          <p:nvPr/>
        </p:nvSpPr>
        <p:spPr>
          <a:xfrm>
            <a:off x="4663440" y="3035808"/>
            <a:ext cx="1920240" cy="292608"/>
          </a:xfrm>
          <a:prstGeom prst="rect">
            <a:avLst/>
          </a:prstGeom>
          <a:solidFill>
            <a:srgbClr val="E8F4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19"/>
          <p:cNvSpPr/>
          <p:nvPr/>
        </p:nvSpPr>
        <p:spPr>
          <a:xfrm>
            <a:off x="4663440" y="303580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⏱ 4-8 semanas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19"/>
          <p:cNvSpPr/>
          <p:nvPr/>
        </p:nvSpPr>
        <p:spPr>
          <a:xfrm>
            <a:off x="4754880" y="3364992"/>
            <a:ext cx="17373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Configuración en ambiente de pruebas. Validamos que todo funcione antes del arranque.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19"/>
          <p:cNvSpPr/>
          <p:nvPr/>
        </p:nvSpPr>
        <p:spPr>
          <a:xfrm>
            <a:off x="6812280" y="1920240"/>
            <a:ext cx="1920240" cy="2606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19"/>
          <p:cNvSpPr/>
          <p:nvPr/>
        </p:nvSpPr>
        <p:spPr>
          <a:xfrm>
            <a:off x="6812280" y="1920240"/>
            <a:ext cx="1920240" cy="475488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19"/>
          <p:cNvSpPr/>
          <p:nvPr/>
        </p:nvSpPr>
        <p:spPr>
          <a:xfrm>
            <a:off x="6812280" y="1920240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19"/>
          <p:cNvSpPr/>
          <p:nvPr/>
        </p:nvSpPr>
        <p:spPr>
          <a:xfrm>
            <a:off x="7315200" y="1920240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Arranque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Productivo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19"/>
          <p:cNvSpPr/>
          <p:nvPr/>
        </p:nvSpPr>
        <p:spPr>
          <a:xfrm>
            <a:off x="6812280" y="242316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19"/>
          <p:cNvSpPr/>
          <p:nvPr/>
        </p:nvSpPr>
        <p:spPr>
          <a:xfrm>
            <a:off x="6812280" y="3035808"/>
            <a:ext cx="1920240" cy="292608"/>
          </a:xfrm>
          <a:prstGeom prst="rect">
            <a:avLst/>
          </a:prstGeom>
          <a:solidFill>
            <a:srgbClr val="E8F4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19"/>
          <p:cNvSpPr/>
          <p:nvPr/>
        </p:nvSpPr>
        <p:spPr>
          <a:xfrm>
            <a:off x="6812280" y="303580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⏱ 4-12 semanas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19"/>
          <p:cNvSpPr/>
          <p:nvPr/>
        </p:nvSpPr>
        <p:spPr>
          <a:xfrm>
            <a:off x="6903720" y="3364992"/>
            <a:ext cx="17373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Capacitación del equipo, migración de datos y arranque supervisado con soporte prioritario.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19"/>
          <p:cNvSpPr/>
          <p:nvPr/>
        </p:nvSpPr>
        <p:spPr>
          <a:xfrm>
            <a:off x="1371600" y="4617720"/>
            <a:ext cx="6400800" cy="292608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19"/>
          <p:cNvSpPr/>
          <p:nvPr/>
        </p:nvSpPr>
        <p:spPr>
          <a:xfrm>
            <a:off x="1371600" y="4617720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Duración total: 3 a 6 meses  ·  ✓ Acompañamiento en sitio  ·  ✓ Garantía 2 meses post-arranque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980"/>
        </a:solidFill>
        <a:effectLst/>
      </p:bgPr>
    </p:bg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2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20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20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20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20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PASO 1 · DEMO Y DIAGNÓSTICO INICIAL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20"/>
          <p:cNvSpPr/>
          <p:nvPr/>
        </p:nvSpPr>
        <p:spPr>
          <a:xfrm>
            <a:off x="0" y="502920"/>
            <a:ext cx="731520" cy="464058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20"/>
          <p:cNvSpPr/>
          <p:nvPr/>
        </p:nvSpPr>
        <p:spPr>
          <a:xfrm>
            <a:off x="0" y="502920"/>
            <a:ext cx="731520" cy="464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20"/>
          <p:cNvSpPr/>
          <p:nvPr/>
        </p:nvSpPr>
        <p:spPr>
          <a:xfrm>
            <a:off x="1005840" y="64008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y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Diagnóstico Inicial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0"/>
          <p:cNvSpPr/>
          <p:nvPr/>
        </p:nvSpPr>
        <p:spPr>
          <a:xfrm>
            <a:off x="1005840" y="155448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Duración: 1-2 semanas · Sin costo ni compromiso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0"/>
          <p:cNvSpPr/>
          <p:nvPr/>
        </p:nvSpPr>
        <p:spPr>
          <a:xfrm>
            <a:off x="1005840" y="2057400"/>
            <a:ext cx="7772400" cy="384048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20"/>
          <p:cNvSpPr/>
          <p:nvPr/>
        </p:nvSpPr>
        <p:spPr>
          <a:xfrm>
            <a:off x="1097280" y="2057400"/>
            <a:ext cx="7635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🎯  Videollamada o visita presencial en tu planta u oficina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0"/>
          <p:cNvSpPr/>
          <p:nvPr/>
        </p:nvSpPr>
        <p:spPr>
          <a:xfrm>
            <a:off x="1005840" y="2496312"/>
            <a:ext cx="7772400" cy="384048"/>
          </a:xfrm>
          <a:prstGeom prst="rect">
            <a:avLst/>
          </a:prstGeom>
          <a:solidFill>
            <a:srgbClr val="F0F4FF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2" name="Google Shape;872;p20"/>
          <p:cNvSpPr/>
          <p:nvPr/>
        </p:nvSpPr>
        <p:spPr>
          <a:xfrm>
            <a:off x="1097280" y="2496312"/>
            <a:ext cx="7635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🎯  Levantamiento de procesos actuales: producción, inventario, ventas y finanzas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20"/>
          <p:cNvSpPr/>
          <p:nvPr/>
        </p:nvSpPr>
        <p:spPr>
          <a:xfrm>
            <a:off x="1005840" y="2935224"/>
            <a:ext cx="7772400" cy="384048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20"/>
          <p:cNvSpPr/>
          <p:nvPr/>
        </p:nvSpPr>
        <p:spPr>
          <a:xfrm>
            <a:off x="1097280" y="2935224"/>
            <a:ext cx="7635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🎯  Identificación de problemas, cuellos de botella y necesidades específicas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0"/>
          <p:cNvSpPr/>
          <p:nvPr/>
        </p:nvSpPr>
        <p:spPr>
          <a:xfrm>
            <a:off x="1005840" y="3374136"/>
            <a:ext cx="7772400" cy="384048"/>
          </a:xfrm>
          <a:prstGeom prst="rect">
            <a:avLst/>
          </a:prstGeom>
          <a:solidFill>
            <a:srgbClr val="F0F4FF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20"/>
          <p:cNvSpPr/>
          <p:nvPr/>
        </p:nvSpPr>
        <p:spPr>
          <a:xfrm>
            <a:off x="1097280" y="3374136"/>
            <a:ext cx="7635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🎯  Demo en vivo de Odoo configurado para tu industria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0"/>
          <p:cNvSpPr/>
          <p:nvPr/>
        </p:nvSpPr>
        <p:spPr>
          <a:xfrm>
            <a:off x="1005840" y="3813048"/>
            <a:ext cx="7772400" cy="384048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20"/>
          <p:cNvSpPr/>
          <p:nvPr/>
        </p:nvSpPr>
        <p:spPr>
          <a:xfrm>
            <a:off x="1097280" y="3813048"/>
            <a:ext cx="7635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🎯  Identificación de módulos y personalizaciones necesarias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0"/>
          <p:cNvSpPr/>
          <p:nvPr/>
        </p:nvSpPr>
        <p:spPr>
          <a:xfrm>
            <a:off x="1005840" y="4251960"/>
            <a:ext cx="7772400" cy="384048"/>
          </a:xfrm>
          <a:prstGeom prst="rect">
            <a:avLst/>
          </a:prstGeom>
          <a:solidFill>
            <a:srgbClr val="F0F4FF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p20"/>
          <p:cNvSpPr/>
          <p:nvPr/>
        </p:nvSpPr>
        <p:spPr>
          <a:xfrm>
            <a:off x="1097280" y="4251960"/>
            <a:ext cx="7635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🎯  Propuesta de arquitectura preliminar del sistema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2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2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PASO 2 · PROPUESTA PERSONALIZADA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9" name="Google Shape;889;p21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21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21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21"/>
          <p:cNvSpPr/>
          <p:nvPr/>
        </p:nvSpPr>
        <p:spPr>
          <a:xfrm>
            <a:off x="0" y="502920"/>
            <a:ext cx="731520" cy="4315968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21"/>
          <p:cNvSpPr/>
          <p:nvPr/>
        </p:nvSpPr>
        <p:spPr>
          <a:xfrm>
            <a:off x="0" y="502920"/>
            <a:ext cx="731520" cy="4315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1"/>
          <p:cNvSpPr/>
          <p:nvPr/>
        </p:nvSpPr>
        <p:spPr>
          <a:xfrm>
            <a:off x="1005840" y="64008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Propuesta Personalizada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1"/>
          <p:cNvSpPr/>
          <p:nvPr/>
        </p:nvSpPr>
        <p:spPr>
          <a:xfrm>
            <a:off x="1005840" y="123444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Todo transparente · Sin letra chica · Sin sorpresas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21"/>
          <p:cNvSpPr/>
          <p:nvPr/>
        </p:nvSpPr>
        <p:spPr>
          <a:xfrm>
            <a:off x="1005840" y="158191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Duración: 1 semana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21"/>
          <p:cNvSpPr/>
          <p:nvPr/>
        </p:nvSpPr>
        <p:spPr>
          <a:xfrm>
            <a:off x="1005840" y="2057400"/>
            <a:ext cx="370332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p21"/>
          <p:cNvSpPr/>
          <p:nvPr/>
        </p:nvSpPr>
        <p:spPr>
          <a:xfrm>
            <a:off x="1005840" y="2057400"/>
            <a:ext cx="3703320" cy="36576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" name="Google Shape;898;p21"/>
          <p:cNvSpPr/>
          <p:nvPr/>
        </p:nvSpPr>
        <p:spPr>
          <a:xfrm>
            <a:off x="1097280" y="205740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📋  Módulos necesarios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1"/>
          <p:cNvSpPr/>
          <p:nvPr/>
        </p:nvSpPr>
        <p:spPr>
          <a:xfrm>
            <a:off x="1115568" y="251460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Listado exacto de módulos Odoo y personalizaciones requeridas para tu operación.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21"/>
          <p:cNvSpPr/>
          <p:nvPr/>
        </p:nvSpPr>
        <p:spPr>
          <a:xfrm>
            <a:off x="4937760" y="2057400"/>
            <a:ext cx="370332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21"/>
          <p:cNvSpPr/>
          <p:nvPr/>
        </p:nvSpPr>
        <p:spPr>
          <a:xfrm>
            <a:off x="4937760" y="2057400"/>
            <a:ext cx="3703320" cy="36576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21"/>
          <p:cNvSpPr/>
          <p:nvPr/>
        </p:nvSpPr>
        <p:spPr>
          <a:xfrm>
            <a:off x="5029200" y="205740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🗓  Cronograma realista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21"/>
          <p:cNvSpPr/>
          <p:nvPr/>
        </p:nvSpPr>
        <p:spPr>
          <a:xfrm>
            <a:off x="5047488" y="251460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Plan de proyecto con fechas, hitos y entregables claros en cada etapa.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1"/>
          <p:cNvSpPr/>
          <p:nvPr/>
        </p:nvSpPr>
        <p:spPr>
          <a:xfrm>
            <a:off x="1005840" y="3429000"/>
            <a:ext cx="370332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21"/>
          <p:cNvSpPr/>
          <p:nvPr/>
        </p:nvSpPr>
        <p:spPr>
          <a:xfrm>
            <a:off x="1005840" y="3429000"/>
            <a:ext cx="3703320" cy="36576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21"/>
          <p:cNvSpPr/>
          <p:nvPr/>
        </p:nvSpPr>
        <p:spPr>
          <a:xfrm>
            <a:off x="1097280" y="342900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💰  Inversión desglosada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1"/>
          <p:cNvSpPr/>
          <p:nvPr/>
        </p:nvSpPr>
        <p:spPr>
          <a:xfrm>
            <a:off x="1115568" y="388620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Costo detallado por componente: licencias, implementación, desarrollo y soporte.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1"/>
          <p:cNvSpPr/>
          <p:nvPr/>
        </p:nvSpPr>
        <p:spPr>
          <a:xfrm>
            <a:off x="4937760" y="3429000"/>
            <a:ext cx="370332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21"/>
          <p:cNvSpPr/>
          <p:nvPr/>
        </p:nvSpPr>
        <p:spPr>
          <a:xfrm>
            <a:off x="4937760" y="3429000"/>
            <a:ext cx="3703320" cy="36576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" name="Google Shape;910;p21"/>
          <p:cNvSpPr/>
          <p:nvPr/>
        </p:nvSpPr>
        <p:spPr>
          <a:xfrm>
            <a:off x="5029200" y="342900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📄  Alcance documentado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21"/>
          <p:cNvSpPr/>
          <p:nvPr/>
        </p:nvSpPr>
        <p:spPr>
          <a:xfrm>
            <a:off x="5047488" y="388620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Documento formal del alcance del proyecto para evitar malentendidos futuros.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2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2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PASOS 3 Y 4 · CONFIGURACIÓN Y ARRANQUE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22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2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22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2"/>
          <p:cNvSpPr/>
          <p:nvPr/>
        </p:nvSpPr>
        <p:spPr>
          <a:xfrm>
            <a:off x="0" y="502920"/>
            <a:ext cx="4297680" cy="4315968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3" name="Google Shape;923;p22"/>
          <p:cNvSpPr/>
          <p:nvPr/>
        </p:nvSpPr>
        <p:spPr>
          <a:xfrm>
            <a:off x="2743200" y="3200400"/>
            <a:ext cx="2286000" cy="2286000"/>
          </a:xfrm>
          <a:prstGeom prst="ellipse">
            <a:avLst/>
          </a:prstGeom>
          <a:solidFill>
            <a:srgbClr val="7F52A0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4" name="Google Shape;924;p22"/>
          <p:cNvSpPr/>
          <p:nvPr/>
        </p:nvSpPr>
        <p:spPr>
          <a:xfrm>
            <a:off x="182880" y="6400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5000"/>
              <a:buFont typeface="Calibri"/>
              <a:buNone/>
            </a:pPr>
            <a:r>
              <a:rPr lang="en-US" sz="50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22"/>
          <p:cNvSpPr/>
          <p:nvPr/>
        </p:nvSpPr>
        <p:spPr>
          <a:xfrm>
            <a:off x="1005840" y="64008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y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Configuración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22"/>
          <p:cNvSpPr/>
          <p:nvPr/>
        </p:nvSpPr>
        <p:spPr>
          <a:xfrm>
            <a:off x="182880" y="138988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4-8 semanas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22"/>
          <p:cNvSpPr/>
          <p:nvPr/>
        </p:nvSpPr>
        <p:spPr>
          <a:xfrm>
            <a:off x="182880" y="17830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›  Sesiones de trabajo conjunto para levantar procesos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22"/>
          <p:cNvSpPr/>
          <p:nvPr/>
        </p:nvSpPr>
        <p:spPr>
          <a:xfrm>
            <a:off x="182880" y="22402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›  Configuración completa en ambiente de pruebas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22"/>
          <p:cNvSpPr/>
          <p:nvPr/>
        </p:nvSpPr>
        <p:spPr>
          <a:xfrm>
            <a:off x="182880" y="26974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›  Validación funcional con usuarios clave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22"/>
          <p:cNvSpPr/>
          <p:nvPr/>
        </p:nvSpPr>
        <p:spPr>
          <a:xfrm>
            <a:off x="182880" y="31546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›  Pruebas de aceptación antes del arranque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2"/>
          <p:cNvSpPr/>
          <p:nvPr/>
        </p:nvSpPr>
        <p:spPr>
          <a:xfrm>
            <a:off x="182880" y="36118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›  Ajustes y mejoras basados en feedback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2"/>
          <p:cNvSpPr/>
          <p:nvPr/>
        </p:nvSpPr>
        <p:spPr>
          <a:xfrm>
            <a:off x="4572000" y="502920"/>
            <a:ext cx="4572000" cy="4315968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22"/>
          <p:cNvSpPr/>
          <p:nvPr/>
        </p:nvSpPr>
        <p:spPr>
          <a:xfrm>
            <a:off x="8686800" y="0"/>
            <a:ext cx="1828800" cy="1828800"/>
          </a:xfrm>
          <a:prstGeom prst="ellipse">
            <a:avLst/>
          </a:prstGeom>
          <a:solidFill>
            <a:srgbClr val="46C2CE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Google Shape;934;p22"/>
          <p:cNvSpPr/>
          <p:nvPr/>
        </p:nvSpPr>
        <p:spPr>
          <a:xfrm>
            <a:off x="4754880" y="6400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5000"/>
              <a:buFont typeface="Calibri"/>
              <a:buNone/>
            </a:pPr>
            <a:r>
              <a:rPr lang="en-US" sz="50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22"/>
          <p:cNvSpPr/>
          <p:nvPr/>
        </p:nvSpPr>
        <p:spPr>
          <a:xfrm>
            <a:off x="5577840" y="64008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Arranque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Productivo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22"/>
          <p:cNvSpPr/>
          <p:nvPr/>
        </p:nvSpPr>
        <p:spPr>
          <a:xfrm>
            <a:off x="4754880" y="138988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4-12 semanas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22"/>
          <p:cNvSpPr/>
          <p:nvPr/>
        </p:nvSpPr>
        <p:spPr>
          <a:xfrm>
            <a:off x="4754880" y="178308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›  Capacitación del equipo completo en el sistema real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22"/>
          <p:cNvSpPr/>
          <p:nvPr/>
        </p:nvSpPr>
        <p:spPr>
          <a:xfrm>
            <a:off x="4754880" y="224028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›  Migración segura de datos históricos y maestros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22"/>
          <p:cNvSpPr/>
          <p:nvPr/>
        </p:nvSpPr>
        <p:spPr>
          <a:xfrm>
            <a:off x="4754880" y="269748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›  Arranque supervisado en planta/oficina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22"/>
          <p:cNvSpPr/>
          <p:nvPr/>
        </p:nvSpPr>
        <p:spPr>
          <a:xfrm>
            <a:off x="4754880" y="315468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›  Soporte prioritario las primeras semanas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22"/>
          <p:cNvSpPr/>
          <p:nvPr/>
        </p:nvSpPr>
        <p:spPr>
          <a:xfrm>
            <a:off x="4754880" y="361188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›  2 meses de garantía post-arranque incluidos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22"/>
          <p:cNvSpPr/>
          <p:nvPr/>
        </p:nvSpPr>
        <p:spPr>
          <a:xfrm>
            <a:off x="1371600" y="4645152"/>
            <a:ext cx="6400800" cy="2743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22"/>
          <p:cNvSpPr/>
          <p:nvPr/>
        </p:nvSpPr>
        <p:spPr>
          <a:xfrm>
            <a:off x="1371600" y="46451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C1A56"/>
                </a:solidFill>
                <a:latin typeface="Calibri"/>
                <a:ea typeface="Calibri"/>
                <a:cs typeface="Calibri"/>
                <a:sym typeface="Calibri"/>
              </a:rPr>
              <a:t>🚀  Tu empresa 100% operativa en Odoo en 3-6 meses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2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0" name="Google Shape;950;p23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¿POR QUÉ SUNNAME?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2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p23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23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23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23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Por qué +60 empresas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eligen Sunname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23"/>
          <p:cNvSpPr/>
          <p:nvPr/>
        </p:nvSpPr>
        <p:spPr>
          <a:xfrm>
            <a:off x="914400" y="1417320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Experiencia comprobada · Soporte real · Compromiso con tu éxito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23"/>
          <p:cNvSpPr/>
          <p:nvPr/>
        </p:nvSpPr>
        <p:spPr>
          <a:xfrm>
            <a:off x="365760" y="1874520"/>
            <a:ext cx="4023360" cy="13533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23"/>
          <p:cNvSpPr/>
          <p:nvPr/>
        </p:nvSpPr>
        <p:spPr>
          <a:xfrm>
            <a:off x="365760" y="1874520"/>
            <a:ext cx="54864" cy="1353312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23"/>
          <p:cNvSpPr/>
          <p:nvPr/>
        </p:nvSpPr>
        <p:spPr>
          <a:xfrm>
            <a:off x="457200" y="194767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📍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23"/>
          <p:cNvSpPr/>
          <p:nvPr/>
        </p:nvSpPr>
        <p:spPr>
          <a:xfrm>
            <a:off x="1024128" y="196596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Acompañamiento en Sitio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23"/>
          <p:cNvSpPr/>
          <p:nvPr/>
        </p:nvSpPr>
        <p:spPr>
          <a:xfrm>
            <a:off x="1024128" y="2276856"/>
            <a:ext cx="3200400" cy="219456"/>
          </a:xfrm>
          <a:prstGeom prst="rect">
            <a:avLst/>
          </a:prstGeom>
          <a:solidFill>
            <a:srgbClr val="E8F4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23"/>
          <p:cNvSpPr/>
          <p:nvPr/>
        </p:nvSpPr>
        <p:spPr>
          <a:xfrm>
            <a:off x="1024128" y="2276856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+60 implementaciones presenciales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23"/>
          <p:cNvSpPr/>
          <p:nvPr/>
        </p:nvSpPr>
        <p:spPr>
          <a:xfrm>
            <a:off x="475488" y="2578608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 hacemos implementaciones remotas genéricas. Vamos a tu planta o tienda, entendemos tu operación real y configuramos Odoo viendo cómo trabajas hoy.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23"/>
          <p:cNvSpPr/>
          <p:nvPr/>
        </p:nvSpPr>
        <p:spPr>
          <a:xfrm>
            <a:off x="4663440" y="1874520"/>
            <a:ext cx="4023360" cy="13533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23"/>
          <p:cNvSpPr/>
          <p:nvPr/>
        </p:nvSpPr>
        <p:spPr>
          <a:xfrm>
            <a:off x="4663440" y="1874520"/>
            <a:ext cx="54864" cy="1353312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23"/>
          <p:cNvSpPr/>
          <p:nvPr/>
        </p:nvSpPr>
        <p:spPr>
          <a:xfrm>
            <a:off x="4754880" y="194767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23"/>
          <p:cNvSpPr/>
          <p:nvPr/>
        </p:nvSpPr>
        <p:spPr>
          <a:xfrm>
            <a:off x="5321808" y="196596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Desarrollos Sin Límites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23"/>
          <p:cNvSpPr/>
          <p:nvPr/>
        </p:nvSpPr>
        <p:spPr>
          <a:xfrm>
            <a:off x="5321808" y="2276856"/>
            <a:ext cx="3200400" cy="219456"/>
          </a:xfrm>
          <a:prstGeom prst="rect">
            <a:avLst/>
          </a:prstGeom>
          <a:solidFill>
            <a:srgbClr val="E8F4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23"/>
          <p:cNvSpPr/>
          <p:nvPr/>
        </p:nvSpPr>
        <p:spPr>
          <a:xfrm>
            <a:off x="5321808" y="2276856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+100 desarrollos personalizados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23"/>
          <p:cNvSpPr/>
          <p:nvPr/>
        </p:nvSpPr>
        <p:spPr>
          <a:xfrm>
            <a:off x="4773168" y="2578608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¿Necesitas algo que Odoo no hace por defecto? Lo desarrollamos: reportes, módulos, integraciones y automatizaciones sin restricciones.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23"/>
          <p:cNvSpPr/>
          <p:nvPr/>
        </p:nvSpPr>
        <p:spPr>
          <a:xfrm>
            <a:off x="365760" y="3383280"/>
            <a:ext cx="4023360" cy="13533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23"/>
          <p:cNvSpPr/>
          <p:nvPr/>
        </p:nvSpPr>
        <p:spPr>
          <a:xfrm>
            <a:off x="365760" y="3383280"/>
            <a:ext cx="54864" cy="1353312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23"/>
          <p:cNvSpPr/>
          <p:nvPr/>
        </p:nvSpPr>
        <p:spPr>
          <a:xfrm>
            <a:off x="457200" y="345643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🏅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23"/>
          <p:cNvSpPr/>
          <p:nvPr/>
        </p:nvSpPr>
        <p:spPr>
          <a:xfrm>
            <a:off x="1024128" y="347472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Partner Oficial Certificado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23"/>
          <p:cNvSpPr/>
          <p:nvPr/>
        </p:nvSpPr>
        <p:spPr>
          <a:xfrm>
            <a:off x="1024128" y="3785616"/>
            <a:ext cx="3200400" cy="219456"/>
          </a:xfrm>
          <a:prstGeom prst="rect">
            <a:avLst/>
          </a:prstGeom>
          <a:solidFill>
            <a:srgbClr val="E8F4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23"/>
          <p:cNvSpPr/>
          <p:nvPr/>
        </p:nvSpPr>
        <p:spPr>
          <a:xfrm>
            <a:off x="1024128" y="3785616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Odoo Ready &amp; Learning Partner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23"/>
          <p:cNvSpPr/>
          <p:nvPr/>
        </p:nvSpPr>
        <p:spPr>
          <a:xfrm>
            <a:off x="475488" y="4087368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Certificados para implementar, personalizar y dar soporte. Acceso directo a soporte oficial de Odoo, actualizaciones prioritarias y garantía de calidad.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3"/>
          <p:cNvSpPr/>
          <p:nvPr/>
        </p:nvSpPr>
        <p:spPr>
          <a:xfrm>
            <a:off x="4663440" y="3383280"/>
            <a:ext cx="4023360" cy="13533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23"/>
          <p:cNvSpPr/>
          <p:nvPr/>
        </p:nvSpPr>
        <p:spPr>
          <a:xfrm>
            <a:off x="4663440" y="3383280"/>
            <a:ext cx="54864" cy="1353312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23"/>
          <p:cNvSpPr/>
          <p:nvPr/>
        </p:nvSpPr>
        <p:spPr>
          <a:xfrm>
            <a:off x="4754880" y="345643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🇲🇽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23"/>
          <p:cNvSpPr/>
          <p:nvPr/>
        </p:nvSpPr>
        <p:spPr>
          <a:xfrm>
            <a:off x="5321808" y="347472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Soporte en Español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23"/>
          <p:cNvSpPr/>
          <p:nvPr/>
        </p:nvSpPr>
        <p:spPr>
          <a:xfrm>
            <a:off x="5321808" y="3785616"/>
            <a:ext cx="3200400" cy="219456"/>
          </a:xfrm>
          <a:prstGeom prst="rect">
            <a:avLst/>
          </a:prstGeom>
          <a:solidFill>
            <a:srgbClr val="E8F4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2" name="Google Shape;982;p23"/>
          <p:cNvSpPr/>
          <p:nvPr/>
        </p:nvSpPr>
        <p:spPr>
          <a:xfrm>
            <a:off x="5321808" y="3785616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Respuesta en menos de 2 horas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23"/>
          <p:cNvSpPr/>
          <p:nvPr/>
        </p:nvSpPr>
        <p:spPr>
          <a:xfrm>
            <a:off x="4773168" y="4087368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Equipo 100% en México. Atención inmediata por WhatsApp, videollamada o en sitio. Sin esperas, sin barreras de idioma, en tu zona horaria.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1A56"/>
        </a:solidFill>
        <a:effectLst/>
      </p:bgPr>
    </p:bg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2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24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24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24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2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24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PARTNERS Y CERTIFICACIONES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24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Respaldados por los Mejores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24"/>
          <p:cNvSpPr/>
          <p:nvPr/>
        </p:nvSpPr>
        <p:spPr>
          <a:xfrm>
            <a:off x="914400" y="12344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Certificados por Odoo con experiencia comprobada en manufactura y retail mexicano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24"/>
          <p:cNvSpPr/>
          <p:nvPr/>
        </p:nvSpPr>
        <p:spPr>
          <a:xfrm>
            <a:off x="457200" y="1828800"/>
            <a:ext cx="4114800" cy="2743200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24"/>
          <p:cNvSpPr/>
          <p:nvPr/>
        </p:nvSpPr>
        <p:spPr>
          <a:xfrm>
            <a:off x="457200" y="1828800"/>
            <a:ext cx="4114800" cy="502920"/>
          </a:xfrm>
          <a:prstGeom prst="rect">
            <a:avLst/>
          </a:prstGeom>
          <a:solidFill>
            <a:srgbClr val="46C2CE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8" name="Google Shape;998;p24"/>
          <p:cNvSpPr/>
          <p:nvPr/>
        </p:nvSpPr>
        <p:spPr>
          <a:xfrm>
            <a:off x="594360" y="182880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🏆  Odoo Ready Partner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24"/>
          <p:cNvSpPr/>
          <p:nvPr/>
        </p:nvSpPr>
        <p:spPr>
          <a:xfrm>
            <a:off x="594360" y="23774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Partner oficial certificado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24"/>
          <p:cNvSpPr/>
          <p:nvPr/>
        </p:nvSpPr>
        <p:spPr>
          <a:xfrm>
            <a:off x="594360" y="274320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✓  Equipo certificado para implementar y personalizar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24"/>
          <p:cNvSpPr/>
          <p:nvPr/>
        </p:nvSpPr>
        <p:spPr>
          <a:xfrm>
            <a:off x="594360" y="3182112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✓  Experiencia práctica en proyectos reales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24"/>
          <p:cNvSpPr/>
          <p:nvPr/>
        </p:nvSpPr>
        <p:spPr>
          <a:xfrm>
            <a:off x="594360" y="3621024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✓  Acceso directo a soporte oficial de Odoo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24"/>
          <p:cNvSpPr/>
          <p:nvPr/>
        </p:nvSpPr>
        <p:spPr>
          <a:xfrm>
            <a:off x="594360" y="4059936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✓  Actualizaciones prioritarias y garantía de calidad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24"/>
          <p:cNvSpPr/>
          <p:nvPr/>
        </p:nvSpPr>
        <p:spPr>
          <a:xfrm>
            <a:off x="4846320" y="1828800"/>
            <a:ext cx="4114800" cy="2743200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24"/>
          <p:cNvSpPr/>
          <p:nvPr/>
        </p:nvSpPr>
        <p:spPr>
          <a:xfrm>
            <a:off x="4846320" y="1828800"/>
            <a:ext cx="4114800" cy="502920"/>
          </a:xfrm>
          <a:prstGeom prst="rect">
            <a:avLst/>
          </a:prstGeom>
          <a:solidFill>
            <a:srgbClr val="46C2CE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24"/>
          <p:cNvSpPr/>
          <p:nvPr/>
        </p:nvSpPr>
        <p:spPr>
          <a:xfrm>
            <a:off x="4983480" y="182880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🎓  Odoo Learning Partner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24"/>
          <p:cNvSpPr/>
          <p:nvPr/>
        </p:nvSpPr>
        <p:spPr>
          <a:xfrm>
            <a:off x="4983480" y="23774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Especialistas en capacitación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24"/>
          <p:cNvSpPr/>
          <p:nvPr/>
        </p:nvSpPr>
        <p:spPr>
          <a:xfrm>
            <a:off x="4983480" y="274320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✓  Certificación oficial para impartir formación Odoo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24"/>
          <p:cNvSpPr/>
          <p:nvPr/>
        </p:nvSpPr>
        <p:spPr>
          <a:xfrm>
            <a:off x="4983480" y="3182112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✓  +60 empresas capacitadas en manufactura y retail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24"/>
          <p:cNvSpPr/>
          <p:nvPr/>
        </p:nvSpPr>
        <p:spPr>
          <a:xfrm>
            <a:off x="4983480" y="3621024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✓  Manuales personalizados para cada cliente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24"/>
          <p:cNvSpPr/>
          <p:nvPr/>
        </p:nvSpPr>
        <p:spPr>
          <a:xfrm>
            <a:off x="4983480" y="4059936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✓  Conocimiento profundo del mercado mexicano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980"/>
        </a:solidFill>
        <a:effectLst/>
      </p:bgPr>
    </p:bg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2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8" name="Google Shape;1018;p25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25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25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25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25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NUESTROS NÚMEROS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25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Confianza que nos Impulsa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25"/>
          <p:cNvSpPr/>
          <p:nvPr/>
        </p:nvSpPr>
        <p:spPr>
          <a:xfrm>
            <a:off x="274320" y="1508760"/>
            <a:ext cx="2011680" cy="141732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4" name="Google Shape;1024;p25"/>
          <p:cNvSpPr/>
          <p:nvPr/>
        </p:nvSpPr>
        <p:spPr>
          <a:xfrm>
            <a:off x="274320" y="1508760"/>
            <a:ext cx="201168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25"/>
          <p:cNvSpPr/>
          <p:nvPr/>
        </p:nvSpPr>
        <p:spPr>
          <a:xfrm>
            <a:off x="274320" y="16002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🏢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25"/>
          <p:cNvSpPr/>
          <p:nvPr/>
        </p:nvSpPr>
        <p:spPr>
          <a:xfrm>
            <a:off x="274320" y="20574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+60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25"/>
          <p:cNvSpPr/>
          <p:nvPr/>
        </p:nvSpPr>
        <p:spPr>
          <a:xfrm>
            <a:off x="274320" y="25146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Empresas transformadas con Odoo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25"/>
          <p:cNvSpPr/>
          <p:nvPr/>
        </p:nvSpPr>
        <p:spPr>
          <a:xfrm>
            <a:off x="2450592" y="1508760"/>
            <a:ext cx="2011680" cy="141732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p25"/>
          <p:cNvSpPr/>
          <p:nvPr/>
        </p:nvSpPr>
        <p:spPr>
          <a:xfrm>
            <a:off x="2450592" y="1508760"/>
            <a:ext cx="201168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0" name="Google Shape;1030;p25"/>
          <p:cNvSpPr/>
          <p:nvPr/>
        </p:nvSpPr>
        <p:spPr>
          <a:xfrm>
            <a:off x="2450592" y="16002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🏭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25"/>
          <p:cNvSpPr/>
          <p:nvPr/>
        </p:nvSpPr>
        <p:spPr>
          <a:xfrm>
            <a:off x="2450592" y="20574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10+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25"/>
          <p:cNvSpPr/>
          <p:nvPr/>
        </p:nvSpPr>
        <p:spPr>
          <a:xfrm>
            <a:off x="2450592" y="25146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Proyectos de manufactura en operación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25"/>
          <p:cNvSpPr/>
          <p:nvPr/>
        </p:nvSpPr>
        <p:spPr>
          <a:xfrm>
            <a:off x="4626864" y="1508760"/>
            <a:ext cx="2011680" cy="141732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4" name="Google Shape;1034;p25"/>
          <p:cNvSpPr/>
          <p:nvPr/>
        </p:nvSpPr>
        <p:spPr>
          <a:xfrm>
            <a:off x="4626864" y="1508760"/>
            <a:ext cx="201168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" name="Google Shape;1035;p25"/>
          <p:cNvSpPr/>
          <p:nvPr/>
        </p:nvSpPr>
        <p:spPr>
          <a:xfrm>
            <a:off x="4626864" y="16002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🛒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25"/>
          <p:cNvSpPr/>
          <p:nvPr/>
        </p:nvSpPr>
        <p:spPr>
          <a:xfrm>
            <a:off x="4626864" y="20574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15+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25"/>
          <p:cNvSpPr/>
          <p:nvPr/>
        </p:nvSpPr>
        <p:spPr>
          <a:xfrm>
            <a:off x="4626864" y="25146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Tiendas en línea vendiendo hoy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25"/>
          <p:cNvSpPr/>
          <p:nvPr/>
        </p:nvSpPr>
        <p:spPr>
          <a:xfrm>
            <a:off x="6803136" y="1508760"/>
            <a:ext cx="2011680" cy="141732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9" name="Google Shape;1039;p25"/>
          <p:cNvSpPr/>
          <p:nvPr/>
        </p:nvSpPr>
        <p:spPr>
          <a:xfrm>
            <a:off x="6803136" y="1508760"/>
            <a:ext cx="201168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0" name="Google Shape;1040;p25"/>
          <p:cNvSpPr/>
          <p:nvPr/>
        </p:nvSpPr>
        <p:spPr>
          <a:xfrm>
            <a:off x="6803136" y="16002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💳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25"/>
          <p:cNvSpPr/>
          <p:nvPr/>
        </p:nvSpPr>
        <p:spPr>
          <a:xfrm>
            <a:off x="6803136" y="20574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10+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25"/>
          <p:cNvSpPr/>
          <p:nvPr/>
        </p:nvSpPr>
        <p:spPr>
          <a:xfrm>
            <a:off x="6803136" y="25146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Sistemas POS activos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25"/>
          <p:cNvSpPr/>
          <p:nvPr/>
        </p:nvSpPr>
        <p:spPr>
          <a:xfrm>
            <a:off x="274320" y="3108960"/>
            <a:ext cx="2011680" cy="141732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4" name="Google Shape;1044;p25"/>
          <p:cNvSpPr/>
          <p:nvPr/>
        </p:nvSpPr>
        <p:spPr>
          <a:xfrm>
            <a:off x="274320" y="3108960"/>
            <a:ext cx="201168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25"/>
          <p:cNvSpPr/>
          <p:nvPr/>
        </p:nvSpPr>
        <p:spPr>
          <a:xfrm>
            <a:off x="274320" y="32004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💻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25"/>
          <p:cNvSpPr/>
          <p:nvPr/>
        </p:nvSpPr>
        <p:spPr>
          <a:xfrm>
            <a:off x="274320" y="36576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100+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25"/>
          <p:cNvSpPr/>
          <p:nvPr/>
        </p:nvSpPr>
        <p:spPr>
          <a:xfrm>
            <a:off x="274320" y="41148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Desarrollos personalizados entregados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25"/>
          <p:cNvSpPr/>
          <p:nvPr/>
        </p:nvSpPr>
        <p:spPr>
          <a:xfrm>
            <a:off x="2450592" y="3108960"/>
            <a:ext cx="2011680" cy="141732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25"/>
          <p:cNvSpPr/>
          <p:nvPr/>
        </p:nvSpPr>
        <p:spPr>
          <a:xfrm>
            <a:off x="2450592" y="3108960"/>
            <a:ext cx="201168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0" name="Google Shape;1050;p25"/>
          <p:cNvSpPr/>
          <p:nvPr/>
        </p:nvSpPr>
        <p:spPr>
          <a:xfrm>
            <a:off x="2450592" y="32004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🗓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25"/>
          <p:cNvSpPr/>
          <p:nvPr/>
        </p:nvSpPr>
        <p:spPr>
          <a:xfrm>
            <a:off x="2450592" y="36576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3-6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25"/>
          <p:cNvSpPr/>
          <p:nvPr/>
        </p:nvSpPr>
        <p:spPr>
          <a:xfrm>
            <a:off x="2450592" y="41148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Meses promedio de implementación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25"/>
          <p:cNvSpPr/>
          <p:nvPr/>
        </p:nvSpPr>
        <p:spPr>
          <a:xfrm>
            <a:off x="4626864" y="3108960"/>
            <a:ext cx="2011680" cy="141732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4" name="Google Shape;1054;p25"/>
          <p:cNvSpPr/>
          <p:nvPr/>
        </p:nvSpPr>
        <p:spPr>
          <a:xfrm>
            <a:off x="4626864" y="3108960"/>
            <a:ext cx="201168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5" name="Google Shape;1055;p25"/>
          <p:cNvSpPr/>
          <p:nvPr/>
        </p:nvSpPr>
        <p:spPr>
          <a:xfrm>
            <a:off x="4626864" y="32004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25"/>
          <p:cNvSpPr/>
          <p:nvPr/>
        </p:nvSpPr>
        <p:spPr>
          <a:xfrm>
            <a:off x="4626864" y="36576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2hrs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25"/>
          <p:cNvSpPr/>
          <p:nvPr/>
        </p:nvSpPr>
        <p:spPr>
          <a:xfrm>
            <a:off x="4626864" y="41148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Tiempo máximo de respuesta de soporte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25"/>
          <p:cNvSpPr/>
          <p:nvPr/>
        </p:nvSpPr>
        <p:spPr>
          <a:xfrm>
            <a:off x="6803136" y="3108960"/>
            <a:ext cx="2011680" cy="141732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9" name="Google Shape;1059;p25"/>
          <p:cNvSpPr/>
          <p:nvPr/>
        </p:nvSpPr>
        <p:spPr>
          <a:xfrm>
            <a:off x="6803136" y="3108960"/>
            <a:ext cx="201168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0" name="Google Shape;1060;p25"/>
          <p:cNvSpPr/>
          <p:nvPr/>
        </p:nvSpPr>
        <p:spPr>
          <a:xfrm>
            <a:off x="6803136" y="32004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🛡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25"/>
          <p:cNvSpPr/>
          <p:nvPr/>
        </p:nvSpPr>
        <p:spPr>
          <a:xfrm>
            <a:off x="6803136" y="36576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2 meses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25"/>
          <p:cNvSpPr/>
          <p:nvPr/>
        </p:nvSpPr>
        <p:spPr>
          <a:xfrm>
            <a:off x="6803136" y="41148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Garantía post-arranque incluida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2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9" name="Google Shape;1069;p26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CRECIMIENTO · IMPACTO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2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26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26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26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26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Nuestro Impacto en Números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74" name="Google Shape;1074;p26"/>
          <p:cNvGraphicFramePr/>
          <p:nvPr/>
        </p:nvGraphicFramePr>
        <p:xfrm>
          <a:off x="365760" y="1325880"/>
          <a:ext cx="50292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75" name="Google Shape;1075;p26"/>
          <p:cNvGraphicFramePr/>
          <p:nvPr/>
        </p:nvGraphicFramePr>
        <p:xfrm>
          <a:off x="5486400" y="1325880"/>
          <a:ext cx="32918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76" name="Google Shape;1076;p26"/>
          <p:cNvSpPr/>
          <p:nvPr/>
        </p:nvSpPr>
        <p:spPr>
          <a:xfrm>
            <a:off x="457200" y="446227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Más del 70% de nuestros clientes contratan soporte continuo después de su implementación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27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3" name="Google Shape;1083;p27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2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5" name="Google Shape;1085;p27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27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27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27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Empresas que Confían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en Sunname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27"/>
          <p:cNvSpPr/>
          <p:nvPr/>
        </p:nvSpPr>
        <p:spPr>
          <a:xfrm>
            <a:off x="914400" y="1417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Orgullosos de trabajar con marcas líderes que comparten nuestro compromiso con la calidad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27"/>
          <p:cNvSpPr/>
          <p:nvPr/>
        </p:nvSpPr>
        <p:spPr>
          <a:xfrm>
            <a:off x="731520" y="1920240"/>
            <a:ext cx="233172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0" name="Google Shape;1090;p27"/>
          <p:cNvSpPr/>
          <p:nvPr/>
        </p:nvSpPr>
        <p:spPr>
          <a:xfrm>
            <a:off x="731520" y="1920240"/>
            <a:ext cx="2331720" cy="457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1" name="Google Shape;1091;p27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2" name="Google Shape;1092;p27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27"/>
          <p:cNvSpPr/>
          <p:nvPr/>
        </p:nvSpPr>
        <p:spPr>
          <a:xfrm>
            <a:off x="1389888" y="2057400"/>
            <a:ext cx="158191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Ediciones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El Naranjo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27"/>
          <p:cNvSpPr/>
          <p:nvPr/>
        </p:nvSpPr>
        <p:spPr>
          <a:xfrm>
            <a:off x="1389888" y="2560320"/>
            <a:ext cx="158191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Editorial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27"/>
          <p:cNvSpPr/>
          <p:nvPr/>
        </p:nvSpPr>
        <p:spPr>
          <a:xfrm>
            <a:off x="3383280" y="1920240"/>
            <a:ext cx="233172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6" name="Google Shape;1096;p27"/>
          <p:cNvSpPr/>
          <p:nvPr/>
        </p:nvSpPr>
        <p:spPr>
          <a:xfrm>
            <a:off x="3383280" y="1920240"/>
            <a:ext cx="2331720" cy="4572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7" name="Google Shape;1097;p27"/>
          <p:cNvSpPr/>
          <p:nvPr/>
        </p:nvSpPr>
        <p:spPr>
          <a:xfrm>
            <a:off x="3474720" y="2011680"/>
            <a:ext cx="502920" cy="50292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8" name="Google Shape;1098;p27"/>
          <p:cNvSpPr/>
          <p:nvPr/>
        </p:nvSpPr>
        <p:spPr>
          <a:xfrm>
            <a:off x="3474720" y="2011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27"/>
          <p:cNvSpPr/>
          <p:nvPr/>
        </p:nvSpPr>
        <p:spPr>
          <a:xfrm>
            <a:off x="4041648" y="2057400"/>
            <a:ext cx="158191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Tienda Nova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27"/>
          <p:cNvSpPr/>
          <p:nvPr/>
        </p:nvSpPr>
        <p:spPr>
          <a:xfrm>
            <a:off x="4041648" y="2560320"/>
            <a:ext cx="158191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Retail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27"/>
          <p:cNvSpPr/>
          <p:nvPr/>
        </p:nvSpPr>
        <p:spPr>
          <a:xfrm>
            <a:off x="6035040" y="1920240"/>
            <a:ext cx="233172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2" name="Google Shape;1102;p27"/>
          <p:cNvSpPr/>
          <p:nvPr/>
        </p:nvSpPr>
        <p:spPr>
          <a:xfrm>
            <a:off x="6035040" y="1920240"/>
            <a:ext cx="233172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27"/>
          <p:cNvSpPr/>
          <p:nvPr/>
        </p:nvSpPr>
        <p:spPr>
          <a:xfrm>
            <a:off x="6126480" y="2011680"/>
            <a:ext cx="502920" cy="5029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4" name="Google Shape;1104;p27"/>
          <p:cNvSpPr/>
          <p:nvPr/>
        </p:nvSpPr>
        <p:spPr>
          <a:xfrm>
            <a:off x="6126480" y="2011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27"/>
          <p:cNvSpPr/>
          <p:nvPr/>
        </p:nvSpPr>
        <p:spPr>
          <a:xfrm>
            <a:off x="6693408" y="2057400"/>
            <a:ext cx="158191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NUCLEOX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27"/>
          <p:cNvSpPr/>
          <p:nvPr/>
        </p:nvSpPr>
        <p:spPr>
          <a:xfrm>
            <a:off x="6693408" y="2560320"/>
            <a:ext cx="158191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Manufactura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27"/>
          <p:cNvSpPr/>
          <p:nvPr/>
        </p:nvSpPr>
        <p:spPr>
          <a:xfrm>
            <a:off x="731520" y="3291840"/>
            <a:ext cx="233172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27"/>
          <p:cNvSpPr/>
          <p:nvPr/>
        </p:nvSpPr>
        <p:spPr>
          <a:xfrm>
            <a:off x="731520" y="3291840"/>
            <a:ext cx="2331720" cy="457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27"/>
          <p:cNvSpPr/>
          <p:nvPr/>
        </p:nvSpPr>
        <p:spPr>
          <a:xfrm>
            <a:off x="822960" y="3383280"/>
            <a:ext cx="502920" cy="5029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0" name="Google Shape;1110;p27"/>
          <p:cNvSpPr/>
          <p:nvPr/>
        </p:nvSpPr>
        <p:spPr>
          <a:xfrm>
            <a:off x="822960" y="33832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27"/>
          <p:cNvSpPr/>
          <p:nvPr/>
        </p:nvSpPr>
        <p:spPr>
          <a:xfrm>
            <a:off x="1389888" y="3429000"/>
            <a:ext cx="158191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Logística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Express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27"/>
          <p:cNvSpPr/>
          <p:nvPr/>
        </p:nvSpPr>
        <p:spPr>
          <a:xfrm>
            <a:off x="1389888" y="3931920"/>
            <a:ext cx="158191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Logística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27"/>
          <p:cNvSpPr/>
          <p:nvPr/>
        </p:nvSpPr>
        <p:spPr>
          <a:xfrm>
            <a:off x="3383280" y="3291840"/>
            <a:ext cx="233172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27"/>
          <p:cNvSpPr/>
          <p:nvPr/>
        </p:nvSpPr>
        <p:spPr>
          <a:xfrm>
            <a:off x="3383280" y="3291840"/>
            <a:ext cx="2331720" cy="4572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27"/>
          <p:cNvSpPr/>
          <p:nvPr/>
        </p:nvSpPr>
        <p:spPr>
          <a:xfrm>
            <a:off x="3474720" y="3383280"/>
            <a:ext cx="502920" cy="50292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6" name="Google Shape;1116;p27"/>
          <p:cNvSpPr/>
          <p:nvPr/>
        </p:nvSpPr>
        <p:spPr>
          <a:xfrm>
            <a:off x="3474720" y="33832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27"/>
          <p:cNvSpPr/>
          <p:nvPr/>
        </p:nvSpPr>
        <p:spPr>
          <a:xfrm>
            <a:off x="4041648" y="3429000"/>
            <a:ext cx="158191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Cliente 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27"/>
          <p:cNvSpPr/>
          <p:nvPr/>
        </p:nvSpPr>
        <p:spPr>
          <a:xfrm>
            <a:off x="4041648" y="3931920"/>
            <a:ext cx="158191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Retail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27"/>
          <p:cNvSpPr/>
          <p:nvPr/>
        </p:nvSpPr>
        <p:spPr>
          <a:xfrm>
            <a:off x="6035040" y="3291840"/>
            <a:ext cx="233172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0" name="Google Shape;1120;p27"/>
          <p:cNvSpPr/>
          <p:nvPr/>
        </p:nvSpPr>
        <p:spPr>
          <a:xfrm>
            <a:off x="6035040" y="3291840"/>
            <a:ext cx="233172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1" name="Google Shape;1121;p27"/>
          <p:cNvSpPr/>
          <p:nvPr/>
        </p:nvSpPr>
        <p:spPr>
          <a:xfrm>
            <a:off x="6126480" y="3383280"/>
            <a:ext cx="502920" cy="5029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27"/>
          <p:cNvSpPr/>
          <p:nvPr/>
        </p:nvSpPr>
        <p:spPr>
          <a:xfrm>
            <a:off x="6126480" y="33832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27"/>
          <p:cNvSpPr/>
          <p:nvPr/>
        </p:nvSpPr>
        <p:spPr>
          <a:xfrm>
            <a:off x="6693408" y="3429000"/>
            <a:ext cx="158191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Cliente 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27"/>
          <p:cNvSpPr/>
          <p:nvPr/>
        </p:nvSpPr>
        <p:spPr>
          <a:xfrm>
            <a:off x="6693408" y="3931920"/>
            <a:ext cx="158191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Servicios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980"/>
        </a:solidFill>
        <a:effectLst/>
      </p:bgPr>
    </p:bg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2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1" name="Google Shape;1131;p28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28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28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28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4" name="Google Shape;1134;p28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TESTIMONIOS DE CLIENTES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28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 que dicen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nuestros clientes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28"/>
          <p:cNvSpPr/>
          <p:nvPr/>
        </p:nvSpPr>
        <p:spPr>
          <a:xfrm>
            <a:off x="914400" y="1463040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Empresas reales · Resultados reales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28"/>
          <p:cNvSpPr/>
          <p:nvPr/>
        </p:nvSpPr>
        <p:spPr>
          <a:xfrm>
            <a:off x="274320" y="1920240"/>
            <a:ext cx="2743200" cy="274320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8" name="Google Shape;1138;p28"/>
          <p:cNvSpPr/>
          <p:nvPr/>
        </p:nvSpPr>
        <p:spPr>
          <a:xfrm>
            <a:off x="274320" y="1920240"/>
            <a:ext cx="274320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9" name="Google Shape;1139;p28"/>
          <p:cNvSpPr/>
          <p:nvPr/>
        </p:nvSpPr>
        <p:spPr>
          <a:xfrm>
            <a:off x="365760" y="19385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❝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28"/>
          <p:cNvSpPr/>
          <p:nvPr/>
        </p:nvSpPr>
        <p:spPr>
          <a:xfrm>
            <a:off x="384048" y="2377440"/>
            <a:ext cx="2523744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La implementación realizada por Sunname ha ayudado a resolver muchas de nuestras necesidades y a mejorar los procesos, abriéndonos nuevas oportunidades de negocio. La consultora siempre estuvo atenta a nuestras dudas, logrando una implementación exitosa.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1" name="Google Shape;1141;p28"/>
          <p:cNvCxnSpPr/>
          <p:nvPr/>
        </p:nvCxnSpPr>
        <p:spPr>
          <a:xfrm>
            <a:off x="384048" y="4069080"/>
            <a:ext cx="2523744" cy="0"/>
          </a:xfrm>
          <a:prstGeom prst="straightConnector1">
            <a:avLst/>
          </a:prstGeom>
          <a:noFill/>
          <a:ln w="9525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42" name="Google Shape;1142;p28"/>
          <p:cNvSpPr/>
          <p:nvPr/>
        </p:nvSpPr>
        <p:spPr>
          <a:xfrm>
            <a:off x="384048" y="4160520"/>
            <a:ext cx="502920" cy="502920"/>
          </a:xfrm>
          <a:prstGeom prst="ellipse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3" name="Google Shape;1143;p28"/>
          <p:cNvSpPr/>
          <p:nvPr/>
        </p:nvSpPr>
        <p:spPr>
          <a:xfrm>
            <a:off x="384048" y="4160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28"/>
          <p:cNvSpPr/>
          <p:nvPr/>
        </p:nvSpPr>
        <p:spPr>
          <a:xfrm>
            <a:off x="960120" y="416966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Rebeca Gómez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28"/>
          <p:cNvSpPr/>
          <p:nvPr/>
        </p:nvSpPr>
        <p:spPr>
          <a:xfrm>
            <a:off x="960120" y="4407408"/>
            <a:ext cx="1965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Gerente de Ventas, Ediciones El Naranjo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28"/>
          <p:cNvSpPr/>
          <p:nvPr/>
        </p:nvSpPr>
        <p:spPr>
          <a:xfrm>
            <a:off x="3200400" y="1920240"/>
            <a:ext cx="2743200" cy="274320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7" name="Google Shape;1147;p28"/>
          <p:cNvSpPr/>
          <p:nvPr/>
        </p:nvSpPr>
        <p:spPr>
          <a:xfrm>
            <a:off x="3200400" y="1920240"/>
            <a:ext cx="274320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8" name="Google Shape;1148;p28"/>
          <p:cNvSpPr/>
          <p:nvPr/>
        </p:nvSpPr>
        <p:spPr>
          <a:xfrm>
            <a:off x="3291840" y="19385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❝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28"/>
          <p:cNvSpPr/>
          <p:nvPr/>
        </p:nvSpPr>
        <p:spPr>
          <a:xfrm>
            <a:off x="3310128" y="2377440"/>
            <a:ext cx="2523744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Gracias al trabajo realizado por Sunname, logramos hacer más eficientes nuestros procesos internos y al mismo tiempo fortalecer el compromiso del equipo, que ahora se siente más motivado y enfocado. Esta transformación ha tenido un impacto muy positivo en nuestras operaciones.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0" name="Google Shape;1150;p28"/>
          <p:cNvCxnSpPr/>
          <p:nvPr/>
        </p:nvCxnSpPr>
        <p:spPr>
          <a:xfrm>
            <a:off x="3310128" y="4069080"/>
            <a:ext cx="2523744" cy="0"/>
          </a:xfrm>
          <a:prstGeom prst="straightConnector1">
            <a:avLst/>
          </a:prstGeom>
          <a:noFill/>
          <a:ln w="9525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1" name="Google Shape;1151;p28"/>
          <p:cNvSpPr/>
          <p:nvPr/>
        </p:nvSpPr>
        <p:spPr>
          <a:xfrm>
            <a:off x="3310128" y="4160520"/>
            <a:ext cx="502920" cy="502920"/>
          </a:xfrm>
          <a:prstGeom prst="ellipse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152;p28"/>
          <p:cNvSpPr/>
          <p:nvPr/>
        </p:nvSpPr>
        <p:spPr>
          <a:xfrm>
            <a:off x="3310128" y="4160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28"/>
          <p:cNvSpPr/>
          <p:nvPr/>
        </p:nvSpPr>
        <p:spPr>
          <a:xfrm>
            <a:off x="3886200" y="416966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Laura Torres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28"/>
          <p:cNvSpPr/>
          <p:nvPr/>
        </p:nvSpPr>
        <p:spPr>
          <a:xfrm>
            <a:off x="3886200" y="4407408"/>
            <a:ext cx="1965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CEO, Tienda Nova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28"/>
          <p:cNvSpPr/>
          <p:nvPr/>
        </p:nvSpPr>
        <p:spPr>
          <a:xfrm>
            <a:off x="6126480" y="1920240"/>
            <a:ext cx="2743200" cy="274320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6" name="Google Shape;1156;p28"/>
          <p:cNvSpPr/>
          <p:nvPr/>
        </p:nvSpPr>
        <p:spPr>
          <a:xfrm>
            <a:off x="6126480" y="1920240"/>
            <a:ext cx="274320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7" name="Google Shape;1157;p28"/>
          <p:cNvSpPr/>
          <p:nvPr/>
        </p:nvSpPr>
        <p:spPr>
          <a:xfrm>
            <a:off x="6217920" y="19385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❝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28"/>
          <p:cNvSpPr/>
          <p:nvPr/>
        </p:nvSpPr>
        <p:spPr>
          <a:xfrm>
            <a:off x="6236208" y="2377440"/>
            <a:ext cx="2523744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La personalización brindada por Sunname y el acompañamiento cercano durante todo el proceso fueron clave para alcanzar los objetivos. Su atención a los detalles y comprensión de nuestras necesidades marcaron la diferencia en el éxito de la implementación.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9" name="Google Shape;1159;p28"/>
          <p:cNvCxnSpPr/>
          <p:nvPr/>
        </p:nvCxnSpPr>
        <p:spPr>
          <a:xfrm>
            <a:off x="6236208" y="4069080"/>
            <a:ext cx="2523744" cy="0"/>
          </a:xfrm>
          <a:prstGeom prst="straightConnector1">
            <a:avLst/>
          </a:prstGeom>
          <a:noFill/>
          <a:ln w="9525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0" name="Google Shape;1160;p28"/>
          <p:cNvSpPr/>
          <p:nvPr/>
        </p:nvSpPr>
        <p:spPr>
          <a:xfrm>
            <a:off x="6236208" y="4160520"/>
            <a:ext cx="502920" cy="502920"/>
          </a:xfrm>
          <a:prstGeom prst="ellipse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1" name="Google Shape;1161;p28"/>
          <p:cNvSpPr/>
          <p:nvPr/>
        </p:nvSpPr>
        <p:spPr>
          <a:xfrm>
            <a:off x="6236208" y="4160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28"/>
          <p:cNvSpPr/>
          <p:nvPr/>
        </p:nvSpPr>
        <p:spPr>
          <a:xfrm>
            <a:off x="6812280" y="416966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Javier López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28"/>
          <p:cNvSpPr/>
          <p:nvPr/>
        </p:nvSpPr>
        <p:spPr>
          <a:xfrm>
            <a:off x="6812280" y="4407408"/>
            <a:ext cx="1965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Gerente IT, Logística Express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2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0" name="Google Shape;1170;p29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GARANTÍAS Y COMPROMISOS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2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2" name="Google Shape;1172;p29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29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29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29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Resultados que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Puedes Medir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29"/>
          <p:cNvSpPr/>
          <p:nvPr/>
        </p:nvSpPr>
        <p:spPr>
          <a:xfrm>
            <a:off x="365760" y="1600200"/>
            <a:ext cx="2697480" cy="3063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6" name="Google Shape;1176;p29"/>
          <p:cNvSpPr/>
          <p:nvPr/>
        </p:nvSpPr>
        <p:spPr>
          <a:xfrm>
            <a:off x="365760" y="1600200"/>
            <a:ext cx="2697480" cy="5029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7" name="Google Shape;1177;p29"/>
          <p:cNvSpPr/>
          <p:nvPr/>
        </p:nvSpPr>
        <p:spPr>
          <a:xfrm>
            <a:off x="457200" y="160020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Implementación garantizada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29"/>
          <p:cNvSpPr/>
          <p:nvPr/>
        </p:nvSpPr>
        <p:spPr>
          <a:xfrm>
            <a:off x="365760" y="2148840"/>
            <a:ext cx="2697480" cy="365760"/>
          </a:xfrm>
          <a:prstGeom prst="rect">
            <a:avLst/>
          </a:prstGeom>
          <a:solidFill>
            <a:srgbClr val="E8F4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9" name="Google Shape;1179;p29"/>
          <p:cNvSpPr/>
          <p:nvPr/>
        </p:nvSpPr>
        <p:spPr>
          <a:xfrm>
            <a:off x="457200" y="214884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O devolvemos tu inversión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29"/>
          <p:cNvSpPr/>
          <p:nvPr/>
        </p:nvSpPr>
        <p:spPr>
          <a:xfrm>
            <a:off x="475488" y="2633472"/>
            <a:ext cx="246888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Arranque productivo supervisado o te devolvemos lo invertido. Acompañamiento de nuestro equipo para que tu sistema funcione desde el día uno.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29"/>
          <p:cNvSpPr/>
          <p:nvPr/>
        </p:nvSpPr>
        <p:spPr>
          <a:xfrm>
            <a:off x="365760" y="4160520"/>
            <a:ext cx="2697480" cy="502920"/>
          </a:xfrm>
          <a:prstGeom prst="rect">
            <a:avLst/>
          </a:prstGeom>
          <a:solidFill>
            <a:srgbClr val="263980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2" name="Google Shape;1182;p29"/>
          <p:cNvSpPr/>
          <p:nvPr/>
        </p:nvSpPr>
        <p:spPr>
          <a:xfrm>
            <a:off x="365760" y="416052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✓ Garantía incluida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29"/>
          <p:cNvSpPr/>
          <p:nvPr/>
        </p:nvSpPr>
        <p:spPr>
          <a:xfrm>
            <a:off x="3246120" y="1600200"/>
            <a:ext cx="2697480" cy="3063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4" name="Google Shape;1184;p29"/>
          <p:cNvSpPr/>
          <p:nvPr/>
        </p:nvSpPr>
        <p:spPr>
          <a:xfrm>
            <a:off x="3246120" y="1600200"/>
            <a:ext cx="2697480" cy="50292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5" name="Google Shape;1185;p29"/>
          <p:cNvSpPr/>
          <p:nvPr/>
        </p:nvSpPr>
        <p:spPr>
          <a:xfrm>
            <a:off x="3337560" y="160020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📞  15-30 días de soporte incluido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29"/>
          <p:cNvSpPr/>
          <p:nvPr/>
        </p:nvSpPr>
        <p:spPr>
          <a:xfrm>
            <a:off x="3246120" y="2148840"/>
            <a:ext cx="2697480" cy="365760"/>
          </a:xfrm>
          <a:prstGeom prst="rect">
            <a:avLst/>
          </a:prstGeom>
          <a:solidFill>
            <a:srgbClr val="E8F4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7" name="Google Shape;1187;p29"/>
          <p:cNvSpPr/>
          <p:nvPr/>
        </p:nvSpPr>
        <p:spPr>
          <a:xfrm>
            <a:off x="3337560" y="214884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F52A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7F52A0"/>
                </a:solidFill>
                <a:latin typeface="Calibri"/>
                <a:ea typeface="Calibri"/>
                <a:cs typeface="Calibri"/>
                <a:sym typeface="Calibri"/>
              </a:rPr>
              <a:t>Sin costo adicional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29"/>
          <p:cNvSpPr/>
          <p:nvPr/>
        </p:nvSpPr>
        <p:spPr>
          <a:xfrm>
            <a:off x="3355848" y="2633472"/>
            <a:ext cx="246888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Acompañamiento post-implementación gratuito. Resolución de dudas, ajustes y capacitación extra vía WhatsApp, correo o videollamada.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29"/>
          <p:cNvSpPr/>
          <p:nvPr/>
        </p:nvSpPr>
        <p:spPr>
          <a:xfrm>
            <a:off x="3246120" y="4160520"/>
            <a:ext cx="2697480" cy="502920"/>
          </a:xfrm>
          <a:prstGeom prst="rect">
            <a:avLst/>
          </a:prstGeom>
          <a:solidFill>
            <a:srgbClr val="7F52A0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0" name="Google Shape;1190;p29"/>
          <p:cNvSpPr/>
          <p:nvPr/>
        </p:nvSpPr>
        <p:spPr>
          <a:xfrm>
            <a:off x="3246120" y="416052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F52A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7F52A0"/>
                </a:solidFill>
                <a:latin typeface="Calibri"/>
                <a:ea typeface="Calibri"/>
                <a:cs typeface="Calibri"/>
                <a:sym typeface="Calibri"/>
              </a:rPr>
              <a:t>✓ Garantía incluida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29"/>
          <p:cNvSpPr/>
          <p:nvPr/>
        </p:nvSpPr>
        <p:spPr>
          <a:xfrm>
            <a:off x="6126480" y="1600200"/>
            <a:ext cx="2697480" cy="3063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2" name="Google Shape;1192;p29"/>
          <p:cNvSpPr/>
          <p:nvPr/>
        </p:nvSpPr>
        <p:spPr>
          <a:xfrm>
            <a:off x="6126480" y="1600200"/>
            <a:ext cx="2697480" cy="5029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3" name="Google Shape;1193;p29"/>
          <p:cNvSpPr/>
          <p:nvPr/>
        </p:nvSpPr>
        <p:spPr>
          <a:xfrm>
            <a:off x="6217920" y="160020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 Proyectos de 3-6 meses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29"/>
          <p:cNvSpPr/>
          <p:nvPr/>
        </p:nvSpPr>
        <p:spPr>
          <a:xfrm>
            <a:off x="6126480" y="2148840"/>
            <a:ext cx="2697480" cy="365760"/>
          </a:xfrm>
          <a:prstGeom prst="rect">
            <a:avLst/>
          </a:prstGeom>
          <a:solidFill>
            <a:srgbClr val="E8F4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5" name="Google Shape;1195;p29"/>
          <p:cNvSpPr/>
          <p:nvPr/>
        </p:nvSpPr>
        <p:spPr>
          <a:xfrm>
            <a:off x="6217920" y="214884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Implementaciones ágiles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29"/>
          <p:cNvSpPr/>
          <p:nvPr/>
        </p:nvSpPr>
        <p:spPr>
          <a:xfrm>
            <a:off x="6236208" y="2633472"/>
            <a:ext cx="246888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 proyectos eternos. Cronograma realista con hitos claros y entregables definidos en cada etapa del proyecto.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29"/>
          <p:cNvSpPr/>
          <p:nvPr/>
        </p:nvSpPr>
        <p:spPr>
          <a:xfrm>
            <a:off x="6126480" y="4160520"/>
            <a:ext cx="2697480" cy="502920"/>
          </a:xfrm>
          <a:prstGeom prst="rect">
            <a:avLst/>
          </a:prstGeom>
          <a:solidFill>
            <a:srgbClr val="46C2CE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29"/>
          <p:cNvSpPr/>
          <p:nvPr/>
        </p:nvSpPr>
        <p:spPr>
          <a:xfrm>
            <a:off x="6126480" y="416052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✓ Garantía incluida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29"/>
          <p:cNvSpPr/>
          <p:nvPr/>
        </p:nvSpPr>
        <p:spPr>
          <a:xfrm>
            <a:off x="914400" y="4663440"/>
            <a:ext cx="7315200" cy="256032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1200;p29"/>
          <p:cNvSpPr/>
          <p:nvPr/>
        </p:nvSpPr>
        <p:spPr>
          <a:xfrm>
            <a:off x="914400" y="466344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"En Sunname no vendemos software, entregamos soluciones que funcionan. Tu crecimiento es nuestro crecimiento."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3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7" name="Google Shape;1207;p30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ANTES Y DESPUÉS · ODOO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3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9" name="Google Shape;1209;p30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30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30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30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Antes vs Después de Odoo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30"/>
          <p:cNvSpPr/>
          <p:nvPr/>
        </p:nvSpPr>
        <p:spPr>
          <a:xfrm>
            <a:off x="365760" y="1325880"/>
            <a:ext cx="3749040" cy="411480"/>
          </a:xfrm>
          <a:prstGeom prst="rect">
            <a:avLst/>
          </a:prstGeom>
          <a:solidFill>
            <a:srgbClr val="D030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3" name="Google Shape;1213;p30"/>
          <p:cNvSpPr/>
          <p:nvPr/>
        </p:nvSpPr>
        <p:spPr>
          <a:xfrm>
            <a:off x="365760" y="132588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Sin Odoo (Situación actual)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30"/>
          <p:cNvSpPr/>
          <p:nvPr/>
        </p:nvSpPr>
        <p:spPr>
          <a:xfrm>
            <a:off x="5029200" y="1325880"/>
            <a:ext cx="3749040" cy="411480"/>
          </a:xfrm>
          <a:prstGeom prst="rect">
            <a:avLst/>
          </a:prstGeom>
          <a:solidFill>
            <a:srgbClr val="1A8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5" name="Google Shape;1215;p30"/>
          <p:cNvSpPr/>
          <p:nvPr/>
        </p:nvSpPr>
        <p:spPr>
          <a:xfrm>
            <a:off x="5029200" y="132588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Con Odoo y Sunname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30"/>
          <p:cNvSpPr/>
          <p:nvPr/>
        </p:nvSpPr>
        <p:spPr>
          <a:xfrm>
            <a:off x="365760" y="1874520"/>
            <a:ext cx="3749040" cy="420624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7" name="Google Shape;1217;p30"/>
          <p:cNvSpPr/>
          <p:nvPr/>
        </p:nvSpPr>
        <p:spPr>
          <a:xfrm>
            <a:off x="457200" y="1874520"/>
            <a:ext cx="3611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22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2233"/>
                </a:solidFill>
                <a:latin typeface="Calibri"/>
                <a:ea typeface="Calibri"/>
                <a:cs typeface="Calibri"/>
                <a:sym typeface="Calibri"/>
              </a:rPr>
              <a:t>• Excel con datos desactualizados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8" name="Google Shape;1218;p30"/>
          <p:cNvCxnSpPr/>
          <p:nvPr/>
        </p:nvCxnSpPr>
        <p:spPr>
          <a:xfrm>
            <a:off x="4297680" y="2084832"/>
            <a:ext cx="548640" cy="0"/>
          </a:xfrm>
          <a:prstGeom prst="straightConnector1">
            <a:avLst/>
          </a:prstGeom>
          <a:noFill/>
          <a:ln w="254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19" name="Google Shape;1219;p30"/>
          <p:cNvSpPr/>
          <p:nvPr/>
        </p:nvSpPr>
        <p:spPr>
          <a:xfrm>
            <a:off x="4297680" y="1874520"/>
            <a:ext cx="5486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30"/>
          <p:cNvSpPr/>
          <p:nvPr/>
        </p:nvSpPr>
        <p:spPr>
          <a:xfrm>
            <a:off x="5029200" y="1874520"/>
            <a:ext cx="3749040" cy="420624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1" name="Google Shape;1221;p30"/>
          <p:cNvSpPr/>
          <p:nvPr/>
        </p:nvSpPr>
        <p:spPr>
          <a:xfrm>
            <a:off x="5120640" y="1874520"/>
            <a:ext cx="3611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60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6040"/>
                </a:solidFill>
                <a:latin typeface="Calibri"/>
                <a:ea typeface="Calibri"/>
                <a:cs typeface="Calibri"/>
                <a:sym typeface="Calibri"/>
              </a:rPr>
              <a:t>✓ Dashboards en tiempo real accesibles desde cualquier dispositivo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30"/>
          <p:cNvSpPr/>
          <p:nvPr/>
        </p:nvSpPr>
        <p:spPr>
          <a:xfrm>
            <a:off x="365760" y="2350008"/>
            <a:ext cx="3749040" cy="420624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3" name="Google Shape;1223;p30"/>
          <p:cNvSpPr/>
          <p:nvPr/>
        </p:nvSpPr>
        <p:spPr>
          <a:xfrm>
            <a:off x="457200" y="2350008"/>
            <a:ext cx="3611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22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2233"/>
                </a:solidFill>
                <a:latin typeface="Calibri"/>
                <a:ea typeface="Calibri"/>
                <a:cs typeface="Calibri"/>
                <a:sym typeface="Calibri"/>
              </a:rPr>
              <a:t>• Sistemas desconectados (ventas, inventario, finanzas)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4" name="Google Shape;1224;p30"/>
          <p:cNvCxnSpPr/>
          <p:nvPr/>
        </p:nvCxnSpPr>
        <p:spPr>
          <a:xfrm>
            <a:off x="4297680" y="2560320"/>
            <a:ext cx="548640" cy="0"/>
          </a:xfrm>
          <a:prstGeom prst="straightConnector1">
            <a:avLst/>
          </a:prstGeom>
          <a:noFill/>
          <a:ln w="254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25" name="Google Shape;1225;p30"/>
          <p:cNvSpPr/>
          <p:nvPr/>
        </p:nvSpPr>
        <p:spPr>
          <a:xfrm>
            <a:off x="4297680" y="2350008"/>
            <a:ext cx="5486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30"/>
          <p:cNvSpPr/>
          <p:nvPr/>
        </p:nvSpPr>
        <p:spPr>
          <a:xfrm>
            <a:off x="5029200" y="2350008"/>
            <a:ext cx="3749040" cy="420624"/>
          </a:xfrm>
          <a:prstGeom prst="rect">
            <a:avLst/>
          </a:prstGeom>
          <a:solidFill>
            <a:srgbClr val="EEFF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7" name="Google Shape;1227;p30"/>
          <p:cNvSpPr/>
          <p:nvPr/>
        </p:nvSpPr>
        <p:spPr>
          <a:xfrm>
            <a:off x="5120640" y="2350008"/>
            <a:ext cx="3611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60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6040"/>
                </a:solidFill>
                <a:latin typeface="Calibri"/>
                <a:ea typeface="Calibri"/>
                <a:cs typeface="Calibri"/>
                <a:sym typeface="Calibri"/>
              </a:rPr>
              <a:t>✓ Una sola plataforma integrada: todo conectado automáticamente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30"/>
          <p:cNvSpPr/>
          <p:nvPr/>
        </p:nvSpPr>
        <p:spPr>
          <a:xfrm>
            <a:off x="365760" y="2825496"/>
            <a:ext cx="3749040" cy="420624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9" name="Google Shape;1229;p30"/>
          <p:cNvSpPr/>
          <p:nvPr/>
        </p:nvSpPr>
        <p:spPr>
          <a:xfrm>
            <a:off x="457200" y="2825496"/>
            <a:ext cx="3611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22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2233"/>
                </a:solidFill>
                <a:latin typeface="Calibri"/>
                <a:ea typeface="Calibri"/>
                <a:cs typeface="Calibri"/>
                <a:sym typeface="Calibri"/>
              </a:rPr>
              <a:t>• Inventario impreciso con faltantes o excesos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0" name="Google Shape;1230;p30"/>
          <p:cNvCxnSpPr/>
          <p:nvPr/>
        </p:nvCxnSpPr>
        <p:spPr>
          <a:xfrm>
            <a:off x="4297680" y="3035808"/>
            <a:ext cx="548640" cy="0"/>
          </a:xfrm>
          <a:prstGeom prst="straightConnector1">
            <a:avLst/>
          </a:prstGeom>
          <a:noFill/>
          <a:ln w="254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31" name="Google Shape;1231;p30"/>
          <p:cNvSpPr/>
          <p:nvPr/>
        </p:nvSpPr>
        <p:spPr>
          <a:xfrm>
            <a:off x="4297680" y="2825496"/>
            <a:ext cx="5486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30"/>
          <p:cNvSpPr/>
          <p:nvPr/>
        </p:nvSpPr>
        <p:spPr>
          <a:xfrm>
            <a:off x="5029200" y="2825496"/>
            <a:ext cx="3749040" cy="420624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3" name="Google Shape;1233;p30"/>
          <p:cNvSpPr/>
          <p:nvPr/>
        </p:nvSpPr>
        <p:spPr>
          <a:xfrm>
            <a:off x="5120640" y="2825496"/>
            <a:ext cx="3611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60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6040"/>
                </a:solidFill>
                <a:latin typeface="Calibri"/>
                <a:ea typeface="Calibri"/>
                <a:cs typeface="Calibri"/>
                <a:sym typeface="Calibri"/>
              </a:rPr>
              <a:t>✓ Stock exacto en tiempo real con reabastecimiento automático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30"/>
          <p:cNvSpPr/>
          <p:nvPr/>
        </p:nvSpPr>
        <p:spPr>
          <a:xfrm>
            <a:off x="365760" y="3300984"/>
            <a:ext cx="3749040" cy="420624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5" name="Google Shape;1235;p30"/>
          <p:cNvSpPr/>
          <p:nvPr/>
        </p:nvSpPr>
        <p:spPr>
          <a:xfrm>
            <a:off x="457200" y="3300984"/>
            <a:ext cx="3611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22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2233"/>
                </a:solidFill>
                <a:latin typeface="Calibri"/>
                <a:ea typeface="Calibri"/>
                <a:cs typeface="Calibri"/>
                <a:sym typeface="Calibri"/>
              </a:rPr>
              <a:t>• Costos de producción estimados o desconocidos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6" name="Google Shape;1236;p30"/>
          <p:cNvCxnSpPr/>
          <p:nvPr/>
        </p:nvCxnSpPr>
        <p:spPr>
          <a:xfrm>
            <a:off x="4297680" y="3511296"/>
            <a:ext cx="548640" cy="0"/>
          </a:xfrm>
          <a:prstGeom prst="straightConnector1">
            <a:avLst/>
          </a:prstGeom>
          <a:noFill/>
          <a:ln w="254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37" name="Google Shape;1237;p30"/>
          <p:cNvSpPr/>
          <p:nvPr/>
        </p:nvSpPr>
        <p:spPr>
          <a:xfrm>
            <a:off x="4297680" y="3300984"/>
            <a:ext cx="5486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30"/>
          <p:cNvSpPr/>
          <p:nvPr/>
        </p:nvSpPr>
        <p:spPr>
          <a:xfrm>
            <a:off x="5029200" y="3300984"/>
            <a:ext cx="3749040" cy="420624"/>
          </a:xfrm>
          <a:prstGeom prst="rect">
            <a:avLst/>
          </a:prstGeom>
          <a:solidFill>
            <a:srgbClr val="EEFF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9" name="Google Shape;1239;p30"/>
          <p:cNvSpPr/>
          <p:nvPr/>
        </p:nvSpPr>
        <p:spPr>
          <a:xfrm>
            <a:off x="5120640" y="3300984"/>
            <a:ext cx="3611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60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6040"/>
                </a:solidFill>
                <a:latin typeface="Calibri"/>
                <a:ea typeface="Calibri"/>
                <a:cs typeface="Calibri"/>
                <a:sym typeface="Calibri"/>
              </a:rPr>
              <a:t>✓ Costeo real por producto y orden de trabajo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30"/>
          <p:cNvSpPr/>
          <p:nvPr/>
        </p:nvSpPr>
        <p:spPr>
          <a:xfrm>
            <a:off x="365760" y="3776472"/>
            <a:ext cx="3749040" cy="420624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1" name="Google Shape;1241;p30"/>
          <p:cNvSpPr/>
          <p:nvPr/>
        </p:nvSpPr>
        <p:spPr>
          <a:xfrm>
            <a:off x="457200" y="3776472"/>
            <a:ext cx="3611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22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2233"/>
                </a:solidFill>
                <a:latin typeface="Calibri"/>
                <a:ea typeface="Calibri"/>
                <a:cs typeface="Calibri"/>
                <a:sym typeface="Calibri"/>
              </a:rPr>
              <a:t>• Reportes manuales que toman horas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2" name="Google Shape;1242;p30"/>
          <p:cNvCxnSpPr/>
          <p:nvPr/>
        </p:nvCxnSpPr>
        <p:spPr>
          <a:xfrm>
            <a:off x="4297680" y="3986784"/>
            <a:ext cx="548640" cy="0"/>
          </a:xfrm>
          <a:prstGeom prst="straightConnector1">
            <a:avLst/>
          </a:prstGeom>
          <a:noFill/>
          <a:ln w="254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43" name="Google Shape;1243;p30"/>
          <p:cNvSpPr/>
          <p:nvPr/>
        </p:nvSpPr>
        <p:spPr>
          <a:xfrm>
            <a:off x="4297680" y="3776472"/>
            <a:ext cx="5486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30"/>
          <p:cNvSpPr/>
          <p:nvPr/>
        </p:nvSpPr>
        <p:spPr>
          <a:xfrm>
            <a:off x="5029200" y="3776472"/>
            <a:ext cx="3749040" cy="420624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5" name="Google Shape;1245;p30"/>
          <p:cNvSpPr/>
          <p:nvPr/>
        </p:nvSpPr>
        <p:spPr>
          <a:xfrm>
            <a:off x="5120640" y="3776472"/>
            <a:ext cx="3611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60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6040"/>
                </a:solidFill>
                <a:latin typeface="Calibri"/>
                <a:ea typeface="Calibri"/>
                <a:cs typeface="Calibri"/>
                <a:sym typeface="Calibri"/>
              </a:rPr>
              <a:t>✓ Reportes automáticos en segundos con los KPIs que necesitas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30"/>
          <p:cNvSpPr/>
          <p:nvPr/>
        </p:nvSpPr>
        <p:spPr>
          <a:xfrm>
            <a:off x="365760" y="4251960"/>
            <a:ext cx="3749040" cy="420624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7" name="Google Shape;1247;p30"/>
          <p:cNvSpPr/>
          <p:nvPr/>
        </p:nvSpPr>
        <p:spPr>
          <a:xfrm>
            <a:off x="457200" y="4251960"/>
            <a:ext cx="3611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22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2233"/>
                </a:solidFill>
                <a:latin typeface="Calibri"/>
                <a:ea typeface="Calibri"/>
                <a:cs typeface="Calibri"/>
                <a:sym typeface="Calibri"/>
              </a:rPr>
              <a:t>• Sin trazabilidad de productos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8" name="Google Shape;1248;p30"/>
          <p:cNvCxnSpPr/>
          <p:nvPr/>
        </p:nvCxnSpPr>
        <p:spPr>
          <a:xfrm>
            <a:off x="4297680" y="4462272"/>
            <a:ext cx="548640" cy="0"/>
          </a:xfrm>
          <a:prstGeom prst="straightConnector1">
            <a:avLst/>
          </a:prstGeom>
          <a:noFill/>
          <a:ln w="254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49" name="Google Shape;1249;p30"/>
          <p:cNvSpPr/>
          <p:nvPr/>
        </p:nvSpPr>
        <p:spPr>
          <a:xfrm>
            <a:off x="4297680" y="4251960"/>
            <a:ext cx="5486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30"/>
          <p:cNvSpPr/>
          <p:nvPr/>
        </p:nvSpPr>
        <p:spPr>
          <a:xfrm>
            <a:off x="5029200" y="4251960"/>
            <a:ext cx="3749040" cy="420624"/>
          </a:xfrm>
          <a:prstGeom prst="rect">
            <a:avLst/>
          </a:prstGeom>
          <a:solidFill>
            <a:srgbClr val="EEFF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1" name="Google Shape;1251;p30"/>
          <p:cNvSpPr/>
          <p:nvPr/>
        </p:nvSpPr>
        <p:spPr>
          <a:xfrm>
            <a:off x="5120640" y="4251960"/>
            <a:ext cx="3611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604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6040"/>
                </a:solidFill>
                <a:latin typeface="Calibri"/>
                <a:ea typeface="Calibri"/>
                <a:cs typeface="Calibri"/>
                <a:sym typeface="Calibri"/>
              </a:rPr>
              <a:t>✓ Trazabilidad completa desde materia prima hasta cliente final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980"/>
        </a:solidFill>
        <a:effectLst/>
      </p:bgPr>
    </p:bg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3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8" name="Google Shape;1258;p31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31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31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3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1" name="Google Shape;1261;p3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ROI · RETORNO DE INVERSIÓN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3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Retorno de Inversión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comprobado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31"/>
          <p:cNvSpPr/>
          <p:nvPr/>
        </p:nvSpPr>
        <p:spPr>
          <a:xfrm>
            <a:off x="365760" y="1691640"/>
            <a:ext cx="1965960" cy="182880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4" name="Google Shape;1264;p31"/>
          <p:cNvSpPr/>
          <p:nvPr/>
        </p:nvSpPr>
        <p:spPr>
          <a:xfrm>
            <a:off x="365760" y="1691640"/>
            <a:ext cx="196596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5" name="Google Shape;1265;p31"/>
          <p:cNvSpPr/>
          <p:nvPr/>
        </p:nvSpPr>
        <p:spPr>
          <a:xfrm>
            <a:off x="365760" y="1755648"/>
            <a:ext cx="1965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rPr lang="en-US" sz="3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31"/>
          <p:cNvSpPr/>
          <p:nvPr/>
        </p:nvSpPr>
        <p:spPr>
          <a:xfrm>
            <a:off x="365760" y="2350008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30%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31"/>
          <p:cNvSpPr/>
          <p:nvPr/>
        </p:nvSpPr>
        <p:spPr>
          <a:xfrm>
            <a:off x="457200" y="2862072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Reducción de inventario excedente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31"/>
          <p:cNvSpPr/>
          <p:nvPr/>
        </p:nvSpPr>
        <p:spPr>
          <a:xfrm>
            <a:off x="2514600" y="1691640"/>
            <a:ext cx="1965960" cy="182880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9" name="Google Shape;1269;p31"/>
          <p:cNvSpPr/>
          <p:nvPr/>
        </p:nvSpPr>
        <p:spPr>
          <a:xfrm>
            <a:off x="2514600" y="1691640"/>
            <a:ext cx="196596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0" name="Google Shape;1270;p31"/>
          <p:cNvSpPr/>
          <p:nvPr/>
        </p:nvSpPr>
        <p:spPr>
          <a:xfrm>
            <a:off x="2514600" y="1755648"/>
            <a:ext cx="1965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rPr lang="en-US" sz="3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⏱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31"/>
          <p:cNvSpPr/>
          <p:nvPr/>
        </p:nvSpPr>
        <p:spPr>
          <a:xfrm>
            <a:off x="2514600" y="2350008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50%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31"/>
          <p:cNvSpPr/>
          <p:nvPr/>
        </p:nvSpPr>
        <p:spPr>
          <a:xfrm>
            <a:off x="2606040" y="2862072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Reducción de tiempo en reportes manuales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31"/>
          <p:cNvSpPr/>
          <p:nvPr/>
        </p:nvSpPr>
        <p:spPr>
          <a:xfrm>
            <a:off x="4663440" y="1691640"/>
            <a:ext cx="1965960" cy="182880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4" name="Google Shape;1274;p31"/>
          <p:cNvSpPr/>
          <p:nvPr/>
        </p:nvSpPr>
        <p:spPr>
          <a:xfrm>
            <a:off x="4663440" y="1691640"/>
            <a:ext cx="196596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5" name="Google Shape;1275;p31"/>
          <p:cNvSpPr/>
          <p:nvPr/>
        </p:nvSpPr>
        <p:spPr>
          <a:xfrm>
            <a:off x="4663440" y="1755648"/>
            <a:ext cx="1965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rPr lang="en-US" sz="3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31"/>
          <p:cNvSpPr/>
          <p:nvPr/>
        </p:nvSpPr>
        <p:spPr>
          <a:xfrm>
            <a:off x="4663440" y="2350008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25%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31"/>
          <p:cNvSpPr/>
          <p:nvPr/>
        </p:nvSpPr>
        <p:spPr>
          <a:xfrm>
            <a:off x="4754880" y="2862072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Mejora en exactitud de costeo de producción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31"/>
          <p:cNvSpPr/>
          <p:nvPr/>
        </p:nvSpPr>
        <p:spPr>
          <a:xfrm>
            <a:off x="6812280" y="1691640"/>
            <a:ext cx="1965960" cy="182880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9" name="Google Shape;1279;p31"/>
          <p:cNvSpPr/>
          <p:nvPr/>
        </p:nvSpPr>
        <p:spPr>
          <a:xfrm>
            <a:off x="6812280" y="1691640"/>
            <a:ext cx="1965960" cy="457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0" name="Google Shape;1280;p31"/>
          <p:cNvSpPr/>
          <p:nvPr/>
        </p:nvSpPr>
        <p:spPr>
          <a:xfrm>
            <a:off x="6812280" y="1755648"/>
            <a:ext cx="1965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None/>
            </a:pPr>
            <a:r>
              <a:rPr lang="en-US" sz="3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31"/>
          <p:cNvSpPr/>
          <p:nvPr/>
        </p:nvSpPr>
        <p:spPr>
          <a:xfrm>
            <a:off x="6812280" y="2350008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40%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31"/>
          <p:cNvSpPr/>
          <p:nvPr/>
        </p:nvSpPr>
        <p:spPr>
          <a:xfrm>
            <a:off x="6903720" y="2862072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CCE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CCCEE"/>
                </a:solidFill>
                <a:latin typeface="Calibri"/>
                <a:ea typeface="Calibri"/>
                <a:cs typeface="Calibri"/>
                <a:sym typeface="Calibri"/>
              </a:rPr>
              <a:t>Reducción de errores en captura de datos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31"/>
          <p:cNvSpPr/>
          <p:nvPr/>
        </p:nvSpPr>
        <p:spPr>
          <a:xfrm>
            <a:off x="457200" y="374904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Modelo de Licenciamiento Odoo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31"/>
          <p:cNvSpPr/>
          <p:nvPr/>
        </p:nvSpPr>
        <p:spPr>
          <a:xfrm>
            <a:off x="365760" y="4187952"/>
            <a:ext cx="2651760" cy="621792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5" name="Google Shape;1285;p31"/>
          <p:cNvSpPr/>
          <p:nvPr/>
        </p:nvSpPr>
        <p:spPr>
          <a:xfrm>
            <a:off x="457200" y="4206240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Odoo Community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31"/>
          <p:cNvSpPr/>
          <p:nvPr/>
        </p:nvSpPr>
        <p:spPr>
          <a:xfrm>
            <a:off x="457200" y="442569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Gratuito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31"/>
          <p:cNvSpPr/>
          <p:nvPr/>
        </p:nvSpPr>
        <p:spPr>
          <a:xfrm>
            <a:off x="3200400" y="4187952"/>
            <a:ext cx="2651760" cy="621792"/>
          </a:xfrm>
          <a:prstGeom prst="rect">
            <a:avLst/>
          </a:prstGeom>
          <a:solidFill>
            <a:srgbClr val="46C2CE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8" name="Google Shape;1288;p31"/>
          <p:cNvSpPr/>
          <p:nvPr/>
        </p:nvSpPr>
        <p:spPr>
          <a:xfrm>
            <a:off x="3291840" y="4206240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Odoo Enterprise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31"/>
          <p:cNvSpPr/>
          <p:nvPr/>
        </p:nvSpPr>
        <p:spPr>
          <a:xfrm>
            <a:off x="3291840" y="442569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D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DFFFF"/>
                </a:solidFill>
                <a:latin typeface="Calibri"/>
                <a:ea typeface="Calibri"/>
                <a:cs typeface="Calibri"/>
                <a:sym typeface="Calibri"/>
              </a:rPr>
              <a:t>Desde $11.90 USD/usuario/mes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31"/>
          <p:cNvSpPr/>
          <p:nvPr/>
        </p:nvSpPr>
        <p:spPr>
          <a:xfrm>
            <a:off x="6035040" y="4187952"/>
            <a:ext cx="2651760" cy="621792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1" name="Google Shape;1291;p31"/>
          <p:cNvSpPr/>
          <p:nvPr/>
        </p:nvSpPr>
        <p:spPr>
          <a:xfrm>
            <a:off x="6126480" y="4206240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Implementación Sunname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31"/>
          <p:cNvSpPr/>
          <p:nvPr/>
        </p:nvSpPr>
        <p:spPr>
          <a:xfrm>
            <a:off x="6126480" y="442569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Inversión única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3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9" name="Google Shape;1299;p3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CASOS DE ÉXITO · MANUFACTURA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3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1" name="Google Shape;1301;p32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32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32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3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Caso de Éxito: Empresa Manufacturera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32"/>
          <p:cNvSpPr/>
          <p:nvPr/>
        </p:nvSpPr>
        <p:spPr>
          <a:xfrm>
            <a:off x="365760" y="1325880"/>
            <a:ext cx="3749040" cy="36576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5" name="Google Shape;1305;p32"/>
          <p:cNvSpPr/>
          <p:nvPr/>
        </p:nvSpPr>
        <p:spPr>
          <a:xfrm>
            <a:off x="457200" y="13258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🔴  El Reto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32"/>
          <p:cNvSpPr/>
          <p:nvPr/>
        </p:nvSpPr>
        <p:spPr>
          <a:xfrm>
            <a:off x="365760" y="1737360"/>
            <a:ext cx="3749040" cy="36576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7" name="Google Shape;1307;p32"/>
          <p:cNvSpPr/>
          <p:nvPr/>
        </p:nvSpPr>
        <p:spPr>
          <a:xfrm>
            <a:off x="457200" y="173736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22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AA2233"/>
                </a:solidFill>
                <a:latin typeface="Calibri"/>
                <a:ea typeface="Calibri"/>
                <a:cs typeface="Calibri"/>
                <a:sym typeface="Calibri"/>
              </a:rPr>
              <a:t>• Control de producción en Excel con errores constantes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32"/>
          <p:cNvSpPr/>
          <p:nvPr/>
        </p:nvSpPr>
        <p:spPr>
          <a:xfrm>
            <a:off x="365760" y="2148840"/>
            <a:ext cx="3749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9" name="Google Shape;1309;p32"/>
          <p:cNvSpPr/>
          <p:nvPr/>
        </p:nvSpPr>
        <p:spPr>
          <a:xfrm>
            <a:off x="457200" y="214884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22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AA2233"/>
                </a:solidFill>
                <a:latin typeface="Calibri"/>
                <a:ea typeface="Calibri"/>
                <a:cs typeface="Calibri"/>
                <a:sym typeface="Calibri"/>
              </a:rPr>
              <a:t>• Sin trazabilidad de materias primas ni lotes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32"/>
          <p:cNvSpPr/>
          <p:nvPr/>
        </p:nvSpPr>
        <p:spPr>
          <a:xfrm>
            <a:off x="365760" y="2560320"/>
            <a:ext cx="3749040" cy="36576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1" name="Google Shape;1311;p32"/>
          <p:cNvSpPr/>
          <p:nvPr/>
        </p:nvSpPr>
        <p:spPr>
          <a:xfrm>
            <a:off x="457200" y="256032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22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AA2233"/>
                </a:solidFill>
                <a:latin typeface="Calibri"/>
                <a:ea typeface="Calibri"/>
                <a:cs typeface="Calibri"/>
                <a:sym typeface="Calibri"/>
              </a:rPr>
              <a:t>• Costeo de producto desconocido e impreciso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32"/>
          <p:cNvSpPr/>
          <p:nvPr/>
        </p:nvSpPr>
        <p:spPr>
          <a:xfrm>
            <a:off x="365760" y="2971800"/>
            <a:ext cx="3749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3" name="Google Shape;1313;p32"/>
          <p:cNvSpPr/>
          <p:nvPr/>
        </p:nvSpPr>
        <p:spPr>
          <a:xfrm>
            <a:off x="457200" y="297180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22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AA2233"/>
                </a:solidFill>
                <a:latin typeface="Calibri"/>
                <a:ea typeface="Calibri"/>
                <a:cs typeface="Calibri"/>
                <a:sym typeface="Calibri"/>
              </a:rPr>
              <a:t>• Múltiples sistemas desconectados entre sí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32"/>
          <p:cNvSpPr/>
          <p:nvPr/>
        </p:nvSpPr>
        <p:spPr>
          <a:xfrm>
            <a:off x="365760" y="3429000"/>
            <a:ext cx="3749040" cy="36576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5" name="Google Shape;1315;p32"/>
          <p:cNvSpPr/>
          <p:nvPr/>
        </p:nvSpPr>
        <p:spPr>
          <a:xfrm>
            <a:off x="457200" y="342900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🔵  La Solución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32"/>
          <p:cNvSpPr/>
          <p:nvPr/>
        </p:nvSpPr>
        <p:spPr>
          <a:xfrm>
            <a:off x="365760" y="3840480"/>
            <a:ext cx="3749040" cy="36576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7" name="Google Shape;1317;p32"/>
          <p:cNvSpPr/>
          <p:nvPr/>
        </p:nvSpPr>
        <p:spPr>
          <a:xfrm>
            <a:off x="457200" y="384048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52A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7F52A0"/>
                </a:solidFill>
                <a:latin typeface="Calibri"/>
                <a:ea typeface="Calibri"/>
                <a:cs typeface="Calibri"/>
                <a:sym typeface="Calibri"/>
              </a:rPr>
              <a:t>• Implementación de módulos Fabricación, MRP e Inventario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32"/>
          <p:cNvSpPr/>
          <p:nvPr/>
        </p:nvSpPr>
        <p:spPr>
          <a:xfrm>
            <a:off x="365760" y="4251960"/>
            <a:ext cx="3749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9" name="Google Shape;1319;p32"/>
          <p:cNvSpPr/>
          <p:nvPr/>
        </p:nvSpPr>
        <p:spPr>
          <a:xfrm>
            <a:off x="457200" y="425196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52A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7F52A0"/>
                </a:solidFill>
                <a:latin typeface="Calibri"/>
                <a:ea typeface="Calibri"/>
                <a:cs typeface="Calibri"/>
                <a:sym typeface="Calibri"/>
              </a:rPr>
              <a:t>• Trazabilidad completa por lote y número de serie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32"/>
          <p:cNvSpPr/>
          <p:nvPr/>
        </p:nvSpPr>
        <p:spPr>
          <a:xfrm>
            <a:off x="365760" y="4663440"/>
            <a:ext cx="3749040" cy="36576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1" name="Google Shape;1321;p32"/>
          <p:cNvSpPr/>
          <p:nvPr/>
        </p:nvSpPr>
        <p:spPr>
          <a:xfrm>
            <a:off x="457200" y="466344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52A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7F52A0"/>
                </a:solidFill>
                <a:latin typeface="Calibri"/>
                <a:ea typeface="Calibri"/>
                <a:cs typeface="Calibri"/>
                <a:sym typeface="Calibri"/>
              </a:rPr>
              <a:t>• Costeo real integrado con contabilidad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32"/>
          <p:cNvSpPr/>
          <p:nvPr/>
        </p:nvSpPr>
        <p:spPr>
          <a:xfrm>
            <a:off x="4572000" y="1325880"/>
            <a:ext cx="4206240" cy="365760"/>
          </a:xfrm>
          <a:prstGeom prst="rect">
            <a:avLst/>
          </a:prstGeom>
          <a:solidFill>
            <a:srgbClr val="1A8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3" name="Google Shape;1323;p32"/>
          <p:cNvSpPr/>
          <p:nvPr/>
        </p:nvSpPr>
        <p:spPr>
          <a:xfrm>
            <a:off x="4663440" y="13258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Resultados Obtenidos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32"/>
          <p:cNvSpPr/>
          <p:nvPr/>
        </p:nvSpPr>
        <p:spPr>
          <a:xfrm>
            <a:off x="4572000" y="1847088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5" name="Google Shape;1325;p32"/>
          <p:cNvSpPr/>
          <p:nvPr/>
        </p:nvSpPr>
        <p:spPr>
          <a:xfrm>
            <a:off x="4572000" y="1847088"/>
            <a:ext cx="45720" cy="68580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6" name="Google Shape;1326;p32"/>
          <p:cNvSpPr/>
          <p:nvPr/>
        </p:nvSpPr>
        <p:spPr>
          <a:xfrm>
            <a:off x="4663440" y="1847088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30%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32"/>
          <p:cNvSpPr/>
          <p:nvPr/>
        </p:nvSpPr>
        <p:spPr>
          <a:xfrm>
            <a:off x="5852160" y="1847088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Reducción de desperdicios en planta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32"/>
          <p:cNvSpPr/>
          <p:nvPr/>
        </p:nvSpPr>
        <p:spPr>
          <a:xfrm>
            <a:off x="4572000" y="2624328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9" name="Google Shape;1329;p32"/>
          <p:cNvSpPr/>
          <p:nvPr/>
        </p:nvSpPr>
        <p:spPr>
          <a:xfrm>
            <a:off x="4572000" y="2624328"/>
            <a:ext cx="45720" cy="68580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0" name="Google Shape;1330;p32"/>
          <p:cNvSpPr/>
          <p:nvPr/>
        </p:nvSpPr>
        <p:spPr>
          <a:xfrm>
            <a:off x="4663440" y="2624328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32"/>
          <p:cNvSpPr/>
          <p:nvPr/>
        </p:nvSpPr>
        <p:spPr>
          <a:xfrm>
            <a:off x="5852160" y="2624328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Trazabilidad de lotes garantizada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32"/>
          <p:cNvSpPr/>
          <p:nvPr/>
        </p:nvSpPr>
        <p:spPr>
          <a:xfrm>
            <a:off x="4572000" y="3401568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3" name="Google Shape;1333;p32"/>
          <p:cNvSpPr/>
          <p:nvPr/>
        </p:nvSpPr>
        <p:spPr>
          <a:xfrm>
            <a:off x="4572000" y="3401568"/>
            <a:ext cx="45720" cy="68580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4" name="Google Shape;1334;p32"/>
          <p:cNvSpPr/>
          <p:nvPr/>
        </p:nvSpPr>
        <p:spPr>
          <a:xfrm>
            <a:off x="4663440" y="3401568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50%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32"/>
          <p:cNvSpPr/>
          <p:nvPr/>
        </p:nvSpPr>
        <p:spPr>
          <a:xfrm>
            <a:off x="5852160" y="3401568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Menos tiempo en reportes de producción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32"/>
          <p:cNvSpPr/>
          <p:nvPr/>
        </p:nvSpPr>
        <p:spPr>
          <a:xfrm>
            <a:off x="4572000" y="4178808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7" name="Google Shape;1337;p32"/>
          <p:cNvSpPr/>
          <p:nvPr/>
        </p:nvSpPr>
        <p:spPr>
          <a:xfrm>
            <a:off x="4572000" y="4178808"/>
            <a:ext cx="45720" cy="68580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8" name="Google Shape;1338;p32"/>
          <p:cNvSpPr/>
          <p:nvPr/>
        </p:nvSpPr>
        <p:spPr>
          <a:xfrm>
            <a:off x="4663440" y="4178808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4 meses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32"/>
          <p:cNvSpPr/>
          <p:nvPr/>
        </p:nvSpPr>
        <p:spPr>
          <a:xfrm>
            <a:off x="5852160" y="4178808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Implementación completa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3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6" name="Google Shape;1346;p33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CASOS DE ÉXITO · RETAIL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3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8" name="Google Shape;1348;p33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33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33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33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Caso de Éxito: Cadena de Retail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33"/>
          <p:cNvSpPr/>
          <p:nvPr/>
        </p:nvSpPr>
        <p:spPr>
          <a:xfrm>
            <a:off x="365760" y="1325880"/>
            <a:ext cx="3749040" cy="365760"/>
          </a:xfrm>
          <a:prstGeom prst="rect">
            <a:avLst/>
          </a:prstGeom>
          <a:solidFill>
            <a:srgbClr val="2639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2" name="Google Shape;1352;p33"/>
          <p:cNvSpPr/>
          <p:nvPr/>
        </p:nvSpPr>
        <p:spPr>
          <a:xfrm>
            <a:off x="457200" y="13258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🔴  El Reto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33"/>
          <p:cNvSpPr/>
          <p:nvPr/>
        </p:nvSpPr>
        <p:spPr>
          <a:xfrm>
            <a:off x="365760" y="1737360"/>
            <a:ext cx="3749040" cy="36576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4" name="Google Shape;1354;p33"/>
          <p:cNvSpPr/>
          <p:nvPr/>
        </p:nvSpPr>
        <p:spPr>
          <a:xfrm>
            <a:off x="457200" y="173736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22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AA2233"/>
                </a:solidFill>
                <a:latin typeface="Calibri"/>
                <a:ea typeface="Calibri"/>
                <a:cs typeface="Calibri"/>
                <a:sym typeface="Calibri"/>
              </a:rPr>
              <a:t>• 5 tiendas físicas sin inventario centralizado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33"/>
          <p:cNvSpPr/>
          <p:nvPr/>
        </p:nvSpPr>
        <p:spPr>
          <a:xfrm>
            <a:off x="365760" y="2148840"/>
            <a:ext cx="3749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6" name="Google Shape;1356;p33"/>
          <p:cNvSpPr/>
          <p:nvPr/>
        </p:nvSpPr>
        <p:spPr>
          <a:xfrm>
            <a:off x="457200" y="214884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22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AA2233"/>
                </a:solidFill>
                <a:latin typeface="Calibri"/>
                <a:ea typeface="Calibri"/>
                <a:cs typeface="Calibri"/>
                <a:sym typeface="Calibri"/>
              </a:rPr>
              <a:t>• Tienda en línea desconectada del sistema de ventas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33"/>
          <p:cNvSpPr/>
          <p:nvPr/>
        </p:nvSpPr>
        <p:spPr>
          <a:xfrm>
            <a:off x="365760" y="2560320"/>
            <a:ext cx="3749040" cy="36576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8" name="Google Shape;1358;p33"/>
          <p:cNvSpPr/>
          <p:nvPr/>
        </p:nvSpPr>
        <p:spPr>
          <a:xfrm>
            <a:off x="457200" y="256032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22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AA2233"/>
                </a:solidFill>
                <a:latin typeface="Calibri"/>
                <a:ea typeface="Calibri"/>
                <a:cs typeface="Calibri"/>
                <a:sym typeface="Calibri"/>
              </a:rPr>
              <a:t>• Sin programa de lealtad para clientes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33"/>
          <p:cNvSpPr/>
          <p:nvPr/>
        </p:nvSpPr>
        <p:spPr>
          <a:xfrm>
            <a:off x="365760" y="2971800"/>
            <a:ext cx="3749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0" name="Google Shape;1360;p33"/>
          <p:cNvSpPr/>
          <p:nvPr/>
        </p:nvSpPr>
        <p:spPr>
          <a:xfrm>
            <a:off x="457200" y="297180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223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AA2233"/>
                </a:solidFill>
                <a:latin typeface="Calibri"/>
                <a:ea typeface="Calibri"/>
                <a:cs typeface="Calibri"/>
                <a:sym typeface="Calibri"/>
              </a:rPr>
              <a:t>• Reportes de ventas por sucursal tardaban días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33"/>
          <p:cNvSpPr/>
          <p:nvPr/>
        </p:nvSpPr>
        <p:spPr>
          <a:xfrm>
            <a:off x="365760" y="3429000"/>
            <a:ext cx="3749040" cy="36576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2" name="Google Shape;1362;p33"/>
          <p:cNvSpPr/>
          <p:nvPr/>
        </p:nvSpPr>
        <p:spPr>
          <a:xfrm>
            <a:off x="457200" y="342900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🔵  La Solución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33"/>
          <p:cNvSpPr/>
          <p:nvPr/>
        </p:nvSpPr>
        <p:spPr>
          <a:xfrm>
            <a:off x="365760" y="3840480"/>
            <a:ext cx="3749040" cy="365760"/>
          </a:xfrm>
          <a:prstGeom prst="rect">
            <a:avLst/>
          </a:prstGeom>
          <a:solidFill>
            <a:srgbClr val="E8FF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4" name="Google Shape;1364;p33"/>
          <p:cNvSpPr/>
          <p:nvPr/>
        </p:nvSpPr>
        <p:spPr>
          <a:xfrm>
            <a:off x="457200" y="384048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70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A7050"/>
                </a:solidFill>
                <a:latin typeface="Calibri"/>
                <a:ea typeface="Calibri"/>
                <a:cs typeface="Calibri"/>
                <a:sym typeface="Calibri"/>
              </a:rPr>
              <a:t>• POS integrado en 5 tiendas con inventario centralizado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33"/>
          <p:cNvSpPr/>
          <p:nvPr/>
        </p:nvSpPr>
        <p:spPr>
          <a:xfrm>
            <a:off x="365760" y="4251960"/>
            <a:ext cx="3749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6" name="Google Shape;1366;p33"/>
          <p:cNvSpPr/>
          <p:nvPr/>
        </p:nvSpPr>
        <p:spPr>
          <a:xfrm>
            <a:off x="457200" y="425196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70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A7050"/>
                </a:solidFill>
                <a:latin typeface="Calibri"/>
                <a:ea typeface="Calibri"/>
                <a:cs typeface="Calibri"/>
                <a:sym typeface="Calibri"/>
              </a:rPr>
              <a:t>• E-commerce Odoo conectado al ERP en tiempo real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33"/>
          <p:cNvSpPr/>
          <p:nvPr/>
        </p:nvSpPr>
        <p:spPr>
          <a:xfrm>
            <a:off x="365760" y="4663440"/>
            <a:ext cx="3749040" cy="365760"/>
          </a:xfrm>
          <a:prstGeom prst="rect">
            <a:avLst/>
          </a:prstGeom>
          <a:solidFill>
            <a:srgbClr val="E8FF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8" name="Google Shape;1368;p33"/>
          <p:cNvSpPr/>
          <p:nvPr/>
        </p:nvSpPr>
        <p:spPr>
          <a:xfrm>
            <a:off x="457200" y="466344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705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0A7050"/>
                </a:solidFill>
                <a:latin typeface="Calibri"/>
                <a:ea typeface="Calibri"/>
                <a:cs typeface="Calibri"/>
                <a:sym typeface="Calibri"/>
              </a:rPr>
              <a:t>• Programa de lealtad automático con puntos y descuentos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33"/>
          <p:cNvSpPr/>
          <p:nvPr/>
        </p:nvSpPr>
        <p:spPr>
          <a:xfrm>
            <a:off x="4572000" y="1325880"/>
            <a:ext cx="4206240" cy="365760"/>
          </a:xfrm>
          <a:prstGeom prst="rect">
            <a:avLst/>
          </a:prstGeom>
          <a:solidFill>
            <a:srgbClr val="1A8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0" name="Google Shape;1370;p33"/>
          <p:cNvSpPr/>
          <p:nvPr/>
        </p:nvSpPr>
        <p:spPr>
          <a:xfrm>
            <a:off x="4663440" y="13258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Resultados Obtenidos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33"/>
          <p:cNvSpPr/>
          <p:nvPr/>
        </p:nvSpPr>
        <p:spPr>
          <a:xfrm>
            <a:off x="4572000" y="1847088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2" name="Google Shape;1372;p33"/>
          <p:cNvSpPr/>
          <p:nvPr/>
        </p:nvSpPr>
        <p:spPr>
          <a:xfrm>
            <a:off x="4572000" y="1847088"/>
            <a:ext cx="45720" cy="68580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3" name="Google Shape;1373;p33"/>
          <p:cNvSpPr/>
          <p:nvPr/>
        </p:nvSpPr>
        <p:spPr>
          <a:xfrm>
            <a:off x="4663440" y="1847088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F52A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7F52A0"/>
                </a:solidFill>
                <a:latin typeface="Calibri"/>
                <a:ea typeface="Calibri"/>
                <a:cs typeface="Calibri"/>
                <a:sym typeface="Calibri"/>
              </a:rPr>
              <a:t>40%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33"/>
          <p:cNvSpPr/>
          <p:nvPr/>
        </p:nvSpPr>
        <p:spPr>
          <a:xfrm>
            <a:off x="5852160" y="1847088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Aumento en ventas online el primer trimestre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33"/>
          <p:cNvSpPr/>
          <p:nvPr/>
        </p:nvSpPr>
        <p:spPr>
          <a:xfrm>
            <a:off x="4572000" y="2624328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" name="Google Shape;1376;p33"/>
          <p:cNvSpPr/>
          <p:nvPr/>
        </p:nvSpPr>
        <p:spPr>
          <a:xfrm>
            <a:off x="4572000" y="2624328"/>
            <a:ext cx="45720" cy="68580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" name="Google Shape;1377;p33"/>
          <p:cNvSpPr/>
          <p:nvPr/>
        </p:nvSpPr>
        <p:spPr>
          <a:xfrm>
            <a:off x="4663440" y="2624328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F52A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7F52A0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33"/>
          <p:cNvSpPr/>
          <p:nvPr/>
        </p:nvSpPr>
        <p:spPr>
          <a:xfrm>
            <a:off x="5852160" y="2624328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Visibilidad de stock en todas las tiendas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33"/>
          <p:cNvSpPr/>
          <p:nvPr/>
        </p:nvSpPr>
        <p:spPr>
          <a:xfrm>
            <a:off x="4572000" y="3401568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33"/>
          <p:cNvSpPr/>
          <p:nvPr/>
        </p:nvSpPr>
        <p:spPr>
          <a:xfrm>
            <a:off x="4572000" y="3401568"/>
            <a:ext cx="45720" cy="68580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33"/>
          <p:cNvSpPr/>
          <p:nvPr/>
        </p:nvSpPr>
        <p:spPr>
          <a:xfrm>
            <a:off x="4663440" y="3401568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F52A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7F52A0"/>
                </a:solidFill>
                <a:latin typeface="Calibri"/>
                <a:ea typeface="Calibri"/>
                <a:cs typeface="Calibri"/>
                <a:sym typeface="Calibri"/>
              </a:rPr>
              <a:t>35%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33"/>
          <p:cNvSpPr/>
          <p:nvPr/>
        </p:nvSpPr>
        <p:spPr>
          <a:xfrm>
            <a:off x="5852160" y="3401568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Clientes fidelizados con programa de lealtad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33"/>
          <p:cNvSpPr/>
          <p:nvPr/>
        </p:nvSpPr>
        <p:spPr>
          <a:xfrm>
            <a:off x="4572000" y="4178808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2400" dist="50800" dir="8100000" algn="bl" rotWithShape="0">
              <a:srgbClr val="26398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33"/>
          <p:cNvSpPr/>
          <p:nvPr/>
        </p:nvSpPr>
        <p:spPr>
          <a:xfrm>
            <a:off x="4572000" y="4178808"/>
            <a:ext cx="45720" cy="685800"/>
          </a:xfrm>
          <a:prstGeom prst="rect">
            <a:avLst/>
          </a:prstGeom>
          <a:solidFill>
            <a:srgbClr val="7F52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5" name="Google Shape;1385;p33"/>
          <p:cNvSpPr/>
          <p:nvPr/>
        </p:nvSpPr>
        <p:spPr>
          <a:xfrm>
            <a:off x="4663440" y="4178808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F52A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7F52A0"/>
                </a:solidFill>
                <a:latin typeface="Calibri"/>
                <a:ea typeface="Calibri"/>
                <a:cs typeface="Calibri"/>
                <a:sym typeface="Calibri"/>
              </a:rPr>
              <a:t>5 meses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33"/>
          <p:cNvSpPr/>
          <p:nvPr/>
        </p:nvSpPr>
        <p:spPr>
          <a:xfrm>
            <a:off x="5852160" y="4178808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398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63980"/>
                </a:solidFill>
                <a:latin typeface="Calibri"/>
                <a:ea typeface="Calibri"/>
                <a:cs typeface="Calibri"/>
                <a:sym typeface="Calibri"/>
              </a:rPr>
              <a:t>Implementación completa multi-tienda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980"/>
        </a:solidFill>
        <a:effectLst/>
      </p:bgPr>
    </p:bg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3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3" name="Google Shape;1393;p34"/>
          <p:cNvSpPr/>
          <p:nvPr/>
        </p:nvSpPr>
        <p:spPr>
          <a:xfrm>
            <a:off x="274320" y="4818888"/>
            <a:ext cx="64008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www.sunname.com.mx  |  +52 1 771 101 4687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34"/>
          <p:cNvSpPr/>
          <p:nvPr/>
        </p:nvSpPr>
        <p:spPr>
          <a:xfrm>
            <a:off x="7772400" y="4818888"/>
            <a:ext cx="109728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34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3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C1A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6" name="Google Shape;1396;p34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PRÓXIMOS PASOS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34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¿Listo para transformar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 operación?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34"/>
          <p:cNvSpPr/>
          <p:nvPr/>
        </p:nvSpPr>
        <p:spPr>
          <a:xfrm>
            <a:off x="914400" y="1581912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Comienza hoy. Sin compromiso. Resultados en 3-6 meses.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34"/>
          <p:cNvSpPr/>
          <p:nvPr/>
        </p:nvSpPr>
        <p:spPr>
          <a:xfrm>
            <a:off x="274320" y="2148840"/>
            <a:ext cx="2011680" cy="228600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0" name="Google Shape;1400;p34"/>
          <p:cNvSpPr/>
          <p:nvPr/>
        </p:nvSpPr>
        <p:spPr>
          <a:xfrm>
            <a:off x="274320" y="2148840"/>
            <a:ext cx="2011680" cy="411480"/>
          </a:xfrm>
          <a:prstGeom prst="rect">
            <a:avLst/>
          </a:prstGeom>
          <a:solidFill>
            <a:srgbClr val="46C2CE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1" name="Google Shape;1401;p34"/>
          <p:cNvSpPr/>
          <p:nvPr/>
        </p:nvSpPr>
        <p:spPr>
          <a:xfrm>
            <a:off x="347472" y="2148840"/>
            <a:ext cx="186537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Agenda tu Demo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34"/>
          <p:cNvSpPr/>
          <p:nvPr/>
        </p:nvSpPr>
        <p:spPr>
          <a:xfrm>
            <a:off x="274320" y="2578608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📅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p34"/>
          <p:cNvSpPr/>
          <p:nvPr/>
        </p:nvSpPr>
        <p:spPr>
          <a:xfrm>
            <a:off x="365760" y="3154680"/>
            <a:ext cx="18288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30 minutos gratuitos, sin compromiso, personalizada para tu industria y necesidades específicas.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34"/>
          <p:cNvSpPr/>
          <p:nvPr/>
        </p:nvSpPr>
        <p:spPr>
          <a:xfrm>
            <a:off x="2450592" y="2148840"/>
            <a:ext cx="2011680" cy="228600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5" name="Google Shape;1405;p34"/>
          <p:cNvSpPr/>
          <p:nvPr/>
        </p:nvSpPr>
        <p:spPr>
          <a:xfrm>
            <a:off x="2450592" y="2148840"/>
            <a:ext cx="2011680" cy="411480"/>
          </a:xfrm>
          <a:prstGeom prst="rect">
            <a:avLst/>
          </a:prstGeom>
          <a:solidFill>
            <a:srgbClr val="46C2CE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6" name="Google Shape;1406;p34"/>
          <p:cNvSpPr/>
          <p:nvPr/>
        </p:nvSpPr>
        <p:spPr>
          <a:xfrm>
            <a:off x="2523744" y="2148840"/>
            <a:ext cx="186537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Diagnóstico Gratuito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34"/>
          <p:cNvSpPr/>
          <p:nvPr/>
        </p:nvSpPr>
        <p:spPr>
          <a:xfrm>
            <a:off x="2450592" y="2578608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34"/>
          <p:cNvSpPr/>
          <p:nvPr/>
        </p:nvSpPr>
        <p:spPr>
          <a:xfrm>
            <a:off x="2542032" y="3154680"/>
            <a:ext cx="18288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Visita presencial o videollamada para entender tu operación y mostrarte Odoo en vivo.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34"/>
          <p:cNvSpPr/>
          <p:nvPr/>
        </p:nvSpPr>
        <p:spPr>
          <a:xfrm>
            <a:off x="4626864" y="2148840"/>
            <a:ext cx="2011680" cy="228600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0" name="Google Shape;1410;p34"/>
          <p:cNvSpPr/>
          <p:nvPr/>
        </p:nvSpPr>
        <p:spPr>
          <a:xfrm>
            <a:off x="4626864" y="2148840"/>
            <a:ext cx="2011680" cy="411480"/>
          </a:xfrm>
          <a:prstGeom prst="rect">
            <a:avLst/>
          </a:prstGeom>
          <a:solidFill>
            <a:srgbClr val="46C2CE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1" name="Google Shape;1411;p34"/>
          <p:cNvSpPr/>
          <p:nvPr/>
        </p:nvSpPr>
        <p:spPr>
          <a:xfrm>
            <a:off x="4700016" y="2148840"/>
            <a:ext cx="186537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Propuesta Personalizada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34"/>
          <p:cNvSpPr/>
          <p:nvPr/>
        </p:nvSpPr>
        <p:spPr>
          <a:xfrm>
            <a:off x="4626864" y="2578608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34"/>
          <p:cNvSpPr/>
          <p:nvPr/>
        </p:nvSpPr>
        <p:spPr>
          <a:xfrm>
            <a:off x="4718304" y="3154680"/>
            <a:ext cx="18288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Te entregamos una propuesta detallada con módulos, cronograma e inversión en 1 semana.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34"/>
          <p:cNvSpPr/>
          <p:nvPr/>
        </p:nvSpPr>
        <p:spPr>
          <a:xfrm>
            <a:off x="6803136" y="2148840"/>
            <a:ext cx="2011680" cy="2286000"/>
          </a:xfrm>
          <a:prstGeom prst="rect">
            <a:avLst/>
          </a:prstGeom>
          <a:solidFill>
            <a:srgbClr val="FFFFFF">
              <a:alpha val="7058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5" name="Google Shape;1415;p34"/>
          <p:cNvSpPr/>
          <p:nvPr/>
        </p:nvSpPr>
        <p:spPr>
          <a:xfrm>
            <a:off x="6803136" y="2148840"/>
            <a:ext cx="2011680" cy="411480"/>
          </a:xfrm>
          <a:prstGeom prst="rect">
            <a:avLst/>
          </a:prstGeom>
          <a:solidFill>
            <a:srgbClr val="46C2CE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6" name="Google Shape;1416;p34"/>
          <p:cNvSpPr/>
          <p:nvPr/>
        </p:nvSpPr>
        <p:spPr>
          <a:xfrm>
            <a:off x="6876288" y="2148840"/>
            <a:ext cx="186537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Arranque de tu Proyecto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7" name="Google Shape;1417;p34"/>
          <p:cNvSpPr/>
          <p:nvPr/>
        </p:nvSpPr>
        <p:spPr>
          <a:xfrm>
            <a:off x="6803136" y="2578608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8" name="Google Shape;1418;p34"/>
          <p:cNvSpPr/>
          <p:nvPr/>
        </p:nvSpPr>
        <p:spPr>
          <a:xfrm>
            <a:off x="6894576" y="3154680"/>
            <a:ext cx="18288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Comenzamos la implementación con un equipo dedicado y acompañamiento continuo.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p34"/>
          <p:cNvSpPr/>
          <p:nvPr/>
        </p:nvSpPr>
        <p:spPr>
          <a:xfrm>
            <a:off x="1371600" y="4617720"/>
            <a:ext cx="6400800" cy="27432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0" name="Google Shape;1420;p34"/>
          <p:cNvSpPr/>
          <p:nvPr/>
        </p:nvSpPr>
        <p:spPr>
          <a:xfrm>
            <a:off x="1371600" y="46177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C1A56"/>
                </a:solidFill>
                <a:latin typeface="Calibri"/>
                <a:ea typeface="Calibri"/>
                <a:cs typeface="Calibri"/>
                <a:sym typeface="Calibri"/>
              </a:rPr>
              <a:t>Sin compromiso  ·  30 minutos  ·  Personalizada para tu industria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1A56"/>
        </a:solidFill>
        <a:effectLst/>
      </p:bgPr>
    </p:bg>
    <p:spTree>
      <p:nvGrpSpPr>
        <p:cNvPr id="1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35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35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CONTACTO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35"/>
          <p:cNvSpPr/>
          <p:nvPr/>
        </p:nvSpPr>
        <p:spPr>
          <a:xfrm>
            <a:off x="-914400" y="1828800"/>
            <a:ext cx="2743200" cy="2743200"/>
          </a:xfrm>
          <a:prstGeom prst="ellipse">
            <a:avLst/>
          </a:prstGeom>
          <a:solidFill>
            <a:srgbClr val="7F52A0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9" name="Google Shape;1429;p35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46C2CE">
              <a:alpha val="2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35"/>
          <p:cNvSpPr/>
          <p:nvPr/>
        </p:nvSpPr>
        <p:spPr>
          <a:xfrm>
            <a:off x="6858000" y="3200400"/>
            <a:ext cx="1828800" cy="1828800"/>
          </a:xfrm>
          <a:prstGeom prst="ellipse">
            <a:avLst/>
          </a:prstGeom>
          <a:solidFill>
            <a:srgbClr val="263980">
              <a:alpha val="3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35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Sunname Technologies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35"/>
          <p:cNvSpPr/>
          <p:nvPr/>
        </p:nvSpPr>
        <p:spPr>
          <a:xfrm>
            <a:off x="457200" y="130759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Tu partner Odoo en México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3" name="Google Shape;1433;p35"/>
          <p:cNvCxnSpPr/>
          <p:nvPr/>
        </p:nvCxnSpPr>
        <p:spPr>
          <a:xfrm>
            <a:off x="2743200" y="1828800"/>
            <a:ext cx="3657600" cy="0"/>
          </a:xfrm>
          <a:prstGeom prst="straightConnector1">
            <a:avLst/>
          </a:prstGeom>
          <a:noFill/>
          <a:ln w="1270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34" name="Google Shape;1434;p35"/>
          <p:cNvSpPr/>
          <p:nvPr/>
        </p:nvSpPr>
        <p:spPr>
          <a:xfrm>
            <a:off x="457200" y="1965960"/>
            <a:ext cx="1920240" cy="1463040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5" name="Google Shape;1435;p35"/>
          <p:cNvSpPr/>
          <p:nvPr/>
        </p:nvSpPr>
        <p:spPr>
          <a:xfrm>
            <a:off x="457200" y="2029968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📍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35"/>
          <p:cNvSpPr/>
          <p:nvPr/>
        </p:nvSpPr>
        <p:spPr>
          <a:xfrm>
            <a:off x="457200" y="263347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Ubicación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35"/>
          <p:cNvSpPr/>
          <p:nvPr/>
        </p:nvSpPr>
        <p:spPr>
          <a:xfrm>
            <a:off x="457200" y="2907792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DDD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DDDDFF"/>
                </a:solidFill>
                <a:latin typeface="Calibri"/>
                <a:ea typeface="Calibri"/>
                <a:cs typeface="Calibri"/>
                <a:sym typeface="Calibri"/>
              </a:rPr>
              <a:t>Zimapán, Hidalgo, México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35"/>
          <p:cNvSpPr/>
          <p:nvPr/>
        </p:nvSpPr>
        <p:spPr>
          <a:xfrm>
            <a:off x="2542032" y="1965960"/>
            <a:ext cx="1920240" cy="1463040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9" name="Google Shape;1439;p35"/>
          <p:cNvSpPr/>
          <p:nvPr/>
        </p:nvSpPr>
        <p:spPr>
          <a:xfrm>
            <a:off x="2542032" y="2029968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📞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p35"/>
          <p:cNvSpPr/>
          <p:nvPr/>
        </p:nvSpPr>
        <p:spPr>
          <a:xfrm>
            <a:off x="2542032" y="263347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Teléfono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35"/>
          <p:cNvSpPr/>
          <p:nvPr/>
        </p:nvSpPr>
        <p:spPr>
          <a:xfrm>
            <a:off x="2542032" y="2907792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DDD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DDDDFF"/>
                </a:solidFill>
                <a:latin typeface="Calibri"/>
                <a:ea typeface="Calibri"/>
                <a:cs typeface="Calibri"/>
                <a:sym typeface="Calibri"/>
              </a:rPr>
              <a:t>+52 1 771 101 4687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p35"/>
          <p:cNvSpPr/>
          <p:nvPr/>
        </p:nvSpPr>
        <p:spPr>
          <a:xfrm>
            <a:off x="4626864" y="1965960"/>
            <a:ext cx="1920240" cy="1463040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3" name="Google Shape;1443;p35"/>
          <p:cNvSpPr/>
          <p:nvPr/>
        </p:nvSpPr>
        <p:spPr>
          <a:xfrm>
            <a:off x="4626864" y="2029968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4" name="Google Shape;1444;p35"/>
          <p:cNvSpPr/>
          <p:nvPr/>
        </p:nvSpPr>
        <p:spPr>
          <a:xfrm>
            <a:off x="4626864" y="263347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WhatsApp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5" name="Google Shape;1445;p35"/>
          <p:cNvSpPr/>
          <p:nvPr/>
        </p:nvSpPr>
        <p:spPr>
          <a:xfrm>
            <a:off x="4626864" y="2907792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DDD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DDDDFF"/>
                </a:solidFill>
                <a:latin typeface="Calibri"/>
                <a:ea typeface="Calibri"/>
                <a:cs typeface="Calibri"/>
                <a:sym typeface="Calibri"/>
              </a:rPr>
              <a:t>wa.me/5217711014687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6" name="Google Shape;1446;p35"/>
          <p:cNvSpPr/>
          <p:nvPr/>
        </p:nvSpPr>
        <p:spPr>
          <a:xfrm>
            <a:off x="6711696" y="1965960"/>
            <a:ext cx="1920240" cy="1463040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7" name="Google Shape;1447;p35"/>
          <p:cNvSpPr/>
          <p:nvPr/>
        </p:nvSpPr>
        <p:spPr>
          <a:xfrm>
            <a:off x="6711696" y="2029968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35"/>
          <p:cNvSpPr/>
          <p:nvPr/>
        </p:nvSpPr>
        <p:spPr>
          <a:xfrm>
            <a:off x="6711696" y="263347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6C2C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Web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35"/>
          <p:cNvSpPr/>
          <p:nvPr/>
        </p:nvSpPr>
        <p:spPr>
          <a:xfrm>
            <a:off x="6711696" y="2907792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DDD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DDDDFF"/>
                </a:solidFill>
                <a:latin typeface="Calibri"/>
                <a:ea typeface="Calibri"/>
                <a:cs typeface="Calibri"/>
                <a:sym typeface="Calibri"/>
              </a:rPr>
              <a:t>www.sunname.com.mx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35"/>
          <p:cNvSpPr/>
          <p:nvPr/>
        </p:nvSpPr>
        <p:spPr>
          <a:xfrm>
            <a:off x="1371600" y="3657600"/>
            <a:ext cx="2743200" cy="59436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1" name="Google Shape;1451;p35"/>
          <p:cNvSpPr/>
          <p:nvPr/>
        </p:nvSpPr>
        <p:spPr>
          <a:xfrm>
            <a:off x="1371600" y="365760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1A5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C1A56"/>
                </a:solidFill>
                <a:latin typeface="Calibri"/>
                <a:ea typeface="Calibri"/>
                <a:cs typeface="Calibri"/>
                <a:sym typeface="Calibri"/>
              </a:rPr>
              <a:t>📅  Agendar una Demo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2" name="Google Shape;1452;p35"/>
          <p:cNvSpPr/>
          <p:nvPr/>
        </p:nvSpPr>
        <p:spPr>
          <a:xfrm>
            <a:off x="5029200" y="3657600"/>
            <a:ext cx="2743200" cy="59436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3" name="Google Shape;1453;p35"/>
          <p:cNvSpPr/>
          <p:nvPr/>
        </p:nvSpPr>
        <p:spPr>
          <a:xfrm>
            <a:off x="5029200" y="365760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💬  Escribir por WhatsApp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35"/>
          <p:cNvSpPr/>
          <p:nvPr/>
        </p:nvSpPr>
        <p:spPr>
          <a:xfrm>
            <a:off x="1097280" y="4462272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📘 Facebook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35"/>
          <p:cNvSpPr/>
          <p:nvPr/>
        </p:nvSpPr>
        <p:spPr>
          <a:xfrm>
            <a:off x="2926080" y="4462272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💼 LinkedIn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35"/>
          <p:cNvSpPr/>
          <p:nvPr/>
        </p:nvSpPr>
        <p:spPr>
          <a:xfrm>
            <a:off x="4754880" y="4462272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📸 Instagram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35"/>
          <p:cNvSpPr/>
          <p:nvPr/>
        </p:nvSpPr>
        <p:spPr>
          <a:xfrm>
            <a:off x="6583680" y="4462272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▶ YouTube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3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788B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788BB"/>
                </a:solidFill>
                <a:latin typeface="Calibri"/>
                <a:ea typeface="Calibri"/>
                <a:cs typeface="Calibri"/>
                <a:sym typeface="Calibri"/>
              </a:rPr>
              <a:t>© 2025 Sunname Technologies · Todos los derechos reservados · Partner Oficial Odoo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3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12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0" name="Google Shape;1460;p3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788B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788BB"/>
                </a:solidFill>
                <a:latin typeface="Calibri"/>
                <a:ea typeface="Calibri"/>
                <a:cs typeface="Calibri"/>
                <a:sym typeface="Calibri"/>
              </a:rPr>
              <a:t>© 2025 Sunname Technologies · Todos los derechos reservados · Partner Oficial Odoo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4164</Words>
  <Application>Microsoft Office PowerPoint</Application>
  <PresentationFormat>Presentación en pantalla (16:9)</PresentationFormat>
  <Paragraphs>869</Paragraphs>
  <Slides>36</Slides>
  <Notes>36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36</vt:i4>
      </vt:variant>
    </vt:vector>
  </HeadingPairs>
  <TitlesOfParts>
    <vt:vector size="41" baseType="lpstr">
      <vt:lpstr>Aptos</vt:lpstr>
      <vt:lpstr>Arial</vt:lpstr>
      <vt:lpstr>Calibri</vt:lpstr>
      <vt:lpstr>Office Theme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Sunname Technologies</dc:creator>
  <cp:lastModifiedBy>Eduardo Acevedo Garcia</cp:lastModifiedBy>
  <cp:revision>2</cp:revision>
  <dcterms:created xsi:type="dcterms:W3CDTF">2026-02-19T16:24:50Z</dcterms:created>
  <dcterms:modified xsi:type="dcterms:W3CDTF">2026-02-20T01:17:21Z</dcterms:modified>
</cp:coreProperties>
</file>