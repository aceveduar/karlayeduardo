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941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3.png"/><Relationship Id="rId5" Type="http://schemas.openxmlformats.org/officeDocument/2006/relationships/image" Target="../media/image5.png"/><Relationship Id="rId10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263980">
              <a:alpha val="50000"/>
            </a:srgbClr>
          </a:solidFill>
          <a:ln w="12700">
            <a:solidFill>
              <a:srgbClr val="2639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7F52A0">
              <a:alpha val="60000"/>
            </a:srgbClr>
          </a:solidFill>
          <a:ln w="12700">
            <a:solidFill>
              <a:srgbClr val="7F52A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3474720" cy="347472"/>
          </a:xfrm>
          <a:prstGeom prst="roundRect">
            <a:avLst>
              <a:gd name="adj" fmla="val 26316"/>
            </a:avLst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PARTNER OFICIAL ODOO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tu operación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Odoo ERP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5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especializadas para Manufactura y Retail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5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Implementaciones personalizadas · Resultados en 3-6 meses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Partner oficial Odoo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Soporte en español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Implementación garantizada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1097280" y="43159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4663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transformadas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017520" y="43159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017520" y="4663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43159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937760" y="4663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 en línea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0" y="43159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58000" y="4663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0" y="4800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 Technologies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¿Quiénes Somos?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 Technologies · OdooExperts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un equipo 100% mexicano especializado en implementar Odoo para empresas de manufactura y retail. Como Odoo Learning Partner, garantizamos implementaciones con las mejores prácticas oficiales.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 Sunname no vendemos software,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entregamos soluciones que funcionan.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comprometemos con el éxito de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proyecto."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1234440"/>
            <a:ext cx="3840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5166360" y="1371600"/>
            <a:ext cx="457200" cy="457200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1435608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1500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Zimapán, Hidalgo, México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0" y="2103120"/>
            <a:ext cx="3840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5166360" y="2240280"/>
            <a:ext cx="457200" cy="457200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2304288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1500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100% en México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029200" y="2971800"/>
            <a:ext cx="3840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3"/>
          <p:cNvSpPr/>
          <p:nvPr/>
        </p:nvSpPr>
        <p:spPr>
          <a:xfrm>
            <a:off x="5166360" y="3108960"/>
            <a:ext cx="457200" cy="457200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0368" y="3172968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71500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Learning Partner Certificado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029200" y="3840480"/>
            <a:ext cx="3840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6"/>
          <p:cNvSpPr/>
          <p:nvPr/>
        </p:nvSpPr>
        <p:spPr>
          <a:xfrm>
            <a:off x="5166360" y="3977640"/>
            <a:ext cx="457200" cy="457200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0368" y="4041648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15000" y="4023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en menos de 2 horas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19"/>
          <p:cNvSpPr/>
          <p:nvPr/>
        </p:nvSpPr>
        <p:spPr>
          <a:xfrm>
            <a:off x="457200" y="45537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Industrias que servimos:  Manufactura  |  Retail  |  Logística  |  Comercio  |  E-commerce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1280160" y="548640"/>
            <a:ext cx="1005840" cy="1005840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704088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1691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82880" y="2286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tu producción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principio a fin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3200400"/>
            <a:ext cx="2834640" cy="27432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/>
          <p:nvPr/>
        </p:nvSpPr>
        <p:spPr>
          <a:xfrm>
            <a:off x="320040" y="3200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Fabricación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" y="3547872"/>
            <a:ext cx="2834640" cy="27432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320040" y="35478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MRP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" y="3895344"/>
            <a:ext cx="2834640" cy="27432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0"/>
          <p:cNvSpPr/>
          <p:nvPr/>
        </p:nvSpPr>
        <p:spPr>
          <a:xfrm>
            <a:off x="320040" y="38953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" y="4242816"/>
            <a:ext cx="2834640" cy="27432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/>
          <p:nvPr/>
        </p:nvSpPr>
        <p:spPr>
          <a:xfrm>
            <a:off x="320040" y="42428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0040" y="4590288"/>
            <a:ext cx="2834640" cy="27432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4"/>
          <p:cNvSpPr/>
          <p:nvPr/>
        </p:nvSpPr>
        <p:spPr>
          <a:xfrm>
            <a:off x="320040" y="45902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749040" y="320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clave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3749040" y="777240"/>
            <a:ext cx="1097280" cy="54864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7"/>
          <p:cNvSpPr/>
          <p:nvPr/>
        </p:nvSpPr>
        <p:spPr>
          <a:xfrm>
            <a:off x="3749040" y="1069848"/>
            <a:ext cx="347472" cy="347472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1088136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206240" y="10515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 de órdenes de producción desde solicitud hasta entrega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3749040" y="1728216"/>
            <a:ext cx="347472" cy="347472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1746504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206240" y="170992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inventarios y materias primas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3749040" y="2386584"/>
            <a:ext cx="347472" cy="347472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2404872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206240" y="236829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de lotes y series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3749040" y="3044952"/>
            <a:ext cx="347472" cy="347472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3063240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206240" y="302666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Costeo por producto y orden de trabajo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3749040" y="3703320"/>
            <a:ext cx="347472" cy="347472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3721608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206240" y="368503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Planeación MRP que optimiza inventario y reduce desperdicios</a:t>
            </a:r>
            <a:endParaRPr lang="en-US" sz="1250" dirty="0"/>
          </a:p>
        </p:txBody>
      </p:sp>
      <p:sp>
        <p:nvSpPr>
          <p:cNvPr id="35" name="Shape 27"/>
          <p:cNvSpPr/>
          <p:nvPr/>
        </p:nvSpPr>
        <p:spPr>
          <a:xfrm>
            <a:off x="3749040" y="4361688"/>
            <a:ext cx="347472" cy="347472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4379976"/>
            <a:ext cx="256032" cy="25603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206240" y="4343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eficiencia en tiempo real por máquina, turno y operador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6858000" y="548640"/>
            <a:ext cx="1005840" cy="1005840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704088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0" y="1691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852160" y="2286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 todas tus tiendas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sola plataforma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89320" y="3200400"/>
            <a:ext cx="2834640" cy="2743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/>
          <p:nvPr/>
        </p:nvSpPr>
        <p:spPr>
          <a:xfrm>
            <a:off x="5989320" y="3200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89320" y="3547872"/>
            <a:ext cx="2834640" cy="2743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5989320" y="35478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89320" y="3895344"/>
            <a:ext cx="2834640" cy="2743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0"/>
          <p:cNvSpPr/>
          <p:nvPr/>
        </p:nvSpPr>
        <p:spPr>
          <a:xfrm>
            <a:off x="5989320" y="38953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89320" y="4242816"/>
            <a:ext cx="2834640" cy="2743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/>
          <p:nvPr/>
        </p:nvSpPr>
        <p:spPr>
          <a:xfrm>
            <a:off x="5989320" y="42428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89320" y="4590288"/>
            <a:ext cx="2834640" cy="2743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4"/>
          <p:cNvSpPr/>
          <p:nvPr/>
        </p:nvSpPr>
        <p:spPr>
          <a:xfrm>
            <a:off x="5989320" y="45902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74320" y="320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clave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274320" y="777240"/>
            <a:ext cx="1097280" cy="54864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7"/>
          <p:cNvSpPr/>
          <p:nvPr/>
        </p:nvSpPr>
        <p:spPr>
          <a:xfrm>
            <a:off x="274320" y="1069848"/>
            <a:ext cx="347472" cy="347472"/>
          </a:xfrm>
          <a:prstGeom prst="ellipse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088136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1520" y="10515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venta integrado con inventario en tiempo real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274320" y="1728216"/>
            <a:ext cx="347472" cy="347472"/>
          </a:xfrm>
          <a:prstGeom prst="ellipse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746504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31520" y="17099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conectado directamente a tu ERP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274320" y="2386584"/>
            <a:ext cx="347472" cy="347472"/>
          </a:xfrm>
          <a:prstGeom prst="ellipse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404872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1520" y="236829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multi-tienda con visibilidad centralizada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274320" y="3044952"/>
            <a:ext cx="347472" cy="347472"/>
          </a:xfrm>
          <a:prstGeom prst="ellipse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063240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31520" y="302666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Promociones automáticas y programas de lealtad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274320" y="3703320"/>
            <a:ext cx="347472" cy="347472"/>
          </a:xfrm>
          <a:prstGeom prst="ellipse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721608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31520" y="36850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omnicanal simplificada</a:t>
            </a:r>
            <a:endParaRPr lang="en-US" sz="1250" dirty="0"/>
          </a:p>
        </p:txBody>
      </p:sp>
      <p:sp>
        <p:nvSpPr>
          <p:cNvPr id="35" name="Shape 27"/>
          <p:cNvSpPr/>
          <p:nvPr/>
        </p:nvSpPr>
        <p:spPr>
          <a:xfrm>
            <a:off x="274320" y="4361688"/>
            <a:ext cx="347472" cy="347472"/>
          </a:xfrm>
          <a:prstGeom prst="ellipse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379976"/>
            <a:ext cx="256032" cy="25603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31520" y="43434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sincronizado en tiempo real entre todos los canales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1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tus procesos en una sola plataforma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 de usar múltiples sistemas. Con Odoo, integras operaciones, finanzas, ventas e inventario desde un solo lugar.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920240" cy="1005840"/>
          </a:xfrm>
          <a:prstGeom prst="rect">
            <a:avLst/>
          </a:prstGeom>
          <a:solidFill>
            <a:srgbClr val="263980">
              <a:alpha val="70000"/>
            </a:srgbClr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502920" cy="502920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6459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41448" y="1417320"/>
            <a:ext cx="1920240" cy="1005840"/>
          </a:xfrm>
          <a:prstGeom prst="rect">
            <a:avLst/>
          </a:prstGeom>
          <a:solidFill>
            <a:srgbClr val="263980">
              <a:alpha val="70000"/>
            </a:srgbClr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2715768" y="1554480"/>
            <a:ext cx="502920" cy="502920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1488" y="1600200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10128" y="16459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62856" y="1417320"/>
            <a:ext cx="1920240" cy="1005840"/>
          </a:xfrm>
          <a:prstGeom prst="rect">
            <a:avLst/>
          </a:prstGeom>
          <a:solidFill>
            <a:srgbClr val="263980">
              <a:alpha val="70000"/>
            </a:srgbClr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0"/>
          <p:cNvSpPr/>
          <p:nvPr/>
        </p:nvSpPr>
        <p:spPr>
          <a:xfrm>
            <a:off x="4837176" y="1554480"/>
            <a:ext cx="502920" cy="502920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896" y="1600200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31536" y="16459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Fabricación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684264" y="1417320"/>
            <a:ext cx="1920240" cy="1005840"/>
          </a:xfrm>
          <a:prstGeom prst="rect">
            <a:avLst/>
          </a:prstGeom>
          <a:solidFill>
            <a:srgbClr val="263980">
              <a:alpha val="70000"/>
            </a:srgbClr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3"/>
          <p:cNvSpPr/>
          <p:nvPr/>
        </p:nvSpPr>
        <p:spPr>
          <a:xfrm>
            <a:off x="6958584" y="1554480"/>
            <a:ext cx="502920" cy="502920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4304" y="1600200"/>
            <a:ext cx="402336" cy="4023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552944" y="16459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Venta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20040" y="2560320"/>
            <a:ext cx="1920240" cy="1005840"/>
          </a:xfrm>
          <a:prstGeom prst="rect">
            <a:avLst/>
          </a:prstGeom>
          <a:solidFill>
            <a:srgbClr val="263980">
              <a:alpha val="70000"/>
            </a:srgbClr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16"/>
          <p:cNvSpPr/>
          <p:nvPr/>
        </p:nvSpPr>
        <p:spPr>
          <a:xfrm>
            <a:off x="594360" y="2697480"/>
            <a:ext cx="502920" cy="502920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2743200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88720" y="27889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2441448" y="2560320"/>
            <a:ext cx="1920240" cy="1005840"/>
          </a:xfrm>
          <a:prstGeom prst="rect">
            <a:avLst/>
          </a:prstGeom>
          <a:solidFill>
            <a:srgbClr val="263980">
              <a:alpha val="70000"/>
            </a:srgbClr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19"/>
          <p:cNvSpPr/>
          <p:nvPr/>
        </p:nvSpPr>
        <p:spPr>
          <a:xfrm>
            <a:off x="2715768" y="2697480"/>
            <a:ext cx="502920" cy="502920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488" y="2743200"/>
            <a:ext cx="402336" cy="40233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310128" y="27889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562856" y="2560320"/>
            <a:ext cx="1920240" cy="1005840"/>
          </a:xfrm>
          <a:prstGeom prst="rect">
            <a:avLst/>
          </a:prstGeom>
          <a:solidFill>
            <a:srgbClr val="263980">
              <a:alpha val="70000"/>
            </a:srgbClr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2"/>
          <p:cNvSpPr/>
          <p:nvPr/>
        </p:nvSpPr>
        <p:spPr>
          <a:xfrm>
            <a:off x="4837176" y="2697480"/>
            <a:ext cx="502920" cy="502920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2896" y="2743200"/>
            <a:ext cx="402336" cy="40233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431536" y="27889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6684264" y="2560320"/>
            <a:ext cx="1920240" cy="1005840"/>
          </a:xfrm>
          <a:prstGeom prst="rect">
            <a:avLst/>
          </a:prstGeom>
          <a:solidFill>
            <a:srgbClr val="263980">
              <a:alpha val="70000"/>
            </a:srgbClr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Shape 25"/>
          <p:cNvSpPr/>
          <p:nvPr/>
        </p:nvSpPr>
        <p:spPr>
          <a:xfrm>
            <a:off x="6958584" y="2697480"/>
            <a:ext cx="502920" cy="502920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4304" y="2743200"/>
            <a:ext cx="402336" cy="402336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552944" y="27889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</a:t>
            </a:r>
            <a:endParaRPr lang="en-US" sz="1100" dirty="0"/>
          </a:p>
        </p:txBody>
      </p:sp>
      <p:sp>
        <p:nvSpPr>
          <p:cNvPr id="37" name="Shape 27"/>
          <p:cNvSpPr/>
          <p:nvPr/>
        </p:nvSpPr>
        <p:spPr>
          <a:xfrm>
            <a:off x="320040" y="3703320"/>
            <a:ext cx="1920240" cy="1005840"/>
          </a:xfrm>
          <a:prstGeom prst="rect">
            <a:avLst/>
          </a:prstGeom>
          <a:solidFill>
            <a:srgbClr val="263980">
              <a:alpha val="70000"/>
            </a:srgbClr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28"/>
          <p:cNvSpPr/>
          <p:nvPr/>
        </p:nvSpPr>
        <p:spPr>
          <a:xfrm>
            <a:off x="594360" y="3840480"/>
            <a:ext cx="502920" cy="502920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3886200"/>
            <a:ext cx="402336" cy="402336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1188720" y="39319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100" dirty="0"/>
          </a:p>
        </p:txBody>
      </p:sp>
      <p:sp>
        <p:nvSpPr>
          <p:cNvPr id="41" name="Shape 30"/>
          <p:cNvSpPr/>
          <p:nvPr/>
        </p:nvSpPr>
        <p:spPr>
          <a:xfrm>
            <a:off x="2441448" y="3703320"/>
            <a:ext cx="1920240" cy="1005840"/>
          </a:xfrm>
          <a:prstGeom prst="rect">
            <a:avLst/>
          </a:prstGeom>
          <a:solidFill>
            <a:srgbClr val="263980">
              <a:alpha val="70000"/>
            </a:srgbClr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Shape 31"/>
          <p:cNvSpPr/>
          <p:nvPr/>
        </p:nvSpPr>
        <p:spPr>
          <a:xfrm>
            <a:off x="2715768" y="3840480"/>
            <a:ext cx="502920" cy="502920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61488" y="3886200"/>
            <a:ext cx="402336" cy="402336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3310128" y="39319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RR.HH.</a:t>
            </a:r>
            <a:endParaRPr lang="en-US" sz="1100" dirty="0"/>
          </a:p>
        </p:txBody>
      </p:sp>
      <p:sp>
        <p:nvSpPr>
          <p:cNvPr id="45" name="Shape 33"/>
          <p:cNvSpPr/>
          <p:nvPr/>
        </p:nvSpPr>
        <p:spPr>
          <a:xfrm>
            <a:off x="4562856" y="3703320"/>
            <a:ext cx="1920240" cy="1005840"/>
          </a:xfrm>
          <a:prstGeom prst="rect">
            <a:avLst/>
          </a:prstGeom>
          <a:solidFill>
            <a:srgbClr val="263980">
              <a:alpha val="70000"/>
            </a:srgbClr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Shape 34"/>
          <p:cNvSpPr/>
          <p:nvPr/>
        </p:nvSpPr>
        <p:spPr>
          <a:xfrm>
            <a:off x="4837176" y="3840480"/>
            <a:ext cx="502920" cy="502920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82896" y="3886200"/>
            <a:ext cx="402336" cy="402336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5431536" y="39319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100" dirty="0"/>
          </a:p>
        </p:txBody>
      </p:sp>
      <p:sp>
        <p:nvSpPr>
          <p:cNvPr id="49" name="Shape 36"/>
          <p:cNvSpPr/>
          <p:nvPr/>
        </p:nvSpPr>
        <p:spPr>
          <a:xfrm>
            <a:off x="6684264" y="3703320"/>
            <a:ext cx="1920240" cy="1005840"/>
          </a:xfrm>
          <a:prstGeom prst="rect">
            <a:avLst/>
          </a:prstGeom>
          <a:solidFill>
            <a:srgbClr val="263980">
              <a:alpha val="70000"/>
            </a:srgbClr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Shape 37"/>
          <p:cNvSpPr/>
          <p:nvPr/>
        </p:nvSpPr>
        <p:spPr>
          <a:xfrm>
            <a:off x="6958584" y="3840480"/>
            <a:ext cx="502920" cy="502920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04304" y="3886200"/>
            <a:ext cx="402336" cy="402336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7552944" y="39319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Nuestros Servicios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completas para cada etapa de tu negocio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2743200" cy="6400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384048" y="1344168"/>
            <a:ext cx="475488" cy="475488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38988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135331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Odoo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84048" y="1901952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completa y personalizada de módulos Odoo. Análisis de procesos, configuración y capacitación en sitio.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18688" y="118872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3218688" y="1188720"/>
            <a:ext cx="2743200" cy="6400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1"/>
          <p:cNvSpPr/>
          <p:nvPr/>
        </p:nvSpPr>
        <p:spPr>
          <a:xfrm>
            <a:off x="3328416" y="1344168"/>
            <a:ext cx="475488" cy="475488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136" y="1389888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04488" y="135331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a Medida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328416" y="1901952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personalizados, reportes custom e integraciones con sistemas existentes sin restricciones.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63056" y="118872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Shape 15"/>
          <p:cNvSpPr/>
          <p:nvPr/>
        </p:nvSpPr>
        <p:spPr>
          <a:xfrm>
            <a:off x="6163056" y="1188720"/>
            <a:ext cx="2743200" cy="6400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6"/>
          <p:cNvSpPr/>
          <p:nvPr/>
        </p:nvSpPr>
        <p:spPr>
          <a:xfrm>
            <a:off x="6272784" y="1344168"/>
            <a:ext cx="475488" cy="475488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504" y="1389888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48856" y="135331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272784" y="1901952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Odoo o integración externa con sincronización automática de inventario y pasarelas de pago.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274320" y="301752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5" name="Shape 20"/>
          <p:cNvSpPr/>
          <p:nvPr/>
        </p:nvSpPr>
        <p:spPr>
          <a:xfrm>
            <a:off x="274320" y="3017520"/>
            <a:ext cx="2743200" cy="6400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1"/>
          <p:cNvSpPr/>
          <p:nvPr/>
        </p:nvSpPr>
        <p:spPr>
          <a:xfrm>
            <a:off x="384048" y="3172968"/>
            <a:ext cx="475488" cy="475488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3218688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60120" y="318211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Consultoría ERP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384048" y="3730752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procesos, propuesta de arquitectura y optimización de tu sistema Odoo actual.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3218688" y="301752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1" name="Shape 25"/>
          <p:cNvSpPr/>
          <p:nvPr/>
        </p:nvSpPr>
        <p:spPr>
          <a:xfrm>
            <a:off x="3218688" y="3017520"/>
            <a:ext cx="2743200" cy="6400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Shape 26"/>
          <p:cNvSpPr/>
          <p:nvPr/>
        </p:nvSpPr>
        <p:spPr>
          <a:xfrm>
            <a:off x="3328416" y="3172968"/>
            <a:ext cx="475488" cy="475488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4136" y="3218688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904488" y="318211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Continuo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3328416" y="3730752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Pólizas mensuales flexibles con atención vía WhatsApp, correo y videollamada. Respuesta garantizada.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6163056" y="301752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7" name="Shape 30"/>
          <p:cNvSpPr/>
          <p:nvPr/>
        </p:nvSpPr>
        <p:spPr>
          <a:xfrm>
            <a:off x="6163056" y="3017520"/>
            <a:ext cx="2743200" cy="6400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1"/>
          <p:cNvSpPr/>
          <p:nvPr/>
        </p:nvSpPr>
        <p:spPr>
          <a:xfrm>
            <a:off x="6272784" y="3172968"/>
            <a:ext cx="475488" cy="475488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8504" y="3218688"/>
            <a:ext cx="365760" cy="36576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848856" y="318211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Automatizado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6272784" y="3730752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 automáticas, recuperación de carritos y fidelización desde tu ERP.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1A56"/>
          </a:solidFill>
          <a:ln w="12700">
            <a:solidFill>
              <a:srgbClr val="2C1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clara, sin sorpresas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4 pasos llevamos tu operación a un ERP totalmente funcional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88720" y="2240280"/>
            <a:ext cx="6766560" cy="0"/>
          </a:xfrm>
          <a:prstGeom prst="line">
            <a:avLst/>
          </a:prstGeom>
          <a:noFill/>
          <a:ln w="31750">
            <a:solidFill>
              <a:srgbClr val="46C2CE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914400" y="1737360"/>
            <a:ext cx="914400" cy="914400"/>
          </a:xfrm>
          <a:prstGeom prst="ellipse">
            <a:avLst/>
          </a:prstGeom>
          <a:solidFill>
            <a:srgbClr val="263980"/>
          </a:solidFill>
          <a:ln w="254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56232"/>
            <a:ext cx="731520" cy="731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554480" y="1737360"/>
            <a:ext cx="347472" cy="347472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155448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11480" y="2788920"/>
            <a:ext cx="19202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9"/>
          <p:cNvSpPr/>
          <p:nvPr/>
        </p:nvSpPr>
        <p:spPr>
          <a:xfrm>
            <a:off x="411480" y="2788920"/>
            <a:ext cx="1920240" cy="640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0"/>
          <p:cNvSpPr/>
          <p:nvPr/>
        </p:nvSpPr>
        <p:spPr>
          <a:xfrm>
            <a:off x="502920" y="2926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y diagnóstico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347472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Videollamada o visita en planta. Conocemos tu operación y te mostramos cómo Odoo resuelve tus retos.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4544568"/>
            <a:ext cx="1188720" cy="256032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3"/>
          <p:cNvSpPr/>
          <p:nvPr/>
        </p:nvSpPr>
        <p:spPr>
          <a:xfrm>
            <a:off x="502920" y="45445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1-2 semanas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999232" y="1737360"/>
            <a:ext cx="914400" cy="914400"/>
          </a:xfrm>
          <a:prstGeom prst="ellipse">
            <a:avLst/>
          </a:prstGeom>
          <a:solidFill>
            <a:srgbClr val="263980"/>
          </a:solidFill>
          <a:ln w="254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1856232"/>
            <a:ext cx="731520" cy="73152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3639312" y="1737360"/>
            <a:ext cx="347472" cy="347472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6"/>
          <p:cNvSpPr/>
          <p:nvPr/>
        </p:nvSpPr>
        <p:spPr>
          <a:xfrm>
            <a:off x="3639312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2496312" y="2788920"/>
            <a:ext cx="19202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Shape 18"/>
          <p:cNvSpPr/>
          <p:nvPr/>
        </p:nvSpPr>
        <p:spPr>
          <a:xfrm>
            <a:off x="2496312" y="2788920"/>
            <a:ext cx="1920240" cy="64008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19"/>
          <p:cNvSpPr/>
          <p:nvPr/>
        </p:nvSpPr>
        <p:spPr>
          <a:xfrm>
            <a:off x="2587752" y="2926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personalizada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2587752" y="347472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necesarios, personalizaciones, cronograma realista e inversión desglosada. Sin letra chica.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2587752" y="4544568"/>
            <a:ext cx="1188720" cy="256032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2"/>
          <p:cNvSpPr/>
          <p:nvPr/>
        </p:nvSpPr>
        <p:spPr>
          <a:xfrm>
            <a:off x="2587752" y="45445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 semana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5084064" y="1737360"/>
            <a:ext cx="914400" cy="914400"/>
          </a:xfrm>
          <a:prstGeom prst="ellipse">
            <a:avLst/>
          </a:prstGeom>
          <a:solidFill>
            <a:srgbClr val="263980"/>
          </a:solidFill>
          <a:ln w="254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5504" y="1856232"/>
            <a:ext cx="731520" cy="73152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5724144" y="1737360"/>
            <a:ext cx="347472" cy="347472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5"/>
          <p:cNvSpPr/>
          <p:nvPr/>
        </p:nvSpPr>
        <p:spPr>
          <a:xfrm>
            <a:off x="5724144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4581144" y="2788920"/>
            <a:ext cx="19202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2" name="Shape 27"/>
          <p:cNvSpPr/>
          <p:nvPr/>
        </p:nvSpPr>
        <p:spPr>
          <a:xfrm>
            <a:off x="4581144" y="2788920"/>
            <a:ext cx="1920240" cy="640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28"/>
          <p:cNvSpPr/>
          <p:nvPr/>
        </p:nvSpPr>
        <p:spPr>
          <a:xfrm>
            <a:off x="4672584" y="2926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configuración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4672584" y="347472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Configuramos el sistema en ambiente de pruebas y validamos que todo funcione antes de ir a productivo.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4672584" y="4544568"/>
            <a:ext cx="1188720" cy="256032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1"/>
          <p:cNvSpPr/>
          <p:nvPr/>
        </p:nvSpPr>
        <p:spPr>
          <a:xfrm>
            <a:off x="4672584" y="45445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4-8 semanas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7168896" y="1737360"/>
            <a:ext cx="914400" cy="914400"/>
          </a:xfrm>
          <a:prstGeom prst="ellipse">
            <a:avLst/>
          </a:prstGeom>
          <a:solidFill>
            <a:srgbClr val="263980"/>
          </a:solidFill>
          <a:ln w="254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0336" y="1856232"/>
            <a:ext cx="731520" cy="731520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7808976" y="1737360"/>
            <a:ext cx="347472" cy="347472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4"/>
          <p:cNvSpPr/>
          <p:nvPr/>
        </p:nvSpPr>
        <p:spPr>
          <a:xfrm>
            <a:off x="7808976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41" name="Shape 35"/>
          <p:cNvSpPr/>
          <p:nvPr/>
        </p:nvSpPr>
        <p:spPr>
          <a:xfrm>
            <a:off x="6665976" y="2788920"/>
            <a:ext cx="19202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2" name="Shape 36"/>
          <p:cNvSpPr/>
          <p:nvPr/>
        </p:nvSpPr>
        <p:spPr>
          <a:xfrm>
            <a:off x="6665976" y="2788920"/>
            <a:ext cx="1920240" cy="64008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Text 37"/>
          <p:cNvSpPr/>
          <p:nvPr/>
        </p:nvSpPr>
        <p:spPr>
          <a:xfrm>
            <a:off x="6757416" y="2926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y arranque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6757416" y="347472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Capacitamos a tu equipo, migramos datos de forma segura y arrancamos con soporte prioritario.</a:t>
            </a:r>
            <a:endParaRPr lang="en-US" sz="1050" dirty="0"/>
          </a:p>
        </p:txBody>
      </p:sp>
      <p:sp>
        <p:nvSpPr>
          <p:cNvPr id="45" name="Shape 39"/>
          <p:cNvSpPr/>
          <p:nvPr/>
        </p:nvSpPr>
        <p:spPr>
          <a:xfrm>
            <a:off x="6757416" y="4544568"/>
            <a:ext cx="1188720" cy="256032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40"/>
          <p:cNvSpPr/>
          <p:nvPr/>
        </p:nvSpPr>
        <p:spPr>
          <a:xfrm>
            <a:off x="6757416" y="45445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4-12 semanas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más de 60 empresas eligen Sunname?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comprobada, soporte real y compromiso con tu éxito.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73152" cy="169164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438912" y="1353312"/>
            <a:ext cx="640080" cy="640080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280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en sitio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8872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 implementaciones presenciales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38912" y="205740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hacemos implementaciones remotas genéricas. Vamos a tu planta o tienda, entendemos tu operación real y configuramos Odoo viendo cómo trabajas hoy.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18872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1"/>
          <p:cNvSpPr/>
          <p:nvPr/>
        </p:nvSpPr>
        <p:spPr>
          <a:xfrm>
            <a:off x="4709160" y="1188720"/>
            <a:ext cx="73152" cy="169164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2"/>
          <p:cNvSpPr/>
          <p:nvPr/>
        </p:nvSpPr>
        <p:spPr>
          <a:xfrm>
            <a:off x="4873752" y="1353312"/>
            <a:ext cx="640080" cy="640080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41732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23560" y="1280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Desarrollos sin límites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62356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 desarrollos personalizados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873752" y="205740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¿Necesitas algo que Odoo no hace por defecto? Lo desarrollamos. Reportes personalizados, módulos completos e integraciones sin restricciones.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74320" y="306324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7"/>
          <p:cNvSpPr/>
          <p:nvPr/>
        </p:nvSpPr>
        <p:spPr>
          <a:xfrm>
            <a:off x="274320" y="3063240"/>
            <a:ext cx="73152" cy="169164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18"/>
          <p:cNvSpPr/>
          <p:nvPr/>
        </p:nvSpPr>
        <p:spPr>
          <a:xfrm>
            <a:off x="438912" y="3227832"/>
            <a:ext cx="640080" cy="640080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291840"/>
            <a:ext cx="502920" cy="5029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188720" y="3154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oficial certificado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18872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Learning Partner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438912" y="393192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Implementaciones con las mejores prácticas oficiales. Acceso a actualizaciones anticipadas y soporte técnico prioritario de Odoo.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709160" y="306324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8" name="Shape 23"/>
          <p:cNvSpPr/>
          <p:nvPr/>
        </p:nvSpPr>
        <p:spPr>
          <a:xfrm>
            <a:off x="4709160" y="3063240"/>
            <a:ext cx="73152" cy="169164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4"/>
          <p:cNvSpPr/>
          <p:nvPr/>
        </p:nvSpPr>
        <p:spPr>
          <a:xfrm>
            <a:off x="4873752" y="3227832"/>
            <a:ext cx="640080" cy="640080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291840"/>
            <a:ext cx="502920" cy="5029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623560" y="3154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en tu idioma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562356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en menos de 2 horas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4873752" y="393192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100% en México. Atención inmediata por WhatsApp, videollamada o en sitio. Sin esperas ni barreras de idioma.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1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263980">
              <a:alpha val="60000"/>
            </a:srgbClr>
          </a:solidFill>
          <a:ln w="12700">
            <a:solidFill>
              <a:srgbClr val="26398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7F52A0">
              <a:alpha val="60000"/>
            </a:srgbClr>
          </a:solidFill>
          <a:ln w="12700">
            <a:solidFill>
              <a:srgbClr val="7F52A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confianza que nos impulsa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794760" y="914400"/>
            <a:ext cx="1554480" cy="6400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1828800" cy="2560320"/>
          </a:xfrm>
          <a:prstGeom prst="rect">
            <a:avLst/>
          </a:prstGeom>
          <a:solidFill>
            <a:srgbClr val="263980">
              <a:alpha val="75000"/>
            </a:srgbClr>
          </a:solidFill>
          <a:ln w="190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1828800" cy="73152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1344168" y="1572768"/>
            <a:ext cx="502920" cy="502920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1618488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2194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758952" y="30175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transformadas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Odoo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15768" y="1371600"/>
            <a:ext cx="1828800" cy="2560320"/>
          </a:xfrm>
          <a:prstGeom prst="rect">
            <a:avLst/>
          </a:prstGeom>
          <a:solidFill>
            <a:srgbClr val="263980">
              <a:alpha val="75000"/>
            </a:srgbClr>
          </a:solidFill>
          <a:ln w="190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2715768" y="1371600"/>
            <a:ext cx="1828800" cy="73152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1"/>
          <p:cNvSpPr/>
          <p:nvPr/>
        </p:nvSpPr>
        <p:spPr>
          <a:xfrm>
            <a:off x="3374136" y="1572768"/>
            <a:ext cx="502920" cy="502920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856" y="1618488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15768" y="2194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5200" dirty="0"/>
          </a:p>
        </p:txBody>
      </p:sp>
      <p:sp>
        <p:nvSpPr>
          <p:cNvPr id="17" name="Text 13"/>
          <p:cNvSpPr/>
          <p:nvPr/>
        </p:nvSpPr>
        <p:spPr>
          <a:xfrm>
            <a:off x="2788920" y="30175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de manufactura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operación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745736" y="1371600"/>
            <a:ext cx="1828800" cy="2560320"/>
          </a:xfrm>
          <a:prstGeom prst="rect">
            <a:avLst/>
          </a:prstGeom>
          <a:solidFill>
            <a:srgbClr val="263980">
              <a:alpha val="75000"/>
            </a:srgbClr>
          </a:solidFill>
          <a:ln w="190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5"/>
          <p:cNvSpPr/>
          <p:nvPr/>
        </p:nvSpPr>
        <p:spPr>
          <a:xfrm>
            <a:off x="4745736" y="1371600"/>
            <a:ext cx="1828800" cy="73152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6"/>
          <p:cNvSpPr/>
          <p:nvPr/>
        </p:nvSpPr>
        <p:spPr>
          <a:xfrm>
            <a:off x="5404104" y="1572768"/>
            <a:ext cx="502920" cy="502920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9824" y="1618488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45736" y="2194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5200" dirty="0"/>
          </a:p>
        </p:txBody>
      </p:sp>
      <p:sp>
        <p:nvSpPr>
          <p:cNvPr id="23" name="Text 18"/>
          <p:cNvSpPr/>
          <p:nvPr/>
        </p:nvSpPr>
        <p:spPr>
          <a:xfrm>
            <a:off x="4818888" y="30175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 en línea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vendiendo hoy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775704" y="1371600"/>
            <a:ext cx="1828800" cy="2560320"/>
          </a:xfrm>
          <a:prstGeom prst="rect">
            <a:avLst/>
          </a:prstGeom>
          <a:solidFill>
            <a:srgbClr val="263980">
              <a:alpha val="75000"/>
            </a:srgbClr>
          </a:solidFill>
          <a:ln w="190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0"/>
          <p:cNvSpPr/>
          <p:nvPr/>
        </p:nvSpPr>
        <p:spPr>
          <a:xfrm>
            <a:off x="6775704" y="1371600"/>
            <a:ext cx="1828800" cy="73152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1"/>
          <p:cNvSpPr/>
          <p:nvPr/>
        </p:nvSpPr>
        <p:spPr>
          <a:xfrm>
            <a:off x="7434072" y="1572768"/>
            <a:ext cx="502920" cy="502920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9792" y="1618488"/>
            <a:ext cx="402336" cy="40233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775704" y="2194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5200" dirty="0"/>
          </a:p>
        </p:txBody>
      </p:sp>
      <p:sp>
        <p:nvSpPr>
          <p:cNvPr id="29" name="Text 23"/>
          <p:cNvSpPr/>
          <p:nvPr/>
        </p:nvSpPr>
        <p:spPr>
          <a:xfrm>
            <a:off x="6848856" y="30175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POS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operación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Zimapán, Hidalgo, México  ·  +52 1 771 101 4687  ·  sunname.com.mx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dicen nuestros clientes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reales · Resultados reales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2743200" cy="640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384048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46C2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2468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implementación realizada por Sunname ha ayudado a resolver muchas de nuestras necesidades y a mejorar los procesos, abriéndonos nuevas oportunidades de negocio. La consultora siempre atenta, logrando una implementación exitosa.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977640"/>
            <a:ext cx="502920" cy="502920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114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4005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Rebeca Gómez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4251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de Ventas, Ediciones El Naranjo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18688" y="118872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3218688" y="1188720"/>
            <a:ext cx="2743200" cy="64008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3328416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46C2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3355848" y="1783080"/>
            <a:ext cx="2468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al trabajo de Sunname, logramos hacer más eficientes nuestros procesos internos y fortalecer el compromiso del equipo, que ahora se siente más motivado y enfocado. Impacto muy positivo en nuestras operaciones.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55848" y="3977640"/>
            <a:ext cx="502920" cy="502920"/>
          </a:xfrm>
          <a:prstGeom prst="ellipse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3355848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68496" y="4005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Torres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68496" y="4251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CEO, Tienda Nova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63056" y="118872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6163056" y="1188720"/>
            <a:ext cx="2743200" cy="6400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6272784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46C2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6300216" y="1783080"/>
            <a:ext cx="2468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personalización de Sunname y el acompañamiento cercano durante todo el proceso fueron clave para alcanzar los objetivos. Su atención a los detalles y comprensión de nuestras necesidades marcaron la diferencia.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0216" y="3977640"/>
            <a:ext cx="502920" cy="502920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6300216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JL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12864" y="4005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Javier López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12864" y="4251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IT, Logística Express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1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63980">
              <a:alpha val="55000"/>
            </a:srgbClr>
          </a:solidFill>
          <a:ln w="12700">
            <a:solidFill>
              <a:srgbClr val="2639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7F52A0">
              <a:alpha val="55000"/>
            </a:srgbClr>
          </a:solidFill>
          <a:ln w="12700">
            <a:solidFill>
              <a:srgbClr val="7F52A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¿Listo para transformar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operación con Odoo?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5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una demo sin compromiso y descubre cómo Odoo puede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C5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tu manufactura o retail en 3-6 meses.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2971800"/>
            <a:ext cx="2743200" cy="64008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13716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Agendar Demo Gratis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2971800"/>
            <a:ext cx="2743200" cy="640080"/>
          </a:xfrm>
          <a:prstGeom prst="rect">
            <a:avLst/>
          </a:prstGeom>
          <a:solidFill>
            <a:srgbClr val="263980"/>
          </a:solidFill>
          <a:ln w="190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50292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Hablar por WhatsApp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+52 1 771 101 4687  ·  sunname.com.mx  ·  Zimapán, Hidalgo, México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compromiso  ·  30 minutos  ·  Personalizada para tu industria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4709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Partner oficial Odoo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4709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Soporte en español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4709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Implementación garantizada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939</Words>
  <Application>Microsoft Office PowerPoint</Application>
  <PresentationFormat>Presentación en pantalla (16:9)</PresentationFormat>
  <Paragraphs>176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OdooExperts - Soluciones ERP Premium</dc:title>
  <dc:subject>PptxGenJS Presentation</dc:subject>
  <dc:creator>Sunname Technologies</dc:creator>
  <cp:lastModifiedBy>Eduardo Acevedo Garcia</cp:lastModifiedBy>
  <cp:revision>1</cp:revision>
  <dcterms:created xsi:type="dcterms:W3CDTF">2026-02-18T21:16:40Z</dcterms:created>
  <dcterms:modified xsi:type="dcterms:W3CDTF">2026-02-20T06:20:31Z</dcterms:modified>
</cp:coreProperties>
</file>