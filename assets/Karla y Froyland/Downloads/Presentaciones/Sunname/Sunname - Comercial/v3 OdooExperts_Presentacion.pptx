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C2CE"/>
    <a:srgbClr val="263980"/>
    <a:srgbClr val="7F5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83" autoAdjust="0"/>
  </p:normalViewPr>
  <p:slideViewPr>
    <p:cSldViewPr snapToGrid="0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7" name="Google Shape;60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9" name="Google Shape;69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5" name="Google Shape;74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2" name="Google Shape;79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6" name="Google Shape;83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6" name="Google Shape;88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2" name="Google Shape;93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9" name="Google Shape;96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0" name="Google Shape;100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0" name="Google Shape;103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4" name="Google Shape;111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8" name="Google Shape;114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6" name="Google Shape;119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2" name="Google Shape;123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7" name="Google Shape;127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9" name="Google Shape;132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9.png"/><Relationship Id="rId3" Type="http://schemas.openxmlformats.org/officeDocument/2006/relationships/image" Target="../media/image21.png"/><Relationship Id="rId7" Type="http://schemas.openxmlformats.org/officeDocument/2006/relationships/image" Target="../media/image20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18.png"/><Relationship Id="rId4" Type="http://schemas.openxmlformats.org/officeDocument/2006/relationships/image" Target="../media/image25.png"/><Relationship Id="rId9" Type="http://schemas.openxmlformats.org/officeDocument/2006/relationships/image" Target="../media/image27.png"/><Relationship Id="rId1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0E7D61FC-EA85-D717-430A-567FF465E88E}"/>
              </a:ext>
            </a:extLst>
          </p:cNvPr>
          <p:cNvSpPr/>
          <p:nvPr/>
        </p:nvSpPr>
        <p:spPr>
          <a:xfrm>
            <a:off x="7010400" y="-944880"/>
            <a:ext cx="3200400" cy="3200400"/>
          </a:xfrm>
          <a:prstGeom prst="ellipse">
            <a:avLst/>
          </a:prstGeom>
          <a:solidFill>
            <a:srgbClr val="263980">
              <a:alpha val="50000"/>
            </a:srgbClr>
          </a:solidFill>
          <a:ln w="12700">
            <a:solidFill>
              <a:srgbClr val="2639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210243F-5242-B0DC-3EF7-5288F01E797B}"/>
              </a:ext>
            </a:extLst>
          </p:cNvPr>
          <p:cNvSpPr/>
          <p:nvPr/>
        </p:nvSpPr>
        <p:spPr>
          <a:xfrm>
            <a:off x="7924800" y="3627120"/>
            <a:ext cx="2286000" cy="2286000"/>
          </a:xfrm>
          <a:prstGeom prst="ellipse">
            <a:avLst/>
          </a:prstGeom>
          <a:solidFill>
            <a:srgbClr val="7F52A0">
              <a:alpha val="60000"/>
            </a:srgbClr>
          </a:solidFill>
          <a:ln w="12700">
            <a:solidFill>
              <a:srgbClr val="7F52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Google Shape;16;p3"/>
          <p:cNvSpPr/>
          <p:nvPr/>
        </p:nvSpPr>
        <p:spPr>
          <a:xfrm>
            <a:off x="-548640" y="-54864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50196"/>
            </a:srgbClr>
          </a:solidFill>
          <a:ln w="12700" cap="flat" cmpd="sng">
            <a:solidFill>
              <a:srgbClr val="26398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32320" y="-914400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45098"/>
            </a:srgbClr>
          </a:solidFill>
          <a:ln w="12700" cap="flat" cmpd="sng">
            <a:solidFill>
              <a:srgbClr val="26398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772400" y="347472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60000"/>
            </a:srgbClr>
          </a:solidFill>
          <a:ln w="12700" cap="flat" cmpd="sng">
            <a:solidFill>
              <a:srgbClr val="7F52A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365760" y="475488"/>
            <a:ext cx="3749040" cy="34747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365760" y="4754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 OFICIAL ODOO · MANUFACTURA Y RETAIL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987552"/>
            <a:ext cx="84124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Transforma tu operación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60" y="1673352"/>
            <a:ext cx="84124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4600"/>
              <a:buFont typeface="Calibri"/>
              <a:buNone/>
            </a:pPr>
            <a:r>
              <a:rPr lang="en-US" sz="46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con Odoo ERP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60" y="251460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Soluciones especializadas para Manufactura y Retail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Implementaciones personalizadas · Resultados en 3-6 meses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65760" y="345643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Partner oficial Odoo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017520" y="345643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Soporte en español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669280" y="345643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Implementación garantizada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48640" y="431596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+60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8640" y="46634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transformadas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267712" y="431596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267712" y="46634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986784" y="431596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15+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3986784" y="46634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Tiendas en línea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operando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705856" y="431596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3-6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705856" y="46634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Meses 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7424928" y="431596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424928" y="46634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mexicano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Contenido de esta presentación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" y="1143000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20040" y="1143000"/>
            <a:ext cx="64008" cy="6583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84632" y="127101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33272" y="1188720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¿Quiénes somos?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033272" y="1481328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Sunname Technologies y nuestra experiencia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20040" y="1901952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20040" y="1901952"/>
            <a:ext cx="64008" cy="6583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4632" y="202996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033272" y="1947672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33272" y="224028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Sistemas desconectados que frenan tu crecimiento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20040" y="2660904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20040" y="2660904"/>
            <a:ext cx="64008" cy="6583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84632" y="278892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033272" y="2706624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033272" y="2999232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Soluciones ERP para producción y fabricación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20040" y="3419856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20040" y="3419856"/>
            <a:ext cx="64008" cy="6583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84632" y="35478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33272" y="3465576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033272" y="3758184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 total de tiendas, POS y e-commerce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20040" y="4178808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20040" y="4178808"/>
            <a:ext cx="64008" cy="6583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84632" y="430682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033272" y="4224528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Módulos Odoo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33272" y="4517136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Todas las áreas cubiertas en una plataforma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754880" y="1143000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754880" y="1143000"/>
            <a:ext cx="64008" cy="6583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19472" y="127101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68112" y="1188720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Nuestros servicios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468112" y="1481328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Implementación, desarrollo, soporte y más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754880" y="1901952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754880" y="1901952"/>
            <a:ext cx="64008" cy="6583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919472" y="202996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68112" y="1947672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Proceso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68112" y="224028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pasos para tu implementación exitosa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754880" y="2660904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754880" y="2660904"/>
            <a:ext cx="64008" cy="6583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19472" y="278892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468112" y="2706624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¿Por qué Sunname?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68112" y="2999232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Diferenciadores que nos hacen únicos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754880" y="3419856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754880" y="3419856"/>
            <a:ext cx="64008" cy="6583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919472" y="35478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68112" y="3465576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68112" y="3758184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Casos de éxito y testimonios de clientes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754880" y="4178808"/>
            <a:ext cx="420624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754880" y="4178808"/>
            <a:ext cx="64008" cy="6583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19472" y="430682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68112" y="4224528"/>
            <a:ext cx="33375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Siguiente paso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68112" y="4517136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Cómo iniciar tu transformación hoy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¿Quiénes Somos?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Sunname Technologies · OdooExperts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65760" y="118872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Somos un equipo 100% mexicano especializado en implementar Odoo para empresas de manufactura y retail. Como Odoo Ready Partner y Learning Partner, garantizamos implementaciones con las mejores prácticas oficiales.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65760" y="2331720"/>
            <a:ext cx="438912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"En Sunname no vendemos software,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entregamos soluciones que funcionan.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Nos comprometemos con el éxito de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tu proyecto porque tu crecimiento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es nuestro crecimiento."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074920" y="1188720"/>
            <a:ext cx="379476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5193792" y="1271016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8107" y="1325331"/>
            <a:ext cx="382676" cy="38267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12" name="Google Shape;112;p5"/>
          <p:cNvSpPr/>
          <p:nvPr/>
        </p:nvSpPr>
        <p:spPr>
          <a:xfrm>
            <a:off x="5806440" y="1353312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Zimapán, Hidalgo, México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074920" y="1956816"/>
            <a:ext cx="379476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5193792" y="2039112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48107" y="2093427"/>
            <a:ext cx="382676" cy="38267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16" name="Google Shape;116;p5"/>
          <p:cNvSpPr/>
          <p:nvPr/>
        </p:nvSpPr>
        <p:spPr>
          <a:xfrm>
            <a:off x="5806440" y="2121408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Equipo 100% en México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074920" y="2724912"/>
            <a:ext cx="379476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193792" y="280720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8107" y="2861523"/>
            <a:ext cx="382676" cy="38267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20" name="Google Shape;120;p5"/>
          <p:cNvSpPr/>
          <p:nvPr/>
        </p:nvSpPr>
        <p:spPr>
          <a:xfrm>
            <a:off x="5806440" y="288950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Odoo Learning Partner Certificado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074920" y="3493008"/>
            <a:ext cx="379476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193792" y="3575304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8107" y="3629619"/>
            <a:ext cx="382676" cy="38267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24" name="Google Shape;124;p5"/>
          <p:cNvSpPr/>
          <p:nvPr/>
        </p:nvSpPr>
        <p:spPr>
          <a:xfrm>
            <a:off x="5806440" y="3657600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Respuesta en menos de 2 horas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074920" y="4261104"/>
            <a:ext cx="3794760" cy="6583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193792" y="4343400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48107" y="4397715"/>
            <a:ext cx="382676" cy="38267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28" name="Google Shape;128;p5"/>
          <p:cNvSpPr/>
          <p:nvPr/>
        </p:nvSpPr>
        <p:spPr>
          <a:xfrm>
            <a:off x="5806440" y="4425696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Garantía de 2 meses post-arranque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Industrias: Manufactura · Retail · Logística · Comercio · E-commerce · Servicios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Respaldados por los Mejores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Certificados por Odoo con experiencia comprobada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20040" y="1143000"/>
            <a:ext cx="4206240" cy="3520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320040" y="1143000"/>
            <a:ext cx="4206240" cy="5943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691640" y="1463040"/>
            <a:ext cx="1554480" cy="15544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EF3FF"/>
          </a:solidFill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5960" y="1719072"/>
            <a:ext cx="1005840" cy="1005840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144" name="Google Shape;144;p6"/>
          <p:cNvSpPr/>
          <p:nvPr/>
        </p:nvSpPr>
        <p:spPr>
          <a:xfrm>
            <a:off x="457200" y="31546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Odoo Ready Partner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" y="361188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Equipo certificado para implementar, personalizar y dar soporte en la plataforma ERP #1 de código abierto. Acceso directo a soporte oficial, actualizaciones prioritarias y garantía de calidad Odoo.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709160" y="1143000"/>
            <a:ext cx="4114800" cy="3520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709160" y="1143000"/>
            <a:ext cx="41148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035040" y="1463040"/>
            <a:ext cx="1554480" cy="15544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EF3FF"/>
          </a:solidFill>
          <a:ln w="254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9360" y="1719072"/>
            <a:ext cx="1005840" cy="1005840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150" name="Google Shape;150;p6"/>
          <p:cNvSpPr/>
          <p:nvPr/>
        </p:nvSpPr>
        <p:spPr>
          <a:xfrm>
            <a:off x="4800600" y="31546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Experiencia Certificada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800600" y="361188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Más de 60 implementaciones en manufactura y retail mexicano. Conocemos normativas SAT, procesos únicos de producción y cómo configurar Odoo para tu operación específica.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65760" y="4754880"/>
            <a:ext cx="1280160" cy="292608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65760" y="475488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801368" y="4754880"/>
            <a:ext cx="1280160" cy="292608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1801368" y="475488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236976" y="4754880"/>
            <a:ext cx="1280160" cy="292608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236976" y="475488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672584" y="4754880"/>
            <a:ext cx="1280160" cy="292608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672584" y="475488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108192" y="4754880"/>
            <a:ext cx="1280160" cy="292608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108192" y="475488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543800" y="4754880"/>
            <a:ext cx="1280160" cy="292608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7543800" y="475488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CFDI / SAT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-457200" y="-4572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50196"/>
            </a:srgbClr>
          </a:solidFill>
          <a:ln w="12700" cap="flat" cmpd="sng">
            <a:solidFill>
              <a:srgbClr val="26398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7315200" y="32004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54901"/>
            </a:srgbClr>
          </a:solidFill>
          <a:ln w="12700" cap="flat" cmpd="sng">
            <a:solidFill>
              <a:srgbClr val="7F52A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¿Tu empresa enfrenta estos retos?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Síntomas de una operación sin ERP integrado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20040" y="1280160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20040" y="1280160"/>
            <a:ext cx="2743200" cy="5486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11480" y="1399032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8" name="Google Shape;17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819" y="1457371"/>
            <a:ext cx="411023" cy="411023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179" name="Google Shape;179;p7"/>
          <p:cNvSpPr/>
          <p:nvPr/>
        </p:nvSpPr>
        <p:spPr>
          <a:xfrm>
            <a:off x="1069848" y="1389888"/>
            <a:ext cx="19019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 duplicados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29768" y="1874520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Información en Excel, WhatsApp, correo y sistemas distintos sin conectar.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264408" y="1280160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264408" y="1280160"/>
            <a:ext cx="2743200" cy="5486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355848" y="1399032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4" name="Google Shape;184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4187" y="1457371"/>
            <a:ext cx="411023" cy="411023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185" name="Google Shape;185;p7"/>
          <p:cNvSpPr/>
          <p:nvPr/>
        </p:nvSpPr>
        <p:spPr>
          <a:xfrm>
            <a:off x="4014216" y="1389888"/>
            <a:ext cx="19019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visibilidad real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374136" y="1874520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No sabes el estado de tu inventario, producción o ventas en tiempo real.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208776" y="1280160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208776" y="1280160"/>
            <a:ext cx="2743200" cy="5486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6300216" y="1399032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" name="Google Shape;19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8555" y="1457371"/>
            <a:ext cx="411023" cy="411023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191" name="Google Shape;191;p7"/>
          <p:cNvSpPr/>
          <p:nvPr/>
        </p:nvSpPr>
        <p:spPr>
          <a:xfrm>
            <a:off x="6958584" y="1389888"/>
            <a:ext cx="19019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Errores costosos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318504" y="1874520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Pedidos perdidos, producción parada y compras duplicadas por falta de control.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20040" y="2971800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320040" y="2971800"/>
            <a:ext cx="2743200" cy="5486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11480" y="3090672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9819" y="3149011"/>
            <a:ext cx="411023" cy="411023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197" name="Google Shape;197;p7"/>
          <p:cNvSpPr/>
          <p:nvPr/>
        </p:nvSpPr>
        <p:spPr>
          <a:xfrm>
            <a:off x="1069848" y="3081528"/>
            <a:ext cx="19019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Decisiones a ciegas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29768" y="3566160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Reportes tardíos, incompletos o que no reflejan la realidad de tu negocio.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264408" y="2971800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264408" y="2971800"/>
            <a:ext cx="2743200" cy="5486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355848" y="3090672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14187" y="3149011"/>
            <a:ext cx="411023" cy="411023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203" name="Google Shape;203;p7"/>
          <p:cNvSpPr/>
          <p:nvPr/>
        </p:nvSpPr>
        <p:spPr>
          <a:xfrm>
            <a:off x="4014216" y="3081528"/>
            <a:ext cx="19019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 descoordinado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374136" y="3566160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Ventas promete, producción no sabe, y almacén descubre el problema tarde.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208776" y="2971800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208776" y="2971800"/>
            <a:ext cx="2743200" cy="5486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300216" y="3090672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" name="Google Shape;208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58555" y="3149011"/>
            <a:ext cx="411023" cy="411023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209" name="Google Shape;209;p7"/>
          <p:cNvSpPr/>
          <p:nvPr/>
        </p:nvSpPr>
        <p:spPr>
          <a:xfrm>
            <a:off x="6958584" y="3081528"/>
            <a:ext cx="19019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Soporte deficiente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318504" y="3566160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Tiempos de respuesta lentos, soluciones que no entienden tu industria.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solución: Odoo ERP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Un sistema que conecta toda tu empresa en tiempo real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2743200" y="1097280"/>
            <a:ext cx="3657600" cy="1828800"/>
          </a:xfrm>
          <a:prstGeom prst="rect">
            <a:avLst/>
          </a:prstGeom>
          <a:solidFill>
            <a:srgbClr val="263980"/>
          </a:solidFill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096512" y="1307592"/>
            <a:ext cx="950976" cy="9509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1119" y="1412199"/>
            <a:ext cx="737006" cy="737006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223" name="Google Shape;223;p8"/>
          <p:cNvSpPr/>
          <p:nvPr/>
        </p:nvSpPr>
        <p:spPr>
          <a:xfrm>
            <a:off x="2743200" y="2331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ODOO ERP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2743200" y="26517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plataforma · todo conectado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82880" y="1371600"/>
            <a:ext cx="2468880" cy="1481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82880" y="1371600"/>
            <a:ext cx="2468880" cy="5943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283464" y="152704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779" y="1581363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229" name="Google Shape;229;p8"/>
          <p:cNvSpPr/>
          <p:nvPr/>
        </p:nvSpPr>
        <p:spPr>
          <a:xfrm>
            <a:off x="896112" y="1481328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Visibilidad Total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292608" y="21031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Reportes en tiempo real de toda la operación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82880" y="3017520"/>
            <a:ext cx="2468880" cy="1481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182880" y="3017520"/>
            <a:ext cx="2468880" cy="5943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283464" y="317296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4" name="Google Shape;234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7779" y="3227283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235" name="Google Shape;235;p8"/>
          <p:cNvSpPr/>
          <p:nvPr/>
        </p:nvSpPr>
        <p:spPr>
          <a:xfrm>
            <a:off x="896112" y="3127248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Automatización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92608" y="37490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Flujos que eliminan errores manuales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492240" y="1371600"/>
            <a:ext cx="2468880" cy="1481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6492240" y="1371600"/>
            <a:ext cx="2468880" cy="5943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6592824" y="152704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7139" y="1581363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241" name="Google Shape;241;p8"/>
          <p:cNvSpPr/>
          <p:nvPr/>
        </p:nvSpPr>
        <p:spPr>
          <a:xfrm>
            <a:off x="7205472" y="1481328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Un solo sistema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601968" y="21031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 a la duplicación de datos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492240" y="3017520"/>
            <a:ext cx="2468880" cy="1481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6492240" y="3017520"/>
            <a:ext cx="2468880" cy="5943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6592824" y="317296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6" name="Google Shape;246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47139" y="3227283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247" name="Google Shape;247;p8"/>
          <p:cNvSpPr/>
          <p:nvPr/>
        </p:nvSpPr>
        <p:spPr>
          <a:xfrm>
            <a:off x="7205472" y="3127248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Reduce costos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601968" y="37490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Mayor eficiencia = menor desperdicio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ERP #1 de código abierto · +12 millones de usuarios en el mundo · Disponible en la nube o en tu servidor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1234440" y="45720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5082" y="567842"/>
            <a:ext cx="779526" cy="779526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260" name="Google Shape;260;p9"/>
          <p:cNvSpPr/>
          <p:nvPr/>
        </p:nvSpPr>
        <p:spPr>
          <a:xfrm>
            <a:off x="182880" y="16002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82880" y="2176272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Controla tu producción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de principio a fin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82880" y="28529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Módulos clave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20040" y="3072384"/>
            <a:ext cx="2834640" cy="31089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320040" y="307238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Fabricación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20040" y="3456432"/>
            <a:ext cx="2834640" cy="31089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320040" y="3456432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320040" y="3840480"/>
            <a:ext cx="2834640" cy="31089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320040" y="384048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20040" y="4224528"/>
            <a:ext cx="2834640" cy="31089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320040" y="4224528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320040" y="4608576"/>
            <a:ext cx="2834640" cy="31089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320040" y="460857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Calidad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749040" y="292608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Capacidades clave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749040" y="749808"/>
            <a:ext cx="1280160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3730752" y="100584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6" name="Google Shape;276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997" y="1048085"/>
            <a:ext cx="297637" cy="297637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277" name="Google Shape;277;p9"/>
          <p:cNvSpPr/>
          <p:nvPr/>
        </p:nvSpPr>
        <p:spPr>
          <a:xfrm>
            <a:off x="4206240" y="996696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Control total de órdenes de producción desde solicitud hasta entrega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3730752" y="16733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9" name="Google Shape;279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997" y="1715597"/>
            <a:ext cx="297637" cy="297637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280" name="Google Shape;280;p9"/>
          <p:cNvSpPr/>
          <p:nvPr/>
        </p:nvSpPr>
        <p:spPr>
          <a:xfrm>
            <a:off x="4206240" y="1664208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Gestión de inventarios y materias primas en tiempo real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730752" y="234086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2" name="Google Shape;282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997" y="2383109"/>
            <a:ext cx="297637" cy="297637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283" name="Google Shape;283;p9"/>
          <p:cNvSpPr/>
          <p:nvPr/>
        </p:nvSpPr>
        <p:spPr>
          <a:xfrm>
            <a:off x="4206240" y="2331720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Trazabilidad de lotes y series (desde MP hasta producto terminado)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3730752" y="30083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5" name="Google Shape;285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997" y="3050621"/>
            <a:ext cx="297637" cy="297637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286" name="Google Shape;286;p9"/>
          <p:cNvSpPr/>
          <p:nvPr/>
        </p:nvSpPr>
        <p:spPr>
          <a:xfrm>
            <a:off x="4206240" y="2999232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Costeo real por producto y orden de trabajo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730752" y="367588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8" name="Google Shape;28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997" y="3718133"/>
            <a:ext cx="297637" cy="297637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289" name="Google Shape;289;p9"/>
          <p:cNvSpPr/>
          <p:nvPr/>
        </p:nvSpPr>
        <p:spPr>
          <a:xfrm>
            <a:off x="4206240" y="3666744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Planeación MRP: optimiza inventario y reduce desperdicios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3730752" y="43434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997" y="4385645"/>
            <a:ext cx="297637" cy="297637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292" name="Google Shape;292;p9"/>
          <p:cNvSpPr/>
          <p:nvPr/>
        </p:nvSpPr>
        <p:spPr>
          <a:xfrm>
            <a:off x="4206240" y="4334256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Reportes de eficiencia por máquina, turno y operador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Manufactura: Del pedido a la entrega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Flujo completo automatizado con Odoo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29768" y="11887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3" name="Google Shape;30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410" y="1299362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304" name="Google Shape;304;p10"/>
          <p:cNvSpPr/>
          <p:nvPr/>
        </p:nvSpPr>
        <p:spPr>
          <a:xfrm>
            <a:off x="1673352" y="1673352"/>
            <a:ext cx="347472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365760" y="2331720"/>
            <a:ext cx="14813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Pedido de venta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75488" y="2798064"/>
            <a:ext cx="1280160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475488" y="279806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CRM / Ventas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2148840" y="11887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" name="Google Shape;309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59482" y="1299362"/>
            <a:ext cx="779526" cy="779526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310" name="Google Shape;310;p10"/>
          <p:cNvSpPr/>
          <p:nvPr/>
        </p:nvSpPr>
        <p:spPr>
          <a:xfrm>
            <a:off x="3392424" y="1673352"/>
            <a:ext cx="347472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2084832" y="2331720"/>
            <a:ext cx="14813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Orden de producción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2194560" y="2798064"/>
            <a:ext cx="1280160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2194560" y="279806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Fabricación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3867912" y="11887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8554" y="1299362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316" name="Google Shape;316;p10"/>
          <p:cNvSpPr/>
          <p:nvPr/>
        </p:nvSpPr>
        <p:spPr>
          <a:xfrm>
            <a:off x="5111496" y="1673352"/>
            <a:ext cx="347472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3803904" y="2331720"/>
            <a:ext cx="14813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Control inventario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3913632" y="2798064"/>
            <a:ext cx="1280160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3913632" y="279806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Almacén / MRP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586984" y="11887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" name="Google Shape;321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97626" y="1299362"/>
            <a:ext cx="779526" cy="779526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322" name="Google Shape;322;p10"/>
          <p:cNvSpPr/>
          <p:nvPr/>
        </p:nvSpPr>
        <p:spPr>
          <a:xfrm>
            <a:off x="6830568" y="1673352"/>
            <a:ext cx="347472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5522976" y="2331720"/>
            <a:ext cx="14813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Control calidad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632704" y="2798064"/>
            <a:ext cx="1280160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5632704" y="279806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QC / Calidad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7306056" y="11887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7" name="Google Shape;327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16698" y="1299362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328" name="Google Shape;328;p10"/>
          <p:cNvSpPr/>
          <p:nvPr/>
        </p:nvSpPr>
        <p:spPr>
          <a:xfrm>
            <a:off x="7242048" y="2331720"/>
            <a:ext cx="14813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Entrega cliente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7351776" y="2798064"/>
            <a:ext cx="1280160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7351776" y="279806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365760" y="3337560"/>
            <a:ext cx="19659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365760" y="3337560"/>
            <a:ext cx="196596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457200" y="3355848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4" name="Google Shape;334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3527" y="3412175"/>
            <a:ext cx="396850" cy="396850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335" name="Google Shape;335;p10"/>
          <p:cNvSpPr/>
          <p:nvPr/>
        </p:nvSpPr>
        <p:spPr>
          <a:xfrm>
            <a:off x="1078992" y="3429000"/>
            <a:ext cx="11704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30-40%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75488" y="4096512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Reducción tiempos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producción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2523744" y="3337560"/>
            <a:ext cx="19659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2523744" y="3337560"/>
            <a:ext cx="196596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2615184" y="3355848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0" name="Google Shape;340;p1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71511" y="3412175"/>
            <a:ext cx="396850" cy="396850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341" name="Google Shape;341;p10"/>
          <p:cNvSpPr/>
          <p:nvPr/>
        </p:nvSpPr>
        <p:spPr>
          <a:xfrm>
            <a:off x="3236976" y="3429000"/>
            <a:ext cx="11704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2633472" y="4096512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Disminución 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desperdicio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4681728" y="3337560"/>
            <a:ext cx="19659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4681728" y="3337560"/>
            <a:ext cx="196596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4773168" y="3355848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6" name="Google Shape;346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29495" y="3412175"/>
            <a:ext cx="396850" cy="396850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347" name="Google Shape;347;p10"/>
          <p:cNvSpPr/>
          <p:nvPr/>
        </p:nvSpPr>
        <p:spPr>
          <a:xfrm>
            <a:off x="5394960" y="3429000"/>
            <a:ext cx="11704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791456" y="4096512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Trazabilidad 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lote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6839712" y="3337560"/>
            <a:ext cx="19659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6839712" y="3337560"/>
            <a:ext cx="196596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6931152" y="3355848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2" name="Google Shape;352;p1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87479" y="3412175"/>
            <a:ext cx="396850" cy="396850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353" name="Google Shape;353;p10"/>
          <p:cNvSpPr/>
          <p:nvPr/>
        </p:nvSpPr>
        <p:spPr>
          <a:xfrm>
            <a:off x="7552944" y="3429000"/>
            <a:ext cx="11704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2x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949440" y="4096512"/>
            <a:ext cx="1783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Precisión 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costeo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6903720" y="45720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3" name="Google Shape;363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4362" y="567842"/>
            <a:ext cx="779526" cy="779526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364" name="Google Shape;364;p11"/>
          <p:cNvSpPr/>
          <p:nvPr/>
        </p:nvSpPr>
        <p:spPr>
          <a:xfrm>
            <a:off x="5852160" y="16002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5852160" y="2176272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Unifica tiendas físicas,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online y distribuidores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852160" y="28529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Módulos clave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989320" y="3072384"/>
            <a:ext cx="2834640" cy="31089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5989320" y="307238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5989320" y="3456432"/>
            <a:ext cx="2834640" cy="31089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5989320" y="3456432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989320" y="3840480"/>
            <a:ext cx="2834640" cy="31089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5989320" y="384048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989320" y="4224528"/>
            <a:ext cx="2834640" cy="31089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5989320" y="4224528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989320" y="4608576"/>
            <a:ext cx="2834640" cy="31089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5989320" y="460857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274320" y="292608"/>
            <a:ext cx="5212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Capacidades clave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274320" y="749808"/>
            <a:ext cx="1280160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256032" y="100584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0" name="Google Shape;380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277" y="1048085"/>
            <a:ext cx="297637" cy="297637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381" name="Google Shape;381;p11"/>
          <p:cNvSpPr/>
          <p:nvPr/>
        </p:nvSpPr>
        <p:spPr>
          <a:xfrm>
            <a:off x="731520" y="996696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Punto de venta integrado con inventario en tiempo real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256032" y="16733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3" name="Google Shape;383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277" y="1715597"/>
            <a:ext cx="297637" cy="297637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384" name="Google Shape;384;p11"/>
          <p:cNvSpPr/>
          <p:nvPr/>
        </p:nvSpPr>
        <p:spPr>
          <a:xfrm>
            <a:off x="731520" y="1664208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E-commerce conectado directamente a tu ERP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256032" y="234086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6" name="Google Shape;386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277" y="2383109"/>
            <a:ext cx="297637" cy="297637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387" name="Google Shape;387;p11"/>
          <p:cNvSpPr/>
          <p:nvPr/>
        </p:nvSpPr>
        <p:spPr>
          <a:xfrm>
            <a:off x="731520" y="2331720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Control multi-tienda con visibilidad centralizada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256032" y="30083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" name="Google Shape;389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277" y="3050621"/>
            <a:ext cx="297637" cy="297637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390" name="Google Shape;390;p11"/>
          <p:cNvSpPr/>
          <p:nvPr/>
        </p:nvSpPr>
        <p:spPr>
          <a:xfrm>
            <a:off x="731520" y="2999232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Promociones automáticas y programas de lealtad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256032" y="367588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2" name="Google Shape;39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277" y="3718133"/>
            <a:ext cx="297637" cy="297637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393" name="Google Shape;393;p11"/>
          <p:cNvSpPr/>
          <p:nvPr/>
        </p:nvSpPr>
        <p:spPr>
          <a:xfrm>
            <a:off x="731520" y="3666744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Gestión omnicanal simplificada (físico + digital)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256032" y="43434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5" name="Google Shape;39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277" y="4385645"/>
            <a:ext cx="297637" cy="297637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396" name="Google Shape;396;p11"/>
          <p:cNvSpPr/>
          <p:nvPr/>
        </p:nvSpPr>
        <p:spPr>
          <a:xfrm>
            <a:off x="731520" y="4334256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Inventario sincronizado en todos los canales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 Omnicanal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Un solo sistema para todos tus canales de venta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320040" y="1143000"/>
            <a:ext cx="1993392" cy="3493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320040" y="1143000"/>
            <a:ext cx="1993392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813816" y="14173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9" name="Google Shape;409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458" y="1527962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410" name="Google Shape;410;p12"/>
          <p:cNvSpPr/>
          <p:nvPr/>
        </p:nvSpPr>
        <p:spPr>
          <a:xfrm>
            <a:off x="320040" y="2578608"/>
            <a:ext cx="19933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Tienda física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822960" y="2999232"/>
            <a:ext cx="1005840" cy="3657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29768" y="3127248"/>
            <a:ext cx="17830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Punto de Venta Odoo con lector de código de barras, impresora de tickets y cobro rápido.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2496312" y="1143000"/>
            <a:ext cx="1993392" cy="3493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2496312" y="1143000"/>
            <a:ext cx="1993392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2990088" y="14173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6" name="Google Shape;416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0730" y="1527962"/>
            <a:ext cx="779526" cy="779526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417" name="Google Shape;417;p12"/>
          <p:cNvSpPr/>
          <p:nvPr/>
        </p:nvSpPr>
        <p:spPr>
          <a:xfrm>
            <a:off x="2496312" y="2578608"/>
            <a:ext cx="19933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Tienda en línea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2999232" y="2999232"/>
            <a:ext cx="1005840" cy="3657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2606040" y="3127248"/>
            <a:ext cx="17830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E-commerce Odoo o integración con tu tienda actual. Sincronización automática de inventario.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4672584" y="1143000"/>
            <a:ext cx="1993392" cy="3493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4672584" y="1143000"/>
            <a:ext cx="1993392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5166360" y="14173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3" name="Google Shape;423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77002" y="1527962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424" name="Google Shape;424;p12"/>
          <p:cNvSpPr/>
          <p:nvPr/>
        </p:nvSpPr>
        <p:spPr>
          <a:xfrm>
            <a:off x="4672584" y="2578608"/>
            <a:ext cx="19933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Distribuidores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5175504" y="2999232"/>
            <a:ext cx="1005840" cy="3657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4782312" y="3127248"/>
            <a:ext cx="17830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Portal de ventas para distribuidores con precios especiales y seguimiento de pedidos.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6848856" y="1143000"/>
            <a:ext cx="1993392" cy="3493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6848856" y="1143000"/>
            <a:ext cx="1993392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7342632" y="14173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0" name="Google Shape;430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53274" y="1527962"/>
            <a:ext cx="779526" cy="779526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431" name="Google Shape;431;p12"/>
          <p:cNvSpPr/>
          <p:nvPr/>
        </p:nvSpPr>
        <p:spPr>
          <a:xfrm>
            <a:off x="6848856" y="2578608"/>
            <a:ext cx="19933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Marketplaces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7351776" y="2999232"/>
            <a:ext cx="1005840" cy="3657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6958584" y="3127248"/>
            <a:ext cx="17830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Integración con Amazon, Mercado Libre y más para gestionar todo desde Odoo.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457200" y="469087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Todo sincronizado en tiempo real · Un inventario único · Una sola verdad para toda tu organización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3"/>
          <p:cNvSpPr/>
          <p:nvPr/>
        </p:nvSpPr>
        <p:spPr>
          <a:xfrm>
            <a:off x="-457200" y="36576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50196"/>
            </a:srgbClr>
          </a:solidFill>
          <a:ln w="12700" cap="flat" cmpd="sng">
            <a:solidFill>
              <a:srgbClr val="26398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7315200" y="-4572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54901"/>
            </a:srgbClr>
          </a:solidFill>
          <a:ln w="12700" cap="flat" cmpd="sng">
            <a:solidFill>
              <a:srgbClr val="7F52A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¿Fabricas y también vendes directamente?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Odoo integra manufactura y retail: de la materia prima a la venta final en un solo sistema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274320" y="1261872"/>
            <a:ext cx="3749040" cy="2926080"/>
          </a:xfrm>
          <a:prstGeom prst="rect">
            <a:avLst/>
          </a:prstGeom>
          <a:solidFill>
            <a:srgbClr val="263980">
              <a:alpha val="70196"/>
            </a:srgbClr>
          </a:solidFill>
          <a:ln w="1905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758952" y="1444752"/>
            <a:ext cx="768096" cy="76809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8" name="Google Shape;448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443" y="1529243"/>
            <a:ext cx="595274" cy="595274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449" name="Google Shape;449;p13"/>
          <p:cNvSpPr/>
          <p:nvPr/>
        </p:nvSpPr>
        <p:spPr>
          <a:xfrm>
            <a:off x="1618488" y="150876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457200" y="224028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• Planear producción con MRP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457200" y="265176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• Controlar órdenes de trabajo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457200" y="30632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• Gestionar materias primas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457200" y="347472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• Calcular costos reales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4023360" y="24688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5120640" y="1261872"/>
            <a:ext cx="3749040" cy="2926080"/>
          </a:xfrm>
          <a:prstGeom prst="rect">
            <a:avLst/>
          </a:prstGeom>
          <a:solidFill>
            <a:srgbClr val="7F52A0">
              <a:alpha val="70196"/>
            </a:srgbClr>
          </a:solidFill>
          <a:ln w="1905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5605272" y="1444752"/>
            <a:ext cx="768096" cy="76809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7" name="Google Shape;457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9763" y="1529243"/>
            <a:ext cx="595274" cy="595274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458" name="Google Shape;458;p13"/>
          <p:cNvSpPr/>
          <p:nvPr/>
        </p:nvSpPr>
        <p:spPr>
          <a:xfrm>
            <a:off x="6473952" y="150876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5303520" y="224028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• Vender en tienda física y en línea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5303520" y="265176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• Sincronizar inventario multi-canal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5303520" y="306324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• Gestionar devoluciones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5303520" y="347472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• Analizar márgenes por producto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457200" y="443484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Resultado: Control total desde materia prima hasta la venta al consumidor final · Todo en una sola plataforma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Todos tus procesos en una sola plataforma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Deja de usar múltiples sistemas. Integra operaciones, finanzas, ventas e inventario desde un solo lugar.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320040" y="1280160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548640" y="1389888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5" name="Google Shape;475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014" y="1454262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476" name="Google Shape;476;p14"/>
          <p:cNvSpPr/>
          <p:nvPr/>
        </p:nvSpPr>
        <p:spPr>
          <a:xfrm>
            <a:off x="1234440" y="1517904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Contabilidad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2441448" y="1280160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2670048" y="1389888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9" name="Google Shape;479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4422" y="1454262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480" name="Google Shape;480;p14"/>
          <p:cNvSpPr/>
          <p:nvPr/>
        </p:nvSpPr>
        <p:spPr>
          <a:xfrm>
            <a:off x="3355848" y="1517904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4562856" y="1280160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4791456" y="1389888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3" name="Google Shape;483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5830" y="1454262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484" name="Google Shape;484;p14"/>
          <p:cNvSpPr/>
          <p:nvPr/>
        </p:nvSpPr>
        <p:spPr>
          <a:xfrm>
            <a:off x="5477256" y="1517904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Fabricación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6684264" y="1280160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4"/>
          <p:cNvSpPr/>
          <p:nvPr/>
        </p:nvSpPr>
        <p:spPr>
          <a:xfrm>
            <a:off x="6912864" y="1389888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7" name="Google Shape;487;p1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77238" y="1454262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488" name="Google Shape;488;p14"/>
          <p:cNvSpPr/>
          <p:nvPr/>
        </p:nvSpPr>
        <p:spPr>
          <a:xfrm>
            <a:off x="7598664" y="1517904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Punto de Venta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320040" y="2450592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548640" y="2560320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1" name="Google Shape;491;p1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3014" y="2624694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492" name="Google Shape;492;p14"/>
          <p:cNvSpPr/>
          <p:nvPr/>
        </p:nvSpPr>
        <p:spPr>
          <a:xfrm>
            <a:off x="1234440" y="2688336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2441448" y="2450592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2670048" y="2560320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1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34422" y="2624694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496" name="Google Shape;496;p14"/>
          <p:cNvSpPr/>
          <p:nvPr/>
        </p:nvSpPr>
        <p:spPr>
          <a:xfrm>
            <a:off x="3355848" y="2688336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4562856" y="2450592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4791456" y="2560320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9" name="Google Shape;499;p1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55830" y="2624694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500" name="Google Shape;500;p14"/>
          <p:cNvSpPr/>
          <p:nvPr/>
        </p:nvSpPr>
        <p:spPr>
          <a:xfrm>
            <a:off x="5477256" y="2688336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6684264" y="2450592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4"/>
          <p:cNvSpPr/>
          <p:nvPr/>
        </p:nvSpPr>
        <p:spPr>
          <a:xfrm>
            <a:off x="6912864" y="2560320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" name="Google Shape;503;p1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77238" y="2624694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504" name="Google Shape;504;p14"/>
          <p:cNvSpPr/>
          <p:nvPr/>
        </p:nvSpPr>
        <p:spPr>
          <a:xfrm>
            <a:off x="7598664" y="2688336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Compras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320040" y="3621024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4"/>
          <p:cNvSpPr/>
          <p:nvPr/>
        </p:nvSpPr>
        <p:spPr>
          <a:xfrm>
            <a:off x="548640" y="373075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7" name="Google Shape;507;p1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3014" y="3795126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508" name="Google Shape;508;p14"/>
          <p:cNvSpPr/>
          <p:nvPr/>
        </p:nvSpPr>
        <p:spPr>
          <a:xfrm>
            <a:off x="1234440" y="3858768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Calidad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2441448" y="3621024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2670048" y="373075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1" name="Google Shape;511;p14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34422" y="3795126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512" name="Google Shape;512;p14"/>
          <p:cNvSpPr/>
          <p:nvPr/>
        </p:nvSpPr>
        <p:spPr>
          <a:xfrm>
            <a:off x="3355848" y="3858768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RR.HH.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4562856" y="3621024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4"/>
          <p:cNvSpPr/>
          <p:nvPr/>
        </p:nvSpPr>
        <p:spPr>
          <a:xfrm>
            <a:off x="4791456" y="373075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5" name="Google Shape;515;p14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855830" y="3795126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516" name="Google Shape;516;p14"/>
          <p:cNvSpPr/>
          <p:nvPr/>
        </p:nvSpPr>
        <p:spPr>
          <a:xfrm>
            <a:off x="5477256" y="3858768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6684264" y="3621024"/>
            <a:ext cx="1920240" cy="1024128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6912864" y="373075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9" name="Google Shape;519;p14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977238" y="3795126"/>
            <a:ext cx="453542" cy="453542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520" name="Google Shape;520;p14"/>
          <p:cNvSpPr/>
          <p:nvPr/>
        </p:nvSpPr>
        <p:spPr>
          <a:xfrm>
            <a:off x="7598664" y="3858768"/>
            <a:ext cx="9326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Soporte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Módulos: Finanzas y Contabilidad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Facturación CFDI 4.0, cuentas y estados financieros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320040" y="1143000"/>
            <a:ext cx="416052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320040" y="1143000"/>
            <a:ext cx="64008" cy="117043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466344" y="1289304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3" name="Google Shape;53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671" y="1345631"/>
            <a:ext cx="396850" cy="396850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534" name="Google Shape;534;p15"/>
          <p:cNvSpPr/>
          <p:nvPr/>
        </p:nvSpPr>
        <p:spPr>
          <a:xfrm>
            <a:off x="1124712" y="123444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Facturación CFDI 4.0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484632" y="1709928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Emisión y timbrado de facturas electrónicas directamente desde Odoo, cumpliendo con el SAT.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4727448" y="1143000"/>
            <a:ext cx="416052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4727448" y="1143000"/>
            <a:ext cx="64008" cy="117043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4873752" y="1289304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9" name="Google Shape;539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0079" y="1345631"/>
            <a:ext cx="396850" cy="396850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540" name="Google Shape;540;p15"/>
          <p:cNvSpPr/>
          <p:nvPr/>
        </p:nvSpPr>
        <p:spPr>
          <a:xfrm>
            <a:off x="5532120" y="123444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Conciliación bancaria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4892040" y="1709928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Importa movimientos bancarios y concilia automáticamente con tus registros contables.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320040" y="2441448"/>
            <a:ext cx="416052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320040" y="2441448"/>
            <a:ext cx="64008" cy="117043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466344" y="2587752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5" name="Google Shape;545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2671" y="2644079"/>
            <a:ext cx="396850" cy="396850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546" name="Google Shape;546;p15"/>
          <p:cNvSpPr/>
          <p:nvPr/>
        </p:nvSpPr>
        <p:spPr>
          <a:xfrm>
            <a:off x="1124712" y="253288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Estados financieros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484632" y="3008376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Balance general, estado de resultados y flujo de caja en tiempo real con un clic.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4727448" y="2441448"/>
            <a:ext cx="416052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4727448" y="2441448"/>
            <a:ext cx="64008" cy="117043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4873752" y="2587752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1" name="Google Shape;551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0079" y="2644079"/>
            <a:ext cx="396850" cy="396850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552" name="Google Shape;552;p15"/>
          <p:cNvSpPr/>
          <p:nvPr/>
        </p:nvSpPr>
        <p:spPr>
          <a:xfrm>
            <a:off x="5532120" y="253288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Cuentas por cobrar/pagar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4892040" y="3008376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 preciso de cartera de clientes y proveedores con alertas automáticas de vencimiento.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320040" y="3739896"/>
            <a:ext cx="416052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320040" y="3739896"/>
            <a:ext cx="64008" cy="117043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466344" y="388620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7" name="Google Shape;557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2671" y="3942527"/>
            <a:ext cx="396850" cy="396850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558" name="Google Shape;558;p15"/>
          <p:cNvSpPr/>
          <p:nvPr/>
        </p:nvSpPr>
        <p:spPr>
          <a:xfrm>
            <a:off x="1124712" y="3831336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Contabilidad multiempresa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484632" y="4306824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Gestiona varias empresas y monedas desde un solo sistema consolidado.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4727448" y="3739896"/>
            <a:ext cx="416052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5"/>
          <p:cNvSpPr/>
          <p:nvPr/>
        </p:nvSpPr>
        <p:spPr>
          <a:xfrm>
            <a:off x="4727448" y="3739896"/>
            <a:ext cx="64008" cy="117043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5"/>
          <p:cNvSpPr/>
          <p:nvPr/>
        </p:nvSpPr>
        <p:spPr>
          <a:xfrm>
            <a:off x="4873752" y="388620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3" name="Google Shape;563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30079" y="3942527"/>
            <a:ext cx="396850" cy="396850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564" name="Google Shape;564;p15"/>
          <p:cNvSpPr/>
          <p:nvPr/>
        </p:nvSpPr>
        <p:spPr>
          <a:xfrm>
            <a:off x="5532120" y="3831336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Reportes fiscales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4892040" y="4306824"/>
            <a:ext cx="38587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Declaraciones de IVA, DIOT y reportes SAT generados automáticamente.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5"/>
          <p:cNvSpPr/>
          <p:nvPr/>
        </p:nvSpPr>
        <p:spPr>
          <a:xfrm>
            <a:off x="457200" y="46908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Compatible con CFDI 4.0  ·  ✓ Complementos de pago  ·  ✓ Carta porte  ·  ✓ Localización mexicana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Módulos: CRM y Ventas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Gestiona prospectos, cotizaciones y pedidos en un solo lugar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3794760" y="1115568"/>
            <a:ext cx="2286000" cy="62179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3794760" y="1115568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Prospecto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3941064" y="1847088"/>
            <a:ext cx="1993392" cy="62179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3941064" y="1847088"/>
            <a:ext cx="19933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Calificado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4091940" y="2578608"/>
            <a:ext cx="1691640" cy="62179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4091940" y="2578608"/>
            <a:ext cx="16916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4242816" y="3310128"/>
            <a:ext cx="1389888" cy="62179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4242816" y="3310128"/>
            <a:ext cx="13898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Negociación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4389120" y="4041648"/>
            <a:ext cx="1097280" cy="621792"/>
          </a:xfrm>
          <a:prstGeom prst="rect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4389120" y="4041648"/>
            <a:ext cx="10972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Ganado 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301752" y="12161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8" name="Google Shape;588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97" y="1258397"/>
            <a:ext cx="297637" cy="297637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589" name="Google Shape;589;p16"/>
          <p:cNvSpPr/>
          <p:nvPr/>
        </p:nvSpPr>
        <p:spPr>
          <a:xfrm>
            <a:off x="777240" y="1207008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Seguimiento automático de oportunidades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301752" y="188366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1" name="Google Shape;591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97" y="1925909"/>
            <a:ext cx="297637" cy="297637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592" name="Google Shape;592;p16"/>
          <p:cNvSpPr/>
          <p:nvPr/>
        </p:nvSpPr>
        <p:spPr>
          <a:xfrm>
            <a:off x="777240" y="18745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Cotizaciones con firma electrónica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301752" y="25511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4" name="Google Shape;594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97" y="2593421"/>
            <a:ext cx="297637" cy="297637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595" name="Google Shape;595;p16"/>
          <p:cNvSpPr/>
          <p:nvPr/>
        </p:nvSpPr>
        <p:spPr>
          <a:xfrm>
            <a:off x="777240" y="2542032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Integración con WhatsApp y correo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301752" y="321868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7" name="Google Shape;597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97" y="3260933"/>
            <a:ext cx="297637" cy="297637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598" name="Google Shape;598;p16"/>
          <p:cNvSpPr/>
          <p:nvPr/>
        </p:nvSpPr>
        <p:spPr>
          <a:xfrm>
            <a:off x="777240" y="3209544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Dashboard de pipeline en tiempo real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301752" y="388620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0" name="Google Shape;600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97" y="3928445"/>
            <a:ext cx="297637" cy="297637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01" name="Google Shape;601;p16"/>
          <p:cNvSpPr/>
          <p:nvPr/>
        </p:nvSpPr>
        <p:spPr>
          <a:xfrm>
            <a:off x="777240" y="3877056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Pronóstico de ventas con 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6"/>
          <p:cNvSpPr/>
          <p:nvPr/>
        </p:nvSpPr>
        <p:spPr>
          <a:xfrm>
            <a:off x="320040" y="4572000"/>
            <a:ext cx="850392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6"/>
          <p:cNvSpPr/>
          <p:nvPr/>
        </p:nvSpPr>
        <p:spPr>
          <a:xfrm>
            <a:off x="457200" y="459943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Desde el primer contacto hasta la factura · todo en un solo sistema sin cambiar de herramienta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7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Nuestros Servicios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Soluciones completas para cada etapa de tu negocio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274320" y="1161288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274320" y="1161288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17"/>
          <p:cNvSpPr/>
          <p:nvPr/>
        </p:nvSpPr>
        <p:spPr>
          <a:xfrm>
            <a:off x="365760" y="1307592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7" name="Google Shape;617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087" y="1363919"/>
            <a:ext cx="396850" cy="396850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18" name="Google Shape;618;p17"/>
          <p:cNvSpPr/>
          <p:nvPr/>
        </p:nvSpPr>
        <p:spPr>
          <a:xfrm>
            <a:off x="1005840" y="1316736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Implementación Odoo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384048" y="1938528"/>
            <a:ext cx="254203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Configuración completa y personalizada. Análisis de procesos, configuración y capacitación en sitio.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3218688" y="1161288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7"/>
          <p:cNvSpPr/>
          <p:nvPr/>
        </p:nvSpPr>
        <p:spPr>
          <a:xfrm>
            <a:off x="3218688" y="1161288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3310128" y="1307592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3" name="Google Shape;623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6455" y="1363919"/>
            <a:ext cx="396850" cy="396850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624" name="Google Shape;624;p17"/>
          <p:cNvSpPr/>
          <p:nvPr/>
        </p:nvSpPr>
        <p:spPr>
          <a:xfrm>
            <a:off x="3950208" y="1316736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Desarrollo a Medida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3328416" y="1938528"/>
            <a:ext cx="254203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Módulos personalizados, reportes custom e integraciones sin restricciones. +100 desarrollos.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6163056" y="1161288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7"/>
          <p:cNvSpPr/>
          <p:nvPr/>
        </p:nvSpPr>
        <p:spPr>
          <a:xfrm>
            <a:off x="6163056" y="1161288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7"/>
          <p:cNvSpPr/>
          <p:nvPr/>
        </p:nvSpPr>
        <p:spPr>
          <a:xfrm>
            <a:off x="6254496" y="1307592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9" name="Google Shape;629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0823" y="1363919"/>
            <a:ext cx="396850" cy="396850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30" name="Google Shape;630;p17"/>
          <p:cNvSpPr/>
          <p:nvPr/>
        </p:nvSpPr>
        <p:spPr>
          <a:xfrm>
            <a:off x="6894576" y="1316736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6272784" y="1938528"/>
            <a:ext cx="254203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Tienda Odoo o integración externa con sincronización automática de inventario y pasarelas de pago.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274320" y="306324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274320" y="3063240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365760" y="3209544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5" name="Google Shape;635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2087" y="3265871"/>
            <a:ext cx="396850" cy="396850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636" name="Google Shape;636;p17"/>
          <p:cNvSpPr/>
          <p:nvPr/>
        </p:nvSpPr>
        <p:spPr>
          <a:xfrm>
            <a:off x="1005840" y="321868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Consultoría ERP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384048" y="3840480"/>
            <a:ext cx="254203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Diagnóstico de procesos, propuesta de arquitectura y optimización de tu sistema Odoo actual.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7"/>
          <p:cNvSpPr/>
          <p:nvPr/>
        </p:nvSpPr>
        <p:spPr>
          <a:xfrm>
            <a:off x="3218688" y="306324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7"/>
          <p:cNvSpPr/>
          <p:nvPr/>
        </p:nvSpPr>
        <p:spPr>
          <a:xfrm>
            <a:off x="3218688" y="3063240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7"/>
          <p:cNvSpPr/>
          <p:nvPr/>
        </p:nvSpPr>
        <p:spPr>
          <a:xfrm>
            <a:off x="3310128" y="3209544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1" name="Google Shape;641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66455" y="3265871"/>
            <a:ext cx="396850" cy="396850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42" name="Google Shape;642;p17"/>
          <p:cNvSpPr/>
          <p:nvPr/>
        </p:nvSpPr>
        <p:spPr>
          <a:xfrm>
            <a:off x="3950208" y="321868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Soporte Continuo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3328416" y="3840480"/>
            <a:ext cx="254203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Pólizas mensuales flexibles. Atención vía WhatsApp, correo y videollamada. Respuesta garantizada.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6163056" y="306324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7"/>
          <p:cNvSpPr/>
          <p:nvPr/>
        </p:nvSpPr>
        <p:spPr>
          <a:xfrm>
            <a:off x="6163056" y="3063240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7"/>
          <p:cNvSpPr/>
          <p:nvPr/>
        </p:nvSpPr>
        <p:spPr>
          <a:xfrm>
            <a:off x="6254496" y="3209544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7" name="Google Shape;647;p1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10823" y="3265871"/>
            <a:ext cx="396850" cy="396850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648" name="Google Shape;648;p17"/>
          <p:cNvSpPr/>
          <p:nvPr/>
        </p:nvSpPr>
        <p:spPr>
          <a:xfrm>
            <a:off x="6894576" y="321868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Marketing Automatizado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6272784" y="3840480"/>
            <a:ext cx="254203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Campañas automáticas, recuperación de carritos y fidelización desde tu ERP Odoo.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8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8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Servicio: Implementación Odoo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Lo que incluye cada implementación con Sunname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320040" y="1143000"/>
            <a:ext cx="416052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8"/>
          <p:cNvSpPr/>
          <p:nvPr/>
        </p:nvSpPr>
        <p:spPr>
          <a:xfrm>
            <a:off x="320040" y="1143000"/>
            <a:ext cx="64008" cy="11155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8"/>
          <p:cNvSpPr/>
          <p:nvPr/>
        </p:nvSpPr>
        <p:spPr>
          <a:xfrm>
            <a:off x="475488" y="1271016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2" name="Google Shape;662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803" y="1325331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63" name="Google Shape;663;p18"/>
          <p:cNvSpPr/>
          <p:nvPr/>
        </p:nvSpPr>
        <p:spPr>
          <a:xfrm>
            <a:off x="1088136" y="1234440"/>
            <a:ext cx="32735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Levantamiento de procesos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484632" y="1673352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Análisis profundo de tu operación en sesiones de trabajo conjunto presenciales o remotas.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4727448" y="1143000"/>
            <a:ext cx="416052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8"/>
          <p:cNvSpPr/>
          <p:nvPr/>
        </p:nvSpPr>
        <p:spPr>
          <a:xfrm>
            <a:off x="4727448" y="1143000"/>
            <a:ext cx="64008" cy="11155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8"/>
          <p:cNvSpPr/>
          <p:nvPr/>
        </p:nvSpPr>
        <p:spPr>
          <a:xfrm>
            <a:off x="4882896" y="1271016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8" name="Google Shape;668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211" y="1325331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69" name="Google Shape;669;p18"/>
          <p:cNvSpPr/>
          <p:nvPr/>
        </p:nvSpPr>
        <p:spPr>
          <a:xfrm>
            <a:off x="5495544" y="1234440"/>
            <a:ext cx="32735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Configuración personalizada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4892040" y="1673352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Configuramos Odoo exactamente como lo necesitas, sin módulos genéricos ni configuraciones estándar.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8"/>
          <p:cNvSpPr/>
          <p:nvPr/>
        </p:nvSpPr>
        <p:spPr>
          <a:xfrm>
            <a:off x="320040" y="2404872"/>
            <a:ext cx="416052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8"/>
          <p:cNvSpPr/>
          <p:nvPr/>
        </p:nvSpPr>
        <p:spPr>
          <a:xfrm>
            <a:off x="320040" y="2404872"/>
            <a:ext cx="64008" cy="11155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8"/>
          <p:cNvSpPr/>
          <p:nvPr/>
        </p:nvSpPr>
        <p:spPr>
          <a:xfrm>
            <a:off x="475488" y="253288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4" name="Google Shape;674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9803" y="2587203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75" name="Google Shape;675;p18"/>
          <p:cNvSpPr/>
          <p:nvPr/>
        </p:nvSpPr>
        <p:spPr>
          <a:xfrm>
            <a:off x="1088136" y="2496312"/>
            <a:ext cx="32735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Migración de datos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8"/>
          <p:cNvSpPr/>
          <p:nvPr/>
        </p:nvSpPr>
        <p:spPr>
          <a:xfrm>
            <a:off x="484632" y="2935224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Transferimos clientes, productos, inventario e historial desde tu sistema actual de forma segura.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4727448" y="2404872"/>
            <a:ext cx="416052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8"/>
          <p:cNvSpPr/>
          <p:nvPr/>
        </p:nvSpPr>
        <p:spPr>
          <a:xfrm>
            <a:off x="4727448" y="2404872"/>
            <a:ext cx="64008" cy="11155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8"/>
          <p:cNvSpPr/>
          <p:nvPr/>
        </p:nvSpPr>
        <p:spPr>
          <a:xfrm>
            <a:off x="4882896" y="253288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0" name="Google Shape;680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211" y="2587203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81" name="Google Shape;681;p18"/>
          <p:cNvSpPr/>
          <p:nvPr/>
        </p:nvSpPr>
        <p:spPr>
          <a:xfrm>
            <a:off x="5495544" y="2496312"/>
            <a:ext cx="32735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Capacitación del equipo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4892040" y="2935224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Entrenamiento práctico a todos los usuarios en el sistema ya configurado para tu empresa.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/>
          <p:nvPr/>
        </p:nvSpPr>
        <p:spPr>
          <a:xfrm>
            <a:off x="320040" y="3666744"/>
            <a:ext cx="416052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8"/>
          <p:cNvSpPr/>
          <p:nvPr/>
        </p:nvSpPr>
        <p:spPr>
          <a:xfrm>
            <a:off x="320040" y="3666744"/>
            <a:ext cx="64008" cy="11155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8"/>
          <p:cNvSpPr/>
          <p:nvPr/>
        </p:nvSpPr>
        <p:spPr>
          <a:xfrm>
            <a:off x="475488" y="3794760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6" name="Google Shape;686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9803" y="3849075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87" name="Google Shape;687;p18"/>
          <p:cNvSpPr/>
          <p:nvPr/>
        </p:nvSpPr>
        <p:spPr>
          <a:xfrm>
            <a:off x="1088136" y="3758184"/>
            <a:ext cx="32735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Arranque supervisado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484632" y="4197096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Acompañamiento presencial o remoto durante el go-live para garantizar una transición sin problemas.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4727448" y="3666744"/>
            <a:ext cx="416052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8"/>
          <p:cNvSpPr/>
          <p:nvPr/>
        </p:nvSpPr>
        <p:spPr>
          <a:xfrm>
            <a:off x="4727448" y="3666744"/>
            <a:ext cx="64008" cy="11155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8"/>
          <p:cNvSpPr/>
          <p:nvPr/>
        </p:nvSpPr>
        <p:spPr>
          <a:xfrm>
            <a:off x="4882896" y="3794760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2" name="Google Shape;692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37211" y="3849075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693" name="Google Shape;693;p18"/>
          <p:cNvSpPr/>
          <p:nvPr/>
        </p:nvSpPr>
        <p:spPr>
          <a:xfrm>
            <a:off x="5495544" y="3758184"/>
            <a:ext cx="32735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Soporte post-arranque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4892040" y="4197096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15-30 días de soporte incluido sin costo adicional para resolver dudas y ajustes finos.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Garantía de implementación  ·  ✓ Acompañamiento en sitio  ·  ✓ Proyectos ágiles 3-6 meses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19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9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Servicio: Desarrollo a Medida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9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Cuando Odoo estándar no es suficiente, lo hacemos nosotros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9"/>
          <p:cNvSpPr/>
          <p:nvPr/>
        </p:nvSpPr>
        <p:spPr>
          <a:xfrm>
            <a:off x="320040" y="1170432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¿Necesitas algo que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Odoo no hace por defecto?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9"/>
          <p:cNvSpPr/>
          <p:nvPr/>
        </p:nvSpPr>
        <p:spPr>
          <a:xfrm>
            <a:off x="320040" y="1874520"/>
            <a:ext cx="1097280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9"/>
          <p:cNvSpPr/>
          <p:nvPr/>
        </p:nvSpPr>
        <p:spPr>
          <a:xfrm>
            <a:off x="320040" y="2011680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 desarrollamos. +100 desarrollos personalizados entregados. Desde reportes hasta módulos completos adaptados a tu operación.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9"/>
          <p:cNvSpPr/>
          <p:nvPr/>
        </p:nvSpPr>
        <p:spPr>
          <a:xfrm>
            <a:off x="320040" y="2944368"/>
            <a:ext cx="4114800" cy="1810512"/>
          </a:xfrm>
          <a:prstGeom prst="rect">
            <a:avLst/>
          </a:prstGeom>
          <a:solidFill>
            <a:srgbClr val="EEF3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9"/>
          <p:cNvSpPr/>
          <p:nvPr/>
        </p:nvSpPr>
        <p:spPr>
          <a:xfrm>
            <a:off x="320040" y="2944368"/>
            <a:ext cx="41148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9"/>
          <p:cNvSpPr/>
          <p:nvPr/>
        </p:nvSpPr>
        <p:spPr>
          <a:xfrm>
            <a:off x="457200" y="30175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¿Qué podemos desarrollar?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457200" y="340156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Reportes personalizados con tu formato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9"/>
          <p:cNvSpPr/>
          <p:nvPr/>
        </p:nvSpPr>
        <p:spPr>
          <a:xfrm>
            <a:off x="457200" y="365760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Módulos completamente nuevos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9"/>
          <p:cNvSpPr/>
          <p:nvPr/>
        </p:nvSpPr>
        <p:spPr>
          <a:xfrm>
            <a:off x="457200" y="391363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Integraciones con sistemas existentes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9"/>
          <p:cNvSpPr/>
          <p:nvPr/>
        </p:nvSpPr>
        <p:spPr>
          <a:xfrm>
            <a:off x="457200" y="416966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Automatizaciones de flujos de trabajo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9"/>
          <p:cNvSpPr/>
          <p:nvPr/>
        </p:nvSpPr>
        <p:spPr>
          <a:xfrm>
            <a:off x="457200" y="442569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• Desarrollos para normativas SAT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9"/>
          <p:cNvSpPr/>
          <p:nvPr/>
        </p:nvSpPr>
        <p:spPr>
          <a:xfrm>
            <a:off x="4663440" y="1170432"/>
            <a:ext cx="4160520" cy="822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9"/>
          <p:cNvSpPr/>
          <p:nvPr/>
        </p:nvSpPr>
        <p:spPr>
          <a:xfrm>
            <a:off x="4663440" y="1170432"/>
            <a:ext cx="416052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19"/>
          <p:cNvSpPr/>
          <p:nvPr/>
        </p:nvSpPr>
        <p:spPr>
          <a:xfrm>
            <a:off x="4654296" y="1261872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0" name="Google Shape;720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8611" y="1316187"/>
            <a:ext cx="382676" cy="382676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721" name="Google Shape;721;p19"/>
          <p:cNvSpPr/>
          <p:nvPr/>
        </p:nvSpPr>
        <p:spPr>
          <a:xfrm>
            <a:off x="5257800" y="126187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Reportes a medida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9"/>
          <p:cNvSpPr/>
          <p:nvPr/>
        </p:nvSpPr>
        <p:spPr>
          <a:xfrm>
            <a:off x="4773168" y="167335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Reportes de producción, costos, KPIs adaptados al formato exacto de tu empresa.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9"/>
          <p:cNvSpPr/>
          <p:nvPr/>
        </p:nvSpPr>
        <p:spPr>
          <a:xfrm>
            <a:off x="4663440" y="2130552"/>
            <a:ext cx="4160520" cy="822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19"/>
          <p:cNvSpPr/>
          <p:nvPr/>
        </p:nvSpPr>
        <p:spPr>
          <a:xfrm>
            <a:off x="4663440" y="2130552"/>
            <a:ext cx="416052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4654296" y="2221992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6" name="Google Shape;726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8611" y="2276307"/>
            <a:ext cx="382676" cy="382676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727" name="Google Shape;727;p19"/>
          <p:cNvSpPr/>
          <p:nvPr/>
        </p:nvSpPr>
        <p:spPr>
          <a:xfrm>
            <a:off x="5257800" y="222199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Módulos custom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9"/>
          <p:cNvSpPr/>
          <p:nvPr/>
        </p:nvSpPr>
        <p:spPr>
          <a:xfrm>
            <a:off x="4773168" y="26334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Funcionalidades únicas de tu industria que no existen en Odoo estándar.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9"/>
          <p:cNvSpPr/>
          <p:nvPr/>
        </p:nvSpPr>
        <p:spPr>
          <a:xfrm>
            <a:off x="4663440" y="3090672"/>
            <a:ext cx="4160520" cy="822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9"/>
          <p:cNvSpPr/>
          <p:nvPr/>
        </p:nvSpPr>
        <p:spPr>
          <a:xfrm>
            <a:off x="4663440" y="3090672"/>
            <a:ext cx="416052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19"/>
          <p:cNvSpPr/>
          <p:nvPr/>
        </p:nvSpPr>
        <p:spPr>
          <a:xfrm>
            <a:off x="4654296" y="3182112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2" name="Google Shape;732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8611" y="3236427"/>
            <a:ext cx="382676" cy="382676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733" name="Google Shape;733;p19"/>
          <p:cNvSpPr/>
          <p:nvPr/>
        </p:nvSpPr>
        <p:spPr>
          <a:xfrm>
            <a:off x="5257800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Integraciones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9"/>
          <p:cNvSpPr/>
          <p:nvPr/>
        </p:nvSpPr>
        <p:spPr>
          <a:xfrm>
            <a:off x="4773168" y="359359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Conecta Odoo con tu sistema anterior, maquinaria o APIs externas.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/>
          <p:nvPr/>
        </p:nvSpPr>
        <p:spPr>
          <a:xfrm>
            <a:off x="4663440" y="4050792"/>
            <a:ext cx="4160520" cy="822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9"/>
          <p:cNvSpPr/>
          <p:nvPr/>
        </p:nvSpPr>
        <p:spPr>
          <a:xfrm>
            <a:off x="4663440" y="4050792"/>
            <a:ext cx="416052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9"/>
          <p:cNvSpPr/>
          <p:nvPr/>
        </p:nvSpPr>
        <p:spPr>
          <a:xfrm>
            <a:off x="4654296" y="4142232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8" name="Google Shape;738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08611" y="4196547"/>
            <a:ext cx="382676" cy="382676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739" name="Google Shape;739;p19"/>
          <p:cNvSpPr/>
          <p:nvPr/>
        </p:nvSpPr>
        <p:spPr>
          <a:xfrm>
            <a:off x="5257800" y="414223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Automatizaciones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4773168" y="455371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Elimina tareas manuales repetitivas con flujos automáticos a tu medida.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+100 desarrollos entregados  ·  Sin restricciones  ·  Con soporte y documentación incluida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0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2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Servicio: E-commerce con Odoo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0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Vende en línea con tu inventario siempre sincronizado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0"/>
          <p:cNvSpPr/>
          <p:nvPr/>
        </p:nvSpPr>
        <p:spPr>
          <a:xfrm>
            <a:off x="320040" y="117043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Tu tienda en línea conectada directamente a tu ERP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0"/>
          <p:cNvSpPr/>
          <p:nvPr/>
        </p:nvSpPr>
        <p:spPr>
          <a:xfrm>
            <a:off x="3474720" y="1691640"/>
            <a:ext cx="2194560" cy="3657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0"/>
          <p:cNvSpPr/>
          <p:nvPr/>
        </p:nvSpPr>
        <p:spPr>
          <a:xfrm>
            <a:off x="320040" y="1901952"/>
            <a:ext cx="274320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0"/>
          <p:cNvSpPr/>
          <p:nvPr/>
        </p:nvSpPr>
        <p:spPr>
          <a:xfrm>
            <a:off x="320040" y="1901952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0"/>
          <p:cNvSpPr/>
          <p:nvPr/>
        </p:nvSpPr>
        <p:spPr>
          <a:xfrm>
            <a:off x="420624" y="2002536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7" name="Google Shape;757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939" y="2056851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758" name="Google Shape;758;p20"/>
          <p:cNvSpPr/>
          <p:nvPr/>
        </p:nvSpPr>
        <p:spPr>
          <a:xfrm>
            <a:off x="1051560" y="199339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Tienda Odoo nativa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0"/>
          <p:cNvSpPr/>
          <p:nvPr/>
        </p:nvSpPr>
        <p:spPr>
          <a:xfrm>
            <a:off x="429768" y="2487168"/>
            <a:ext cx="2542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Tu e-commerce dentro del mismo ERP. Sin integraciones externas ni sincronización manual.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3264408" y="1901952"/>
            <a:ext cx="274320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20"/>
          <p:cNvSpPr/>
          <p:nvPr/>
        </p:nvSpPr>
        <p:spPr>
          <a:xfrm>
            <a:off x="3264408" y="1901952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0"/>
          <p:cNvSpPr/>
          <p:nvPr/>
        </p:nvSpPr>
        <p:spPr>
          <a:xfrm>
            <a:off x="3364992" y="2002536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3" name="Google Shape;763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9307" y="2056851"/>
            <a:ext cx="382676" cy="382676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764" name="Google Shape;764;p20"/>
          <p:cNvSpPr/>
          <p:nvPr/>
        </p:nvSpPr>
        <p:spPr>
          <a:xfrm>
            <a:off x="3995928" y="199339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Integración externa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3374136" y="2487168"/>
            <a:ext cx="2542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Conecta tu tienda WooCommerce, Shopify u otra con Odoo para sincronización automática.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0"/>
          <p:cNvSpPr/>
          <p:nvPr/>
        </p:nvSpPr>
        <p:spPr>
          <a:xfrm>
            <a:off x="6208776" y="1901952"/>
            <a:ext cx="274320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0"/>
          <p:cNvSpPr/>
          <p:nvPr/>
        </p:nvSpPr>
        <p:spPr>
          <a:xfrm>
            <a:off x="6208776" y="1901952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20"/>
          <p:cNvSpPr/>
          <p:nvPr/>
        </p:nvSpPr>
        <p:spPr>
          <a:xfrm>
            <a:off x="6309360" y="2002536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9" name="Google Shape;769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3675" y="2056851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770" name="Google Shape;770;p20"/>
          <p:cNvSpPr/>
          <p:nvPr/>
        </p:nvSpPr>
        <p:spPr>
          <a:xfrm>
            <a:off x="6940296" y="199339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Inventario en tiempo real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6318504" y="2487168"/>
            <a:ext cx="2542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Stock actualizado en segundos. Sin quiebres de inventario ni sobreventa.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320040" y="3346704"/>
            <a:ext cx="274320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320040" y="3346704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0"/>
          <p:cNvSpPr/>
          <p:nvPr/>
        </p:nvSpPr>
        <p:spPr>
          <a:xfrm>
            <a:off x="420624" y="344728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5" name="Google Shape;775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4939" y="3501603"/>
            <a:ext cx="382676" cy="382676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776" name="Google Shape;776;p20"/>
          <p:cNvSpPr/>
          <p:nvPr/>
        </p:nvSpPr>
        <p:spPr>
          <a:xfrm>
            <a:off x="1051560" y="343814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Pasarelas de pago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429768" y="3931920"/>
            <a:ext cx="2542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Integración con Conekta, PayPal, Stripe, Mercado Pago y más.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3264408" y="3346704"/>
            <a:ext cx="274320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0"/>
          <p:cNvSpPr/>
          <p:nvPr/>
        </p:nvSpPr>
        <p:spPr>
          <a:xfrm>
            <a:off x="3264408" y="3346704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0"/>
          <p:cNvSpPr/>
          <p:nvPr/>
        </p:nvSpPr>
        <p:spPr>
          <a:xfrm>
            <a:off x="3364992" y="344728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1" name="Google Shape;781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19307" y="3501603"/>
            <a:ext cx="382676" cy="382676"/>
          </a:xfrm>
          <a:prstGeom prst="rect">
            <a:avLst/>
          </a:prstGeom>
          <a:solidFill>
            <a:srgbClr val="263980"/>
          </a:solidFill>
          <a:ln w="57150">
            <a:solidFill>
              <a:srgbClr val="263980"/>
            </a:solidFill>
          </a:ln>
        </p:spPr>
      </p:pic>
      <p:sp>
        <p:nvSpPr>
          <p:cNvPr id="782" name="Google Shape;782;p20"/>
          <p:cNvSpPr/>
          <p:nvPr/>
        </p:nvSpPr>
        <p:spPr>
          <a:xfrm>
            <a:off x="3995928" y="343814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Carga masiva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3374136" y="3931920"/>
            <a:ext cx="2542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 scraping y carga de miles de productos de forma automatizada.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6208776" y="3346704"/>
            <a:ext cx="274320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20"/>
          <p:cNvSpPr/>
          <p:nvPr/>
        </p:nvSpPr>
        <p:spPr>
          <a:xfrm>
            <a:off x="6208776" y="3346704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20"/>
          <p:cNvSpPr/>
          <p:nvPr/>
        </p:nvSpPr>
        <p:spPr>
          <a:xfrm>
            <a:off x="6309360" y="3447288"/>
            <a:ext cx="493776" cy="4937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7" name="Google Shape;787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3675" y="3501603"/>
            <a:ext cx="382676" cy="382676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788" name="Google Shape;788;p20"/>
          <p:cNvSpPr/>
          <p:nvPr/>
        </p:nvSpPr>
        <p:spPr>
          <a:xfrm>
            <a:off x="6940296" y="343814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Análisis de ventas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6318504" y="3931920"/>
            <a:ext cx="2542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Reportes por producto, categoría, vendedor y período directamente en Odoo.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2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2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2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Servicio: Soporte Técnico Continuo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1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Tu negocio no se detiene, nosotros tampoco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1"/>
          <p:cNvSpPr/>
          <p:nvPr/>
        </p:nvSpPr>
        <p:spPr>
          <a:xfrm>
            <a:off x="320040" y="1298448"/>
            <a:ext cx="2670048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21"/>
          <p:cNvSpPr/>
          <p:nvPr/>
        </p:nvSpPr>
        <p:spPr>
          <a:xfrm>
            <a:off x="320040" y="1298448"/>
            <a:ext cx="2670048" cy="5943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21"/>
          <p:cNvSpPr/>
          <p:nvPr/>
        </p:nvSpPr>
        <p:spPr>
          <a:xfrm>
            <a:off x="320040" y="1444752"/>
            <a:ext cx="26700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Básico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1"/>
          <p:cNvSpPr/>
          <p:nvPr/>
        </p:nvSpPr>
        <p:spPr>
          <a:xfrm>
            <a:off x="429768" y="19019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Para empresas con Odoo estable que necesitan soporte reactivo.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1"/>
          <p:cNvSpPr/>
          <p:nvPr/>
        </p:nvSpPr>
        <p:spPr>
          <a:xfrm>
            <a:off x="1371600" y="2450592"/>
            <a:ext cx="566928" cy="3657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21"/>
          <p:cNvSpPr/>
          <p:nvPr/>
        </p:nvSpPr>
        <p:spPr>
          <a:xfrm>
            <a:off x="457200" y="255117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5 horas mensuales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1"/>
          <p:cNvSpPr/>
          <p:nvPr/>
        </p:nvSpPr>
        <p:spPr>
          <a:xfrm>
            <a:off x="457200" y="294436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Atención por correo y WhatsApp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1"/>
          <p:cNvSpPr/>
          <p:nvPr/>
        </p:nvSpPr>
        <p:spPr>
          <a:xfrm>
            <a:off x="457200" y="33375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Tiempo de respuesta: 8 hrs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1"/>
          <p:cNvSpPr/>
          <p:nvPr/>
        </p:nvSpPr>
        <p:spPr>
          <a:xfrm>
            <a:off x="457200" y="37307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Actualizaciones de seguridad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1"/>
          <p:cNvSpPr/>
          <p:nvPr/>
        </p:nvSpPr>
        <p:spPr>
          <a:xfrm>
            <a:off x="457200" y="4123944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Respaldo mensual de BD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1"/>
          <p:cNvSpPr/>
          <p:nvPr/>
        </p:nvSpPr>
        <p:spPr>
          <a:xfrm>
            <a:off x="3172968" y="1078992"/>
            <a:ext cx="2816352" cy="3840480"/>
          </a:xfrm>
          <a:prstGeom prst="rect">
            <a:avLst/>
          </a:prstGeom>
          <a:solidFill>
            <a:srgbClr val="263980"/>
          </a:solidFill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21"/>
          <p:cNvSpPr/>
          <p:nvPr/>
        </p:nvSpPr>
        <p:spPr>
          <a:xfrm>
            <a:off x="3794760" y="1078992"/>
            <a:ext cx="1554480" cy="25603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21"/>
          <p:cNvSpPr/>
          <p:nvPr/>
        </p:nvSpPr>
        <p:spPr>
          <a:xfrm>
            <a:off x="3794760" y="107899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MÁS POPULAR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1"/>
          <p:cNvSpPr/>
          <p:nvPr/>
        </p:nvSpPr>
        <p:spPr>
          <a:xfrm>
            <a:off x="3246120" y="1170432"/>
            <a:ext cx="2670048" cy="365760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1"/>
          <p:cNvSpPr/>
          <p:nvPr/>
        </p:nvSpPr>
        <p:spPr>
          <a:xfrm>
            <a:off x="3246120" y="1170432"/>
            <a:ext cx="2670048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21"/>
          <p:cNvSpPr/>
          <p:nvPr/>
        </p:nvSpPr>
        <p:spPr>
          <a:xfrm>
            <a:off x="3246120" y="1298448"/>
            <a:ext cx="26700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Estándar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1"/>
          <p:cNvSpPr/>
          <p:nvPr/>
        </p:nvSpPr>
        <p:spPr>
          <a:xfrm>
            <a:off x="3355848" y="175564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El plan más popular para equipos que crecen con Odoo.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1"/>
          <p:cNvSpPr/>
          <p:nvPr/>
        </p:nvSpPr>
        <p:spPr>
          <a:xfrm>
            <a:off x="4297680" y="2304288"/>
            <a:ext cx="566928" cy="3657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1"/>
          <p:cNvSpPr/>
          <p:nvPr/>
        </p:nvSpPr>
        <p:spPr>
          <a:xfrm>
            <a:off x="3383280" y="240487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15 horas mensuales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1"/>
          <p:cNvSpPr/>
          <p:nvPr/>
        </p:nvSpPr>
        <p:spPr>
          <a:xfrm>
            <a:off x="3383280" y="2798064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WhatsApp, correo y videollamada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1"/>
          <p:cNvSpPr/>
          <p:nvPr/>
        </p:nvSpPr>
        <p:spPr>
          <a:xfrm>
            <a:off x="3383280" y="31912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Tiempo de respuesta: 4 hrs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1"/>
          <p:cNvSpPr/>
          <p:nvPr/>
        </p:nvSpPr>
        <p:spPr>
          <a:xfrm>
            <a:off x="3383280" y="358444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Mejoras continuas incluidas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1"/>
          <p:cNvSpPr/>
          <p:nvPr/>
        </p:nvSpPr>
        <p:spPr>
          <a:xfrm>
            <a:off x="3383280" y="397764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Respaldo semanal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1"/>
          <p:cNvSpPr/>
          <p:nvPr/>
        </p:nvSpPr>
        <p:spPr>
          <a:xfrm>
            <a:off x="3383280" y="437083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Informe mensual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1"/>
          <p:cNvSpPr/>
          <p:nvPr/>
        </p:nvSpPr>
        <p:spPr>
          <a:xfrm>
            <a:off x="6172200" y="1298448"/>
            <a:ext cx="2670048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21"/>
          <p:cNvSpPr/>
          <p:nvPr/>
        </p:nvSpPr>
        <p:spPr>
          <a:xfrm>
            <a:off x="6172200" y="1298448"/>
            <a:ext cx="2670048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1"/>
          <p:cNvSpPr/>
          <p:nvPr/>
        </p:nvSpPr>
        <p:spPr>
          <a:xfrm>
            <a:off x="6172200" y="1444752"/>
            <a:ext cx="26700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1"/>
          <p:cNvSpPr/>
          <p:nvPr/>
        </p:nvSpPr>
        <p:spPr>
          <a:xfrm>
            <a:off x="6281928" y="19019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Para operaciones críticas que requieren disponibilidad máxima.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1"/>
          <p:cNvSpPr/>
          <p:nvPr/>
        </p:nvSpPr>
        <p:spPr>
          <a:xfrm>
            <a:off x="7223760" y="2450592"/>
            <a:ext cx="566928" cy="3657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21"/>
          <p:cNvSpPr/>
          <p:nvPr/>
        </p:nvSpPr>
        <p:spPr>
          <a:xfrm>
            <a:off x="6309360" y="255117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Horas ilimitadas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1"/>
          <p:cNvSpPr/>
          <p:nvPr/>
        </p:nvSpPr>
        <p:spPr>
          <a:xfrm>
            <a:off x="6309360" y="294436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Atención prioritaria 24/7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1"/>
          <p:cNvSpPr/>
          <p:nvPr/>
        </p:nvSpPr>
        <p:spPr>
          <a:xfrm>
            <a:off x="6309360" y="33375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Tiempo de respuesta: 2 hrs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1"/>
          <p:cNvSpPr/>
          <p:nvPr/>
        </p:nvSpPr>
        <p:spPr>
          <a:xfrm>
            <a:off x="6309360" y="37307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Desarrollo de mejoras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1"/>
          <p:cNvSpPr/>
          <p:nvPr/>
        </p:nvSpPr>
        <p:spPr>
          <a:xfrm>
            <a:off x="6309360" y="4123944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Capacitación mensual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1"/>
          <p:cNvSpPr/>
          <p:nvPr/>
        </p:nvSpPr>
        <p:spPr>
          <a:xfrm>
            <a:off x="6309360" y="451713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✓  Gestor de cuenta dedicado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 clara, sin sorpresas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2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En 4 pasos llevamos tu operación a un ERP totalmente funcional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" name="Google Shape;843;p22"/>
          <p:cNvCxnSpPr/>
          <p:nvPr/>
        </p:nvCxnSpPr>
        <p:spPr>
          <a:xfrm>
            <a:off x="1188720" y="2212848"/>
            <a:ext cx="6766560" cy="0"/>
          </a:xfrm>
          <a:prstGeom prst="straightConnector1">
            <a:avLst/>
          </a:prstGeom>
          <a:noFill/>
          <a:ln w="31750" cap="flat" cmpd="sng">
            <a:solidFill>
              <a:srgbClr val="46C2CE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44" name="Google Shape;844;p22"/>
          <p:cNvSpPr/>
          <p:nvPr/>
        </p:nvSpPr>
        <p:spPr>
          <a:xfrm>
            <a:off x="868680" y="123444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5" name="Google Shape;845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322" y="1345082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846" name="Google Shape;846;p22"/>
          <p:cNvSpPr/>
          <p:nvPr/>
        </p:nvSpPr>
        <p:spPr>
          <a:xfrm>
            <a:off x="1947672" y="12344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2"/>
          <p:cNvSpPr/>
          <p:nvPr/>
        </p:nvSpPr>
        <p:spPr>
          <a:xfrm>
            <a:off x="1947672" y="1234440"/>
            <a:ext cx="36576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2"/>
          <p:cNvSpPr/>
          <p:nvPr/>
        </p:nvSpPr>
        <p:spPr>
          <a:xfrm>
            <a:off x="411480" y="2907792"/>
            <a:ext cx="1920240" cy="1965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22"/>
          <p:cNvSpPr/>
          <p:nvPr/>
        </p:nvSpPr>
        <p:spPr>
          <a:xfrm>
            <a:off x="411480" y="2907792"/>
            <a:ext cx="192024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22"/>
          <p:cNvSpPr/>
          <p:nvPr/>
        </p:nvSpPr>
        <p:spPr>
          <a:xfrm>
            <a:off x="502920" y="304495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Demo y diagnóstico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2"/>
          <p:cNvSpPr/>
          <p:nvPr/>
        </p:nvSpPr>
        <p:spPr>
          <a:xfrm>
            <a:off x="502920" y="356616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Videollamada o visita en planta. Conocemos tu operación y te mostramos cómo Odoo resuelve tus retos.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2"/>
          <p:cNvSpPr/>
          <p:nvPr/>
        </p:nvSpPr>
        <p:spPr>
          <a:xfrm>
            <a:off x="502920" y="4645152"/>
            <a:ext cx="1207008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22"/>
          <p:cNvSpPr/>
          <p:nvPr/>
        </p:nvSpPr>
        <p:spPr>
          <a:xfrm>
            <a:off x="502920" y="464515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1-2 semanas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2"/>
          <p:cNvSpPr/>
          <p:nvPr/>
        </p:nvSpPr>
        <p:spPr>
          <a:xfrm>
            <a:off x="2953512" y="123444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5" name="Google Shape;855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4154" y="1345082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856" name="Google Shape;856;p22"/>
          <p:cNvSpPr/>
          <p:nvPr/>
        </p:nvSpPr>
        <p:spPr>
          <a:xfrm>
            <a:off x="4032504" y="12344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22"/>
          <p:cNvSpPr/>
          <p:nvPr/>
        </p:nvSpPr>
        <p:spPr>
          <a:xfrm>
            <a:off x="4032504" y="1234440"/>
            <a:ext cx="36576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2"/>
          <p:cNvSpPr/>
          <p:nvPr/>
        </p:nvSpPr>
        <p:spPr>
          <a:xfrm>
            <a:off x="2496312" y="2907792"/>
            <a:ext cx="1920240" cy="1965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22"/>
          <p:cNvSpPr/>
          <p:nvPr/>
        </p:nvSpPr>
        <p:spPr>
          <a:xfrm>
            <a:off x="2496312" y="2907792"/>
            <a:ext cx="192024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22"/>
          <p:cNvSpPr/>
          <p:nvPr/>
        </p:nvSpPr>
        <p:spPr>
          <a:xfrm>
            <a:off x="2587752" y="304495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Propuesta personalizada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2"/>
          <p:cNvSpPr/>
          <p:nvPr/>
        </p:nvSpPr>
        <p:spPr>
          <a:xfrm>
            <a:off x="2587752" y="356616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Módulos necesarios, cronograma realista e inversión desglosada. Todo transparente, sin letra chica.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2"/>
          <p:cNvSpPr/>
          <p:nvPr/>
        </p:nvSpPr>
        <p:spPr>
          <a:xfrm>
            <a:off x="2587752" y="4645152"/>
            <a:ext cx="1207008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2"/>
          <p:cNvSpPr/>
          <p:nvPr/>
        </p:nvSpPr>
        <p:spPr>
          <a:xfrm>
            <a:off x="2587752" y="464515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semana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2"/>
          <p:cNvSpPr/>
          <p:nvPr/>
        </p:nvSpPr>
        <p:spPr>
          <a:xfrm>
            <a:off x="5038344" y="123444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5" name="Google Shape;865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48986" y="1345082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866" name="Google Shape;866;p22"/>
          <p:cNvSpPr/>
          <p:nvPr/>
        </p:nvSpPr>
        <p:spPr>
          <a:xfrm>
            <a:off x="6117336" y="12344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2"/>
          <p:cNvSpPr/>
          <p:nvPr/>
        </p:nvSpPr>
        <p:spPr>
          <a:xfrm>
            <a:off x="6117336" y="1234440"/>
            <a:ext cx="36576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2"/>
          <p:cNvSpPr/>
          <p:nvPr/>
        </p:nvSpPr>
        <p:spPr>
          <a:xfrm>
            <a:off x="4581144" y="2907792"/>
            <a:ext cx="1920240" cy="1965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2"/>
          <p:cNvSpPr/>
          <p:nvPr/>
        </p:nvSpPr>
        <p:spPr>
          <a:xfrm>
            <a:off x="4581144" y="2907792"/>
            <a:ext cx="192024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22"/>
          <p:cNvSpPr/>
          <p:nvPr/>
        </p:nvSpPr>
        <p:spPr>
          <a:xfrm>
            <a:off x="4672584" y="304495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Análisis y configuración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2"/>
          <p:cNvSpPr/>
          <p:nvPr/>
        </p:nvSpPr>
        <p:spPr>
          <a:xfrm>
            <a:off x="4672584" y="356616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Configuramos en ambiente de pruebas y validamos que todo funcione antes de ir a productivo.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2"/>
          <p:cNvSpPr/>
          <p:nvPr/>
        </p:nvSpPr>
        <p:spPr>
          <a:xfrm>
            <a:off x="4672584" y="4645152"/>
            <a:ext cx="1207008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22"/>
          <p:cNvSpPr/>
          <p:nvPr/>
        </p:nvSpPr>
        <p:spPr>
          <a:xfrm>
            <a:off x="4672584" y="464515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4-8 semanas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2"/>
          <p:cNvSpPr/>
          <p:nvPr/>
        </p:nvSpPr>
        <p:spPr>
          <a:xfrm>
            <a:off x="7123176" y="123444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5" name="Google Shape;875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3818" y="1345082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876" name="Google Shape;876;p22"/>
          <p:cNvSpPr/>
          <p:nvPr/>
        </p:nvSpPr>
        <p:spPr>
          <a:xfrm>
            <a:off x="8202168" y="12344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2"/>
          <p:cNvSpPr/>
          <p:nvPr/>
        </p:nvSpPr>
        <p:spPr>
          <a:xfrm>
            <a:off x="8202168" y="1234440"/>
            <a:ext cx="36576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2"/>
          <p:cNvSpPr/>
          <p:nvPr/>
        </p:nvSpPr>
        <p:spPr>
          <a:xfrm>
            <a:off x="6665976" y="2907792"/>
            <a:ext cx="1920240" cy="1965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22"/>
          <p:cNvSpPr/>
          <p:nvPr/>
        </p:nvSpPr>
        <p:spPr>
          <a:xfrm>
            <a:off x="6665976" y="2907792"/>
            <a:ext cx="192024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22"/>
          <p:cNvSpPr/>
          <p:nvPr/>
        </p:nvSpPr>
        <p:spPr>
          <a:xfrm>
            <a:off x="6757416" y="304495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Implementación y arranque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2"/>
          <p:cNvSpPr/>
          <p:nvPr/>
        </p:nvSpPr>
        <p:spPr>
          <a:xfrm>
            <a:off x="6757416" y="356616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Capacitamos a tu equipo, migramos datos y arrancamos con soporte prioritario en las primeras semanas.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2"/>
          <p:cNvSpPr/>
          <p:nvPr/>
        </p:nvSpPr>
        <p:spPr>
          <a:xfrm>
            <a:off x="6757416" y="4645152"/>
            <a:ext cx="1207008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2"/>
          <p:cNvSpPr/>
          <p:nvPr/>
        </p:nvSpPr>
        <p:spPr>
          <a:xfrm>
            <a:off x="6757416" y="464515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4-12 semanas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3"/>
          <p:cNvSpPr/>
          <p:nvPr/>
        </p:nvSpPr>
        <p:spPr>
          <a:xfrm>
            <a:off x="6858000" y="-731520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50196"/>
            </a:srgbClr>
          </a:solidFill>
          <a:ln w="12700" cap="flat" cmpd="sng">
            <a:solidFill>
              <a:srgbClr val="26398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23"/>
          <p:cNvSpPr/>
          <p:nvPr/>
        </p:nvSpPr>
        <p:spPr>
          <a:xfrm>
            <a:off x="-457200" y="32004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54901"/>
            </a:srgbClr>
          </a:solidFill>
          <a:ln w="12700" cap="flat" cmpd="sng">
            <a:solidFill>
              <a:srgbClr val="7F52A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3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Nuestros Compromisos con Tu Proyecto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No vendemos software, entregamos soluciones. Estos son nuestros compromisos: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3"/>
          <p:cNvSpPr/>
          <p:nvPr/>
        </p:nvSpPr>
        <p:spPr>
          <a:xfrm>
            <a:off x="320040" y="1261872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3"/>
          <p:cNvSpPr/>
          <p:nvPr/>
        </p:nvSpPr>
        <p:spPr>
          <a:xfrm>
            <a:off x="320040" y="1261872"/>
            <a:ext cx="2743200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23"/>
          <p:cNvSpPr/>
          <p:nvPr/>
        </p:nvSpPr>
        <p:spPr>
          <a:xfrm>
            <a:off x="411480" y="138074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7" name="Google Shape;897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819" y="1439083"/>
            <a:ext cx="411023" cy="411023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898" name="Google Shape;898;p23"/>
          <p:cNvSpPr/>
          <p:nvPr/>
        </p:nvSpPr>
        <p:spPr>
          <a:xfrm>
            <a:off x="1069848" y="137160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 garantizada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3"/>
          <p:cNvSpPr/>
          <p:nvPr/>
        </p:nvSpPr>
        <p:spPr>
          <a:xfrm>
            <a:off x="429768" y="1883664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Arranque productivo supervisado o devolvemos tu inversión.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3"/>
          <p:cNvSpPr/>
          <p:nvPr/>
        </p:nvSpPr>
        <p:spPr>
          <a:xfrm>
            <a:off x="3264408" y="1261872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3"/>
          <p:cNvSpPr/>
          <p:nvPr/>
        </p:nvSpPr>
        <p:spPr>
          <a:xfrm>
            <a:off x="3264408" y="1261872"/>
            <a:ext cx="2743200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23"/>
          <p:cNvSpPr/>
          <p:nvPr/>
        </p:nvSpPr>
        <p:spPr>
          <a:xfrm>
            <a:off x="3355848" y="138074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3" name="Google Shape;903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4187" y="1439083"/>
            <a:ext cx="411023" cy="411023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904" name="Google Shape;904;p23"/>
          <p:cNvSpPr/>
          <p:nvPr/>
        </p:nvSpPr>
        <p:spPr>
          <a:xfrm>
            <a:off x="4014216" y="137160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15-30 días de soporte incluido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3"/>
          <p:cNvSpPr/>
          <p:nvPr/>
        </p:nvSpPr>
        <p:spPr>
          <a:xfrm>
            <a:off x="3374136" y="1883664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Post-implementación sin costo adicional: WhatsApp, correo o videollamada.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3"/>
          <p:cNvSpPr/>
          <p:nvPr/>
        </p:nvSpPr>
        <p:spPr>
          <a:xfrm>
            <a:off x="6208776" y="1261872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23"/>
          <p:cNvSpPr/>
          <p:nvPr/>
        </p:nvSpPr>
        <p:spPr>
          <a:xfrm>
            <a:off x="6208776" y="1261872"/>
            <a:ext cx="2743200" cy="5486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3"/>
          <p:cNvSpPr/>
          <p:nvPr/>
        </p:nvSpPr>
        <p:spPr>
          <a:xfrm>
            <a:off x="6300216" y="138074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9" name="Google Shape;909;p2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8555" y="1439083"/>
            <a:ext cx="411023" cy="411023"/>
          </a:xfrm>
          <a:prstGeom prst="rect">
            <a:avLst/>
          </a:prstGeom>
          <a:solidFill>
            <a:srgbClr val="46C2CE"/>
          </a:solidFill>
          <a:ln w="57150">
            <a:solidFill>
              <a:srgbClr val="46C2CE"/>
            </a:solidFill>
          </a:ln>
        </p:spPr>
      </p:pic>
      <p:sp>
        <p:nvSpPr>
          <p:cNvPr id="910" name="Google Shape;910;p23"/>
          <p:cNvSpPr/>
          <p:nvPr/>
        </p:nvSpPr>
        <p:spPr>
          <a:xfrm>
            <a:off x="6958584" y="137160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Proyectos de 3-6 meses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3"/>
          <p:cNvSpPr/>
          <p:nvPr/>
        </p:nvSpPr>
        <p:spPr>
          <a:xfrm>
            <a:off x="6318504" y="1883664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Implementaciones ágiles, no proyectos eternos. Cronograma con hitos claros.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3"/>
          <p:cNvSpPr/>
          <p:nvPr/>
        </p:nvSpPr>
        <p:spPr>
          <a:xfrm>
            <a:off x="320040" y="2953512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23"/>
          <p:cNvSpPr/>
          <p:nvPr/>
        </p:nvSpPr>
        <p:spPr>
          <a:xfrm>
            <a:off x="320040" y="2953512"/>
            <a:ext cx="2743200" cy="5486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3"/>
          <p:cNvSpPr/>
          <p:nvPr/>
        </p:nvSpPr>
        <p:spPr>
          <a:xfrm>
            <a:off x="411480" y="307238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5" name="Google Shape;915;p2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9819" y="3130723"/>
            <a:ext cx="411023" cy="411023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916" name="Google Shape;916;p23"/>
          <p:cNvSpPr/>
          <p:nvPr/>
        </p:nvSpPr>
        <p:spPr>
          <a:xfrm>
            <a:off x="1069848" y="306324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Acompañamiento en sitio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3"/>
          <p:cNvSpPr/>
          <p:nvPr/>
        </p:nvSpPr>
        <p:spPr>
          <a:xfrm>
            <a:off x="429768" y="3575304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Vamos a tu planta u oficina. No hacemos implementaciones remotas genéricas.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3"/>
          <p:cNvSpPr/>
          <p:nvPr/>
        </p:nvSpPr>
        <p:spPr>
          <a:xfrm>
            <a:off x="3264408" y="2953512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23"/>
          <p:cNvSpPr/>
          <p:nvPr/>
        </p:nvSpPr>
        <p:spPr>
          <a:xfrm>
            <a:off x="3264408" y="2953512"/>
            <a:ext cx="2743200" cy="5486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3"/>
          <p:cNvSpPr/>
          <p:nvPr/>
        </p:nvSpPr>
        <p:spPr>
          <a:xfrm>
            <a:off x="3355848" y="307238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1" name="Google Shape;921;p2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14187" y="3130723"/>
            <a:ext cx="411023" cy="411023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922" name="Google Shape;922;p23"/>
          <p:cNvSpPr/>
          <p:nvPr/>
        </p:nvSpPr>
        <p:spPr>
          <a:xfrm>
            <a:off x="4014216" y="306324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sorpresas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3"/>
          <p:cNvSpPr/>
          <p:nvPr/>
        </p:nvSpPr>
        <p:spPr>
          <a:xfrm>
            <a:off x="3374136" y="3575304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Propuesta detallada con inversión desglosada. Sin costos ocultos ni letra chica.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3"/>
          <p:cNvSpPr/>
          <p:nvPr/>
        </p:nvSpPr>
        <p:spPr>
          <a:xfrm>
            <a:off x="6208776" y="2953512"/>
            <a:ext cx="2743200" cy="1508760"/>
          </a:xfrm>
          <a:prstGeom prst="rect">
            <a:avLst/>
          </a:prstGeom>
          <a:solidFill>
            <a:srgbClr val="26398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23"/>
          <p:cNvSpPr/>
          <p:nvPr/>
        </p:nvSpPr>
        <p:spPr>
          <a:xfrm>
            <a:off x="6208776" y="2953512"/>
            <a:ext cx="2743200" cy="5486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3"/>
          <p:cNvSpPr/>
          <p:nvPr/>
        </p:nvSpPr>
        <p:spPr>
          <a:xfrm>
            <a:off x="6300216" y="307238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7" name="Google Shape;927;p2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58555" y="3130723"/>
            <a:ext cx="411023" cy="411023"/>
          </a:xfrm>
          <a:prstGeom prst="rect">
            <a:avLst/>
          </a:prstGeom>
          <a:solidFill>
            <a:srgbClr val="7F52A0"/>
          </a:solidFill>
          <a:ln w="57150">
            <a:solidFill>
              <a:srgbClr val="7F52A0"/>
            </a:solidFill>
          </a:ln>
        </p:spPr>
      </p:pic>
      <p:sp>
        <p:nvSpPr>
          <p:cNvPr id="928" name="Google Shape;928;p23"/>
          <p:cNvSpPr/>
          <p:nvPr/>
        </p:nvSpPr>
        <p:spPr>
          <a:xfrm>
            <a:off x="6958584" y="306324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Garantía post-arranque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3"/>
          <p:cNvSpPr/>
          <p:nvPr/>
        </p:nvSpPr>
        <p:spPr>
          <a:xfrm>
            <a:off x="6318504" y="3575304"/>
            <a:ext cx="254203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2 meses de garantía incluidos en todo proyecto de implementación.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24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4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 qué más de 60 empresas eligen Sunname?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4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Experiencia comprobada, soporte real y compromiso con tu éxito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4"/>
          <p:cNvSpPr/>
          <p:nvPr/>
        </p:nvSpPr>
        <p:spPr>
          <a:xfrm>
            <a:off x="274320" y="1170432"/>
            <a:ext cx="4206240" cy="17190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4"/>
          <p:cNvSpPr/>
          <p:nvPr/>
        </p:nvSpPr>
        <p:spPr>
          <a:xfrm>
            <a:off x="274320" y="1170432"/>
            <a:ext cx="64008" cy="171907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24"/>
          <p:cNvSpPr/>
          <p:nvPr/>
        </p:nvSpPr>
        <p:spPr>
          <a:xfrm>
            <a:off x="429768" y="1335024"/>
            <a:ext cx="658368" cy="65836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2" name="Google Shape;942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188" y="1407444"/>
            <a:ext cx="510235" cy="510235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943" name="Google Shape;943;p24"/>
          <p:cNvSpPr/>
          <p:nvPr/>
        </p:nvSpPr>
        <p:spPr>
          <a:xfrm>
            <a:off x="1207008" y="1280160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Acompañamiento en sitio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4"/>
          <p:cNvSpPr/>
          <p:nvPr/>
        </p:nvSpPr>
        <p:spPr>
          <a:xfrm>
            <a:off x="1207008" y="164592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+60 implementaciones presenciales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4"/>
          <p:cNvSpPr/>
          <p:nvPr/>
        </p:nvSpPr>
        <p:spPr>
          <a:xfrm>
            <a:off x="438912" y="2066544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hacemos implementaciones remotas genéricas. Vamos a tu planta, entendemos tu operación real y configuramos Odoo viendo cómo trabajas hoy.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4"/>
          <p:cNvSpPr/>
          <p:nvPr/>
        </p:nvSpPr>
        <p:spPr>
          <a:xfrm>
            <a:off x="4709160" y="1170432"/>
            <a:ext cx="4206240" cy="17190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4"/>
          <p:cNvSpPr/>
          <p:nvPr/>
        </p:nvSpPr>
        <p:spPr>
          <a:xfrm>
            <a:off x="4709160" y="1170432"/>
            <a:ext cx="64008" cy="171907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24"/>
          <p:cNvSpPr/>
          <p:nvPr/>
        </p:nvSpPr>
        <p:spPr>
          <a:xfrm>
            <a:off x="4864608" y="1335024"/>
            <a:ext cx="658368" cy="65836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9" name="Google Shape;949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028" y="1407444"/>
            <a:ext cx="510235" cy="510235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950" name="Google Shape;950;p24"/>
          <p:cNvSpPr/>
          <p:nvPr/>
        </p:nvSpPr>
        <p:spPr>
          <a:xfrm>
            <a:off x="5641848" y="1280160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Desarrollos sin límites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4"/>
          <p:cNvSpPr/>
          <p:nvPr/>
        </p:nvSpPr>
        <p:spPr>
          <a:xfrm>
            <a:off x="5641848" y="164592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+100 desarrollos personalizados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4"/>
          <p:cNvSpPr/>
          <p:nvPr/>
        </p:nvSpPr>
        <p:spPr>
          <a:xfrm>
            <a:off x="4873752" y="2066544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¿Odoo no hace algo por defecto? Lo desarrollamos. Reportes custom, módulos completos e integraciones sin restricciones.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4"/>
          <p:cNvSpPr/>
          <p:nvPr/>
        </p:nvSpPr>
        <p:spPr>
          <a:xfrm>
            <a:off x="274320" y="3044952"/>
            <a:ext cx="4206240" cy="17190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24"/>
          <p:cNvSpPr/>
          <p:nvPr/>
        </p:nvSpPr>
        <p:spPr>
          <a:xfrm>
            <a:off x="274320" y="3044952"/>
            <a:ext cx="64008" cy="171907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24"/>
          <p:cNvSpPr/>
          <p:nvPr/>
        </p:nvSpPr>
        <p:spPr>
          <a:xfrm>
            <a:off x="429768" y="3209544"/>
            <a:ext cx="658368" cy="65836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6" name="Google Shape;956;p2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188" y="3281964"/>
            <a:ext cx="510235" cy="510235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957" name="Google Shape;957;p24"/>
          <p:cNvSpPr/>
          <p:nvPr/>
        </p:nvSpPr>
        <p:spPr>
          <a:xfrm>
            <a:off x="1207008" y="3154680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Partner oficial certificado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4"/>
          <p:cNvSpPr/>
          <p:nvPr/>
        </p:nvSpPr>
        <p:spPr>
          <a:xfrm>
            <a:off x="1207008" y="352044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Odoo Learning Partner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4"/>
          <p:cNvSpPr/>
          <p:nvPr/>
        </p:nvSpPr>
        <p:spPr>
          <a:xfrm>
            <a:off x="438912" y="3941064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Implementaciones con las mejores prácticas oficiales Odoo. Actualizaciones anticipadas y soporte técnico prioritario.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4"/>
          <p:cNvSpPr/>
          <p:nvPr/>
        </p:nvSpPr>
        <p:spPr>
          <a:xfrm>
            <a:off x="4709160" y="3044952"/>
            <a:ext cx="4206240" cy="17190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24"/>
          <p:cNvSpPr/>
          <p:nvPr/>
        </p:nvSpPr>
        <p:spPr>
          <a:xfrm>
            <a:off x="4709160" y="3044952"/>
            <a:ext cx="64008" cy="171907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4"/>
          <p:cNvSpPr/>
          <p:nvPr/>
        </p:nvSpPr>
        <p:spPr>
          <a:xfrm>
            <a:off x="4864608" y="3209544"/>
            <a:ext cx="658368" cy="65836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3" name="Google Shape;963;p2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028" y="3281964"/>
            <a:ext cx="510235" cy="510235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964" name="Google Shape;964;p24"/>
          <p:cNvSpPr/>
          <p:nvPr/>
        </p:nvSpPr>
        <p:spPr>
          <a:xfrm>
            <a:off x="5641848" y="3154680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Soporte en tu idioma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4"/>
          <p:cNvSpPr/>
          <p:nvPr/>
        </p:nvSpPr>
        <p:spPr>
          <a:xfrm>
            <a:off x="5641848" y="352044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Respuesta en menos de 2 horas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4"/>
          <p:cNvSpPr/>
          <p:nvPr/>
        </p:nvSpPr>
        <p:spPr>
          <a:xfrm>
            <a:off x="4873752" y="3941064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Equipo 100% en México. Atención inmediata por WhatsApp, videollamada o en sitio. Sin esperas.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2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25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25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 vs. Después de Odoo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5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La transformación real que viven nuestros clientes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5"/>
          <p:cNvSpPr/>
          <p:nvPr/>
        </p:nvSpPr>
        <p:spPr>
          <a:xfrm>
            <a:off x="274320" y="1097280"/>
            <a:ext cx="4114800" cy="3611880"/>
          </a:xfrm>
          <a:prstGeom prst="rect">
            <a:avLst/>
          </a:prstGeom>
          <a:solidFill>
            <a:srgbClr val="FFF0F0"/>
          </a:solidFill>
          <a:ln w="19050" cap="flat" cmpd="sng">
            <a:solidFill>
              <a:srgbClr val="E53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25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E53E3E"/>
          </a:solidFill>
          <a:ln w="12700" cap="flat" cmpd="sng">
            <a:solidFill>
              <a:srgbClr val="E53E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25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SIN ODOO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5"/>
          <p:cNvSpPr/>
          <p:nvPr/>
        </p:nvSpPr>
        <p:spPr>
          <a:xfrm>
            <a:off x="411480" y="16916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✗  Datos en múltiples Excel sin conexión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5"/>
          <p:cNvSpPr/>
          <p:nvPr/>
        </p:nvSpPr>
        <p:spPr>
          <a:xfrm>
            <a:off x="411480" y="20756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✗  Inventario desactualizado que causa quiebres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5"/>
          <p:cNvSpPr/>
          <p:nvPr/>
        </p:nvSpPr>
        <p:spPr>
          <a:xfrm>
            <a:off x="411480" y="245973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✗  Sin visibilidad de producción en tiempo real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5"/>
          <p:cNvSpPr/>
          <p:nvPr/>
        </p:nvSpPr>
        <p:spPr>
          <a:xfrm>
            <a:off x="411480" y="284378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✗  Facturación manual propensa a errores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5"/>
          <p:cNvSpPr/>
          <p:nvPr/>
        </p:nvSpPr>
        <p:spPr>
          <a:xfrm>
            <a:off x="411480" y="322783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✗  Reportes que tardan días en generarse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5"/>
          <p:cNvSpPr/>
          <p:nvPr/>
        </p:nvSpPr>
        <p:spPr>
          <a:xfrm>
            <a:off x="411480" y="36118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✗  Sistemas desconectados que no se hablan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5"/>
          <p:cNvSpPr/>
          <p:nvPr/>
        </p:nvSpPr>
        <p:spPr>
          <a:xfrm>
            <a:off x="411480" y="39959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✗  Decisiones basadas en datos del pasado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5"/>
          <p:cNvSpPr/>
          <p:nvPr/>
        </p:nvSpPr>
        <p:spPr>
          <a:xfrm>
            <a:off x="4754880" y="1097280"/>
            <a:ext cx="4114800" cy="3611880"/>
          </a:xfrm>
          <a:prstGeom prst="rect">
            <a:avLst/>
          </a:prstGeom>
          <a:solidFill>
            <a:srgbClr val="F0FFF4"/>
          </a:solidFill>
          <a:ln w="19050" cap="flat" cmpd="sng">
            <a:solidFill>
              <a:srgbClr val="38A1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25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25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CON ODOO + SUNNAME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5"/>
          <p:cNvSpPr/>
          <p:nvPr/>
        </p:nvSpPr>
        <p:spPr>
          <a:xfrm>
            <a:off x="4892040" y="16916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 Un solo sistema integrado para toda la empresa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5"/>
          <p:cNvSpPr/>
          <p:nvPr/>
        </p:nvSpPr>
        <p:spPr>
          <a:xfrm>
            <a:off x="4892040" y="20756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 Inventario en tiempo real en todos los canales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5"/>
          <p:cNvSpPr/>
          <p:nvPr/>
        </p:nvSpPr>
        <p:spPr>
          <a:xfrm>
            <a:off x="4892040" y="245973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 Control total de producción desde el celular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5"/>
          <p:cNvSpPr/>
          <p:nvPr/>
        </p:nvSpPr>
        <p:spPr>
          <a:xfrm>
            <a:off x="4892040" y="284378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 CFDI 4.0 automático sin errores ni rechazos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5"/>
          <p:cNvSpPr/>
          <p:nvPr/>
        </p:nvSpPr>
        <p:spPr>
          <a:xfrm>
            <a:off x="4892040" y="322783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 Reportes al instante con datos siempre actuales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5"/>
          <p:cNvSpPr/>
          <p:nvPr/>
        </p:nvSpPr>
        <p:spPr>
          <a:xfrm>
            <a:off x="4892040" y="36118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 Ventas, producción y almacén perfectamente sincronizados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5"/>
          <p:cNvSpPr/>
          <p:nvPr/>
        </p:nvSpPr>
        <p:spPr>
          <a:xfrm>
            <a:off x="4892040" y="39959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 Decisiones basadas en información en tiempo real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5"/>
          <p:cNvSpPr/>
          <p:nvPr/>
        </p:nvSpPr>
        <p:spPr>
          <a:xfrm>
            <a:off x="4187952" y="2423160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25"/>
          <p:cNvSpPr/>
          <p:nvPr/>
        </p:nvSpPr>
        <p:spPr>
          <a:xfrm>
            <a:off x="4187952" y="2423160"/>
            <a:ext cx="777240" cy="777240"/>
          </a:xfrm>
          <a:prstGeom prst="rect">
            <a:avLst/>
          </a:prstGeom>
          <a:solidFill>
            <a:srgbClr val="263980"/>
          </a:solidFill>
          <a:ln w="38100">
            <a:solidFill>
              <a:srgbClr val="46C2CE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6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6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que puedes medir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6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Beneficios reales de implementar Odoo con Sunname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7" name="Google Shape;100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1078992"/>
            <a:ext cx="521208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26"/>
          <p:cNvSpPr/>
          <p:nvPr/>
        </p:nvSpPr>
        <p:spPr>
          <a:xfrm>
            <a:off x="5669280" y="1143000"/>
            <a:ext cx="3246120" cy="8412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26"/>
          <p:cNvSpPr/>
          <p:nvPr/>
        </p:nvSpPr>
        <p:spPr>
          <a:xfrm>
            <a:off x="5669280" y="1143000"/>
            <a:ext cx="3246120" cy="5943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26"/>
          <p:cNvSpPr/>
          <p:nvPr/>
        </p:nvSpPr>
        <p:spPr>
          <a:xfrm>
            <a:off x="5779008" y="1252728"/>
            <a:ext cx="804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3-6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6"/>
          <p:cNvSpPr/>
          <p:nvPr/>
        </p:nvSpPr>
        <p:spPr>
          <a:xfrm>
            <a:off x="6537960" y="125272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meses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6"/>
          <p:cNvSpPr/>
          <p:nvPr/>
        </p:nvSpPr>
        <p:spPr>
          <a:xfrm>
            <a:off x="7178040" y="1234440"/>
            <a:ext cx="1645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Para implementación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6"/>
          <p:cNvSpPr/>
          <p:nvPr/>
        </p:nvSpPr>
        <p:spPr>
          <a:xfrm>
            <a:off x="5669280" y="2130552"/>
            <a:ext cx="3246120" cy="8412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26"/>
          <p:cNvSpPr/>
          <p:nvPr/>
        </p:nvSpPr>
        <p:spPr>
          <a:xfrm>
            <a:off x="5669280" y="2130552"/>
            <a:ext cx="324612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26"/>
          <p:cNvSpPr/>
          <p:nvPr/>
        </p:nvSpPr>
        <p:spPr>
          <a:xfrm>
            <a:off x="5779008" y="2240280"/>
            <a:ext cx="804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6"/>
          <p:cNvSpPr/>
          <p:nvPr/>
        </p:nvSpPr>
        <p:spPr>
          <a:xfrm>
            <a:off x="6537960" y="2240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menos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6"/>
          <p:cNvSpPr/>
          <p:nvPr/>
        </p:nvSpPr>
        <p:spPr>
          <a:xfrm>
            <a:off x="7178040" y="2221992"/>
            <a:ext cx="1645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Desperdicio 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6"/>
          <p:cNvSpPr/>
          <p:nvPr/>
        </p:nvSpPr>
        <p:spPr>
          <a:xfrm>
            <a:off x="5669280" y="3118104"/>
            <a:ext cx="3246120" cy="8412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6"/>
          <p:cNvSpPr/>
          <p:nvPr/>
        </p:nvSpPr>
        <p:spPr>
          <a:xfrm>
            <a:off x="5669280" y="3118104"/>
            <a:ext cx="3246120" cy="5943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26"/>
          <p:cNvSpPr/>
          <p:nvPr/>
        </p:nvSpPr>
        <p:spPr>
          <a:xfrm>
            <a:off x="5779008" y="3227832"/>
            <a:ext cx="804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6"/>
          <p:cNvSpPr/>
          <p:nvPr/>
        </p:nvSpPr>
        <p:spPr>
          <a:xfrm>
            <a:off x="6537960" y="322783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menos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6"/>
          <p:cNvSpPr/>
          <p:nvPr/>
        </p:nvSpPr>
        <p:spPr>
          <a:xfrm>
            <a:off x="7178040" y="3209544"/>
            <a:ext cx="1645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Tiempo en tareas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administrativas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6"/>
          <p:cNvSpPr/>
          <p:nvPr/>
        </p:nvSpPr>
        <p:spPr>
          <a:xfrm>
            <a:off x="5669280" y="4105656"/>
            <a:ext cx="3246120" cy="8412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26"/>
          <p:cNvSpPr/>
          <p:nvPr/>
        </p:nvSpPr>
        <p:spPr>
          <a:xfrm>
            <a:off x="5669280" y="4105656"/>
            <a:ext cx="324612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26"/>
          <p:cNvSpPr/>
          <p:nvPr/>
        </p:nvSpPr>
        <p:spPr>
          <a:xfrm>
            <a:off x="5779008" y="4215384"/>
            <a:ext cx="804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2 meses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6"/>
          <p:cNvSpPr/>
          <p:nvPr/>
        </p:nvSpPr>
        <p:spPr>
          <a:xfrm>
            <a:off x="6537960" y="421538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gratis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6"/>
          <p:cNvSpPr/>
          <p:nvPr/>
        </p:nvSpPr>
        <p:spPr>
          <a:xfrm>
            <a:off x="7178040" y="4197096"/>
            <a:ext cx="16459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Garantía post-arranque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incluida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2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27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27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 qué Odoo con Sunname?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7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Comparativa frente a otras opciones del mercado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7"/>
          <p:cNvSpPr/>
          <p:nvPr/>
        </p:nvSpPr>
        <p:spPr>
          <a:xfrm>
            <a:off x="274320" y="1097280"/>
            <a:ext cx="3108960" cy="548640"/>
          </a:xfrm>
          <a:prstGeom prst="rect">
            <a:avLst/>
          </a:prstGeom>
          <a:solidFill>
            <a:srgbClr val="EEF3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27"/>
          <p:cNvSpPr/>
          <p:nvPr/>
        </p:nvSpPr>
        <p:spPr>
          <a:xfrm>
            <a:off x="274320" y="10972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Característica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7"/>
          <p:cNvSpPr/>
          <p:nvPr/>
        </p:nvSpPr>
        <p:spPr>
          <a:xfrm>
            <a:off x="3429000" y="1097280"/>
            <a:ext cx="1463040" cy="54864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27"/>
          <p:cNvSpPr/>
          <p:nvPr/>
        </p:nvSpPr>
        <p:spPr>
          <a:xfrm>
            <a:off x="3429000" y="10972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SAP / Oracle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7"/>
          <p:cNvSpPr/>
          <p:nvPr/>
        </p:nvSpPr>
        <p:spPr>
          <a:xfrm>
            <a:off x="3429000" y="141732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ERP grande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7"/>
          <p:cNvSpPr/>
          <p:nvPr/>
        </p:nvSpPr>
        <p:spPr>
          <a:xfrm>
            <a:off x="4937760" y="1097280"/>
            <a:ext cx="1463040" cy="54864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27"/>
          <p:cNvSpPr/>
          <p:nvPr/>
        </p:nvSpPr>
        <p:spPr>
          <a:xfrm>
            <a:off x="4937760" y="10972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Otro partner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7"/>
          <p:cNvSpPr/>
          <p:nvPr/>
        </p:nvSpPr>
        <p:spPr>
          <a:xfrm>
            <a:off x="4937760" y="141732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Genérico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7"/>
          <p:cNvSpPr/>
          <p:nvPr/>
        </p:nvSpPr>
        <p:spPr>
          <a:xfrm>
            <a:off x="6446520" y="1097280"/>
            <a:ext cx="1691640" cy="54864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7"/>
          <p:cNvSpPr/>
          <p:nvPr/>
        </p:nvSpPr>
        <p:spPr>
          <a:xfrm>
            <a:off x="6446520" y="109728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Sunname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Technologies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7"/>
          <p:cNvSpPr/>
          <p:nvPr/>
        </p:nvSpPr>
        <p:spPr>
          <a:xfrm>
            <a:off x="6446520" y="14173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Recomendado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7"/>
          <p:cNvSpPr/>
          <p:nvPr/>
        </p:nvSpPr>
        <p:spPr>
          <a:xfrm>
            <a:off x="274320" y="1664208"/>
            <a:ext cx="310896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7"/>
          <p:cNvSpPr/>
          <p:nvPr/>
        </p:nvSpPr>
        <p:spPr>
          <a:xfrm>
            <a:off x="347472" y="1664208"/>
            <a:ext cx="30358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Costo de implementación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7"/>
          <p:cNvSpPr/>
          <p:nvPr/>
        </p:nvSpPr>
        <p:spPr>
          <a:xfrm>
            <a:off x="3429000" y="1664208"/>
            <a:ext cx="146304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27"/>
          <p:cNvSpPr/>
          <p:nvPr/>
        </p:nvSpPr>
        <p:spPr>
          <a:xfrm>
            <a:off x="3502152" y="1664208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$$$$$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7"/>
          <p:cNvSpPr/>
          <p:nvPr/>
        </p:nvSpPr>
        <p:spPr>
          <a:xfrm>
            <a:off x="4937760" y="1664208"/>
            <a:ext cx="146304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27"/>
          <p:cNvSpPr/>
          <p:nvPr/>
        </p:nvSpPr>
        <p:spPr>
          <a:xfrm>
            <a:off x="5010912" y="1664208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$$-$$$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7"/>
          <p:cNvSpPr/>
          <p:nvPr/>
        </p:nvSpPr>
        <p:spPr>
          <a:xfrm>
            <a:off x="6446520" y="1664208"/>
            <a:ext cx="1691640" cy="384048"/>
          </a:xfrm>
          <a:prstGeom prst="rect">
            <a:avLst/>
          </a:prstGeom>
          <a:solidFill>
            <a:srgbClr val="EEF3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27"/>
          <p:cNvSpPr/>
          <p:nvPr/>
        </p:nvSpPr>
        <p:spPr>
          <a:xfrm>
            <a:off x="6519672" y="1664208"/>
            <a:ext cx="16184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$$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7"/>
          <p:cNvSpPr/>
          <p:nvPr/>
        </p:nvSpPr>
        <p:spPr>
          <a:xfrm>
            <a:off x="274320" y="2057400"/>
            <a:ext cx="310896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27"/>
          <p:cNvSpPr/>
          <p:nvPr/>
        </p:nvSpPr>
        <p:spPr>
          <a:xfrm>
            <a:off x="347472" y="2057400"/>
            <a:ext cx="30358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Especialización manufactura/retail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7"/>
          <p:cNvSpPr/>
          <p:nvPr/>
        </p:nvSpPr>
        <p:spPr>
          <a:xfrm>
            <a:off x="3429000" y="2057400"/>
            <a:ext cx="146304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27"/>
          <p:cNvSpPr/>
          <p:nvPr/>
        </p:nvSpPr>
        <p:spPr>
          <a:xfrm>
            <a:off x="3502152" y="2057400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Limitada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7"/>
          <p:cNvSpPr/>
          <p:nvPr/>
        </p:nvSpPr>
        <p:spPr>
          <a:xfrm>
            <a:off x="4937760" y="2057400"/>
            <a:ext cx="146304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27"/>
          <p:cNvSpPr/>
          <p:nvPr/>
        </p:nvSpPr>
        <p:spPr>
          <a:xfrm>
            <a:off x="5010912" y="2057400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7"/>
          <p:cNvSpPr/>
          <p:nvPr/>
        </p:nvSpPr>
        <p:spPr>
          <a:xfrm>
            <a:off x="6446520" y="2057400"/>
            <a:ext cx="1691640" cy="384048"/>
          </a:xfrm>
          <a:prstGeom prst="rect">
            <a:avLst/>
          </a:prstGeom>
          <a:solidFill>
            <a:srgbClr val="E5EC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27"/>
          <p:cNvSpPr/>
          <p:nvPr/>
        </p:nvSpPr>
        <p:spPr>
          <a:xfrm>
            <a:off x="6519672" y="2057400"/>
            <a:ext cx="16184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Alta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7"/>
          <p:cNvSpPr/>
          <p:nvPr/>
        </p:nvSpPr>
        <p:spPr>
          <a:xfrm>
            <a:off x="274320" y="2450592"/>
            <a:ext cx="310896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27"/>
          <p:cNvSpPr/>
          <p:nvPr/>
        </p:nvSpPr>
        <p:spPr>
          <a:xfrm>
            <a:off x="347472" y="2450592"/>
            <a:ext cx="30358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Acompañamiento en sitio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7"/>
          <p:cNvSpPr/>
          <p:nvPr/>
        </p:nvSpPr>
        <p:spPr>
          <a:xfrm>
            <a:off x="3429000" y="2450592"/>
            <a:ext cx="146304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27"/>
          <p:cNvSpPr/>
          <p:nvPr/>
        </p:nvSpPr>
        <p:spPr>
          <a:xfrm>
            <a:off x="3502152" y="2450592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No incluido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27"/>
          <p:cNvSpPr/>
          <p:nvPr/>
        </p:nvSpPr>
        <p:spPr>
          <a:xfrm>
            <a:off x="4937760" y="2450592"/>
            <a:ext cx="146304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27"/>
          <p:cNvSpPr/>
          <p:nvPr/>
        </p:nvSpPr>
        <p:spPr>
          <a:xfrm>
            <a:off x="5010912" y="2450592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Remoto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7"/>
          <p:cNvSpPr/>
          <p:nvPr/>
        </p:nvSpPr>
        <p:spPr>
          <a:xfrm>
            <a:off x="6446520" y="2450592"/>
            <a:ext cx="1691640" cy="384048"/>
          </a:xfrm>
          <a:prstGeom prst="rect">
            <a:avLst/>
          </a:prstGeom>
          <a:solidFill>
            <a:srgbClr val="EEF3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27"/>
          <p:cNvSpPr/>
          <p:nvPr/>
        </p:nvSpPr>
        <p:spPr>
          <a:xfrm>
            <a:off x="6519672" y="2450592"/>
            <a:ext cx="16184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Siempre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7"/>
          <p:cNvSpPr/>
          <p:nvPr/>
        </p:nvSpPr>
        <p:spPr>
          <a:xfrm>
            <a:off x="274320" y="2843784"/>
            <a:ext cx="310896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27"/>
          <p:cNvSpPr/>
          <p:nvPr/>
        </p:nvSpPr>
        <p:spPr>
          <a:xfrm>
            <a:off x="347472" y="2843784"/>
            <a:ext cx="30358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Soporte en español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7"/>
          <p:cNvSpPr/>
          <p:nvPr/>
        </p:nvSpPr>
        <p:spPr>
          <a:xfrm>
            <a:off x="3429000" y="2843784"/>
            <a:ext cx="146304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27"/>
          <p:cNvSpPr/>
          <p:nvPr/>
        </p:nvSpPr>
        <p:spPr>
          <a:xfrm>
            <a:off x="3502152" y="2843784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Parcial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7"/>
          <p:cNvSpPr/>
          <p:nvPr/>
        </p:nvSpPr>
        <p:spPr>
          <a:xfrm>
            <a:off x="4937760" y="2843784"/>
            <a:ext cx="146304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27"/>
          <p:cNvSpPr/>
          <p:nvPr/>
        </p:nvSpPr>
        <p:spPr>
          <a:xfrm>
            <a:off x="5010912" y="2843784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Sí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7"/>
          <p:cNvSpPr/>
          <p:nvPr/>
        </p:nvSpPr>
        <p:spPr>
          <a:xfrm>
            <a:off x="6446520" y="2843784"/>
            <a:ext cx="1691640" cy="384048"/>
          </a:xfrm>
          <a:prstGeom prst="rect">
            <a:avLst/>
          </a:prstGeom>
          <a:solidFill>
            <a:srgbClr val="E5EC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27"/>
          <p:cNvSpPr/>
          <p:nvPr/>
        </p:nvSpPr>
        <p:spPr>
          <a:xfrm>
            <a:off x="6519672" y="2843784"/>
            <a:ext cx="16184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100% México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7"/>
          <p:cNvSpPr/>
          <p:nvPr/>
        </p:nvSpPr>
        <p:spPr>
          <a:xfrm>
            <a:off x="274320" y="3236976"/>
            <a:ext cx="310896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27"/>
          <p:cNvSpPr/>
          <p:nvPr/>
        </p:nvSpPr>
        <p:spPr>
          <a:xfrm>
            <a:off x="347472" y="3236976"/>
            <a:ext cx="30358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Tiempo de implementación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7"/>
          <p:cNvSpPr/>
          <p:nvPr/>
        </p:nvSpPr>
        <p:spPr>
          <a:xfrm>
            <a:off x="3429000" y="3236976"/>
            <a:ext cx="146304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27"/>
          <p:cNvSpPr/>
          <p:nvPr/>
        </p:nvSpPr>
        <p:spPr>
          <a:xfrm>
            <a:off x="3502152" y="3236976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12-24 meses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7"/>
          <p:cNvSpPr/>
          <p:nvPr/>
        </p:nvSpPr>
        <p:spPr>
          <a:xfrm>
            <a:off x="4937760" y="3236976"/>
            <a:ext cx="146304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27"/>
          <p:cNvSpPr/>
          <p:nvPr/>
        </p:nvSpPr>
        <p:spPr>
          <a:xfrm>
            <a:off x="5010912" y="3236976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6-12 meses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7"/>
          <p:cNvSpPr/>
          <p:nvPr/>
        </p:nvSpPr>
        <p:spPr>
          <a:xfrm>
            <a:off x="6446520" y="3236976"/>
            <a:ext cx="1691640" cy="384048"/>
          </a:xfrm>
          <a:prstGeom prst="rect">
            <a:avLst/>
          </a:prstGeom>
          <a:solidFill>
            <a:srgbClr val="EEF3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27"/>
          <p:cNvSpPr/>
          <p:nvPr/>
        </p:nvSpPr>
        <p:spPr>
          <a:xfrm>
            <a:off x="6519672" y="3236976"/>
            <a:ext cx="16184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3-6 meses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7"/>
          <p:cNvSpPr/>
          <p:nvPr/>
        </p:nvSpPr>
        <p:spPr>
          <a:xfrm>
            <a:off x="274320" y="3630168"/>
            <a:ext cx="310896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27"/>
          <p:cNvSpPr/>
          <p:nvPr/>
        </p:nvSpPr>
        <p:spPr>
          <a:xfrm>
            <a:off x="347472" y="3630168"/>
            <a:ext cx="30358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Desarrollos personalizados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7"/>
          <p:cNvSpPr/>
          <p:nvPr/>
        </p:nvSpPr>
        <p:spPr>
          <a:xfrm>
            <a:off x="3429000" y="3630168"/>
            <a:ext cx="146304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27"/>
          <p:cNvSpPr/>
          <p:nvPr/>
        </p:nvSpPr>
        <p:spPr>
          <a:xfrm>
            <a:off x="3502152" y="3630168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Costosos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7"/>
          <p:cNvSpPr/>
          <p:nvPr/>
        </p:nvSpPr>
        <p:spPr>
          <a:xfrm>
            <a:off x="4937760" y="3630168"/>
            <a:ext cx="146304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27"/>
          <p:cNvSpPr/>
          <p:nvPr/>
        </p:nvSpPr>
        <p:spPr>
          <a:xfrm>
            <a:off x="5010912" y="3630168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Limitados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7"/>
          <p:cNvSpPr/>
          <p:nvPr/>
        </p:nvSpPr>
        <p:spPr>
          <a:xfrm>
            <a:off x="6446520" y="3630168"/>
            <a:ext cx="1691640" cy="384048"/>
          </a:xfrm>
          <a:prstGeom prst="rect">
            <a:avLst/>
          </a:prstGeom>
          <a:solidFill>
            <a:srgbClr val="E5EC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27"/>
          <p:cNvSpPr/>
          <p:nvPr/>
        </p:nvSpPr>
        <p:spPr>
          <a:xfrm>
            <a:off x="6519672" y="3630168"/>
            <a:ext cx="16184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Sin límites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7"/>
          <p:cNvSpPr/>
          <p:nvPr/>
        </p:nvSpPr>
        <p:spPr>
          <a:xfrm>
            <a:off x="274320" y="4023360"/>
            <a:ext cx="310896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27"/>
          <p:cNvSpPr/>
          <p:nvPr/>
        </p:nvSpPr>
        <p:spPr>
          <a:xfrm>
            <a:off x="347472" y="4023360"/>
            <a:ext cx="30358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Garantía post-arranque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7"/>
          <p:cNvSpPr/>
          <p:nvPr/>
        </p:nvSpPr>
        <p:spPr>
          <a:xfrm>
            <a:off x="3429000" y="4023360"/>
            <a:ext cx="146304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27"/>
          <p:cNvSpPr/>
          <p:nvPr/>
        </p:nvSpPr>
        <p:spPr>
          <a:xfrm>
            <a:off x="3502152" y="4023360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7"/>
          <p:cNvSpPr/>
          <p:nvPr/>
        </p:nvSpPr>
        <p:spPr>
          <a:xfrm>
            <a:off x="4937760" y="4023360"/>
            <a:ext cx="146304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27"/>
          <p:cNvSpPr/>
          <p:nvPr/>
        </p:nvSpPr>
        <p:spPr>
          <a:xfrm>
            <a:off x="5010912" y="4023360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Parcial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7"/>
          <p:cNvSpPr/>
          <p:nvPr/>
        </p:nvSpPr>
        <p:spPr>
          <a:xfrm>
            <a:off x="6446520" y="4023360"/>
            <a:ext cx="1691640" cy="384048"/>
          </a:xfrm>
          <a:prstGeom prst="rect">
            <a:avLst/>
          </a:prstGeom>
          <a:solidFill>
            <a:srgbClr val="EEF3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27"/>
          <p:cNvSpPr/>
          <p:nvPr/>
        </p:nvSpPr>
        <p:spPr>
          <a:xfrm>
            <a:off x="6519672" y="4023360"/>
            <a:ext cx="16184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2 meses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7"/>
          <p:cNvSpPr/>
          <p:nvPr/>
        </p:nvSpPr>
        <p:spPr>
          <a:xfrm>
            <a:off x="274320" y="4416552"/>
            <a:ext cx="310896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27"/>
          <p:cNvSpPr/>
          <p:nvPr/>
        </p:nvSpPr>
        <p:spPr>
          <a:xfrm>
            <a:off x="347472" y="4416552"/>
            <a:ext cx="303580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Respuesta de soporte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7"/>
          <p:cNvSpPr/>
          <p:nvPr/>
        </p:nvSpPr>
        <p:spPr>
          <a:xfrm>
            <a:off x="3429000" y="4416552"/>
            <a:ext cx="146304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27"/>
          <p:cNvSpPr/>
          <p:nvPr/>
        </p:nvSpPr>
        <p:spPr>
          <a:xfrm>
            <a:off x="3502152" y="4416552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24-48 hrs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7"/>
          <p:cNvSpPr/>
          <p:nvPr/>
        </p:nvSpPr>
        <p:spPr>
          <a:xfrm>
            <a:off x="4937760" y="4416552"/>
            <a:ext cx="146304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27"/>
          <p:cNvSpPr/>
          <p:nvPr/>
        </p:nvSpPr>
        <p:spPr>
          <a:xfrm>
            <a:off x="5010912" y="4416552"/>
            <a:ext cx="13898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8-24 hrs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7"/>
          <p:cNvSpPr/>
          <p:nvPr/>
        </p:nvSpPr>
        <p:spPr>
          <a:xfrm>
            <a:off x="6446520" y="4416552"/>
            <a:ext cx="1691640" cy="384048"/>
          </a:xfrm>
          <a:prstGeom prst="rect">
            <a:avLst/>
          </a:prstGeom>
          <a:solidFill>
            <a:srgbClr val="E5EC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27"/>
          <p:cNvSpPr/>
          <p:nvPr/>
        </p:nvSpPr>
        <p:spPr>
          <a:xfrm>
            <a:off x="6519672" y="4416552"/>
            <a:ext cx="161848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✓ Menos 2 hrs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1775B7-34FA-4FE9-25EA-EF70B558E5FD}"/>
              </a:ext>
            </a:extLst>
          </p:cNvPr>
          <p:cNvSpPr/>
          <p:nvPr/>
        </p:nvSpPr>
        <p:spPr>
          <a:xfrm>
            <a:off x="-579120" y="-579120"/>
            <a:ext cx="2743200" cy="2743200"/>
          </a:xfrm>
          <a:prstGeom prst="ellipse">
            <a:avLst/>
          </a:prstGeom>
          <a:solidFill>
            <a:srgbClr val="263980">
              <a:alpha val="60000"/>
            </a:srgbClr>
          </a:solidFill>
          <a:ln w="12700">
            <a:solidFill>
              <a:srgbClr val="2639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2C0542-5879-646B-61EF-A0E7B5CC8C76}"/>
              </a:ext>
            </a:extLst>
          </p:cNvPr>
          <p:cNvSpPr/>
          <p:nvPr/>
        </p:nvSpPr>
        <p:spPr>
          <a:xfrm>
            <a:off x="7924800" y="3352800"/>
            <a:ext cx="2286000" cy="2286000"/>
          </a:xfrm>
          <a:prstGeom prst="ellipse">
            <a:avLst/>
          </a:prstGeom>
          <a:solidFill>
            <a:srgbClr val="7F52A0">
              <a:alpha val="60000"/>
            </a:srgbClr>
          </a:solidFill>
          <a:ln w="12700">
            <a:solidFill>
              <a:srgbClr val="7F52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17" name="Google Shape;1117;p28"/>
          <p:cNvSpPr/>
          <p:nvPr/>
        </p:nvSpPr>
        <p:spPr>
          <a:xfrm>
            <a:off x="-731520" y="-73152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60000"/>
            </a:srgbClr>
          </a:solidFill>
          <a:ln w="12700" cap="flat" cmpd="sng">
            <a:solidFill>
              <a:srgbClr val="26398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28"/>
          <p:cNvSpPr/>
          <p:nvPr/>
        </p:nvSpPr>
        <p:spPr>
          <a:xfrm>
            <a:off x="7772400" y="32004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60000"/>
            </a:srgbClr>
          </a:solidFill>
          <a:ln w="12700" cap="flat" cmpd="sng">
            <a:solidFill>
              <a:srgbClr val="7F52A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28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confianza que nos impulsa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8"/>
          <p:cNvSpPr/>
          <p:nvPr/>
        </p:nvSpPr>
        <p:spPr>
          <a:xfrm>
            <a:off x="3794760" y="868680"/>
            <a:ext cx="155448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28"/>
          <p:cNvSpPr/>
          <p:nvPr/>
        </p:nvSpPr>
        <p:spPr>
          <a:xfrm>
            <a:off x="685800" y="1371600"/>
            <a:ext cx="1828800" cy="2606040"/>
          </a:xfrm>
          <a:prstGeom prst="rect">
            <a:avLst/>
          </a:prstGeom>
          <a:solidFill>
            <a:srgbClr val="263980">
              <a:alpha val="74901"/>
            </a:srgbClr>
          </a:solidFill>
          <a:ln w="1905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8"/>
          <p:cNvSpPr/>
          <p:nvPr/>
        </p:nvSpPr>
        <p:spPr>
          <a:xfrm>
            <a:off x="685800" y="1371600"/>
            <a:ext cx="1828800" cy="7315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28"/>
          <p:cNvSpPr/>
          <p:nvPr/>
        </p:nvSpPr>
        <p:spPr>
          <a:xfrm>
            <a:off x="1325880" y="157276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4" name="Google Shape;1124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6230" y="1633118"/>
            <a:ext cx="425196" cy="425196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1125" name="Google Shape;1125;p28"/>
          <p:cNvSpPr/>
          <p:nvPr/>
        </p:nvSpPr>
        <p:spPr>
          <a:xfrm>
            <a:off x="685800" y="221284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+60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8"/>
          <p:cNvSpPr/>
          <p:nvPr/>
        </p:nvSpPr>
        <p:spPr>
          <a:xfrm>
            <a:off x="777240" y="3017520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Empresas transformadas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Odoo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8"/>
          <p:cNvSpPr/>
          <p:nvPr/>
        </p:nvSpPr>
        <p:spPr>
          <a:xfrm>
            <a:off x="2715768" y="1371600"/>
            <a:ext cx="1828800" cy="2606040"/>
          </a:xfrm>
          <a:prstGeom prst="rect">
            <a:avLst/>
          </a:prstGeom>
          <a:solidFill>
            <a:srgbClr val="263980">
              <a:alpha val="74901"/>
            </a:srgbClr>
          </a:solidFill>
          <a:ln w="1905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28"/>
          <p:cNvSpPr/>
          <p:nvPr/>
        </p:nvSpPr>
        <p:spPr>
          <a:xfrm>
            <a:off x="2715768" y="1371600"/>
            <a:ext cx="1828800" cy="7315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28"/>
          <p:cNvSpPr/>
          <p:nvPr/>
        </p:nvSpPr>
        <p:spPr>
          <a:xfrm>
            <a:off x="3355848" y="157276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0" name="Google Shape;1130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6198" y="1633118"/>
            <a:ext cx="425196" cy="425196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1131" name="Google Shape;1131;p28"/>
          <p:cNvSpPr/>
          <p:nvPr/>
        </p:nvSpPr>
        <p:spPr>
          <a:xfrm>
            <a:off x="2715768" y="221284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8"/>
          <p:cNvSpPr/>
          <p:nvPr/>
        </p:nvSpPr>
        <p:spPr>
          <a:xfrm>
            <a:off x="2807208" y="3017520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Proyectos de manufactura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operación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8"/>
          <p:cNvSpPr/>
          <p:nvPr/>
        </p:nvSpPr>
        <p:spPr>
          <a:xfrm>
            <a:off x="4745736" y="1371600"/>
            <a:ext cx="1828800" cy="2606040"/>
          </a:xfrm>
          <a:prstGeom prst="rect">
            <a:avLst/>
          </a:prstGeom>
          <a:solidFill>
            <a:srgbClr val="263980">
              <a:alpha val="74901"/>
            </a:srgbClr>
          </a:solidFill>
          <a:ln w="1905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28"/>
          <p:cNvSpPr/>
          <p:nvPr/>
        </p:nvSpPr>
        <p:spPr>
          <a:xfrm>
            <a:off x="4745736" y="1371600"/>
            <a:ext cx="1828800" cy="7315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28"/>
          <p:cNvSpPr/>
          <p:nvPr/>
        </p:nvSpPr>
        <p:spPr>
          <a:xfrm>
            <a:off x="5385816" y="157276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6" name="Google Shape;1136;p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6166" y="1633118"/>
            <a:ext cx="425196" cy="425196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1137" name="Google Shape;1137;p28"/>
          <p:cNvSpPr/>
          <p:nvPr/>
        </p:nvSpPr>
        <p:spPr>
          <a:xfrm>
            <a:off x="4745736" y="221284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15+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8"/>
          <p:cNvSpPr/>
          <p:nvPr/>
        </p:nvSpPr>
        <p:spPr>
          <a:xfrm>
            <a:off x="4837176" y="3017520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Tiendas en línea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vendiendo hoy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8"/>
          <p:cNvSpPr/>
          <p:nvPr/>
        </p:nvSpPr>
        <p:spPr>
          <a:xfrm>
            <a:off x="6775704" y="1371600"/>
            <a:ext cx="1828800" cy="2606040"/>
          </a:xfrm>
          <a:prstGeom prst="rect">
            <a:avLst/>
          </a:prstGeom>
          <a:solidFill>
            <a:srgbClr val="263980">
              <a:alpha val="74901"/>
            </a:srgbClr>
          </a:solidFill>
          <a:ln w="1905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28"/>
          <p:cNvSpPr/>
          <p:nvPr/>
        </p:nvSpPr>
        <p:spPr>
          <a:xfrm>
            <a:off x="6775704" y="1371600"/>
            <a:ext cx="1828800" cy="7315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28"/>
          <p:cNvSpPr/>
          <p:nvPr/>
        </p:nvSpPr>
        <p:spPr>
          <a:xfrm>
            <a:off x="7415784" y="157276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2" name="Google Shape;1142;p2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76134" y="1633118"/>
            <a:ext cx="425196" cy="425196"/>
          </a:xfrm>
          <a:prstGeom prst="rect">
            <a:avLst/>
          </a:prstGeom>
          <a:solidFill>
            <a:srgbClr val="46C2CE"/>
          </a:solidFill>
          <a:ln w="76200">
            <a:solidFill>
              <a:srgbClr val="46C2CE"/>
            </a:solidFill>
          </a:ln>
        </p:spPr>
      </p:pic>
      <p:sp>
        <p:nvSpPr>
          <p:cNvPr id="1143" name="Google Shape;1143;p28"/>
          <p:cNvSpPr/>
          <p:nvPr/>
        </p:nvSpPr>
        <p:spPr>
          <a:xfrm>
            <a:off x="6775704" y="221284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8"/>
          <p:cNvSpPr/>
          <p:nvPr/>
        </p:nvSpPr>
        <p:spPr>
          <a:xfrm>
            <a:off x="6867144" y="3017520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Sistemas POS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operación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Zimapán, Hidalgo, México  ·  +52 1 771 101 4687  ·  sunname.com.mx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2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29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29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Clientes que confían en Sunname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9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Empresas reales en manufactura, retail y más sectores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9"/>
          <p:cNvSpPr/>
          <p:nvPr/>
        </p:nvSpPr>
        <p:spPr>
          <a:xfrm>
            <a:off x="365760" y="1115568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Más de 60 empresas a lo largo de México han transformado su operación con nuestras implementaciones Odoo.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9"/>
          <p:cNvSpPr/>
          <p:nvPr/>
        </p:nvSpPr>
        <p:spPr>
          <a:xfrm>
            <a:off x="320040" y="1810512"/>
            <a:ext cx="2743200" cy="13258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29"/>
          <p:cNvSpPr/>
          <p:nvPr/>
        </p:nvSpPr>
        <p:spPr>
          <a:xfrm>
            <a:off x="320040" y="1810512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29"/>
          <p:cNvSpPr/>
          <p:nvPr/>
        </p:nvSpPr>
        <p:spPr>
          <a:xfrm>
            <a:off x="438912" y="1975104"/>
            <a:ext cx="603504" cy="60350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9" name="Google Shape;1159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297" y="2041489"/>
            <a:ext cx="467716" cy="46771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160" name="Google Shape;1160;p29"/>
          <p:cNvSpPr/>
          <p:nvPr/>
        </p:nvSpPr>
        <p:spPr>
          <a:xfrm>
            <a:off x="1161288" y="19019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9"/>
          <p:cNvSpPr/>
          <p:nvPr/>
        </p:nvSpPr>
        <p:spPr>
          <a:xfrm>
            <a:off x="1161288" y="2286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10+ proyectos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en operación activa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9"/>
          <p:cNvSpPr/>
          <p:nvPr/>
        </p:nvSpPr>
        <p:spPr>
          <a:xfrm>
            <a:off x="3264408" y="1810512"/>
            <a:ext cx="2743200" cy="13258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29"/>
          <p:cNvSpPr/>
          <p:nvPr/>
        </p:nvSpPr>
        <p:spPr>
          <a:xfrm>
            <a:off x="3264408" y="1810512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29"/>
          <p:cNvSpPr/>
          <p:nvPr/>
        </p:nvSpPr>
        <p:spPr>
          <a:xfrm>
            <a:off x="3383280" y="1975104"/>
            <a:ext cx="603504" cy="60350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5" name="Google Shape;1165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9665" y="2041489"/>
            <a:ext cx="467716" cy="467716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1166" name="Google Shape;1166;p29"/>
          <p:cNvSpPr/>
          <p:nvPr/>
        </p:nvSpPr>
        <p:spPr>
          <a:xfrm>
            <a:off x="4105656" y="19019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9"/>
          <p:cNvSpPr/>
          <p:nvPr/>
        </p:nvSpPr>
        <p:spPr>
          <a:xfrm>
            <a:off x="4105656" y="2286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15+ tiendas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en línea activas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9"/>
          <p:cNvSpPr/>
          <p:nvPr/>
        </p:nvSpPr>
        <p:spPr>
          <a:xfrm>
            <a:off x="6208776" y="1810512"/>
            <a:ext cx="2743200" cy="13258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29"/>
          <p:cNvSpPr/>
          <p:nvPr/>
        </p:nvSpPr>
        <p:spPr>
          <a:xfrm>
            <a:off x="6208776" y="1810512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29"/>
          <p:cNvSpPr/>
          <p:nvPr/>
        </p:nvSpPr>
        <p:spPr>
          <a:xfrm>
            <a:off x="6327648" y="1975104"/>
            <a:ext cx="603504" cy="60350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1" name="Google Shape;1171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4033" y="2041489"/>
            <a:ext cx="467716" cy="46771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172" name="Google Shape;1172;p29"/>
          <p:cNvSpPr/>
          <p:nvPr/>
        </p:nvSpPr>
        <p:spPr>
          <a:xfrm>
            <a:off x="7050024" y="19019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Punto de Venta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9"/>
          <p:cNvSpPr/>
          <p:nvPr/>
        </p:nvSpPr>
        <p:spPr>
          <a:xfrm>
            <a:off x="7050024" y="2286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10+ sistemas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POS operando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9"/>
          <p:cNvSpPr/>
          <p:nvPr/>
        </p:nvSpPr>
        <p:spPr>
          <a:xfrm>
            <a:off x="320040" y="3319272"/>
            <a:ext cx="2743200" cy="13258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29"/>
          <p:cNvSpPr/>
          <p:nvPr/>
        </p:nvSpPr>
        <p:spPr>
          <a:xfrm>
            <a:off x="320040" y="3319272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29"/>
          <p:cNvSpPr/>
          <p:nvPr/>
        </p:nvSpPr>
        <p:spPr>
          <a:xfrm>
            <a:off x="438912" y="3483864"/>
            <a:ext cx="603504" cy="60350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7" name="Google Shape;1177;p2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5297" y="3550249"/>
            <a:ext cx="467716" cy="467716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1178" name="Google Shape;1178;p29"/>
          <p:cNvSpPr/>
          <p:nvPr/>
        </p:nvSpPr>
        <p:spPr>
          <a:xfrm>
            <a:off x="1161288" y="34107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29"/>
          <p:cNvSpPr/>
          <p:nvPr/>
        </p:nvSpPr>
        <p:spPr>
          <a:xfrm>
            <a:off x="1161288" y="37947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15+ tiendas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en línea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9"/>
          <p:cNvSpPr/>
          <p:nvPr/>
        </p:nvSpPr>
        <p:spPr>
          <a:xfrm>
            <a:off x="3264408" y="3319272"/>
            <a:ext cx="2743200" cy="13258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29"/>
          <p:cNvSpPr/>
          <p:nvPr/>
        </p:nvSpPr>
        <p:spPr>
          <a:xfrm>
            <a:off x="3264408" y="3319272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29"/>
          <p:cNvSpPr/>
          <p:nvPr/>
        </p:nvSpPr>
        <p:spPr>
          <a:xfrm>
            <a:off x="3383280" y="3483864"/>
            <a:ext cx="603504" cy="60350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3" name="Google Shape;1183;p2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49665" y="3550249"/>
            <a:ext cx="467716" cy="46771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184" name="Google Shape;1184;p29"/>
          <p:cNvSpPr/>
          <p:nvPr/>
        </p:nvSpPr>
        <p:spPr>
          <a:xfrm>
            <a:off x="4105656" y="34107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9"/>
          <p:cNvSpPr/>
          <p:nvPr/>
        </p:nvSpPr>
        <p:spPr>
          <a:xfrm>
            <a:off x="4105656" y="37947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Distribución 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almacenes integrados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9"/>
          <p:cNvSpPr/>
          <p:nvPr/>
        </p:nvSpPr>
        <p:spPr>
          <a:xfrm>
            <a:off x="6208776" y="3319272"/>
            <a:ext cx="2743200" cy="13258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29"/>
          <p:cNvSpPr/>
          <p:nvPr/>
        </p:nvSpPr>
        <p:spPr>
          <a:xfrm>
            <a:off x="6208776" y="3319272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29"/>
          <p:cNvSpPr/>
          <p:nvPr/>
        </p:nvSpPr>
        <p:spPr>
          <a:xfrm>
            <a:off x="6327648" y="3483864"/>
            <a:ext cx="603504" cy="60350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9" name="Google Shape;1189;p2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4033" y="3550249"/>
            <a:ext cx="467716" cy="467716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1190" name="Google Shape;1190;p29"/>
          <p:cNvSpPr/>
          <p:nvPr/>
        </p:nvSpPr>
        <p:spPr>
          <a:xfrm>
            <a:off x="7050024" y="34107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Servicios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9"/>
          <p:cNvSpPr/>
          <p:nvPr/>
        </p:nvSpPr>
        <p:spPr>
          <a:xfrm>
            <a:off x="7050024" y="37947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Empresas de servicios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con Odoo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29"/>
          <p:cNvSpPr/>
          <p:nvPr/>
        </p:nvSpPr>
        <p:spPr>
          <a:xfrm>
            <a:off x="457200" y="46908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Clientes en Hidalgo, CDMX, Jalisco, Estado de México, Nuevo León y más estados de la República.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3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30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3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dicen nuestros clientes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30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Empresas reales · Resultados reales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0"/>
          <p:cNvSpPr/>
          <p:nvPr/>
        </p:nvSpPr>
        <p:spPr>
          <a:xfrm>
            <a:off x="274320" y="1170432"/>
            <a:ext cx="2743200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30"/>
          <p:cNvSpPr/>
          <p:nvPr/>
        </p:nvSpPr>
        <p:spPr>
          <a:xfrm>
            <a:off x="274320" y="1170432"/>
            <a:ext cx="274320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30"/>
          <p:cNvSpPr/>
          <p:nvPr/>
        </p:nvSpPr>
        <p:spPr>
          <a:xfrm>
            <a:off x="384048" y="1298448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46C2CE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30"/>
          <p:cNvSpPr/>
          <p:nvPr/>
        </p:nvSpPr>
        <p:spPr>
          <a:xfrm>
            <a:off x="411480" y="1874520"/>
            <a:ext cx="2487168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realizada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Sunname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ha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ayudado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 resolver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muchas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nuestras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necesidades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y a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mejorar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procesos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abriéndonos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nuevas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oportunidades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negocio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30"/>
          <p:cNvSpPr/>
          <p:nvPr/>
        </p:nvSpPr>
        <p:spPr>
          <a:xfrm>
            <a:off x="411480" y="3794760"/>
            <a:ext cx="2468880" cy="3657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30"/>
          <p:cNvSpPr/>
          <p:nvPr/>
        </p:nvSpPr>
        <p:spPr>
          <a:xfrm>
            <a:off x="411480" y="3913632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30"/>
          <p:cNvSpPr/>
          <p:nvPr/>
        </p:nvSpPr>
        <p:spPr>
          <a:xfrm>
            <a:off x="411480" y="3913632"/>
            <a:ext cx="530352" cy="53035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0"/>
          <p:cNvSpPr/>
          <p:nvPr/>
        </p:nvSpPr>
        <p:spPr>
          <a:xfrm>
            <a:off x="1060704" y="393192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Rebeca Gómez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0"/>
          <p:cNvSpPr/>
          <p:nvPr/>
        </p:nvSpPr>
        <p:spPr>
          <a:xfrm>
            <a:off x="1060704" y="417880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Gerente de Ventas,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Ediciones El Naranjo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0"/>
          <p:cNvSpPr/>
          <p:nvPr/>
        </p:nvSpPr>
        <p:spPr>
          <a:xfrm>
            <a:off x="3218688" y="1170432"/>
            <a:ext cx="2743200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30"/>
          <p:cNvSpPr/>
          <p:nvPr/>
        </p:nvSpPr>
        <p:spPr>
          <a:xfrm>
            <a:off x="3218688" y="1170432"/>
            <a:ext cx="274320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30"/>
          <p:cNvSpPr/>
          <p:nvPr/>
        </p:nvSpPr>
        <p:spPr>
          <a:xfrm>
            <a:off x="3328416" y="1298448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46C2CE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0"/>
          <p:cNvSpPr/>
          <p:nvPr/>
        </p:nvSpPr>
        <p:spPr>
          <a:xfrm>
            <a:off x="3355848" y="1874520"/>
            <a:ext cx="2487168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Gracias al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trabajo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Sunname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logramos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hacer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eficientes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nuestros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procesos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internos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fortalecer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compromiso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 Impacto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muy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positivo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operaciones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1" u="none" strike="noStrike" cap="none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diarias</a:t>
            </a:r>
            <a:r>
              <a:rPr lang="en-US" sz="1150" b="0" i="1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0"/>
          <p:cNvSpPr/>
          <p:nvPr/>
        </p:nvSpPr>
        <p:spPr>
          <a:xfrm>
            <a:off x="3355848" y="3794760"/>
            <a:ext cx="2468880" cy="3657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30"/>
          <p:cNvSpPr/>
          <p:nvPr/>
        </p:nvSpPr>
        <p:spPr>
          <a:xfrm>
            <a:off x="3355848" y="3913632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30"/>
          <p:cNvSpPr/>
          <p:nvPr/>
        </p:nvSpPr>
        <p:spPr>
          <a:xfrm>
            <a:off x="3355848" y="3913632"/>
            <a:ext cx="530352" cy="53035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0"/>
          <p:cNvSpPr/>
          <p:nvPr/>
        </p:nvSpPr>
        <p:spPr>
          <a:xfrm>
            <a:off x="4005072" y="393192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Laura Torres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0"/>
          <p:cNvSpPr/>
          <p:nvPr/>
        </p:nvSpPr>
        <p:spPr>
          <a:xfrm>
            <a:off x="4005072" y="417880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CEO,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Tienda Nova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0"/>
          <p:cNvSpPr/>
          <p:nvPr/>
        </p:nvSpPr>
        <p:spPr>
          <a:xfrm>
            <a:off x="6163056" y="1170432"/>
            <a:ext cx="2743200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30"/>
          <p:cNvSpPr/>
          <p:nvPr/>
        </p:nvSpPr>
        <p:spPr>
          <a:xfrm>
            <a:off x="6163056" y="1170432"/>
            <a:ext cx="2743200" cy="5943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30"/>
          <p:cNvSpPr/>
          <p:nvPr/>
        </p:nvSpPr>
        <p:spPr>
          <a:xfrm>
            <a:off x="6272784" y="1298448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46C2CE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0"/>
          <p:cNvSpPr/>
          <p:nvPr/>
        </p:nvSpPr>
        <p:spPr>
          <a:xfrm>
            <a:off x="6300216" y="1874520"/>
            <a:ext cx="2487168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 personalización de Sunname y el acompañamiento cercano durante todo el proceso fueron clave para alcanzar los objetivos. Su atención a los detalles marcó la diferencia.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0"/>
          <p:cNvSpPr/>
          <p:nvPr/>
        </p:nvSpPr>
        <p:spPr>
          <a:xfrm>
            <a:off x="6300216" y="3794760"/>
            <a:ext cx="2468880" cy="3657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30"/>
          <p:cNvSpPr/>
          <p:nvPr/>
        </p:nvSpPr>
        <p:spPr>
          <a:xfrm>
            <a:off x="6300216" y="3913632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30"/>
          <p:cNvSpPr/>
          <p:nvPr/>
        </p:nvSpPr>
        <p:spPr>
          <a:xfrm>
            <a:off x="6300216" y="3913632"/>
            <a:ext cx="530352" cy="53035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JL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0"/>
          <p:cNvSpPr/>
          <p:nvPr/>
        </p:nvSpPr>
        <p:spPr>
          <a:xfrm>
            <a:off x="6949440" y="393192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Javier López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0"/>
          <p:cNvSpPr/>
          <p:nvPr/>
        </p:nvSpPr>
        <p:spPr>
          <a:xfrm>
            <a:off x="6949440" y="417880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Gerente IT,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Logística Express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3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3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3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Preguntas Frecuentes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1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Resolvemos tus dudas antes de empezar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1"/>
          <p:cNvSpPr/>
          <p:nvPr/>
        </p:nvSpPr>
        <p:spPr>
          <a:xfrm>
            <a:off x="320040" y="1143000"/>
            <a:ext cx="420624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31"/>
          <p:cNvSpPr/>
          <p:nvPr/>
        </p:nvSpPr>
        <p:spPr>
          <a:xfrm>
            <a:off x="320040" y="1143000"/>
            <a:ext cx="64008" cy="117043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31"/>
          <p:cNvSpPr/>
          <p:nvPr/>
        </p:nvSpPr>
        <p:spPr>
          <a:xfrm>
            <a:off x="484632" y="126187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31"/>
          <p:cNvSpPr/>
          <p:nvPr/>
        </p:nvSpPr>
        <p:spPr>
          <a:xfrm>
            <a:off x="484632" y="1261872"/>
            <a:ext cx="347472" cy="34747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1"/>
          <p:cNvSpPr/>
          <p:nvPr/>
        </p:nvSpPr>
        <p:spPr>
          <a:xfrm>
            <a:off x="960120" y="1234440"/>
            <a:ext cx="34564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¿Cuánto tiempo dura una implementación?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31"/>
          <p:cNvSpPr/>
          <p:nvPr/>
        </p:nvSpPr>
        <p:spPr>
          <a:xfrm>
            <a:off x="484632" y="1673352"/>
            <a:ext cx="39136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 3 y 6 meses según el alcance. Proyectos ágiles con hitos claros. Puedes arrancar con módulos esenciales e ir agregando.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1"/>
          <p:cNvSpPr/>
          <p:nvPr/>
        </p:nvSpPr>
        <p:spPr>
          <a:xfrm>
            <a:off x="4754880" y="1143000"/>
            <a:ext cx="420624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31"/>
          <p:cNvSpPr/>
          <p:nvPr/>
        </p:nvSpPr>
        <p:spPr>
          <a:xfrm>
            <a:off x="4754880" y="1143000"/>
            <a:ext cx="64008" cy="117043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31"/>
          <p:cNvSpPr/>
          <p:nvPr/>
        </p:nvSpPr>
        <p:spPr>
          <a:xfrm>
            <a:off x="4919472" y="1261872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31"/>
          <p:cNvSpPr/>
          <p:nvPr/>
        </p:nvSpPr>
        <p:spPr>
          <a:xfrm>
            <a:off x="4919472" y="1261872"/>
            <a:ext cx="347472" cy="34747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1"/>
          <p:cNvSpPr/>
          <p:nvPr/>
        </p:nvSpPr>
        <p:spPr>
          <a:xfrm>
            <a:off x="5394960" y="1234440"/>
            <a:ext cx="34564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¿Odoo funciona con CFDI y el SAT?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1"/>
          <p:cNvSpPr/>
          <p:nvPr/>
        </p:nvSpPr>
        <p:spPr>
          <a:xfrm>
            <a:off x="4919472" y="1673352"/>
            <a:ext cx="39136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Sí. Localización mexicana completa: CFDI 4.0, complementos de pago, carta porte, DIOT y todos los requisitos fiscales.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1"/>
          <p:cNvSpPr/>
          <p:nvPr/>
        </p:nvSpPr>
        <p:spPr>
          <a:xfrm>
            <a:off x="320040" y="2441448"/>
            <a:ext cx="420624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1"/>
          <p:cNvSpPr/>
          <p:nvPr/>
        </p:nvSpPr>
        <p:spPr>
          <a:xfrm>
            <a:off x="320040" y="2441448"/>
            <a:ext cx="64008" cy="117043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31"/>
          <p:cNvSpPr/>
          <p:nvPr/>
        </p:nvSpPr>
        <p:spPr>
          <a:xfrm>
            <a:off x="484632" y="2560320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31"/>
          <p:cNvSpPr/>
          <p:nvPr/>
        </p:nvSpPr>
        <p:spPr>
          <a:xfrm>
            <a:off x="484632" y="2560320"/>
            <a:ext cx="347472" cy="34747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1"/>
          <p:cNvSpPr/>
          <p:nvPr/>
        </p:nvSpPr>
        <p:spPr>
          <a:xfrm>
            <a:off x="960120" y="2532888"/>
            <a:ext cx="34564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¿Qué pasa si necesito algo que Odoo no hace?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1"/>
          <p:cNvSpPr/>
          <p:nvPr/>
        </p:nvSpPr>
        <p:spPr>
          <a:xfrm>
            <a:off x="484632" y="2971800"/>
            <a:ext cx="39136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 desarrollamos. +100 desarrollos personalizados entregados. Sin restricciones y con documentación completa.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31"/>
          <p:cNvSpPr/>
          <p:nvPr/>
        </p:nvSpPr>
        <p:spPr>
          <a:xfrm>
            <a:off x="4754880" y="2441448"/>
            <a:ext cx="420624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31"/>
          <p:cNvSpPr/>
          <p:nvPr/>
        </p:nvSpPr>
        <p:spPr>
          <a:xfrm>
            <a:off x="4754880" y="2441448"/>
            <a:ext cx="64008" cy="117043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31"/>
          <p:cNvSpPr/>
          <p:nvPr/>
        </p:nvSpPr>
        <p:spPr>
          <a:xfrm>
            <a:off x="4919472" y="2560320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31"/>
          <p:cNvSpPr/>
          <p:nvPr/>
        </p:nvSpPr>
        <p:spPr>
          <a:xfrm>
            <a:off x="4919472" y="2560320"/>
            <a:ext cx="347472" cy="34747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1"/>
          <p:cNvSpPr/>
          <p:nvPr/>
        </p:nvSpPr>
        <p:spPr>
          <a:xfrm>
            <a:off x="5394960" y="2532888"/>
            <a:ext cx="34564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¿Puedo migrar mis datos del sistema actual?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1"/>
          <p:cNvSpPr/>
          <p:nvPr/>
        </p:nvSpPr>
        <p:spPr>
          <a:xfrm>
            <a:off x="4919472" y="2971800"/>
            <a:ext cx="39136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Sí. Migramos clientes, productos, inventario, historial desde Excel, sistemas anteriores o cualquier fuente.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31"/>
          <p:cNvSpPr/>
          <p:nvPr/>
        </p:nvSpPr>
        <p:spPr>
          <a:xfrm>
            <a:off x="320040" y="3739896"/>
            <a:ext cx="420624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31"/>
          <p:cNvSpPr/>
          <p:nvPr/>
        </p:nvSpPr>
        <p:spPr>
          <a:xfrm>
            <a:off x="320040" y="3739896"/>
            <a:ext cx="64008" cy="117043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31"/>
          <p:cNvSpPr/>
          <p:nvPr/>
        </p:nvSpPr>
        <p:spPr>
          <a:xfrm>
            <a:off x="484632" y="3858768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31"/>
          <p:cNvSpPr/>
          <p:nvPr/>
        </p:nvSpPr>
        <p:spPr>
          <a:xfrm>
            <a:off x="484632" y="3858768"/>
            <a:ext cx="347472" cy="34747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1"/>
          <p:cNvSpPr/>
          <p:nvPr/>
        </p:nvSpPr>
        <p:spPr>
          <a:xfrm>
            <a:off x="960120" y="3831336"/>
            <a:ext cx="34564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¿Qué incluye el soporte post-implementación?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1"/>
          <p:cNvSpPr/>
          <p:nvPr/>
        </p:nvSpPr>
        <p:spPr>
          <a:xfrm>
            <a:off x="484632" y="4270248"/>
            <a:ext cx="39136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15-30 días de soporte sin costo adicional más garantía de 2 meses. Después, pólizas mensuales flexibles.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1"/>
          <p:cNvSpPr/>
          <p:nvPr/>
        </p:nvSpPr>
        <p:spPr>
          <a:xfrm>
            <a:off x="4754880" y="3739896"/>
            <a:ext cx="4206240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31"/>
          <p:cNvSpPr/>
          <p:nvPr/>
        </p:nvSpPr>
        <p:spPr>
          <a:xfrm>
            <a:off x="4754880" y="3739896"/>
            <a:ext cx="64008" cy="117043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31"/>
          <p:cNvSpPr/>
          <p:nvPr/>
        </p:nvSpPr>
        <p:spPr>
          <a:xfrm>
            <a:off x="4919472" y="3858768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31"/>
          <p:cNvSpPr/>
          <p:nvPr/>
        </p:nvSpPr>
        <p:spPr>
          <a:xfrm>
            <a:off x="4919472" y="3858768"/>
            <a:ext cx="347472" cy="34747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1"/>
          <p:cNvSpPr/>
          <p:nvPr/>
        </p:nvSpPr>
        <p:spPr>
          <a:xfrm>
            <a:off x="5394960" y="3831336"/>
            <a:ext cx="34564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¿Puedo empezar con pocos módulos?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1"/>
          <p:cNvSpPr/>
          <p:nvPr/>
        </p:nvSpPr>
        <p:spPr>
          <a:xfrm>
            <a:off x="4919472" y="4270248"/>
            <a:ext cx="39136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Absolutamente. Odoo es modular y escalable. Arrancas con lo esencial y agregas módulos conforme creces.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3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3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3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iniciamos juntos?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2"/>
          <p:cNvSpPr/>
          <p:nvPr/>
        </p:nvSpPr>
        <p:spPr>
          <a:xfrm>
            <a:off x="365760" y="57607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Tu transformación digital comienza con una conversación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4" name="Google Shape;1284;p32"/>
          <p:cNvCxnSpPr/>
          <p:nvPr/>
        </p:nvCxnSpPr>
        <p:spPr>
          <a:xfrm>
            <a:off x="1051560" y="2193393"/>
            <a:ext cx="6766560" cy="0"/>
          </a:xfrm>
          <a:prstGeom prst="straightConnector1">
            <a:avLst/>
          </a:prstGeom>
          <a:noFill/>
          <a:ln w="31750" cap="flat" cmpd="sng">
            <a:solidFill>
              <a:srgbClr val="46C2CE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85" name="Google Shape;1285;p32"/>
          <p:cNvSpPr/>
          <p:nvPr/>
        </p:nvSpPr>
        <p:spPr>
          <a:xfrm>
            <a:off x="777240" y="1242092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6" name="Google Shape;1286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882" y="1352734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287" name="Google Shape;1287;p32"/>
          <p:cNvSpPr/>
          <p:nvPr/>
        </p:nvSpPr>
        <p:spPr>
          <a:xfrm>
            <a:off x="1856232" y="12603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32"/>
          <p:cNvSpPr/>
          <p:nvPr/>
        </p:nvSpPr>
        <p:spPr>
          <a:xfrm>
            <a:off x="1856232" y="1260380"/>
            <a:ext cx="36576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2"/>
          <p:cNvSpPr/>
          <p:nvPr/>
        </p:nvSpPr>
        <p:spPr>
          <a:xfrm>
            <a:off x="320040" y="2423160"/>
            <a:ext cx="196596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32"/>
          <p:cNvSpPr/>
          <p:nvPr/>
        </p:nvSpPr>
        <p:spPr>
          <a:xfrm>
            <a:off x="320040" y="2423160"/>
            <a:ext cx="196596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32"/>
          <p:cNvSpPr/>
          <p:nvPr/>
        </p:nvSpPr>
        <p:spPr>
          <a:xfrm>
            <a:off x="411480" y="25603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Agenda tu demo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32"/>
          <p:cNvSpPr/>
          <p:nvPr/>
        </p:nvSpPr>
        <p:spPr>
          <a:xfrm>
            <a:off x="411480" y="3035808"/>
            <a:ext cx="17830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Reserva 30 minutos con nuestro equipo. Sin compromiso. Te mostramos Odoo funcionando para tu industria.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2"/>
          <p:cNvSpPr/>
          <p:nvPr/>
        </p:nvSpPr>
        <p:spPr>
          <a:xfrm>
            <a:off x="411480" y="4206240"/>
            <a:ext cx="1417320" cy="27432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32"/>
          <p:cNvSpPr/>
          <p:nvPr/>
        </p:nvSpPr>
        <p:spPr>
          <a:xfrm>
            <a:off x="411480" y="42062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sunname.com.mx/book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2"/>
          <p:cNvSpPr/>
          <p:nvPr/>
        </p:nvSpPr>
        <p:spPr>
          <a:xfrm>
            <a:off x="2953512" y="1242092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6" name="Google Shape;1296;p3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4154" y="1352734"/>
            <a:ext cx="779526" cy="779526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1297" name="Google Shape;1297;p32"/>
          <p:cNvSpPr/>
          <p:nvPr/>
        </p:nvSpPr>
        <p:spPr>
          <a:xfrm>
            <a:off x="4032504" y="12603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8" name="Google Shape;1298;p32"/>
          <p:cNvSpPr/>
          <p:nvPr/>
        </p:nvSpPr>
        <p:spPr>
          <a:xfrm>
            <a:off x="4032504" y="1260380"/>
            <a:ext cx="36576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2"/>
          <p:cNvSpPr/>
          <p:nvPr/>
        </p:nvSpPr>
        <p:spPr>
          <a:xfrm>
            <a:off x="2496312" y="2423160"/>
            <a:ext cx="196596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32"/>
          <p:cNvSpPr/>
          <p:nvPr/>
        </p:nvSpPr>
        <p:spPr>
          <a:xfrm>
            <a:off x="2496312" y="2423160"/>
            <a:ext cx="196596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32"/>
          <p:cNvSpPr/>
          <p:nvPr/>
        </p:nvSpPr>
        <p:spPr>
          <a:xfrm>
            <a:off x="2587752" y="25603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Diagnóstico gratuito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2"/>
          <p:cNvSpPr/>
          <p:nvPr/>
        </p:nvSpPr>
        <p:spPr>
          <a:xfrm>
            <a:off x="2587752" y="3035808"/>
            <a:ext cx="17830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Analizamos tu operación e identificamos los módulos y personalizaciones exactas que necesitas.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2"/>
          <p:cNvSpPr/>
          <p:nvPr/>
        </p:nvSpPr>
        <p:spPr>
          <a:xfrm>
            <a:off x="2587752" y="4206240"/>
            <a:ext cx="1417320" cy="27432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32"/>
          <p:cNvSpPr/>
          <p:nvPr/>
        </p:nvSpPr>
        <p:spPr>
          <a:xfrm>
            <a:off x="2587752" y="42062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costo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2"/>
          <p:cNvSpPr/>
          <p:nvPr/>
        </p:nvSpPr>
        <p:spPr>
          <a:xfrm>
            <a:off x="5129784" y="1242092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6" name="Google Shape;1306;p3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0426" y="1352734"/>
            <a:ext cx="779526" cy="779526"/>
          </a:xfrm>
          <a:prstGeom prst="rect">
            <a:avLst/>
          </a:prstGeom>
          <a:solidFill>
            <a:srgbClr val="263980"/>
          </a:solidFill>
          <a:ln w="76200">
            <a:solidFill>
              <a:srgbClr val="263980"/>
            </a:solidFill>
          </a:ln>
        </p:spPr>
      </p:pic>
      <p:sp>
        <p:nvSpPr>
          <p:cNvPr id="1307" name="Google Shape;1307;p32"/>
          <p:cNvSpPr/>
          <p:nvPr/>
        </p:nvSpPr>
        <p:spPr>
          <a:xfrm>
            <a:off x="6208776" y="12603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32"/>
          <p:cNvSpPr/>
          <p:nvPr/>
        </p:nvSpPr>
        <p:spPr>
          <a:xfrm>
            <a:off x="6208776" y="1260380"/>
            <a:ext cx="36576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2"/>
          <p:cNvSpPr/>
          <p:nvPr/>
        </p:nvSpPr>
        <p:spPr>
          <a:xfrm>
            <a:off x="4672584" y="2423160"/>
            <a:ext cx="196596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32"/>
          <p:cNvSpPr/>
          <p:nvPr/>
        </p:nvSpPr>
        <p:spPr>
          <a:xfrm>
            <a:off x="4672584" y="2423160"/>
            <a:ext cx="1965960" cy="5943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32"/>
          <p:cNvSpPr/>
          <p:nvPr/>
        </p:nvSpPr>
        <p:spPr>
          <a:xfrm>
            <a:off x="4764024" y="25603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Propuesta detallada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2"/>
          <p:cNvSpPr/>
          <p:nvPr/>
        </p:nvSpPr>
        <p:spPr>
          <a:xfrm>
            <a:off x="4764024" y="3035808"/>
            <a:ext cx="17830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Recibes una propuesta con módulos, cronograma e inversión desglosada. Sin sorpresas.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2"/>
          <p:cNvSpPr/>
          <p:nvPr/>
        </p:nvSpPr>
        <p:spPr>
          <a:xfrm>
            <a:off x="4764024" y="4206240"/>
            <a:ext cx="1417320" cy="27432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32"/>
          <p:cNvSpPr/>
          <p:nvPr/>
        </p:nvSpPr>
        <p:spPr>
          <a:xfrm>
            <a:off x="4764024" y="42062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1 semana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2"/>
          <p:cNvSpPr/>
          <p:nvPr/>
        </p:nvSpPr>
        <p:spPr>
          <a:xfrm>
            <a:off x="7306056" y="1242092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6" name="Google Shape;1316;p3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16698" y="1352734"/>
            <a:ext cx="779526" cy="779526"/>
          </a:xfrm>
          <a:prstGeom prst="rect">
            <a:avLst/>
          </a:prstGeom>
          <a:solidFill>
            <a:srgbClr val="7F52A0"/>
          </a:solidFill>
          <a:ln w="76200">
            <a:solidFill>
              <a:srgbClr val="7F52A0"/>
            </a:solidFill>
          </a:ln>
        </p:spPr>
      </p:pic>
      <p:sp>
        <p:nvSpPr>
          <p:cNvPr id="1317" name="Google Shape;1317;p32"/>
          <p:cNvSpPr/>
          <p:nvPr/>
        </p:nvSpPr>
        <p:spPr>
          <a:xfrm>
            <a:off x="8385048" y="12603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32"/>
          <p:cNvSpPr/>
          <p:nvPr/>
        </p:nvSpPr>
        <p:spPr>
          <a:xfrm>
            <a:off x="8385048" y="1260380"/>
            <a:ext cx="36576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32"/>
          <p:cNvSpPr/>
          <p:nvPr/>
        </p:nvSpPr>
        <p:spPr>
          <a:xfrm>
            <a:off x="6848856" y="2423160"/>
            <a:ext cx="196596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32"/>
          <p:cNvSpPr/>
          <p:nvPr/>
        </p:nvSpPr>
        <p:spPr>
          <a:xfrm>
            <a:off x="6848856" y="2423160"/>
            <a:ext cx="1965960" cy="5943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32"/>
          <p:cNvSpPr/>
          <p:nvPr/>
        </p:nvSpPr>
        <p:spPr>
          <a:xfrm>
            <a:off x="6940296" y="25603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Comenzamos juntos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2"/>
          <p:cNvSpPr/>
          <p:nvPr/>
        </p:nvSpPr>
        <p:spPr>
          <a:xfrm>
            <a:off x="6940296" y="3035808"/>
            <a:ext cx="17830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Asignamos tu equipo de implementación y agendamos la primera sesión de levantamiento.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32"/>
          <p:cNvSpPr/>
          <p:nvPr/>
        </p:nvSpPr>
        <p:spPr>
          <a:xfrm>
            <a:off x="6940296" y="4206240"/>
            <a:ext cx="1417320" cy="27432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32"/>
          <p:cNvSpPr/>
          <p:nvPr/>
        </p:nvSpPr>
        <p:spPr>
          <a:xfrm>
            <a:off x="6940296" y="42062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¡A implementar!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32"/>
          <p:cNvSpPr/>
          <p:nvPr/>
        </p:nvSpPr>
        <p:spPr>
          <a:xfrm>
            <a:off x="457200" y="472744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Sin compromiso  ·  Respuesta en menos de 24 horas  ·  Personalizada para tu industria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CDD1870F-C25D-445D-F0A2-48178EB02DB0}"/>
              </a:ext>
            </a:extLst>
          </p:cNvPr>
          <p:cNvSpPr/>
          <p:nvPr/>
        </p:nvSpPr>
        <p:spPr>
          <a:xfrm>
            <a:off x="-762000" y="-762000"/>
            <a:ext cx="3657600" cy="3657600"/>
          </a:xfrm>
          <a:prstGeom prst="ellipse">
            <a:avLst/>
          </a:prstGeom>
          <a:solidFill>
            <a:srgbClr val="263980">
              <a:alpha val="55000"/>
            </a:srgbClr>
          </a:solidFill>
          <a:ln w="12700">
            <a:solidFill>
              <a:srgbClr val="2639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6E3F5C9-0315-7B93-735B-BBBFF678CA8B}"/>
              </a:ext>
            </a:extLst>
          </p:cNvPr>
          <p:cNvSpPr/>
          <p:nvPr/>
        </p:nvSpPr>
        <p:spPr>
          <a:xfrm>
            <a:off x="7010400" y="2895600"/>
            <a:ext cx="3200400" cy="3200400"/>
          </a:xfrm>
          <a:prstGeom prst="ellipse">
            <a:avLst/>
          </a:prstGeom>
          <a:solidFill>
            <a:srgbClr val="7F52A0">
              <a:alpha val="55000"/>
            </a:srgbClr>
          </a:solidFill>
          <a:ln w="12700">
            <a:solidFill>
              <a:srgbClr val="7F52A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32" name="Google Shape;1332;p33"/>
          <p:cNvSpPr/>
          <p:nvPr/>
        </p:nvSpPr>
        <p:spPr>
          <a:xfrm>
            <a:off x="-914400" y="-9144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54901"/>
            </a:srgbClr>
          </a:solidFill>
          <a:ln w="12700" cap="flat" cmpd="sng">
            <a:solidFill>
              <a:srgbClr val="26398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33"/>
          <p:cNvSpPr/>
          <p:nvPr/>
        </p:nvSpPr>
        <p:spPr>
          <a:xfrm>
            <a:off x="6858000" y="2743200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54901"/>
            </a:srgbClr>
          </a:solidFill>
          <a:ln w="12700" cap="flat" cmpd="sng">
            <a:solidFill>
              <a:srgbClr val="7F52A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33"/>
          <p:cNvSpPr/>
          <p:nvPr/>
        </p:nvSpPr>
        <p:spPr>
          <a:xfrm>
            <a:off x="457200" y="5029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¿Listo para transformar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operación con Odoo?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33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Agenda una demo sin compromiso y descubre cómo Odoo puede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D0E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5D0E8"/>
                </a:solidFill>
                <a:latin typeface="Calibri"/>
                <a:ea typeface="Calibri"/>
                <a:cs typeface="Calibri"/>
                <a:sym typeface="Calibri"/>
              </a:rPr>
              <a:t>optimizar tu manufactura o retail en 3-6 meses.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33"/>
          <p:cNvSpPr/>
          <p:nvPr/>
        </p:nvSpPr>
        <p:spPr>
          <a:xfrm>
            <a:off x="1188720" y="2907792"/>
            <a:ext cx="2834640" cy="6583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33"/>
          <p:cNvSpPr/>
          <p:nvPr/>
        </p:nvSpPr>
        <p:spPr>
          <a:xfrm>
            <a:off x="1188720" y="2907792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Agendar Demo Gratis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33"/>
          <p:cNvSpPr/>
          <p:nvPr/>
        </p:nvSpPr>
        <p:spPr>
          <a:xfrm>
            <a:off x="5120640" y="2907792"/>
            <a:ext cx="2834640" cy="658368"/>
          </a:xfrm>
          <a:prstGeom prst="rect">
            <a:avLst/>
          </a:prstGeom>
          <a:solidFill>
            <a:srgbClr val="263980"/>
          </a:solidFill>
          <a:ln w="1905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33"/>
          <p:cNvSpPr/>
          <p:nvPr/>
        </p:nvSpPr>
        <p:spPr>
          <a:xfrm>
            <a:off x="5120640" y="2907792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Hablar por WhatsApp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33"/>
          <p:cNvSpPr/>
          <p:nvPr/>
        </p:nvSpPr>
        <p:spPr>
          <a:xfrm>
            <a:off x="457200" y="37673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+52 1 771 101 4687  ·  sunname.com.mx  ·  Zimapán, Hidalgo, México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3"/>
          <p:cNvSpPr/>
          <p:nvPr/>
        </p:nvSpPr>
        <p:spPr>
          <a:xfrm>
            <a:off x="457200" y="41879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Sin compromiso  ·  30 minutos  ·  Personalizada para tu industria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33"/>
          <p:cNvSpPr/>
          <p:nvPr/>
        </p:nvSpPr>
        <p:spPr>
          <a:xfrm>
            <a:off x="1371600" y="46817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Partner oficial Odoo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33"/>
          <p:cNvSpPr/>
          <p:nvPr/>
        </p:nvSpPr>
        <p:spPr>
          <a:xfrm>
            <a:off x="3657600" y="46817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Soporte en español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33"/>
          <p:cNvSpPr/>
          <p:nvPr/>
        </p:nvSpPr>
        <p:spPr>
          <a:xfrm>
            <a:off x="5943600" y="46817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Implementación garantizada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3007</Words>
  <Application>Microsoft Office PowerPoint</Application>
  <PresentationFormat>Presentación en pantalla (16:9)</PresentationFormat>
  <Paragraphs>583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Eduardo Acevedo Garcia</cp:lastModifiedBy>
  <cp:revision>10</cp:revision>
  <dcterms:modified xsi:type="dcterms:W3CDTF">2026-02-20T06:20:34Z</dcterms:modified>
</cp:coreProperties>
</file>