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embeddedFontLst>
    <p:embeddedFont>
      <p:font typeface="Encode Sans" panose="020B0604020202020204" charset="0"/>
      <p:regular r:id="rId27"/>
      <p:bold r:id="rId28"/>
    </p:embeddedFont>
    <p:embeddedFont>
      <p:font typeface="Montserrat" pitchFamily="2" charset="0"/>
      <p:regular r:id="rId29"/>
      <p:bold r:id="rId30"/>
      <p:italic r:id="rId31"/>
      <p:boldItalic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50" userDrawn="1">
          <p15:clr>
            <a:srgbClr val="C35EA4"/>
          </p15:clr>
        </p15:guide>
        <p15:guide id="2" orient="horz" pos="340">
          <p15:clr>
            <a:srgbClr val="747775"/>
          </p15:clr>
        </p15:guide>
        <p15:guide id="3" orient="horz" pos="1620" userDrawn="1">
          <p15:clr>
            <a:srgbClr val="9FCC3B"/>
          </p15:clr>
        </p15:guide>
        <p15:guide id="4" orient="horz" pos="2981" userDrawn="1">
          <p15:clr>
            <a:srgbClr val="C35EA4"/>
          </p15:clr>
        </p15:guide>
        <p15:guide id="5" pos="2880" userDrawn="1">
          <p15:clr>
            <a:srgbClr val="9FCC3B"/>
          </p15:clr>
        </p15:guide>
        <p15:guide id="6" pos="5420" userDrawn="1">
          <p15:clr>
            <a:srgbClr val="C35EA4"/>
          </p15:clr>
        </p15:guide>
        <p15:guide id="7" orient="horz" pos="713" userDrawn="1">
          <p15:clr>
            <a:srgbClr val="F26B43"/>
          </p15:clr>
        </p15:guide>
        <p15:guide id="8" orient="horz" pos="1136">
          <p15:clr>
            <a:srgbClr val="747775"/>
          </p15:clr>
        </p15:guide>
        <p15:guide id="9" orient="horz" pos="397" userDrawn="1">
          <p15:clr>
            <a:srgbClr val="C35EA4"/>
          </p15:clr>
        </p15:guide>
        <p15:guide id="10" orient="horz" pos="826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83" autoAdjust="0"/>
  </p:normalViewPr>
  <p:slideViewPr>
    <p:cSldViewPr snapToGrid="0">
      <p:cViewPr varScale="1">
        <p:scale>
          <a:sx n="147" d="100"/>
          <a:sy n="147" d="100"/>
        </p:scale>
        <p:origin x="564" y="108"/>
      </p:cViewPr>
      <p:guideLst>
        <p:guide pos="350"/>
        <p:guide orient="horz" pos="340"/>
        <p:guide orient="horz" pos="1620"/>
        <p:guide orient="horz" pos="2981"/>
        <p:guide pos="2880"/>
        <p:guide pos="5420"/>
        <p:guide orient="horz" pos="713"/>
        <p:guide orient="horz" pos="1136"/>
        <p:guide orient="horz" pos="397"/>
        <p:guide orient="horz" pos="8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eb2e042f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eb2e042f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SLIDES_API1894116614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SLIDES_API1894116614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SLIDES_API1894116614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SLIDES_API1894116614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SLIDES_API1894116614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SLIDES_API1894116614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eb015945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eb015945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SLIDES_API1894116614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SLIDES_API1894116614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SLIDES_API1894116614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SLIDES_API1894116614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SLIDES_API1894116614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SLIDES_API1894116614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SLIDES_API1894116614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SLIDES_API1894116614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be9b4bb9a1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be9b4bb9a1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SLIDES_API1894116614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SLIDES_API1894116614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SLIDES_API1894116614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SLIDES_API1894116614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SLIDES_API1894116614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SLIDES_API1894116614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e9b4bb9a1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be9b4bb9a1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eb2e042f1_8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beb2e042f1_8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eb2e042f1_7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beb2e042f1_7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eb2e042f1_7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beb2e042f1_7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eb2e042f1_8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beb2e042f1_8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e82aa45d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be82aa45d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beb2e042f1_8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beb2e042f1_8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be82aa45d7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be82aa45d7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be82aa45d7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be82aa45d7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e82aa45d7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be82aa45d7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be82aa45d7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be82aa45d7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3" name="Google Shape;33;p7" title="Recurso 9@3x.png"/>
          <p:cNvPicPr preferRelativeResize="0"/>
          <p:nvPr/>
        </p:nvPicPr>
        <p:blipFill rotWithShape="1">
          <a:blip r:embed="rId2">
            <a:alphaModFix amt="10000"/>
          </a:blip>
          <a:srcRect r="34089"/>
          <a:stretch/>
        </p:blipFill>
        <p:spPr>
          <a:xfrm>
            <a:off x="5671425" y="-24500"/>
            <a:ext cx="3472575" cy="519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46" name="Google Shape;46;p10" title="Recurso 9@3x.png"/>
          <p:cNvPicPr preferRelativeResize="0"/>
          <p:nvPr/>
        </p:nvPicPr>
        <p:blipFill rotWithShape="1">
          <a:blip r:embed="rId2">
            <a:alphaModFix amt="10000"/>
          </a:blip>
          <a:srcRect r="34089"/>
          <a:stretch/>
        </p:blipFill>
        <p:spPr>
          <a:xfrm>
            <a:off x="5688525" y="-24500"/>
            <a:ext cx="3472575" cy="519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01420" y="16265"/>
            <a:ext cx="2321413" cy="90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 title="Recurso 9@3x.png"/>
          <p:cNvPicPr preferRelativeResize="0"/>
          <p:nvPr/>
        </p:nvPicPr>
        <p:blipFill rotWithShape="1">
          <a:blip r:embed="rId3">
            <a:alphaModFix amt="10000"/>
          </a:blip>
          <a:srcRect r="34058"/>
          <a:stretch/>
        </p:blipFill>
        <p:spPr>
          <a:xfrm>
            <a:off x="5676900" y="0"/>
            <a:ext cx="346710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Slide 1_1_1_TITLEANDBULLETS_I">
  <p:cSld name="TITLE_AND_BODY_2_1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>
            <a:spLocks noGrp="1"/>
          </p:cNvSpPr>
          <p:nvPr>
            <p:ph type="pic" idx="2"/>
          </p:nvPr>
        </p:nvSpPr>
        <p:spPr>
          <a:xfrm>
            <a:off x="5545950" y="1519300"/>
            <a:ext cx="3090600" cy="3090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786443" y="17009"/>
            <a:ext cx="2321413" cy="90000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9" Type="http://schemas.openxmlformats.org/officeDocument/2006/relationships/image" Target="../media/image51.png"/><Relationship Id="rId21" Type="http://schemas.openxmlformats.org/officeDocument/2006/relationships/image" Target="../media/image34.png"/><Relationship Id="rId34" Type="http://schemas.openxmlformats.org/officeDocument/2006/relationships/image" Target="../media/image46.png"/><Relationship Id="rId42" Type="http://schemas.openxmlformats.org/officeDocument/2006/relationships/image" Target="../media/image54.png"/><Relationship Id="rId47" Type="http://schemas.openxmlformats.org/officeDocument/2006/relationships/image" Target="../media/image59.png"/><Relationship Id="rId50" Type="http://schemas.openxmlformats.org/officeDocument/2006/relationships/image" Target="../media/image6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9.png"/><Relationship Id="rId29" Type="http://schemas.openxmlformats.org/officeDocument/2006/relationships/image" Target="../media/image13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32" Type="http://schemas.openxmlformats.org/officeDocument/2006/relationships/image" Target="../media/image44.png"/><Relationship Id="rId37" Type="http://schemas.openxmlformats.org/officeDocument/2006/relationships/image" Target="../media/image49.png"/><Relationship Id="rId40" Type="http://schemas.openxmlformats.org/officeDocument/2006/relationships/image" Target="../media/image52.png"/><Relationship Id="rId45" Type="http://schemas.openxmlformats.org/officeDocument/2006/relationships/image" Target="../media/image57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36" Type="http://schemas.openxmlformats.org/officeDocument/2006/relationships/image" Target="../media/image48.png"/><Relationship Id="rId49" Type="http://schemas.openxmlformats.org/officeDocument/2006/relationships/image" Target="../media/image61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31" Type="http://schemas.openxmlformats.org/officeDocument/2006/relationships/image" Target="../media/image43.png"/><Relationship Id="rId44" Type="http://schemas.openxmlformats.org/officeDocument/2006/relationships/image" Target="../media/image56.png"/><Relationship Id="rId52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Relationship Id="rId43" Type="http://schemas.openxmlformats.org/officeDocument/2006/relationships/image" Target="../media/image55.png"/><Relationship Id="rId48" Type="http://schemas.openxmlformats.org/officeDocument/2006/relationships/image" Target="../media/image60.png"/><Relationship Id="rId8" Type="http://schemas.openxmlformats.org/officeDocument/2006/relationships/image" Target="../media/image21.png"/><Relationship Id="rId51" Type="http://schemas.openxmlformats.org/officeDocument/2006/relationships/image" Target="../media/image63.png"/><Relationship Id="rId3" Type="http://schemas.openxmlformats.org/officeDocument/2006/relationships/image" Target="../media/image16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33" Type="http://schemas.openxmlformats.org/officeDocument/2006/relationships/image" Target="../media/image45.png"/><Relationship Id="rId38" Type="http://schemas.openxmlformats.org/officeDocument/2006/relationships/image" Target="../media/image50.png"/><Relationship Id="rId46" Type="http://schemas.openxmlformats.org/officeDocument/2006/relationships/image" Target="../media/image58.png"/><Relationship Id="rId20" Type="http://schemas.openxmlformats.org/officeDocument/2006/relationships/image" Target="../media/image33.png"/><Relationship Id="rId41" Type="http://schemas.openxmlformats.org/officeDocument/2006/relationships/image" Target="../media/image5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9" Type="http://schemas.openxmlformats.org/officeDocument/2006/relationships/image" Target="../media/image100.png"/><Relationship Id="rId21" Type="http://schemas.openxmlformats.org/officeDocument/2006/relationships/image" Target="../media/image82.png"/><Relationship Id="rId34" Type="http://schemas.openxmlformats.org/officeDocument/2006/relationships/image" Target="../media/image95.png"/><Relationship Id="rId42" Type="http://schemas.openxmlformats.org/officeDocument/2006/relationships/image" Target="../media/image103.png"/><Relationship Id="rId47" Type="http://schemas.openxmlformats.org/officeDocument/2006/relationships/image" Target="../media/image108.png"/><Relationship Id="rId50" Type="http://schemas.openxmlformats.org/officeDocument/2006/relationships/image" Target="../media/image111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77.png"/><Relationship Id="rId29" Type="http://schemas.openxmlformats.org/officeDocument/2006/relationships/image" Target="../media/image90.png"/><Relationship Id="rId11" Type="http://schemas.openxmlformats.org/officeDocument/2006/relationships/image" Target="../media/image72.png"/><Relationship Id="rId24" Type="http://schemas.openxmlformats.org/officeDocument/2006/relationships/image" Target="../media/image85.png"/><Relationship Id="rId32" Type="http://schemas.openxmlformats.org/officeDocument/2006/relationships/image" Target="../media/image93.png"/><Relationship Id="rId37" Type="http://schemas.openxmlformats.org/officeDocument/2006/relationships/image" Target="../media/image98.png"/><Relationship Id="rId40" Type="http://schemas.openxmlformats.org/officeDocument/2006/relationships/image" Target="../media/image101.png"/><Relationship Id="rId45" Type="http://schemas.openxmlformats.org/officeDocument/2006/relationships/image" Target="../media/image106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28" Type="http://schemas.openxmlformats.org/officeDocument/2006/relationships/image" Target="../media/image89.png"/><Relationship Id="rId36" Type="http://schemas.openxmlformats.org/officeDocument/2006/relationships/image" Target="../media/image97.png"/><Relationship Id="rId49" Type="http://schemas.openxmlformats.org/officeDocument/2006/relationships/image" Target="../media/image110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31" Type="http://schemas.openxmlformats.org/officeDocument/2006/relationships/image" Target="../media/image92.png"/><Relationship Id="rId44" Type="http://schemas.openxmlformats.org/officeDocument/2006/relationships/image" Target="../media/image105.png"/><Relationship Id="rId52" Type="http://schemas.openxmlformats.org/officeDocument/2006/relationships/image" Target="../media/image113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88.png"/><Relationship Id="rId30" Type="http://schemas.openxmlformats.org/officeDocument/2006/relationships/image" Target="../media/image91.png"/><Relationship Id="rId35" Type="http://schemas.openxmlformats.org/officeDocument/2006/relationships/image" Target="../media/image96.png"/><Relationship Id="rId43" Type="http://schemas.openxmlformats.org/officeDocument/2006/relationships/image" Target="../media/image104.png"/><Relationship Id="rId48" Type="http://schemas.openxmlformats.org/officeDocument/2006/relationships/image" Target="../media/image109.png"/><Relationship Id="rId8" Type="http://schemas.openxmlformats.org/officeDocument/2006/relationships/image" Target="../media/image69.png"/><Relationship Id="rId51" Type="http://schemas.openxmlformats.org/officeDocument/2006/relationships/image" Target="../media/image112.png"/><Relationship Id="rId3" Type="http://schemas.openxmlformats.org/officeDocument/2006/relationships/image" Target="../media/image64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33" Type="http://schemas.openxmlformats.org/officeDocument/2006/relationships/image" Target="../media/image94.png"/><Relationship Id="rId38" Type="http://schemas.openxmlformats.org/officeDocument/2006/relationships/image" Target="../media/image99.png"/><Relationship Id="rId46" Type="http://schemas.openxmlformats.org/officeDocument/2006/relationships/image" Target="../media/image107.png"/><Relationship Id="rId20" Type="http://schemas.openxmlformats.org/officeDocument/2006/relationships/image" Target="../media/image81.png"/><Relationship Id="rId41" Type="http://schemas.openxmlformats.org/officeDocument/2006/relationships/image" Target="../media/image10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26" Type="http://schemas.openxmlformats.org/officeDocument/2006/relationships/image" Target="../media/image136.png"/><Relationship Id="rId39" Type="http://schemas.openxmlformats.org/officeDocument/2006/relationships/image" Target="../media/image148.png"/><Relationship Id="rId21" Type="http://schemas.openxmlformats.org/officeDocument/2006/relationships/image" Target="../media/image131.png"/><Relationship Id="rId34" Type="http://schemas.openxmlformats.org/officeDocument/2006/relationships/image" Target="../media/image144.png"/><Relationship Id="rId42" Type="http://schemas.openxmlformats.org/officeDocument/2006/relationships/image" Target="../media/image4.png"/><Relationship Id="rId47" Type="http://schemas.openxmlformats.org/officeDocument/2006/relationships/image" Target="../media/image155.png"/><Relationship Id="rId50" Type="http://schemas.openxmlformats.org/officeDocument/2006/relationships/image" Target="../media/image15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26.png"/><Relationship Id="rId29" Type="http://schemas.openxmlformats.org/officeDocument/2006/relationships/image" Target="../media/image139.png"/><Relationship Id="rId11" Type="http://schemas.openxmlformats.org/officeDocument/2006/relationships/image" Target="../media/image121.png"/><Relationship Id="rId24" Type="http://schemas.openxmlformats.org/officeDocument/2006/relationships/image" Target="../media/image134.png"/><Relationship Id="rId32" Type="http://schemas.openxmlformats.org/officeDocument/2006/relationships/image" Target="../media/image142.png"/><Relationship Id="rId37" Type="http://schemas.openxmlformats.org/officeDocument/2006/relationships/image" Target="../media/image146.png"/><Relationship Id="rId40" Type="http://schemas.openxmlformats.org/officeDocument/2006/relationships/image" Target="../media/image149.png"/><Relationship Id="rId45" Type="http://schemas.openxmlformats.org/officeDocument/2006/relationships/image" Target="../media/image153.png"/><Relationship Id="rId5" Type="http://schemas.openxmlformats.org/officeDocument/2006/relationships/image" Target="../media/image116.png"/><Relationship Id="rId15" Type="http://schemas.openxmlformats.org/officeDocument/2006/relationships/image" Target="../media/image125.png"/><Relationship Id="rId23" Type="http://schemas.openxmlformats.org/officeDocument/2006/relationships/image" Target="../media/image133.png"/><Relationship Id="rId28" Type="http://schemas.openxmlformats.org/officeDocument/2006/relationships/image" Target="../media/image138.png"/><Relationship Id="rId36" Type="http://schemas.openxmlformats.org/officeDocument/2006/relationships/image" Target="../media/image145.png"/><Relationship Id="rId49" Type="http://schemas.openxmlformats.org/officeDocument/2006/relationships/image" Target="../media/image157.png"/><Relationship Id="rId10" Type="http://schemas.openxmlformats.org/officeDocument/2006/relationships/image" Target="../media/image120.png"/><Relationship Id="rId19" Type="http://schemas.openxmlformats.org/officeDocument/2006/relationships/image" Target="../media/image129.png"/><Relationship Id="rId31" Type="http://schemas.openxmlformats.org/officeDocument/2006/relationships/image" Target="../media/image141.png"/><Relationship Id="rId44" Type="http://schemas.openxmlformats.org/officeDocument/2006/relationships/image" Target="../media/image152.png"/><Relationship Id="rId52" Type="http://schemas.openxmlformats.org/officeDocument/2006/relationships/image" Target="../media/image160.png"/><Relationship Id="rId4" Type="http://schemas.openxmlformats.org/officeDocument/2006/relationships/image" Target="../media/image115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Relationship Id="rId22" Type="http://schemas.openxmlformats.org/officeDocument/2006/relationships/image" Target="../media/image132.png"/><Relationship Id="rId27" Type="http://schemas.openxmlformats.org/officeDocument/2006/relationships/image" Target="../media/image137.png"/><Relationship Id="rId30" Type="http://schemas.openxmlformats.org/officeDocument/2006/relationships/image" Target="../media/image140.png"/><Relationship Id="rId35" Type="http://schemas.openxmlformats.org/officeDocument/2006/relationships/image" Target="../media/image14.png"/><Relationship Id="rId43" Type="http://schemas.openxmlformats.org/officeDocument/2006/relationships/image" Target="../media/image151.png"/><Relationship Id="rId48" Type="http://schemas.openxmlformats.org/officeDocument/2006/relationships/image" Target="../media/image156.png"/><Relationship Id="rId8" Type="http://schemas.openxmlformats.org/officeDocument/2006/relationships/image" Target="../media/image118.png"/><Relationship Id="rId51" Type="http://schemas.openxmlformats.org/officeDocument/2006/relationships/image" Target="../media/image159.png"/><Relationship Id="rId3" Type="http://schemas.openxmlformats.org/officeDocument/2006/relationships/image" Target="../media/image114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5" Type="http://schemas.openxmlformats.org/officeDocument/2006/relationships/image" Target="../media/image135.png"/><Relationship Id="rId33" Type="http://schemas.openxmlformats.org/officeDocument/2006/relationships/image" Target="../media/image143.png"/><Relationship Id="rId38" Type="http://schemas.openxmlformats.org/officeDocument/2006/relationships/image" Target="../media/image147.png"/><Relationship Id="rId46" Type="http://schemas.openxmlformats.org/officeDocument/2006/relationships/image" Target="../media/image154.png"/><Relationship Id="rId20" Type="http://schemas.openxmlformats.org/officeDocument/2006/relationships/image" Target="../media/image130.png"/><Relationship Id="rId41" Type="http://schemas.openxmlformats.org/officeDocument/2006/relationships/image" Target="../media/image15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7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26" Type="http://schemas.openxmlformats.org/officeDocument/2006/relationships/image" Target="../media/image6.png"/><Relationship Id="rId39" Type="http://schemas.openxmlformats.org/officeDocument/2006/relationships/image" Target="../media/image194.png"/><Relationship Id="rId21" Type="http://schemas.openxmlformats.org/officeDocument/2006/relationships/image" Target="../media/image177.png"/><Relationship Id="rId34" Type="http://schemas.openxmlformats.org/officeDocument/2006/relationships/image" Target="../media/image189.png"/><Relationship Id="rId42" Type="http://schemas.openxmlformats.org/officeDocument/2006/relationships/image" Target="../media/image197.png"/><Relationship Id="rId47" Type="http://schemas.openxmlformats.org/officeDocument/2006/relationships/image" Target="../media/image202.png"/><Relationship Id="rId50" Type="http://schemas.openxmlformats.org/officeDocument/2006/relationships/image" Target="../media/image204.png"/><Relationship Id="rId7" Type="http://schemas.openxmlformats.org/officeDocument/2006/relationships/image" Target="../media/image165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9.png"/><Relationship Id="rId29" Type="http://schemas.openxmlformats.org/officeDocument/2006/relationships/image" Target="../media/image184.png"/><Relationship Id="rId11" Type="http://schemas.openxmlformats.org/officeDocument/2006/relationships/image" Target="../media/image168.png"/><Relationship Id="rId24" Type="http://schemas.openxmlformats.org/officeDocument/2006/relationships/image" Target="../media/image180.png"/><Relationship Id="rId32" Type="http://schemas.openxmlformats.org/officeDocument/2006/relationships/image" Target="../media/image187.png"/><Relationship Id="rId37" Type="http://schemas.openxmlformats.org/officeDocument/2006/relationships/image" Target="../media/image192.png"/><Relationship Id="rId40" Type="http://schemas.openxmlformats.org/officeDocument/2006/relationships/image" Target="../media/image195.png"/><Relationship Id="rId45" Type="http://schemas.openxmlformats.org/officeDocument/2006/relationships/image" Target="../media/image200.png"/><Relationship Id="rId5" Type="http://schemas.openxmlformats.org/officeDocument/2006/relationships/image" Target="../media/image163.png"/><Relationship Id="rId15" Type="http://schemas.openxmlformats.org/officeDocument/2006/relationships/image" Target="../media/image172.png"/><Relationship Id="rId23" Type="http://schemas.openxmlformats.org/officeDocument/2006/relationships/image" Target="../media/image179.png"/><Relationship Id="rId28" Type="http://schemas.openxmlformats.org/officeDocument/2006/relationships/image" Target="../media/image183.png"/><Relationship Id="rId36" Type="http://schemas.openxmlformats.org/officeDocument/2006/relationships/image" Target="../media/image191.png"/><Relationship Id="rId49" Type="http://schemas.openxmlformats.org/officeDocument/2006/relationships/image" Target="../media/image12.png"/><Relationship Id="rId10" Type="http://schemas.openxmlformats.org/officeDocument/2006/relationships/image" Target="../media/image167.png"/><Relationship Id="rId19" Type="http://schemas.openxmlformats.org/officeDocument/2006/relationships/image" Target="../media/image175.png"/><Relationship Id="rId31" Type="http://schemas.openxmlformats.org/officeDocument/2006/relationships/image" Target="../media/image186.png"/><Relationship Id="rId44" Type="http://schemas.openxmlformats.org/officeDocument/2006/relationships/image" Target="../media/image199.png"/><Relationship Id="rId52" Type="http://schemas.openxmlformats.org/officeDocument/2006/relationships/image" Target="../media/image206.png"/><Relationship Id="rId4" Type="http://schemas.openxmlformats.org/officeDocument/2006/relationships/image" Target="../media/image162.png"/><Relationship Id="rId9" Type="http://schemas.openxmlformats.org/officeDocument/2006/relationships/image" Target="../media/image8.png"/><Relationship Id="rId14" Type="http://schemas.openxmlformats.org/officeDocument/2006/relationships/image" Target="../media/image171.png"/><Relationship Id="rId22" Type="http://schemas.openxmlformats.org/officeDocument/2006/relationships/image" Target="../media/image178.png"/><Relationship Id="rId27" Type="http://schemas.openxmlformats.org/officeDocument/2006/relationships/image" Target="../media/image182.png"/><Relationship Id="rId30" Type="http://schemas.openxmlformats.org/officeDocument/2006/relationships/image" Target="../media/image185.png"/><Relationship Id="rId35" Type="http://schemas.openxmlformats.org/officeDocument/2006/relationships/image" Target="../media/image190.png"/><Relationship Id="rId43" Type="http://schemas.openxmlformats.org/officeDocument/2006/relationships/image" Target="../media/image198.png"/><Relationship Id="rId48" Type="http://schemas.openxmlformats.org/officeDocument/2006/relationships/image" Target="../media/image203.png"/><Relationship Id="rId8" Type="http://schemas.openxmlformats.org/officeDocument/2006/relationships/image" Target="../media/image166.png"/><Relationship Id="rId51" Type="http://schemas.openxmlformats.org/officeDocument/2006/relationships/image" Target="../media/image205.png"/><Relationship Id="rId3" Type="http://schemas.openxmlformats.org/officeDocument/2006/relationships/image" Target="../media/image161.png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5" Type="http://schemas.openxmlformats.org/officeDocument/2006/relationships/image" Target="../media/image181.png"/><Relationship Id="rId33" Type="http://schemas.openxmlformats.org/officeDocument/2006/relationships/image" Target="../media/image188.png"/><Relationship Id="rId38" Type="http://schemas.openxmlformats.org/officeDocument/2006/relationships/image" Target="../media/image193.png"/><Relationship Id="rId46" Type="http://schemas.openxmlformats.org/officeDocument/2006/relationships/image" Target="../media/image201.png"/><Relationship Id="rId20" Type="http://schemas.openxmlformats.org/officeDocument/2006/relationships/image" Target="../media/image176.png"/><Relationship Id="rId41" Type="http://schemas.openxmlformats.org/officeDocument/2006/relationships/image" Target="../media/image19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4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7.png"/><Relationship Id="rId18" Type="http://schemas.openxmlformats.org/officeDocument/2006/relationships/image" Target="../media/image222.png"/><Relationship Id="rId26" Type="http://schemas.openxmlformats.org/officeDocument/2006/relationships/image" Target="../media/image229.png"/><Relationship Id="rId39" Type="http://schemas.openxmlformats.org/officeDocument/2006/relationships/image" Target="../media/image241.png"/><Relationship Id="rId21" Type="http://schemas.openxmlformats.org/officeDocument/2006/relationships/image" Target="../media/image15.png"/><Relationship Id="rId34" Type="http://schemas.openxmlformats.org/officeDocument/2006/relationships/image" Target="../media/image236.png"/><Relationship Id="rId42" Type="http://schemas.openxmlformats.org/officeDocument/2006/relationships/image" Target="../media/image244.png"/><Relationship Id="rId7" Type="http://schemas.openxmlformats.org/officeDocument/2006/relationships/image" Target="../media/image211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220.png"/><Relationship Id="rId20" Type="http://schemas.openxmlformats.org/officeDocument/2006/relationships/image" Target="../media/image224.png"/><Relationship Id="rId29" Type="http://schemas.openxmlformats.org/officeDocument/2006/relationships/image" Target="../media/image7.png"/><Relationship Id="rId41" Type="http://schemas.openxmlformats.org/officeDocument/2006/relationships/image" Target="../media/image24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0.png"/><Relationship Id="rId11" Type="http://schemas.openxmlformats.org/officeDocument/2006/relationships/image" Target="../media/image215.png"/><Relationship Id="rId24" Type="http://schemas.openxmlformats.org/officeDocument/2006/relationships/image" Target="../media/image227.png"/><Relationship Id="rId32" Type="http://schemas.openxmlformats.org/officeDocument/2006/relationships/image" Target="../media/image234.png"/><Relationship Id="rId37" Type="http://schemas.openxmlformats.org/officeDocument/2006/relationships/image" Target="../media/image239.png"/><Relationship Id="rId40" Type="http://schemas.openxmlformats.org/officeDocument/2006/relationships/image" Target="../media/image242.png"/><Relationship Id="rId5" Type="http://schemas.openxmlformats.org/officeDocument/2006/relationships/image" Target="../media/image209.png"/><Relationship Id="rId15" Type="http://schemas.openxmlformats.org/officeDocument/2006/relationships/image" Target="../media/image219.png"/><Relationship Id="rId23" Type="http://schemas.openxmlformats.org/officeDocument/2006/relationships/image" Target="../media/image226.png"/><Relationship Id="rId28" Type="http://schemas.openxmlformats.org/officeDocument/2006/relationships/image" Target="../media/image231.png"/><Relationship Id="rId36" Type="http://schemas.openxmlformats.org/officeDocument/2006/relationships/image" Target="../media/image238.png"/><Relationship Id="rId10" Type="http://schemas.openxmlformats.org/officeDocument/2006/relationships/image" Target="../media/image214.png"/><Relationship Id="rId19" Type="http://schemas.openxmlformats.org/officeDocument/2006/relationships/image" Target="../media/image223.png"/><Relationship Id="rId31" Type="http://schemas.openxmlformats.org/officeDocument/2006/relationships/image" Target="../media/image233.png"/><Relationship Id="rId4" Type="http://schemas.openxmlformats.org/officeDocument/2006/relationships/image" Target="../media/image208.png"/><Relationship Id="rId9" Type="http://schemas.openxmlformats.org/officeDocument/2006/relationships/image" Target="../media/image213.png"/><Relationship Id="rId14" Type="http://schemas.openxmlformats.org/officeDocument/2006/relationships/image" Target="../media/image218.png"/><Relationship Id="rId22" Type="http://schemas.openxmlformats.org/officeDocument/2006/relationships/image" Target="../media/image225.png"/><Relationship Id="rId27" Type="http://schemas.openxmlformats.org/officeDocument/2006/relationships/image" Target="../media/image230.png"/><Relationship Id="rId30" Type="http://schemas.openxmlformats.org/officeDocument/2006/relationships/image" Target="../media/image232.png"/><Relationship Id="rId35" Type="http://schemas.openxmlformats.org/officeDocument/2006/relationships/image" Target="../media/image237.png"/><Relationship Id="rId43" Type="http://schemas.openxmlformats.org/officeDocument/2006/relationships/image" Target="../media/image245.png"/><Relationship Id="rId8" Type="http://schemas.openxmlformats.org/officeDocument/2006/relationships/image" Target="../media/image212.png"/><Relationship Id="rId3" Type="http://schemas.openxmlformats.org/officeDocument/2006/relationships/image" Target="../media/image207.png"/><Relationship Id="rId12" Type="http://schemas.openxmlformats.org/officeDocument/2006/relationships/image" Target="../media/image216.png"/><Relationship Id="rId17" Type="http://schemas.openxmlformats.org/officeDocument/2006/relationships/image" Target="../media/image221.png"/><Relationship Id="rId25" Type="http://schemas.openxmlformats.org/officeDocument/2006/relationships/image" Target="../media/image228.png"/><Relationship Id="rId33" Type="http://schemas.openxmlformats.org/officeDocument/2006/relationships/image" Target="../media/image235.png"/><Relationship Id="rId38" Type="http://schemas.openxmlformats.org/officeDocument/2006/relationships/image" Target="../media/image2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641454" y="1219032"/>
            <a:ext cx="78741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 b="1" dirty="0">
                <a:solidFill>
                  <a:srgbClr val="263980"/>
                </a:solidFill>
                <a:latin typeface="Encode Sans"/>
                <a:ea typeface="Encode Sans"/>
                <a:cs typeface="Encode Sans"/>
                <a:sym typeface="Encode Sans"/>
              </a:rPr>
              <a:t>Transforma tu operación con Odoo</a:t>
            </a:r>
            <a:endParaRPr sz="4800" b="1" dirty="0">
              <a:solidFill>
                <a:srgbClr val="26398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412250" y="4462782"/>
            <a:ext cx="6319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 solución ERP completa para empresas modernas</a:t>
            </a:r>
            <a:endParaRPr sz="12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6" name="Google Shape;66;p14"/>
          <p:cNvGrpSpPr/>
          <p:nvPr/>
        </p:nvGrpSpPr>
        <p:grpSpPr>
          <a:xfrm>
            <a:off x="1714500" y="2983234"/>
            <a:ext cx="5715000" cy="984400"/>
            <a:chOff x="1714500" y="3021017"/>
            <a:chExt cx="5715000" cy="984400"/>
          </a:xfrm>
        </p:grpSpPr>
        <p:sp>
          <p:nvSpPr>
            <p:cNvPr id="67" name="Google Shape;67;p14"/>
            <p:cNvSpPr txBox="1"/>
            <p:nvPr/>
          </p:nvSpPr>
          <p:spPr>
            <a:xfrm>
              <a:off x="1714500" y="3624417"/>
              <a:ext cx="114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 b="1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Manufactura</a:t>
              </a:r>
              <a:endParaRPr sz="11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8" name="Google Shape;68;p14" title="Power Plan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12400" y="3022367"/>
              <a:ext cx="547200" cy="538650"/>
            </a:xfrm>
            <a:prstGeom prst="rect">
              <a:avLst/>
            </a:prstGeom>
            <a:noFill/>
            <a:ln>
              <a:noFill/>
            </a:ln>
            <a:effectLst>
              <a:outerShdw blurRad="71438" dist="114300" dir="15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69" name="Google Shape;69;p14"/>
            <p:cNvSpPr txBox="1"/>
            <p:nvPr/>
          </p:nvSpPr>
          <p:spPr>
            <a:xfrm>
              <a:off x="3238500" y="3624417"/>
              <a:ext cx="114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 b="1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Retail</a:t>
              </a:r>
              <a:endParaRPr sz="11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0" name="Google Shape;70;p14" title="Retai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40000" y="302101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71438" dist="114300" dir="15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71" name="Google Shape;71;p14"/>
            <p:cNvSpPr txBox="1"/>
            <p:nvPr/>
          </p:nvSpPr>
          <p:spPr>
            <a:xfrm>
              <a:off x="4762500" y="3624417"/>
              <a:ext cx="114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 b="1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Logística</a:t>
              </a:r>
              <a:endParaRPr sz="11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2" name="Google Shape;72;p14" title="Stocks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26800" y="3021017"/>
              <a:ext cx="614400" cy="540000"/>
            </a:xfrm>
            <a:prstGeom prst="rect">
              <a:avLst/>
            </a:prstGeom>
            <a:noFill/>
            <a:ln>
              <a:noFill/>
            </a:ln>
            <a:effectLst>
              <a:outerShdw blurRad="71438" dist="114300" dir="15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73" name="Google Shape;73;p14"/>
            <p:cNvSpPr txBox="1"/>
            <p:nvPr/>
          </p:nvSpPr>
          <p:spPr>
            <a:xfrm>
              <a:off x="6286500" y="3624417"/>
              <a:ext cx="114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 b="1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Comercio</a:t>
              </a:r>
              <a:endParaRPr sz="11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4" name="Google Shape;74;p14" title="Marketplace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71800" y="3022156"/>
              <a:ext cx="572400" cy="538861"/>
            </a:xfrm>
            <a:prstGeom prst="rect">
              <a:avLst/>
            </a:prstGeom>
            <a:noFill/>
            <a:ln>
              <a:noFill/>
            </a:ln>
            <a:effectLst>
              <a:outerShdw blurRad="71438" dist="114300" dir="1500000" algn="bl" rotWithShape="0">
                <a:srgbClr val="000000">
                  <a:alpha val="10000"/>
                </a:srgbClr>
              </a:outerShdw>
            </a:effectLst>
          </p:spPr>
        </p:pic>
      </p:grpSp>
      <p:sp>
        <p:nvSpPr>
          <p:cNvPr id="75" name="Google Shape;75;p14"/>
          <p:cNvSpPr/>
          <p:nvPr/>
        </p:nvSpPr>
        <p:spPr>
          <a:xfrm>
            <a:off x="2772000" y="641435"/>
            <a:ext cx="3600000" cy="288000"/>
          </a:xfrm>
          <a:prstGeom prst="roundRect">
            <a:avLst>
              <a:gd name="adj" fmla="val 16667"/>
            </a:avLst>
          </a:prstGeom>
          <a:solidFill>
            <a:srgbClr val="E0F7FA"/>
          </a:solidFill>
          <a:ln w="9525" cap="flat" cmpd="sng">
            <a:solidFill>
              <a:srgbClr val="44A2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rPr>
              <a:t>PARTNER OFICIAL ODOO | MANUFACTURA Y RETAIL</a:t>
            </a:r>
            <a:endParaRPr/>
          </a:p>
        </p:txBody>
      </p:sp>
      <p:sp>
        <p:nvSpPr>
          <p:cNvPr id="76" name="Google Shape;76;p1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/>
        </p:nvSpPr>
        <p:spPr>
          <a:xfrm>
            <a:off x="555692" y="425245"/>
            <a:ext cx="7874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Encode Sans"/>
                <a:ea typeface="Encode Sans"/>
                <a:cs typeface="Encode Sans"/>
                <a:sym typeface="Encode Sans"/>
              </a:rPr>
              <a:t>¿Quiénes somos?</a:t>
            </a:r>
            <a:endParaRPr sz="3200" b="1" dirty="0">
              <a:solidFill>
                <a:srgbClr val="26398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556568" y="1145839"/>
            <a:ext cx="1269900" cy="50700"/>
          </a:xfrm>
          <a:prstGeom prst="rect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" name="Google Shape;83;p15"/>
          <p:cNvGrpSpPr/>
          <p:nvPr/>
        </p:nvGrpSpPr>
        <p:grpSpPr>
          <a:xfrm>
            <a:off x="555700" y="1442200"/>
            <a:ext cx="8048300" cy="3161400"/>
            <a:chOff x="636758" y="1479045"/>
            <a:chExt cx="8048300" cy="3161400"/>
          </a:xfrm>
        </p:grpSpPr>
        <p:sp>
          <p:nvSpPr>
            <p:cNvPr id="84" name="Google Shape;84;p15"/>
            <p:cNvSpPr txBox="1"/>
            <p:nvPr/>
          </p:nvSpPr>
          <p:spPr>
            <a:xfrm>
              <a:off x="636758" y="1479045"/>
              <a:ext cx="4016400" cy="316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Somos Sunname Technologies, partner oficial de Odoo especializado en soluciones ERP para manufactura y retail.</a:t>
              </a:r>
              <a:endParaRPr dirty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Con +60 empresas que confían en nosotros, transformamos operaciones complejas en procesos eficientes y rentables.</a:t>
              </a:r>
              <a:endParaRPr dirty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Nuestro enfoque: implementaciones personalizadas con acompañamiento en sitio y resultados garantizados en 3-6 meses.</a:t>
              </a:r>
              <a:endParaRPr dirty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4653058" y="1479045"/>
              <a:ext cx="40320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400" b="1">
                  <a:solidFill>
                    <a:srgbClr val="2639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Nuestros valores</a:t>
              </a:r>
              <a:endParaRPr sz="2400" b="1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4653058" y="1986945"/>
              <a:ext cx="4032000" cy="26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Excelencia técnica</a:t>
              </a:r>
              <a:endParaRPr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Soporte en español</a:t>
              </a:r>
              <a:endParaRPr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Acompañamiento cercano</a:t>
              </a:r>
              <a:endParaRPr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Resultados medibles</a:t>
              </a:r>
              <a:endParaRPr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Innovación constante</a:t>
              </a:r>
              <a:endParaRPr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" name="Google Shape;76;p14">
            <a:extLst>
              <a:ext uri="{FF2B5EF4-FFF2-40B4-BE49-F238E27FC236}">
                <a16:creationId xmlns:a16="http://schemas.microsoft.com/office/drawing/2014/main" id="{4E41FCFE-09D0-24D3-F6FB-5DC0DA19D9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/>
        </p:nvSpPr>
        <p:spPr>
          <a:xfrm>
            <a:off x="582750" y="609460"/>
            <a:ext cx="7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rPr>
              <a:t>Nuestros Servicios</a:t>
            </a:r>
            <a:endParaRPr sz="3200" b="1" dirty="0">
              <a:solidFill>
                <a:srgbClr val="2639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649200" y="1090899"/>
            <a:ext cx="78456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Soluciones completas para tu transformación digital</a:t>
            </a:r>
            <a:endParaRPr sz="1600" dirty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952500" y="1805225"/>
            <a:ext cx="3429000" cy="125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44A2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4762500" y="1805225"/>
            <a:ext cx="3429000" cy="125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44A2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952500" y="3347941"/>
            <a:ext cx="3429000" cy="125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44A2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4762500" y="3347941"/>
            <a:ext cx="3429000" cy="125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44A2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" name="Google Shape;97;p16"/>
          <p:cNvGrpSpPr/>
          <p:nvPr/>
        </p:nvGrpSpPr>
        <p:grpSpPr>
          <a:xfrm>
            <a:off x="5016450" y="1895930"/>
            <a:ext cx="2921100" cy="1056217"/>
            <a:chOff x="5016450" y="1874699"/>
            <a:chExt cx="2921100" cy="1056217"/>
          </a:xfrm>
        </p:grpSpPr>
        <p:sp>
          <p:nvSpPr>
            <p:cNvPr id="98" name="Google Shape;98;p16"/>
            <p:cNvSpPr txBox="1"/>
            <p:nvPr/>
          </p:nvSpPr>
          <p:spPr>
            <a:xfrm>
              <a:off x="5016450" y="2309796"/>
              <a:ext cx="2921100" cy="2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Desarrollo a Medida</a:t>
              </a:r>
              <a:endParaRPr sz="18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" name="Google Shape;99;p16"/>
            <p:cNvSpPr txBox="1"/>
            <p:nvPr/>
          </p:nvSpPr>
          <p:spPr>
            <a:xfrm>
              <a:off x="5016450" y="2612916"/>
              <a:ext cx="29211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Módulos personalizados para tus procesos únicos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0" name="Google Shape;100;p16" title="Targe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22126" y="1874699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16"/>
          <p:cNvGrpSpPr/>
          <p:nvPr/>
        </p:nvGrpSpPr>
        <p:grpSpPr>
          <a:xfrm>
            <a:off x="1206450" y="1894675"/>
            <a:ext cx="2921100" cy="1058728"/>
            <a:chOff x="1206450" y="1874699"/>
            <a:chExt cx="2921100" cy="1058728"/>
          </a:xfrm>
        </p:grpSpPr>
        <p:sp>
          <p:nvSpPr>
            <p:cNvPr id="102" name="Google Shape;102;p16"/>
            <p:cNvSpPr txBox="1"/>
            <p:nvPr/>
          </p:nvSpPr>
          <p:spPr>
            <a:xfrm>
              <a:off x="1206450" y="2309796"/>
              <a:ext cx="2921100" cy="2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Implementación Odoo</a:t>
              </a:r>
              <a:endParaRPr sz="18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1206450" y="2615427"/>
              <a:ext cx="29211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Configuración completa y personalizada según tu industria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4" name="Google Shape;104;p16" title="Rocket V2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12126" y="1874699"/>
              <a:ext cx="352440" cy="3957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" name="Google Shape;105;p16"/>
          <p:cNvGrpSpPr/>
          <p:nvPr/>
        </p:nvGrpSpPr>
        <p:grpSpPr>
          <a:xfrm>
            <a:off x="1206450" y="3442233"/>
            <a:ext cx="2921100" cy="1064216"/>
            <a:chOff x="1206450" y="3508060"/>
            <a:chExt cx="2921100" cy="1064216"/>
          </a:xfrm>
        </p:grpSpPr>
        <p:sp>
          <p:nvSpPr>
            <p:cNvPr id="106" name="Google Shape;106;p16"/>
            <p:cNvSpPr txBox="1"/>
            <p:nvPr/>
          </p:nvSpPr>
          <p:spPr>
            <a:xfrm>
              <a:off x="1206450" y="3943884"/>
              <a:ext cx="2921100" cy="2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Consultoría ERP</a:t>
              </a:r>
              <a:endParaRPr sz="18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1206450" y="4254276"/>
              <a:ext cx="29211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Análisis de procesos y optimización continua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8" name="Google Shape;108;p16" title="Team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12126" y="3508060"/>
              <a:ext cx="704000" cy="39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6"/>
          <p:cNvGrpSpPr/>
          <p:nvPr/>
        </p:nvGrpSpPr>
        <p:grpSpPr>
          <a:xfrm>
            <a:off x="5016450" y="3442233"/>
            <a:ext cx="2921100" cy="1064216"/>
            <a:chOff x="5016450" y="3508060"/>
            <a:chExt cx="2921100" cy="1064216"/>
          </a:xfrm>
        </p:grpSpPr>
        <p:sp>
          <p:nvSpPr>
            <p:cNvPr id="110" name="Google Shape;110;p16"/>
            <p:cNvSpPr txBox="1"/>
            <p:nvPr/>
          </p:nvSpPr>
          <p:spPr>
            <a:xfrm>
              <a:off x="5016450" y="3943884"/>
              <a:ext cx="2921100" cy="2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Soporte y Capacitación</a:t>
              </a:r>
              <a:endParaRPr sz="18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5016450" y="4254276"/>
              <a:ext cx="29211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Acompañamiento post-implementación garantizado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2" name="Google Shape;112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122126" y="3508060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76;p14">
            <a:extLst>
              <a:ext uri="{FF2B5EF4-FFF2-40B4-BE49-F238E27FC236}">
                <a16:creationId xmlns:a16="http://schemas.microsoft.com/office/drawing/2014/main" id="{B4D230C7-187D-D306-9F95-FD5E2EF756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1552900" y="2165238"/>
            <a:ext cx="72000" cy="72300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1870400" y="2038338"/>
            <a:ext cx="5720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Control total de órdenes de producción desde solicitud hasta entrega</a:t>
            </a:r>
            <a:endParaRPr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1552900" y="2526743"/>
            <a:ext cx="72000" cy="72300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1870400" y="2399843"/>
            <a:ext cx="5720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Gestión inteligente de inventarios y materias primas</a:t>
            </a:r>
            <a:endParaRPr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1552900" y="2888248"/>
            <a:ext cx="72000" cy="72300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1870400" y="2761348"/>
            <a:ext cx="5720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Trazabilidad completa de lotes y series</a:t>
            </a:r>
            <a:endParaRPr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1552900" y="3249752"/>
            <a:ext cx="72000" cy="72300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1870400" y="3122852"/>
            <a:ext cx="5720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Costeo real por producto y orden de trabajo</a:t>
            </a:r>
            <a:endParaRPr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1552900" y="3611257"/>
            <a:ext cx="72000" cy="72300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870400" y="3484357"/>
            <a:ext cx="5720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Reportes de eficiencia en tiempo real (por máquina, turno y operador)</a:t>
            </a:r>
            <a:endParaRPr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1552900" y="3972762"/>
            <a:ext cx="72000" cy="72300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1870400" y="3845862"/>
            <a:ext cx="5720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Planeación MRP que optimiza inventarios y reduce desperdicios</a:t>
            </a:r>
            <a:endParaRPr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635000" y="4470828"/>
            <a:ext cx="78741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rPr>
              <a:t>Módulos clave: Manufactura • MRP • Inventarios • Calidad • Mantenimiento</a:t>
            </a:r>
            <a:endParaRPr sz="1200" b="1" dirty="0">
              <a:solidFill>
                <a:srgbClr val="44A2A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582750" y="609460"/>
            <a:ext cx="7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rPr>
              <a:t>Soluciones para Manufactura</a:t>
            </a:r>
            <a:endParaRPr sz="3200" b="1" dirty="0">
              <a:solidFill>
                <a:srgbClr val="2639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649200" y="1090899"/>
            <a:ext cx="78456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Controla tu producción de principio a fin con visibilidad completa</a:t>
            </a:r>
            <a:endParaRPr sz="1600" dirty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2" name="Google Shape;132;p17" title="Power Pla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" y="629992"/>
            <a:ext cx="547200" cy="538650"/>
          </a:xfrm>
          <a:prstGeom prst="rect">
            <a:avLst/>
          </a:prstGeom>
          <a:noFill/>
          <a:ln>
            <a:noFill/>
          </a:ln>
          <a:effectLst>
            <a:outerShdw blurRad="71438" dist="114300" dir="15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2" name="Google Shape;76;p14">
            <a:extLst>
              <a:ext uri="{FF2B5EF4-FFF2-40B4-BE49-F238E27FC236}">
                <a16:creationId xmlns:a16="http://schemas.microsoft.com/office/drawing/2014/main" id="{CAB9F8BA-8BE8-C8AD-53FE-290C5E058B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1552900" y="2165238"/>
            <a:ext cx="72000" cy="72300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1870400" y="2038338"/>
            <a:ext cx="5720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Punto de venta moderno y rápido (online y offline)</a:t>
            </a:r>
            <a:endParaRPr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1552900" y="2526743"/>
            <a:ext cx="72000" cy="72300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1870400" y="2399843"/>
            <a:ext cx="5720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Control de inventario multi-tienda en tiempo real</a:t>
            </a:r>
            <a:endParaRPr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1552900" y="2888248"/>
            <a:ext cx="72000" cy="72300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1870400" y="2761348"/>
            <a:ext cx="5720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Gestión de compras y proveedores optimizada</a:t>
            </a:r>
            <a:endParaRPr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552900" y="3249752"/>
            <a:ext cx="72000" cy="72300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1870400" y="3122852"/>
            <a:ext cx="5720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Programa de lealtad y promociones integrado</a:t>
            </a:r>
            <a:endParaRPr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1552900" y="3611257"/>
            <a:ext cx="72000" cy="72300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1870400" y="3484357"/>
            <a:ext cx="5720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E-commerce conectado con tu tienda física</a:t>
            </a:r>
            <a:endParaRPr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1552900" y="3972762"/>
            <a:ext cx="72000" cy="72300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870400" y="3845862"/>
            <a:ext cx="5720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Análisis de ventas por tienda, producto y vendedor</a:t>
            </a:r>
            <a:endParaRPr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635000" y="4470482"/>
            <a:ext cx="78741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dirty="0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rPr>
              <a:t>Módulos clave: POS • Ventas • E-commerce • Inventarios • CRM • Marketing</a:t>
            </a:r>
            <a:endParaRPr sz="1200" b="1" dirty="0">
              <a:solidFill>
                <a:srgbClr val="44A2A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44A2A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582750" y="609460"/>
            <a:ext cx="7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rPr>
              <a:t>Soluciones para Retail</a:t>
            </a:r>
            <a:endParaRPr sz="3200" b="1" dirty="0">
              <a:solidFill>
                <a:srgbClr val="2639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649200" y="1090899"/>
            <a:ext cx="78456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Gestiona todas tus tiendas desde un solo lugar</a:t>
            </a:r>
            <a:endParaRPr sz="1600" dirty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18" title="Reta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550" y="639692"/>
            <a:ext cx="540000" cy="540000"/>
          </a:xfrm>
          <a:prstGeom prst="rect">
            <a:avLst/>
          </a:prstGeom>
          <a:noFill/>
          <a:ln>
            <a:noFill/>
          </a:ln>
          <a:effectLst>
            <a:outerShdw blurRad="71438" dist="114300" dir="15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2" name="Google Shape;76;p14">
            <a:extLst>
              <a:ext uri="{FF2B5EF4-FFF2-40B4-BE49-F238E27FC236}">
                <a16:creationId xmlns:a16="http://schemas.microsoft.com/office/drawing/2014/main" id="{46B824FB-E12F-FF66-D135-74E9AE7F2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/>
        </p:nvSpPr>
        <p:spPr>
          <a:xfrm>
            <a:off x="582750" y="612825"/>
            <a:ext cx="7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3200" b="1" dirty="0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rPr>
              <a:t>¿Por qué elegir Odoo?</a:t>
            </a:r>
            <a:endParaRPr sz="3200" b="1" dirty="0">
              <a:solidFill>
                <a:srgbClr val="2639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8" name="Google Shape;158;p19"/>
          <p:cNvGrpSpPr/>
          <p:nvPr/>
        </p:nvGrpSpPr>
        <p:grpSpPr>
          <a:xfrm>
            <a:off x="937173" y="1752600"/>
            <a:ext cx="7269654" cy="2735100"/>
            <a:chOff x="635000" y="1752600"/>
            <a:chExt cx="7269654" cy="2735100"/>
          </a:xfrm>
        </p:grpSpPr>
        <p:sp>
          <p:nvSpPr>
            <p:cNvPr id="159" name="Google Shape;159;p19"/>
            <p:cNvSpPr/>
            <p:nvPr/>
          </p:nvSpPr>
          <p:spPr>
            <a:xfrm>
              <a:off x="635000" y="1752600"/>
              <a:ext cx="2232000" cy="2735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noFill/>
            </a:ln>
            <a:effectLst>
              <a:outerShdw blurRad="142875" dist="952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" name="Google Shape;160;p19"/>
            <p:cNvGrpSpPr/>
            <p:nvPr/>
          </p:nvGrpSpPr>
          <p:grpSpPr>
            <a:xfrm>
              <a:off x="840800" y="2473839"/>
              <a:ext cx="1820400" cy="1795901"/>
              <a:chOff x="825500" y="2473839"/>
              <a:chExt cx="1820400" cy="1795901"/>
            </a:xfrm>
          </p:grpSpPr>
          <p:sp>
            <p:nvSpPr>
              <p:cNvPr id="161" name="Google Shape;161;p19"/>
              <p:cNvSpPr txBox="1"/>
              <p:nvPr/>
            </p:nvSpPr>
            <p:spPr>
              <a:xfrm>
                <a:off x="825500" y="2473839"/>
                <a:ext cx="1820400" cy="38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2200" b="1">
                    <a:solidFill>
                      <a:srgbClr val="263980"/>
                    </a:solidFill>
                    <a:latin typeface="Roboto"/>
                    <a:ea typeface="Roboto"/>
                    <a:cs typeface="Roboto"/>
                    <a:sym typeface="Roboto"/>
                  </a:rPr>
                  <a:t>Todo en uno</a:t>
                </a:r>
                <a:endParaRPr sz="22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2" name="Google Shape;162;p19"/>
              <p:cNvSpPr txBox="1"/>
              <p:nvPr/>
            </p:nvSpPr>
            <p:spPr>
              <a:xfrm>
                <a:off x="825500" y="2959200"/>
                <a:ext cx="1820400" cy="29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200">
                    <a:solidFill>
                      <a:srgbClr val="2D3748"/>
                    </a:solidFill>
                    <a:latin typeface="Roboto"/>
                    <a:ea typeface="Roboto"/>
                    <a:cs typeface="Roboto"/>
                    <a:sym typeface="Roboto"/>
                  </a:rPr>
                  <a:t>✓ 30+ apps integradas</a:t>
                </a:r>
                <a:endParaRPr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3" name="Google Shape;163;p19"/>
              <p:cNvSpPr txBox="1"/>
              <p:nvPr/>
            </p:nvSpPr>
            <p:spPr>
              <a:xfrm>
                <a:off x="825500" y="3298943"/>
                <a:ext cx="1820400" cy="29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200">
                    <a:solidFill>
                      <a:srgbClr val="2D3748"/>
                    </a:solidFill>
                    <a:latin typeface="Roboto"/>
                    <a:ea typeface="Roboto"/>
                    <a:cs typeface="Roboto"/>
                    <a:sym typeface="Roboto"/>
                  </a:rPr>
                  <a:t>✓ Un solo sistema</a:t>
                </a:r>
                <a:endParaRPr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4" name="Google Shape;164;p19"/>
              <p:cNvSpPr txBox="1"/>
              <p:nvPr/>
            </p:nvSpPr>
            <p:spPr>
              <a:xfrm>
                <a:off x="825500" y="3638692"/>
                <a:ext cx="1820400" cy="29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200">
                    <a:solidFill>
                      <a:srgbClr val="2D3748"/>
                    </a:solidFill>
                    <a:latin typeface="Roboto"/>
                    <a:ea typeface="Roboto"/>
                    <a:cs typeface="Roboto"/>
                    <a:sym typeface="Roboto"/>
                  </a:rPr>
                  <a:t>✓ Datos centralizados</a:t>
                </a:r>
                <a:endParaRPr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5" name="Google Shape;165;p19"/>
              <p:cNvSpPr txBox="1"/>
              <p:nvPr/>
            </p:nvSpPr>
            <p:spPr>
              <a:xfrm>
                <a:off x="825500" y="3978441"/>
                <a:ext cx="1820400" cy="29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200">
                    <a:solidFill>
                      <a:srgbClr val="2D3748"/>
                    </a:solidFill>
                    <a:latin typeface="Roboto"/>
                    <a:ea typeface="Roboto"/>
                    <a:cs typeface="Roboto"/>
                    <a:sym typeface="Roboto"/>
                  </a:rPr>
                  <a:t>✓ Sin integraciones</a:t>
                </a:r>
                <a:endParaRPr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66" name="Google Shape;166;p19"/>
            <p:cNvSpPr/>
            <p:nvPr/>
          </p:nvSpPr>
          <p:spPr>
            <a:xfrm>
              <a:off x="3153827" y="1752600"/>
              <a:ext cx="2232000" cy="2735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noFill/>
            </a:ln>
            <a:effectLst>
              <a:outerShdw blurRad="142875" dist="952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" name="Google Shape;167;p19"/>
            <p:cNvGrpSpPr/>
            <p:nvPr/>
          </p:nvGrpSpPr>
          <p:grpSpPr>
            <a:xfrm>
              <a:off x="3359631" y="2473839"/>
              <a:ext cx="1820400" cy="1795901"/>
              <a:chOff x="3344331" y="2473839"/>
              <a:chExt cx="1820400" cy="1795901"/>
            </a:xfrm>
          </p:grpSpPr>
          <p:sp>
            <p:nvSpPr>
              <p:cNvPr id="168" name="Google Shape;168;p19"/>
              <p:cNvSpPr txBox="1"/>
              <p:nvPr/>
            </p:nvSpPr>
            <p:spPr>
              <a:xfrm>
                <a:off x="3344331" y="2473839"/>
                <a:ext cx="1820400" cy="38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2200" b="1">
                    <a:solidFill>
                      <a:srgbClr val="263980"/>
                    </a:solidFill>
                    <a:latin typeface="Roboto"/>
                    <a:ea typeface="Roboto"/>
                    <a:cs typeface="Roboto"/>
                    <a:sym typeface="Roboto"/>
                  </a:rPr>
                  <a:t>Flexible</a:t>
                </a:r>
                <a:endParaRPr sz="22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9" name="Google Shape;169;p19"/>
              <p:cNvSpPr txBox="1"/>
              <p:nvPr/>
            </p:nvSpPr>
            <p:spPr>
              <a:xfrm>
                <a:off x="3344331" y="2959195"/>
                <a:ext cx="1820400" cy="29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200">
                    <a:solidFill>
                      <a:srgbClr val="2D3748"/>
                    </a:solidFill>
                    <a:latin typeface="Roboto"/>
                    <a:ea typeface="Roboto"/>
                    <a:cs typeface="Roboto"/>
                    <a:sym typeface="Roboto"/>
                  </a:rPr>
                  <a:t>✓ Modular y escalable</a:t>
                </a:r>
                <a:endParaRPr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70" name="Google Shape;170;p19"/>
              <p:cNvSpPr txBox="1"/>
              <p:nvPr/>
            </p:nvSpPr>
            <p:spPr>
              <a:xfrm>
                <a:off x="3344331" y="3298943"/>
                <a:ext cx="1820400" cy="29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200">
                    <a:solidFill>
                      <a:srgbClr val="2D3748"/>
                    </a:solidFill>
                    <a:latin typeface="Roboto"/>
                    <a:ea typeface="Roboto"/>
                    <a:cs typeface="Roboto"/>
                    <a:sym typeface="Roboto"/>
                  </a:rPr>
                  <a:t>✓ Personalizable 100%</a:t>
                </a:r>
                <a:endParaRPr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71" name="Google Shape;171;p19"/>
              <p:cNvSpPr txBox="1"/>
              <p:nvPr/>
            </p:nvSpPr>
            <p:spPr>
              <a:xfrm>
                <a:off x="3344331" y="3638692"/>
                <a:ext cx="1820400" cy="29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200">
                    <a:solidFill>
                      <a:srgbClr val="2D3748"/>
                    </a:solidFill>
                    <a:latin typeface="Roboto"/>
                    <a:ea typeface="Roboto"/>
                    <a:cs typeface="Roboto"/>
                    <a:sym typeface="Roboto"/>
                  </a:rPr>
                  <a:t>✓ Open Source</a:t>
                </a:r>
                <a:endParaRPr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72" name="Google Shape;172;p19"/>
              <p:cNvSpPr txBox="1"/>
              <p:nvPr/>
            </p:nvSpPr>
            <p:spPr>
              <a:xfrm>
                <a:off x="3344331" y="3978441"/>
                <a:ext cx="1820400" cy="29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200">
                    <a:solidFill>
                      <a:srgbClr val="2D3748"/>
                    </a:solidFill>
                    <a:latin typeface="Roboto"/>
                    <a:ea typeface="Roboto"/>
                    <a:cs typeface="Roboto"/>
                    <a:sym typeface="Roboto"/>
                  </a:rPr>
                  <a:t>✓ Sin ataduras</a:t>
                </a:r>
                <a:endParaRPr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73" name="Google Shape;173;p19"/>
            <p:cNvSpPr/>
            <p:nvPr/>
          </p:nvSpPr>
          <p:spPr>
            <a:xfrm>
              <a:off x="5672654" y="1752600"/>
              <a:ext cx="2232000" cy="2735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noFill/>
            </a:ln>
            <a:effectLst>
              <a:outerShdw blurRad="142875" dist="952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5878468" y="2473839"/>
              <a:ext cx="1820400" cy="38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Mejor ROI</a:t>
              </a:r>
              <a:endParaRPr sz="22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5878468" y="2959195"/>
              <a:ext cx="1820400" cy="29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Precio competitivo</a:t>
              </a:r>
              <a:endParaRPr sz="12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5878468" y="3298943"/>
              <a:ext cx="1820400" cy="29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Licencias ilimitadas</a:t>
              </a:r>
              <a:endParaRPr sz="12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5878468" y="3638692"/>
              <a:ext cx="1820400" cy="29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Sin costos ocultos</a:t>
              </a:r>
              <a:endParaRPr sz="12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5878450" y="3978450"/>
              <a:ext cx="1962000" cy="29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Rápida implementación</a:t>
              </a:r>
              <a:endParaRPr sz="12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79" name="Google Shape;179;p19" title="Rocket V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10700" y="1904993"/>
              <a:ext cx="480600" cy="539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9" title="Target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99831" y="1904993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518668" y="1904993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76;p14">
            <a:extLst>
              <a:ext uri="{FF2B5EF4-FFF2-40B4-BE49-F238E27FC236}">
                <a16:creationId xmlns:a16="http://schemas.microsoft.com/office/drawing/2014/main" id="{517BD98E-FEB3-A3E9-AC7D-311048BC4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/>
          <p:nvPr/>
        </p:nvSpPr>
        <p:spPr>
          <a:xfrm>
            <a:off x="7603706" y="2168198"/>
            <a:ext cx="539986" cy="540026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950021" y="2168198"/>
            <a:ext cx="539986" cy="540026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4296335" y="2168198"/>
            <a:ext cx="539986" cy="540026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2642649" y="2168198"/>
            <a:ext cx="539986" cy="540026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603706" y="2168198"/>
            <a:ext cx="539986" cy="54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2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296335" y="2168198"/>
            <a:ext cx="539986" cy="54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2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950021" y="2168198"/>
            <a:ext cx="539986" cy="54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2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642649" y="2168198"/>
            <a:ext cx="539986" cy="54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988964" y="2168198"/>
            <a:ext cx="539986" cy="54002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988964" y="2168198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47995" y="2914425"/>
            <a:ext cx="1433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rPr>
              <a:t>Análisis</a:t>
            </a:r>
            <a:endParaRPr sz="1600" b="1">
              <a:solidFill>
                <a:srgbClr val="2639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47995" y="3295426"/>
            <a:ext cx="1433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Entendemos tu negocio y procesos</a:t>
            </a:r>
            <a:endParaRPr sz="120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920499" y="2247711"/>
            <a:ext cx="330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2400">
              <a:solidFill>
                <a:srgbClr val="44A2A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201722" y="2914425"/>
            <a:ext cx="1433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rPr>
              <a:t>Diseño</a:t>
            </a:r>
            <a:endParaRPr sz="1600" b="1">
              <a:solidFill>
                <a:srgbClr val="2639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201722" y="3295426"/>
            <a:ext cx="1433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Configuramos Odoo a tu medida</a:t>
            </a:r>
            <a:endParaRPr sz="120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3574185" y="2247711"/>
            <a:ext cx="330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2400">
              <a:solidFill>
                <a:srgbClr val="44A2A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855450" y="2914425"/>
            <a:ext cx="1433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rPr>
              <a:t>Desarrollo</a:t>
            </a:r>
            <a:endParaRPr sz="1600" b="1">
              <a:solidFill>
                <a:srgbClr val="2639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855450" y="3295426"/>
            <a:ext cx="1433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Personalizaciones necesarias</a:t>
            </a:r>
            <a:endParaRPr sz="120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227871" y="2247711"/>
            <a:ext cx="330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2400">
              <a:solidFill>
                <a:srgbClr val="44A2A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509178" y="2914425"/>
            <a:ext cx="1433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rPr>
              <a:t>Capacitación</a:t>
            </a:r>
            <a:endParaRPr sz="1600" b="1">
              <a:solidFill>
                <a:srgbClr val="2639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5509178" y="3295426"/>
            <a:ext cx="1433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Tu equipo domina el sistema</a:t>
            </a:r>
            <a:endParaRPr sz="120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881556" y="2247711"/>
            <a:ext cx="330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2400">
              <a:solidFill>
                <a:srgbClr val="44A2A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7162905" y="2914425"/>
            <a:ext cx="1433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rPr>
              <a:t>Soporte</a:t>
            </a:r>
            <a:endParaRPr sz="1600" b="1">
              <a:solidFill>
                <a:srgbClr val="2639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7162905" y="3295426"/>
            <a:ext cx="1433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Acompañamiento continuo</a:t>
            </a:r>
            <a:endParaRPr sz="120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644700" y="4471767"/>
            <a:ext cx="7874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Tiempo promedio de implementación: 3-6 meses</a:t>
            </a:r>
            <a:endParaRPr sz="1200" b="1" dirty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82750" y="612327"/>
            <a:ext cx="7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rPr>
              <a:t>Nuestra Metodología</a:t>
            </a:r>
            <a:endParaRPr sz="3200" b="1" dirty="0">
              <a:solidFill>
                <a:srgbClr val="2639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58950" y="1090899"/>
            <a:ext cx="78456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Proceso comprobado de implementación en 5 fases</a:t>
            </a:r>
            <a:endParaRPr sz="1600" dirty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76;p14">
            <a:extLst>
              <a:ext uri="{FF2B5EF4-FFF2-40B4-BE49-F238E27FC236}">
                <a16:creationId xmlns:a16="http://schemas.microsoft.com/office/drawing/2014/main" id="{33CB0505-CEFC-C472-C68B-8407819386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/>
          <p:nvPr/>
        </p:nvSpPr>
        <p:spPr>
          <a:xfrm>
            <a:off x="635000" y="1633950"/>
            <a:ext cx="3619500" cy="279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44A2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" name="Google Shape;218;p21"/>
          <p:cNvGrpSpPr/>
          <p:nvPr/>
        </p:nvGrpSpPr>
        <p:grpSpPr>
          <a:xfrm>
            <a:off x="1031773" y="1767386"/>
            <a:ext cx="2825955" cy="2409835"/>
            <a:chOff x="889001" y="1742303"/>
            <a:chExt cx="3111600" cy="2409835"/>
          </a:xfrm>
        </p:grpSpPr>
        <p:sp>
          <p:nvSpPr>
            <p:cNvPr id="219" name="Google Shape;219;p21"/>
            <p:cNvSpPr txBox="1"/>
            <p:nvPr/>
          </p:nvSpPr>
          <p:spPr>
            <a:xfrm>
              <a:off x="889001" y="1742303"/>
              <a:ext cx="31116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0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Industrias XYZ</a:t>
              </a:r>
              <a:endParaRPr sz="20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0" name="Google Shape;220;p21"/>
            <p:cNvSpPr txBox="1"/>
            <p:nvPr/>
          </p:nvSpPr>
          <p:spPr>
            <a:xfrm>
              <a:off x="889001" y="2110596"/>
              <a:ext cx="31116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44A2AB"/>
                  </a:solidFill>
                  <a:latin typeface="Roboto"/>
                  <a:ea typeface="Roboto"/>
                  <a:cs typeface="Roboto"/>
                  <a:sym typeface="Roboto"/>
                </a:rPr>
                <a:t>Manufactura de autopartes</a:t>
              </a:r>
              <a:endParaRPr sz="1300" b="1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" name="Google Shape;221;p21"/>
            <p:cNvSpPr txBox="1"/>
            <p:nvPr/>
          </p:nvSpPr>
          <p:spPr>
            <a:xfrm>
              <a:off x="889001" y="2426276"/>
              <a:ext cx="31116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Reto: Control de producción manual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" name="Google Shape;222;p21"/>
            <p:cNvSpPr txBox="1"/>
            <p:nvPr/>
          </p:nvSpPr>
          <p:spPr>
            <a:xfrm>
              <a:off x="889001" y="2794568"/>
              <a:ext cx="31116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Solución: Implementación completa de Odoo MRP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3" name="Google Shape;223;p21"/>
            <p:cNvSpPr txBox="1"/>
            <p:nvPr/>
          </p:nvSpPr>
          <p:spPr>
            <a:xfrm>
              <a:off x="889001" y="3215475"/>
              <a:ext cx="3111600" cy="2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Resultados:</a:t>
              </a:r>
              <a:endParaRPr sz="13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889001" y="3478541"/>
              <a:ext cx="3111600" cy="2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50% menos tiempo en órdenes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5" name="Google Shape;225;p21"/>
            <p:cNvSpPr txBox="1"/>
            <p:nvPr/>
          </p:nvSpPr>
          <p:spPr>
            <a:xfrm>
              <a:off x="889001" y="3710039"/>
              <a:ext cx="3111600" cy="2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30% reducción de inventario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" name="Google Shape;226;p21"/>
            <p:cNvSpPr txBox="1"/>
            <p:nvPr/>
          </p:nvSpPr>
          <p:spPr>
            <a:xfrm>
              <a:off x="889001" y="3941538"/>
              <a:ext cx="3111600" cy="2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100% trazabilidad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7" name="Google Shape;227;p21"/>
          <p:cNvSpPr/>
          <p:nvPr/>
        </p:nvSpPr>
        <p:spPr>
          <a:xfrm>
            <a:off x="4889500" y="1633950"/>
            <a:ext cx="3619500" cy="279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44A2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8" name="Google Shape;228;p21"/>
          <p:cNvGrpSpPr/>
          <p:nvPr/>
        </p:nvGrpSpPr>
        <p:grpSpPr>
          <a:xfrm>
            <a:off x="5286272" y="1767386"/>
            <a:ext cx="2825955" cy="2409835"/>
            <a:chOff x="5143499" y="1742303"/>
            <a:chExt cx="3111600" cy="2409835"/>
          </a:xfrm>
        </p:grpSpPr>
        <p:sp>
          <p:nvSpPr>
            <p:cNvPr id="229" name="Google Shape;229;p21"/>
            <p:cNvSpPr txBox="1"/>
            <p:nvPr/>
          </p:nvSpPr>
          <p:spPr>
            <a:xfrm>
              <a:off x="5143499" y="1742303"/>
              <a:ext cx="31116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0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Retail ABC</a:t>
              </a:r>
              <a:endParaRPr sz="20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5143499" y="2110596"/>
              <a:ext cx="31116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44A2AB"/>
                  </a:solidFill>
                  <a:latin typeface="Roboto"/>
                  <a:ea typeface="Roboto"/>
                  <a:cs typeface="Roboto"/>
                  <a:sym typeface="Roboto"/>
                </a:rPr>
                <a:t>Cadena de 15 tienda</a:t>
              </a:r>
              <a:r>
                <a:rPr lang="es" sz="1300" b="1">
                  <a:solidFill>
                    <a:srgbClr val="46C2CE"/>
                  </a:solidFill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 sz="1300" b="1">
                <a:solidFill>
                  <a:srgbClr val="46C2C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" name="Google Shape;231;p21"/>
            <p:cNvSpPr txBox="1"/>
            <p:nvPr/>
          </p:nvSpPr>
          <p:spPr>
            <a:xfrm>
              <a:off x="5143499" y="2426276"/>
              <a:ext cx="31116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Reto: Sistemas desconectados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5143499" y="2794568"/>
              <a:ext cx="31116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Solución: Odoo POS + E-commerce integrado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3" name="Google Shape;233;p21"/>
            <p:cNvSpPr txBox="1"/>
            <p:nvPr/>
          </p:nvSpPr>
          <p:spPr>
            <a:xfrm>
              <a:off x="5143499" y="3215475"/>
              <a:ext cx="3111600" cy="2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Resultados:</a:t>
              </a:r>
              <a:endParaRPr sz="13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4" name="Google Shape;234;p21"/>
            <p:cNvSpPr txBox="1"/>
            <p:nvPr/>
          </p:nvSpPr>
          <p:spPr>
            <a:xfrm>
              <a:off x="5143499" y="3478541"/>
              <a:ext cx="3111600" cy="2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Inventario en tiempo real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5" name="Google Shape;235;p21"/>
            <p:cNvSpPr txBox="1"/>
            <p:nvPr/>
          </p:nvSpPr>
          <p:spPr>
            <a:xfrm>
              <a:off x="5143499" y="3710039"/>
              <a:ext cx="3111600" cy="2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40% más ventas online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6" name="Google Shape;236;p21"/>
            <p:cNvSpPr txBox="1"/>
            <p:nvPr/>
          </p:nvSpPr>
          <p:spPr>
            <a:xfrm>
              <a:off x="5143499" y="3941538"/>
              <a:ext cx="3111600" cy="2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Programa de lealtad efectivo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37" name="Google Shape;237;p21"/>
          <p:cNvSpPr txBox="1"/>
          <p:nvPr/>
        </p:nvSpPr>
        <p:spPr>
          <a:xfrm>
            <a:off x="582750" y="612327"/>
            <a:ext cx="7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rPr>
              <a:t>Casos de Éxito</a:t>
            </a:r>
            <a:endParaRPr sz="3200" b="1" dirty="0">
              <a:solidFill>
                <a:srgbClr val="2639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76;p14">
            <a:extLst>
              <a:ext uri="{FF2B5EF4-FFF2-40B4-BE49-F238E27FC236}">
                <a16:creationId xmlns:a16="http://schemas.microsoft.com/office/drawing/2014/main" id="{42D9F10D-DF0F-6D92-9FB9-6E3CFC22A6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/>
          <p:nvPr/>
        </p:nvSpPr>
        <p:spPr>
          <a:xfrm>
            <a:off x="5990133" y="1549500"/>
            <a:ext cx="2201400" cy="294630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25400" cap="flat" cmpd="sng">
            <a:solidFill>
              <a:srgbClr val="44A2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6671134" y="1710000"/>
            <a:ext cx="575996" cy="575996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69125" tIns="69125" rIns="69125" bIns="69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8"/>
          </a:p>
        </p:txBody>
      </p:sp>
      <p:sp>
        <p:nvSpPr>
          <p:cNvPr id="244" name="Google Shape;244;p22"/>
          <p:cNvSpPr/>
          <p:nvPr/>
        </p:nvSpPr>
        <p:spPr>
          <a:xfrm>
            <a:off x="3471300" y="1549500"/>
            <a:ext cx="2201400" cy="294630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25400" cap="flat" cmpd="sng">
            <a:solidFill>
              <a:srgbClr val="44A2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4152537" y="1710004"/>
            <a:ext cx="575996" cy="575996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69125" tIns="69125" rIns="69125" bIns="69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8"/>
          </a:p>
        </p:txBody>
      </p:sp>
      <p:sp>
        <p:nvSpPr>
          <p:cNvPr id="246" name="Google Shape;246;p22"/>
          <p:cNvSpPr/>
          <p:nvPr/>
        </p:nvSpPr>
        <p:spPr>
          <a:xfrm>
            <a:off x="952467" y="1549500"/>
            <a:ext cx="2201400" cy="294630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25400" cap="flat" cmpd="sng">
            <a:solidFill>
              <a:srgbClr val="44A2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1633867" y="1709944"/>
            <a:ext cx="575996" cy="575996"/>
          </a:xfrm>
          <a:prstGeom prst="ellipse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69125" tIns="69125" rIns="69125" bIns="69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8"/>
          </a:p>
        </p:txBody>
      </p:sp>
      <p:grpSp>
        <p:nvGrpSpPr>
          <p:cNvPr id="248" name="Google Shape;248;p22"/>
          <p:cNvGrpSpPr/>
          <p:nvPr/>
        </p:nvGrpSpPr>
        <p:grpSpPr>
          <a:xfrm>
            <a:off x="1142967" y="2438400"/>
            <a:ext cx="1820400" cy="1930300"/>
            <a:chOff x="1104900" y="2679800"/>
            <a:chExt cx="1820400" cy="1930300"/>
          </a:xfrm>
        </p:grpSpPr>
        <p:sp>
          <p:nvSpPr>
            <p:cNvPr id="249" name="Google Shape;249;p22"/>
            <p:cNvSpPr txBox="1"/>
            <p:nvPr/>
          </p:nvSpPr>
          <p:spPr>
            <a:xfrm>
              <a:off x="1104900" y="2679800"/>
              <a:ext cx="1820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"La implementación superó nuestras expectativas. Ahora tenemos control total de nuestra producción."</a:t>
              </a:r>
              <a:endParaRPr sz="12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" name="Google Shape;250;p22"/>
            <p:cNvSpPr txBox="1"/>
            <p:nvPr/>
          </p:nvSpPr>
          <p:spPr>
            <a:xfrm>
              <a:off x="1104900" y="3975200"/>
              <a:ext cx="18204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Carlos Martínez</a:t>
              </a:r>
              <a:endParaRPr sz="12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1" name="Google Shape;251;p22"/>
            <p:cNvSpPr txBox="1"/>
            <p:nvPr/>
          </p:nvSpPr>
          <p:spPr>
            <a:xfrm>
              <a:off x="1104900" y="4292700"/>
              <a:ext cx="18204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Director de Operaciones</a:t>
              </a:r>
              <a:endParaRPr sz="11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2" name="Google Shape;252;p22"/>
          <p:cNvGrpSpPr/>
          <p:nvPr/>
        </p:nvGrpSpPr>
        <p:grpSpPr>
          <a:xfrm>
            <a:off x="3661800" y="2438400"/>
            <a:ext cx="1820400" cy="1930300"/>
            <a:chOff x="3623733" y="2679800"/>
            <a:chExt cx="1820400" cy="1930300"/>
          </a:xfrm>
        </p:grpSpPr>
        <p:sp>
          <p:nvSpPr>
            <p:cNvPr id="253" name="Google Shape;253;p22"/>
            <p:cNvSpPr txBox="1"/>
            <p:nvPr/>
          </p:nvSpPr>
          <p:spPr>
            <a:xfrm>
              <a:off x="3623733" y="2679800"/>
              <a:ext cx="1820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"Gracias a Sunname, logramos hacer más eficientes nuestros procesos y fortalecer el compromiso del equipo."</a:t>
              </a:r>
              <a:endParaRPr sz="12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" name="Google Shape;254;p22"/>
            <p:cNvSpPr txBox="1"/>
            <p:nvPr/>
          </p:nvSpPr>
          <p:spPr>
            <a:xfrm>
              <a:off x="3623733" y="3975200"/>
              <a:ext cx="18204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Laura Torres</a:t>
              </a:r>
              <a:endParaRPr sz="12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5" name="Google Shape;255;p22"/>
            <p:cNvSpPr txBox="1"/>
            <p:nvPr/>
          </p:nvSpPr>
          <p:spPr>
            <a:xfrm>
              <a:off x="3623733" y="4292700"/>
              <a:ext cx="18204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CEO, Tienda Nova</a:t>
              </a:r>
              <a:endParaRPr sz="11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6" name="Google Shape;256;p22"/>
          <p:cNvGrpSpPr/>
          <p:nvPr/>
        </p:nvGrpSpPr>
        <p:grpSpPr>
          <a:xfrm>
            <a:off x="6180633" y="2438400"/>
            <a:ext cx="1820400" cy="1930300"/>
            <a:chOff x="6142567" y="2679800"/>
            <a:chExt cx="1820400" cy="1930300"/>
          </a:xfrm>
        </p:grpSpPr>
        <p:sp>
          <p:nvSpPr>
            <p:cNvPr id="257" name="Google Shape;257;p22"/>
            <p:cNvSpPr txBox="1"/>
            <p:nvPr/>
          </p:nvSpPr>
          <p:spPr>
            <a:xfrm>
              <a:off x="6142567" y="2679800"/>
              <a:ext cx="1820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"La personalización y el acompañamiento cercano fueron clave para el éxito de nuestro proyecto."</a:t>
              </a:r>
              <a:endParaRPr sz="12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6142567" y="3975200"/>
              <a:ext cx="18204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Javier López</a:t>
              </a:r>
              <a:endParaRPr sz="12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6142567" y="4292700"/>
              <a:ext cx="18204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Gerente IT</a:t>
              </a:r>
              <a:endParaRPr sz="11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0" name="Google Shape;260;p22"/>
          <p:cNvSpPr txBox="1"/>
          <p:nvPr/>
        </p:nvSpPr>
        <p:spPr>
          <a:xfrm>
            <a:off x="4152537" y="1710004"/>
            <a:ext cx="575996" cy="575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125" tIns="69125" rIns="69125" bIns="69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14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LT</a:t>
            </a:r>
            <a:endParaRPr sz="1814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1633867" y="1709944"/>
            <a:ext cx="575996" cy="575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125" tIns="69125" rIns="69125" bIns="69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14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CM</a:t>
            </a:r>
            <a:endParaRPr sz="1814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6671134" y="1710000"/>
            <a:ext cx="575996" cy="575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125" tIns="69125" rIns="69125" bIns="69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14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JL</a:t>
            </a:r>
            <a:endParaRPr sz="1814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9</a:t>
            </a:fld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582750" y="612327"/>
            <a:ext cx="7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rPr>
              <a:t>Lo que dicen nuestros clientes</a:t>
            </a:r>
            <a:endParaRPr sz="3200" b="1" dirty="0">
              <a:solidFill>
                <a:srgbClr val="2639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76;p14">
            <a:extLst>
              <a:ext uri="{FF2B5EF4-FFF2-40B4-BE49-F238E27FC236}">
                <a16:creationId xmlns:a16="http://schemas.microsoft.com/office/drawing/2014/main" id="{2341E15C-0207-EA48-C3A8-4C184824BA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63980"/>
            </a:gs>
            <a:gs pos="100000">
              <a:srgbClr val="46C2CE"/>
            </a:gs>
          </a:gsLst>
          <a:lin ang="5400012" scaled="0"/>
        </a:gra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3"/>
          <p:cNvGrpSpPr/>
          <p:nvPr/>
        </p:nvGrpSpPr>
        <p:grpSpPr>
          <a:xfrm>
            <a:off x="1337450" y="1477045"/>
            <a:ext cx="2880000" cy="1440000"/>
            <a:chOff x="1036500" y="1521575"/>
            <a:chExt cx="2880000" cy="1440000"/>
          </a:xfrm>
        </p:grpSpPr>
        <p:sp>
          <p:nvSpPr>
            <p:cNvPr id="270" name="Google Shape;270;p23"/>
            <p:cNvSpPr/>
            <p:nvPr/>
          </p:nvSpPr>
          <p:spPr>
            <a:xfrm>
              <a:off x="1036500" y="1521575"/>
              <a:ext cx="2880000" cy="1440000"/>
            </a:xfrm>
            <a:prstGeom prst="roundRect">
              <a:avLst>
                <a:gd name="adj" fmla="val 16667"/>
              </a:avLst>
            </a:prstGeom>
            <a:solidFill>
              <a:srgbClr val="E0F7FA"/>
            </a:solidFill>
            <a:ln w="9350" cap="flat" cmpd="sng">
              <a:solidFill>
                <a:srgbClr val="44A2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72">
                <a:solidFill>
                  <a:srgbClr val="263980"/>
                </a:solidFill>
              </a:endParaRPr>
            </a:p>
          </p:txBody>
        </p:sp>
        <p:sp>
          <p:nvSpPr>
            <p:cNvPr id="271" name="Google Shape;271;p23"/>
            <p:cNvSpPr txBox="1"/>
            <p:nvPr/>
          </p:nvSpPr>
          <p:spPr>
            <a:xfrm>
              <a:off x="1079550" y="1543075"/>
              <a:ext cx="2793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3800" b="1">
                  <a:solidFill>
                    <a:srgbClr val="44A2A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+60</a:t>
              </a:r>
              <a:endParaRPr sz="3800" b="1">
                <a:solidFill>
                  <a:srgbClr val="44A2A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2" name="Google Shape;272;p23"/>
            <p:cNvSpPr txBox="1"/>
            <p:nvPr/>
          </p:nvSpPr>
          <p:spPr>
            <a:xfrm>
              <a:off x="1079550" y="2209800"/>
              <a:ext cx="279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Empresas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que confían en nosotros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3" name="Google Shape;273;p23"/>
          <p:cNvSpPr/>
          <p:nvPr/>
        </p:nvSpPr>
        <p:spPr>
          <a:xfrm>
            <a:off x="4926600" y="1477045"/>
            <a:ext cx="2880000" cy="1440000"/>
          </a:xfrm>
          <a:prstGeom prst="roundRect">
            <a:avLst>
              <a:gd name="adj" fmla="val 16667"/>
            </a:avLst>
          </a:prstGeom>
          <a:solidFill>
            <a:srgbClr val="E0F7FA"/>
          </a:solidFill>
          <a:ln w="9350" cap="flat" cmpd="sng">
            <a:solidFill>
              <a:srgbClr val="44A2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650" tIns="89650" rIns="89650" bIns="89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2">
              <a:solidFill>
                <a:srgbClr val="263980"/>
              </a:solidFill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4969650" y="1498545"/>
            <a:ext cx="2793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 b="1">
                <a:solidFill>
                  <a:srgbClr val="44A2AB"/>
                </a:solidFill>
                <a:latin typeface="Montserrat"/>
                <a:ea typeface="Montserrat"/>
                <a:cs typeface="Montserrat"/>
                <a:sym typeface="Montserrat"/>
              </a:rPr>
              <a:t>98%</a:t>
            </a:r>
            <a:endParaRPr sz="3800" b="1">
              <a:solidFill>
                <a:srgbClr val="44A2A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4969650" y="2165270"/>
            <a:ext cx="2793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Clientes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satisfechos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1337400" y="3155870"/>
            <a:ext cx="2880000" cy="1440000"/>
          </a:xfrm>
          <a:prstGeom prst="roundRect">
            <a:avLst>
              <a:gd name="adj" fmla="val 16667"/>
            </a:avLst>
          </a:prstGeom>
          <a:solidFill>
            <a:srgbClr val="E0F7FA"/>
          </a:solidFill>
          <a:ln w="9350" cap="flat" cmpd="sng">
            <a:solidFill>
              <a:srgbClr val="44A2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650" tIns="89650" rIns="89650" bIns="89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2">
              <a:solidFill>
                <a:srgbClr val="263980"/>
              </a:solidFill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1380450" y="3177370"/>
            <a:ext cx="2793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 b="1">
                <a:solidFill>
                  <a:srgbClr val="44A2AB"/>
                </a:solidFill>
                <a:latin typeface="Montserrat"/>
                <a:ea typeface="Montserrat"/>
                <a:cs typeface="Montserrat"/>
                <a:sym typeface="Montserrat"/>
              </a:rPr>
              <a:t>3-6</a:t>
            </a:r>
            <a:endParaRPr sz="3800" b="1">
              <a:solidFill>
                <a:srgbClr val="44A2A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1380450" y="3853630"/>
            <a:ext cx="2793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Meses para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implementación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4926600" y="3155870"/>
            <a:ext cx="2880000" cy="1440000"/>
          </a:xfrm>
          <a:prstGeom prst="roundRect">
            <a:avLst>
              <a:gd name="adj" fmla="val 16667"/>
            </a:avLst>
          </a:prstGeom>
          <a:solidFill>
            <a:srgbClr val="E0F7FA"/>
          </a:solidFill>
          <a:ln w="9350" cap="flat" cmpd="sng">
            <a:solidFill>
              <a:srgbClr val="44A2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650" tIns="89650" rIns="89650" bIns="89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2">
              <a:solidFill>
                <a:srgbClr val="263980"/>
              </a:solidFill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4969650" y="3177370"/>
            <a:ext cx="2793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 b="1">
                <a:solidFill>
                  <a:srgbClr val="44A2AB"/>
                </a:solidFill>
                <a:latin typeface="Montserrat"/>
                <a:ea typeface="Montserrat"/>
                <a:cs typeface="Montserrat"/>
                <a:sym typeface="Montserrat"/>
              </a:rPr>
              <a:t>24/7</a:t>
            </a:r>
            <a:endParaRPr sz="3800" b="1">
              <a:solidFill>
                <a:srgbClr val="44A2A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4969650" y="3853630"/>
            <a:ext cx="2793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Soporte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 español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582750" y="612327"/>
            <a:ext cx="7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Nuestro Impacto en Números</a:t>
            </a:r>
            <a:endParaRPr sz="3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/>
          <p:nvPr/>
        </p:nvSpPr>
        <p:spPr>
          <a:xfrm>
            <a:off x="1346250" y="1842054"/>
            <a:ext cx="1492200" cy="274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1552350" y="2026154"/>
            <a:ext cx="1080000" cy="10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77775" tIns="77775" rIns="77775" bIns="77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90"/>
          </a:p>
        </p:txBody>
      </p:sp>
      <p:sp>
        <p:nvSpPr>
          <p:cNvPr id="289" name="Google Shape;289;p24"/>
          <p:cNvSpPr txBox="1"/>
          <p:nvPr/>
        </p:nvSpPr>
        <p:spPr>
          <a:xfrm>
            <a:off x="1552350" y="2026154"/>
            <a:ext cx="1080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75" tIns="77775" rIns="77775" bIns="77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61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JD</a:t>
            </a:r>
            <a:endParaRPr sz="3061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90" name="Google Shape;290;p24"/>
          <p:cNvGrpSpPr/>
          <p:nvPr/>
        </p:nvGrpSpPr>
        <p:grpSpPr>
          <a:xfrm>
            <a:off x="1473150" y="3289854"/>
            <a:ext cx="1238400" cy="1270000"/>
            <a:chOff x="1473150" y="3428900"/>
            <a:chExt cx="1238400" cy="1270000"/>
          </a:xfrm>
        </p:grpSpPr>
        <p:sp>
          <p:nvSpPr>
            <p:cNvPr id="291" name="Google Shape;291;p24"/>
            <p:cNvSpPr txBox="1"/>
            <p:nvPr/>
          </p:nvSpPr>
          <p:spPr>
            <a:xfrm>
              <a:off x="1473150" y="3428900"/>
              <a:ext cx="12384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María Dolores </a:t>
              </a:r>
              <a:endParaRPr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2" name="Google Shape;292;p24"/>
            <p:cNvSpPr txBox="1"/>
            <p:nvPr/>
          </p:nvSpPr>
          <p:spPr>
            <a:xfrm>
              <a:off x="1473150" y="3936900"/>
              <a:ext cx="123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CEO &amp; Consultor Senior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93" name="Google Shape;293;p24"/>
          <p:cNvSpPr/>
          <p:nvPr/>
        </p:nvSpPr>
        <p:spPr>
          <a:xfrm>
            <a:off x="3017447" y="1842054"/>
            <a:ext cx="1492200" cy="274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3223547" y="2026154"/>
            <a:ext cx="1080000" cy="10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77775" tIns="77775" rIns="77775" bIns="77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90"/>
          </a:p>
        </p:txBody>
      </p:sp>
      <p:sp>
        <p:nvSpPr>
          <p:cNvPr id="295" name="Google Shape;295;p24"/>
          <p:cNvSpPr txBox="1"/>
          <p:nvPr/>
        </p:nvSpPr>
        <p:spPr>
          <a:xfrm>
            <a:off x="3223547" y="2026154"/>
            <a:ext cx="1080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75" tIns="77775" rIns="77775" bIns="77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61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MP</a:t>
            </a:r>
            <a:endParaRPr sz="3061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96" name="Google Shape;296;p24"/>
          <p:cNvGrpSpPr/>
          <p:nvPr/>
        </p:nvGrpSpPr>
        <p:grpSpPr>
          <a:xfrm>
            <a:off x="3144347" y="3289854"/>
            <a:ext cx="1238400" cy="1270000"/>
            <a:chOff x="3144347" y="3428900"/>
            <a:chExt cx="1238400" cy="1270000"/>
          </a:xfrm>
        </p:grpSpPr>
        <p:sp>
          <p:nvSpPr>
            <p:cNvPr id="297" name="Google Shape;297;p24"/>
            <p:cNvSpPr txBox="1"/>
            <p:nvPr/>
          </p:nvSpPr>
          <p:spPr>
            <a:xfrm>
              <a:off x="3144347" y="3428900"/>
              <a:ext cx="12384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Argelia Martínez</a:t>
              </a:r>
              <a:endParaRPr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8" name="Google Shape;298;p24"/>
            <p:cNvSpPr txBox="1"/>
            <p:nvPr/>
          </p:nvSpPr>
          <p:spPr>
            <a:xfrm>
              <a:off x="3144347" y="3936900"/>
              <a:ext cx="123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Líder Técnico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99" name="Google Shape;299;p24"/>
          <p:cNvSpPr/>
          <p:nvPr/>
        </p:nvSpPr>
        <p:spPr>
          <a:xfrm>
            <a:off x="4633082" y="1842054"/>
            <a:ext cx="1492200" cy="274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4839182" y="2026154"/>
            <a:ext cx="1080000" cy="10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77775" tIns="77775" rIns="77775" bIns="77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90"/>
          </a:p>
        </p:txBody>
      </p:sp>
      <p:sp>
        <p:nvSpPr>
          <p:cNvPr id="301" name="Google Shape;301;p24"/>
          <p:cNvSpPr txBox="1"/>
          <p:nvPr/>
        </p:nvSpPr>
        <p:spPr>
          <a:xfrm>
            <a:off x="4839182" y="2026154"/>
            <a:ext cx="1080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75" tIns="77775" rIns="77775" bIns="77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61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</a:t>
            </a:r>
            <a:endParaRPr sz="3061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02" name="Google Shape;302;p24"/>
          <p:cNvGrpSpPr/>
          <p:nvPr/>
        </p:nvGrpSpPr>
        <p:grpSpPr>
          <a:xfrm>
            <a:off x="4759982" y="3289854"/>
            <a:ext cx="1238400" cy="1270000"/>
            <a:chOff x="4759982" y="3428900"/>
            <a:chExt cx="1238400" cy="1270000"/>
          </a:xfrm>
        </p:grpSpPr>
        <p:sp>
          <p:nvSpPr>
            <p:cNvPr id="303" name="Google Shape;303;p24"/>
            <p:cNvSpPr txBox="1"/>
            <p:nvPr/>
          </p:nvSpPr>
          <p:spPr>
            <a:xfrm>
              <a:off x="4759982" y="3428900"/>
              <a:ext cx="12384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Eduardo Froylan</a:t>
              </a:r>
              <a:endParaRPr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4" name="Google Shape;304;p24"/>
            <p:cNvSpPr txBox="1"/>
            <p:nvPr/>
          </p:nvSpPr>
          <p:spPr>
            <a:xfrm>
              <a:off x="4759982" y="3936900"/>
              <a:ext cx="123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Developer Senior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05" name="Google Shape;305;p24"/>
          <p:cNvSpPr/>
          <p:nvPr/>
        </p:nvSpPr>
        <p:spPr>
          <a:xfrm>
            <a:off x="6248717" y="1842054"/>
            <a:ext cx="1492200" cy="274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6454817" y="2026154"/>
            <a:ext cx="1080000" cy="10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77775" tIns="77775" rIns="77775" bIns="77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90"/>
          </a:p>
        </p:txBody>
      </p:sp>
      <p:sp>
        <p:nvSpPr>
          <p:cNvPr id="307" name="Google Shape;307;p24"/>
          <p:cNvSpPr txBox="1"/>
          <p:nvPr/>
        </p:nvSpPr>
        <p:spPr>
          <a:xfrm>
            <a:off x="6454817" y="2026154"/>
            <a:ext cx="1080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75" tIns="77775" rIns="77775" bIns="77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61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</a:t>
            </a:r>
            <a:endParaRPr sz="3061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08" name="Google Shape;308;p24"/>
          <p:cNvGrpSpPr/>
          <p:nvPr/>
        </p:nvGrpSpPr>
        <p:grpSpPr>
          <a:xfrm>
            <a:off x="6375617" y="3289854"/>
            <a:ext cx="1238400" cy="1270000"/>
            <a:chOff x="6375617" y="3428900"/>
            <a:chExt cx="1238400" cy="1270000"/>
          </a:xfrm>
        </p:grpSpPr>
        <p:sp>
          <p:nvSpPr>
            <p:cNvPr id="309" name="Google Shape;309;p24"/>
            <p:cNvSpPr txBox="1"/>
            <p:nvPr/>
          </p:nvSpPr>
          <p:spPr>
            <a:xfrm>
              <a:off x="6375617" y="3428900"/>
              <a:ext cx="12384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Osvaldo Maye</a:t>
              </a:r>
              <a:endParaRPr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0" name="Google Shape;310;p24"/>
            <p:cNvSpPr txBox="1"/>
            <p:nvPr/>
          </p:nvSpPr>
          <p:spPr>
            <a:xfrm>
              <a:off x="6375617" y="3936900"/>
              <a:ext cx="123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Consultora ERP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11" name="Google Shape;311;p24"/>
          <p:cNvSpPr txBox="1"/>
          <p:nvPr/>
        </p:nvSpPr>
        <p:spPr>
          <a:xfrm>
            <a:off x="582750" y="612825"/>
            <a:ext cx="7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rPr>
              <a:t>Nuestro Equipo</a:t>
            </a:r>
            <a:endParaRPr sz="3200" b="1" dirty="0">
              <a:solidFill>
                <a:srgbClr val="2639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658950" y="1090899"/>
            <a:ext cx="78456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Expertos certificados en Odoo y con amplia experiencia en tu industria</a:t>
            </a:r>
            <a:endParaRPr sz="1600" dirty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76;p14">
            <a:extLst>
              <a:ext uri="{FF2B5EF4-FFF2-40B4-BE49-F238E27FC236}">
                <a16:creationId xmlns:a16="http://schemas.microsoft.com/office/drawing/2014/main" id="{E00D40CB-9C4A-A127-BB3D-0FF285F9AA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25"/>
          <p:cNvGrpSpPr/>
          <p:nvPr/>
        </p:nvGrpSpPr>
        <p:grpSpPr>
          <a:xfrm>
            <a:off x="1714500" y="1556929"/>
            <a:ext cx="304800" cy="3089973"/>
            <a:chOff x="1714500" y="1556929"/>
            <a:chExt cx="304800" cy="3089973"/>
          </a:xfrm>
        </p:grpSpPr>
        <p:sp>
          <p:nvSpPr>
            <p:cNvPr id="318" name="Google Shape;318;p25"/>
            <p:cNvSpPr/>
            <p:nvPr/>
          </p:nvSpPr>
          <p:spPr>
            <a:xfrm>
              <a:off x="1841550" y="1703614"/>
              <a:ext cx="50700" cy="2819400"/>
            </a:xfrm>
            <a:prstGeom prst="rect">
              <a:avLst/>
            </a:prstGeom>
            <a:solidFill>
              <a:srgbClr val="44A2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1714500" y="1556929"/>
              <a:ext cx="304800" cy="304800"/>
            </a:xfrm>
            <a:prstGeom prst="ellipse">
              <a:avLst/>
            </a:prstGeom>
            <a:solidFill>
              <a:srgbClr val="44A2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1714500" y="2114038"/>
              <a:ext cx="304800" cy="304800"/>
            </a:xfrm>
            <a:prstGeom prst="ellipse">
              <a:avLst/>
            </a:prstGeom>
            <a:solidFill>
              <a:srgbClr val="44A2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1714500" y="2671147"/>
              <a:ext cx="304800" cy="304800"/>
            </a:xfrm>
            <a:prstGeom prst="ellipse">
              <a:avLst/>
            </a:prstGeom>
            <a:solidFill>
              <a:srgbClr val="44A2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5"/>
            <p:cNvSpPr/>
            <p:nvPr/>
          </p:nvSpPr>
          <p:spPr>
            <a:xfrm>
              <a:off x="1714500" y="3228182"/>
              <a:ext cx="304800" cy="304800"/>
            </a:xfrm>
            <a:prstGeom prst="ellipse">
              <a:avLst/>
            </a:prstGeom>
            <a:solidFill>
              <a:srgbClr val="44A2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1714500" y="3785142"/>
              <a:ext cx="304800" cy="304800"/>
            </a:xfrm>
            <a:prstGeom prst="ellipse">
              <a:avLst/>
            </a:prstGeom>
            <a:solidFill>
              <a:srgbClr val="44A2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1714500" y="4342102"/>
              <a:ext cx="304800" cy="304800"/>
            </a:xfrm>
            <a:prstGeom prst="ellipse">
              <a:avLst/>
            </a:prstGeom>
            <a:solidFill>
              <a:srgbClr val="44A2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5"/>
            <p:cNvSpPr txBox="1"/>
            <p:nvPr/>
          </p:nvSpPr>
          <p:spPr>
            <a:xfrm>
              <a:off x="1714500" y="1556929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6" name="Google Shape;326;p25"/>
            <p:cNvSpPr txBox="1"/>
            <p:nvPr/>
          </p:nvSpPr>
          <p:spPr>
            <a:xfrm>
              <a:off x="1714500" y="2114038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7" name="Google Shape;327;p25"/>
            <p:cNvSpPr txBox="1"/>
            <p:nvPr/>
          </p:nvSpPr>
          <p:spPr>
            <a:xfrm>
              <a:off x="1714500" y="2671147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8" name="Google Shape;328;p25"/>
            <p:cNvSpPr txBox="1"/>
            <p:nvPr/>
          </p:nvSpPr>
          <p:spPr>
            <a:xfrm>
              <a:off x="1714500" y="3228182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9" name="Google Shape;329;p25"/>
            <p:cNvSpPr txBox="1"/>
            <p:nvPr/>
          </p:nvSpPr>
          <p:spPr>
            <a:xfrm>
              <a:off x="1714500" y="3785142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0" name="Google Shape;330;p25"/>
            <p:cNvSpPr txBox="1"/>
            <p:nvPr/>
          </p:nvSpPr>
          <p:spPr>
            <a:xfrm>
              <a:off x="1714500" y="4342102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1" name="Google Shape;331;p25"/>
          <p:cNvGrpSpPr/>
          <p:nvPr/>
        </p:nvGrpSpPr>
        <p:grpSpPr>
          <a:xfrm>
            <a:off x="2298700" y="1477177"/>
            <a:ext cx="3810000" cy="464304"/>
            <a:chOff x="2413000" y="1398821"/>
            <a:chExt cx="3810000" cy="464304"/>
          </a:xfrm>
        </p:grpSpPr>
        <p:sp>
          <p:nvSpPr>
            <p:cNvPr id="332" name="Google Shape;332;p25"/>
            <p:cNvSpPr txBox="1"/>
            <p:nvPr/>
          </p:nvSpPr>
          <p:spPr>
            <a:xfrm>
              <a:off x="2413000" y="1398821"/>
              <a:ext cx="3810000" cy="232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Reunión inicial</a:t>
              </a:r>
              <a:endParaRPr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3" name="Google Shape;333;p25"/>
            <p:cNvSpPr txBox="1"/>
            <p:nvPr/>
          </p:nvSpPr>
          <p:spPr>
            <a:xfrm>
              <a:off x="2413000" y="1630925"/>
              <a:ext cx="3810000" cy="2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Entendemos tus necesidades y objetivos</a:t>
              </a:r>
              <a:endParaRPr sz="13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4" name="Google Shape;334;p25"/>
          <p:cNvSpPr txBox="1"/>
          <p:nvPr/>
        </p:nvSpPr>
        <p:spPr>
          <a:xfrm>
            <a:off x="6362700" y="1570129"/>
            <a:ext cx="10668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rPr>
              <a:t>Día 1</a:t>
            </a:r>
            <a:endParaRPr sz="1200" b="1">
              <a:solidFill>
                <a:srgbClr val="44A2A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5" name="Google Shape;335;p25"/>
          <p:cNvGrpSpPr/>
          <p:nvPr/>
        </p:nvGrpSpPr>
        <p:grpSpPr>
          <a:xfrm>
            <a:off x="2298700" y="2034286"/>
            <a:ext cx="3810000" cy="464304"/>
            <a:chOff x="2413000" y="1955871"/>
            <a:chExt cx="3810000" cy="464304"/>
          </a:xfrm>
        </p:grpSpPr>
        <p:sp>
          <p:nvSpPr>
            <p:cNvPr id="336" name="Google Shape;336;p25"/>
            <p:cNvSpPr txBox="1"/>
            <p:nvPr/>
          </p:nvSpPr>
          <p:spPr>
            <a:xfrm>
              <a:off x="2413000" y="1955871"/>
              <a:ext cx="3810000" cy="232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Análisis de procesos</a:t>
              </a:r>
              <a:endParaRPr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7" name="Google Shape;337;p25"/>
            <p:cNvSpPr txBox="1"/>
            <p:nvPr/>
          </p:nvSpPr>
          <p:spPr>
            <a:xfrm>
              <a:off x="2413000" y="2187975"/>
              <a:ext cx="3810000" cy="2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Mapeamos tus operaciones actuales</a:t>
              </a:r>
              <a:endParaRPr sz="13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8" name="Google Shape;338;p25"/>
          <p:cNvSpPr txBox="1"/>
          <p:nvPr/>
        </p:nvSpPr>
        <p:spPr>
          <a:xfrm>
            <a:off x="6362700" y="2127238"/>
            <a:ext cx="10668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rPr>
              <a:t>Semana 1-2</a:t>
            </a:r>
            <a:endParaRPr sz="1200" b="1">
              <a:solidFill>
                <a:srgbClr val="44A2A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9" name="Google Shape;339;p25"/>
          <p:cNvGrpSpPr/>
          <p:nvPr/>
        </p:nvGrpSpPr>
        <p:grpSpPr>
          <a:xfrm>
            <a:off x="2298700" y="2591395"/>
            <a:ext cx="3810000" cy="464304"/>
            <a:chOff x="2413000" y="2512920"/>
            <a:chExt cx="3810000" cy="464304"/>
          </a:xfrm>
        </p:grpSpPr>
        <p:sp>
          <p:nvSpPr>
            <p:cNvPr id="340" name="Google Shape;340;p25"/>
            <p:cNvSpPr txBox="1"/>
            <p:nvPr/>
          </p:nvSpPr>
          <p:spPr>
            <a:xfrm>
              <a:off x="2413000" y="2512920"/>
              <a:ext cx="3810000" cy="232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Propuesta personalizada</a:t>
              </a:r>
              <a:endParaRPr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" name="Google Shape;341;p25"/>
            <p:cNvSpPr txBox="1"/>
            <p:nvPr/>
          </p:nvSpPr>
          <p:spPr>
            <a:xfrm>
              <a:off x="2413000" y="2745024"/>
              <a:ext cx="3810000" cy="2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Diseñamos la solución perfecta para ti</a:t>
              </a:r>
              <a:endParaRPr sz="13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2" name="Google Shape;342;p25"/>
          <p:cNvSpPr txBox="1"/>
          <p:nvPr/>
        </p:nvSpPr>
        <p:spPr>
          <a:xfrm>
            <a:off x="6362700" y="2684347"/>
            <a:ext cx="10668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rPr>
              <a:t>Semana 3</a:t>
            </a:r>
            <a:endParaRPr sz="1200" b="1">
              <a:solidFill>
                <a:srgbClr val="44A2A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43" name="Google Shape;343;p25"/>
          <p:cNvGrpSpPr/>
          <p:nvPr/>
        </p:nvGrpSpPr>
        <p:grpSpPr>
          <a:xfrm>
            <a:off x="2298700" y="3148504"/>
            <a:ext cx="3810000" cy="464155"/>
            <a:chOff x="2413000" y="3069970"/>
            <a:chExt cx="3810000" cy="464155"/>
          </a:xfrm>
        </p:grpSpPr>
        <p:sp>
          <p:nvSpPr>
            <p:cNvPr id="344" name="Google Shape;344;p25"/>
            <p:cNvSpPr txBox="1"/>
            <p:nvPr/>
          </p:nvSpPr>
          <p:spPr>
            <a:xfrm>
              <a:off x="2413000" y="3069970"/>
              <a:ext cx="3810000" cy="232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Implementación</a:t>
              </a:r>
              <a:endParaRPr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5" name="Google Shape;345;p25"/>
            <p:cNvSpPr txBox="1"/>
            <p:nvPr/>
          </p:nvSpPr>
          <p:spPr>
            <a:xfrm>
              <a:off x="2413000" y="3302074"/>
              <a:ext cx="3810000" cy="232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Configuramos y personalizamos Odoo</a:t>
              </a:r>
              <a:endParaRPr sz="13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6" name="Google Shape;346;p25"/>
          <p:cNvSpPr txBox="1"/>
          <p:nvPr/>
        </p:nvSpPr>
        <p:spPr>
          <a:xfrm>
            <a:off x="6362700" y="3241381"/>
            <a:ext cx="10668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rPr>
              <a:t>Mes 1-3</a:t>
            </a:r>
            <a:endParaRPr sz="1200" b="1">
              <a:solidFill>
                <a:srgbClr val="44A2A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47" name="Google Shape;347;p25"/>
          <p:cNvGrpSpPr/>
          <p:nvPr/>
        </p:nvGrpSpPr>
        <p:grpSpPr>
          <a:xfrm>
            <a:off x="2298700" y="3705464"/>
            <a:ext cx="3810000" cy="464155"/>
            <a:chOff x="2413000" y="3627020"/>
            <a:chExt cx="3810000" cy="464155"/>
          </a:xfrm>
        </p:grpSpPr>
        <p:sp>
          <p:nvSpPr>
            <p:cNvPr id="348" name="Google Shape;348;p25"/>
            <p:cNvSpPr txBox="1"/>
            <p:nvPr/>
          </p:nvSpPr>
          <p:spPr>
            <a:xfrm>
              <a:off x="2413000" y="3627020"/>
              <a:ext cx="3810000" cy="232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Capacitación</a:t>
              </a:r>
              <a:endParaRPr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9" name="Google Shape;349;p25"/>
            <p:cNvSpPr txBox="1"/>
            <p:nvPr/>
          </p:nvSpPr>
          <p:spPr>
            <a:xfrm>
              <a:off x="2413000" y="3859123"/>
              <a:ext cx="3810000" cy="232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Tu equipo aprende a usar el sistema</a:t>
              </a:r>
              <a:endParaRPr sz="13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50" name="Google Shape;350;p25"/>
          <p:cNvSpPr txBox="1"/>
          <p:nvPr/>
        </p:nvSpPr>
        <p:spPr>
          <a:xfrm>
            <a:off x="6362700" y="3798341"/>
            <a:ext cx="10668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rPr>
              <a:t>Mes 3-4</a:t>
            </a:r>
            <a:endParaRPr sz="1200" b="1">
              <a:solidFill>
                <a:srgbClr val="44A2A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51" name="Google Shape;351;p25"/>
          <p:cNvGrpSpPr/>
          <p:nvPr/>
        </p:nvGrpSpPr>
        <p:grpSpPr>
          <a:xfrm>
            <a:off x="2298700" y="4262424"/>
            <a:ext cx="3810000" cy="464155"/>
            <a:chOff x="2413000" y="4184069"/>
            <a:chExt cx="3810000" cy="464155"/>
          </a:xfrm>
        </p:grpSpPr>
        <p:sp>
          <p:nvSpPr>
            <p:cNvPr id="352" name="Google Shape;352;p25"/>
            <p:cNvSpPr txBox="1"/>
            <p:nvPr/>
          </p:nvSpPr>
          <p:spPr>
            <a:xfrm>
              <a:off x="2413000" y="4184069"/>
              <a:ext cx="3810000" cy="232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rPr>
                <a:t>Go-Live y soporte</a:t>
              </a:r>
              <a:endParaRPr sz="1600" b="1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3" name="Google Shape;353;p25"/>
            <p:cNvSpPr txBox="1"/>
            <p:nvPr/>
          </p:nvSpPr>
          <p:spPr>
            <a:xfrm>
              <a:off x="2413000" y="4416173"/>
              <a:ext cx="3810000" cy="232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Salida en vivo con acompañamiento continuo</a:t>
              </a:r>
              <a:endParaRPr sz="13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54" name="Google Shape;354;p25"/>
          <p:cNvSpPr txBox="1"/>
          <p:nvPr/>
        </p:nvSpPr>
        <p:spPr>
          <a:xfrm>
            <a:off x="6362700" y="4355301"/>
            <a:ext cx="10668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44A2AB"/>
                </a:solidFill>
                <a:latin typeface="Roboto"/>
                <a:ea typeface="Roboto"/>
                <a:cs typeface="Roboto"/>
                <a:sym typeface="Roboto"/>
              </a:rPr>
              <a:t>Mes 4+</a:t>
            </a:r>
            <a:endParaRPr sz="1200" b="1">
              <a:solidFill>
                <a:srgbClr val="44A2A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25"/>
          <p:cNvSpPr txBox="1"/>
          <p:nvPr/>
        </p:nvSpPr>
        <p:spPr>
          <a:xfrm>
            <a:off x="582750" y="612327"/>
            <a:ext cx="7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rPr>
              <a:t>¿Cómo trabajamos contigo?</a:t>
            </a:r>
            <a:endParaRPr sz="3200" b="1" dirty="0">
              <a:solidFill>
                <a:srgbClr val="2639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76;p14">
            <a:extLst>
              <a:ext uri="{FF2B5EF4-FFF2-40B4-BE49-F238E27FC236}">
                <a16:creationId xmlns:a16="http://schemas.microsoft.com/office/drawing/2014/main" id="{525CAD16-0E60-547C-3E9F-16D9726033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"/>
          <p:cNvSpPr/>
          <p:nvPr/>
        </p:nvSpPr>
        <p:spPr>
          <a:xfrm>
            <a:off x="836154" y="2070598"/>
            <a:ext cx="2270700" cy="2628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1" name="Google Shape;361;p26"/>
          <p:cNvGrpSpPr/>
          <p:nvPr/>
        </p:nvGrpSpPr>
        <p:grpSpPr>
          <a:xfrm>
            <a:off x="1061304" y="2202134"/>
            <a:ext cx="1820400" cy="2298767"/>
            <a:chOff x="795942" y="2044700"/>
            <a:chExt cx="1820400" cy="2298767"/>
          </a:xfrm>
        </p:grpSpPr>
        <p:sp>
          <p:nvSpPr>
            <p:cNvPr id="362" name="Google Shape;362;p26"/>
            <p:cNvSpPr txBox="1"/>
            <p:nvPr/>
          </p:nvSpPr>
          <p:spPr>
            <a:xfrm>
              <a:off x="795942" y="2044700"/>
              <a:ext cx="18204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000" b="1">
                  <a:solidFill>
                    <a:srgbClr val="2639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Starter</a:t>
              </a:r>
              <a:endParaRPr sz="2000" b="1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3" name="Google Shape;363;p26"/>
            <p:cNvSpPr txBox="1"/>
            <p:nvPr/>
          </p:nvSpPr>
          <p:spPr>
            <a:xfrm>
              <a:off x="795942" y="2362200"/>
              <a:ext cx="18204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Para pequeñas empresas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986442" y="2946300"/>
              <a:ext cx="1439400" cy="25500"/>
            </a:xfrm>
            <a:prstGeom prst="rect">
              <a:avLst/>
            </a:prstGeom>
            <a:solidFill>
              <a:srgbClr val="44A2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6"/>
            <p:cNvSpPr txBox="1"/>
            <p:nvPr/>
          </p:nvSpPr>
          <p:spPr>
            <a:xfrm>
              <a:off x="859542" y="3035247"/>
              <a:ext cx="16932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Configuración básica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6" name="Google Shape;366;p26"/>
            <p:cNvSpPr txBox="1"/>
            <p:nvPr/>
          </p:nvSpPr>
          <p:spPr>
            <a:xfrm>
              <a:off x="859542" y="3305902"/>
              <a:ext cx="16932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1-3 usuarios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7" name="Google Shape;367;p26"/>
            <p:cNvSpPr txBox="1"/>
            <p:nvPr/>
          </p:nvSpPr>
          <p:spPr>
            <a:xfrm>
              <a:off x="859542" y="3576557"/>
              <a:ext cx="16932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1 módulo principal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8" name="Google Shape;368;p26"/>
            <p:cNvSpPr txBox="1"/>
            <p:nvPr/>
          </p:nvSpPr>
          <p:spPr>
            <a:xfrm>
              <a:off x="859542" y="3847212"/>
              <a:ext cx="16932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Soporte email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9" name="Google Shape;369;p26"/>
            <p:cNvSpPr txBox="1"/>
            <p:nvPr/>
          </p:nvSpPr>
          <p:spPr>
            <a:xfrm>
              <a:off x="859542" y="4117867"/>
              <a:ext cx="16932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Capacitación básica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70" name="Google Shape;370;p26"/>
          <p:cNvSpPr/>
          <p:nvPr/>
        </p:nvSpPr>
        <p:spPr>
          <a:xfrm>
            <a:off x="3434400" y="2070598"/>
            <a:ext cx="2270700" cy="2628900"/>
          </a:xfrm>
          <a:prstGeom prst="roundRect">
            <a:avLst>
              <a:gd name="adj" fmla="val 16667"/>
            </a:avLst>
          </a:prstGeom>
          <a:solidFill>
            <a:srgbClr val="44A2AB"/>
          </a:solidFill>
          <a:ln w="381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6"/>
          <p:cNvSpPr txBox="1"/>
          <p:nvPr/>
        </p:nvSpPr>
        <p:spPr>
          <a:xfrm>
            <a:off x="3630229" y="1880098"/>
            <a:ext cx="1947300" cy="31740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MÁS POPULAR</a:t>
            </a:r>
            <a:endParaRPr sz="1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72" name="Google Shape;372;p26"/>
          <p:cNvGrpSpPr/>
          <p:nvPr/>
        </p:nvGrpSpPr>
        <p:grpSpPr>
          <a:xfrm>
            <a:off x="3598250" y="2202134"/>
            <a:ext cx="1943000" cy="2298767"/>
            <a:chOff x="3314776" y="2044700"/>
            <a:chExt cx="1943000" cy="2298767"/>
          </a:xfrm>
        </p:grpSpPr>
        <p:sp>
          <p:nvSpPr>
            <p:cNvPr id="373" name="Google Shape;373;p26"/>
            <p:cNvSpPr txBox="1"/>
            <p:nvPr/>
          </p:nvSpPr>
          <p:spPr>
            <a:xfrm>
              <a:off x="3314776" y="2044700"/>
              <a:ext cx="1842906" cy="44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0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Professional</a:t>
              </a:r>
              <a:endParaRPr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3505276" y="2946300"/>
              <a:ext cx="1439400" cy="2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6"/>
            <p:cNvSpPr txBox="1"/>
            <p:nvPr/>
          </p:nvSpPr>
          <p:spPr>
            <a:xfrm>
              <a:off x="3378276" y="3035247"/>
              <a:ext cx="18795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✓ Configuración completa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7" name="Google Shape;377;p26"/>
            <p:cNvSpPr txBox="1"/>
            <p:nvPr/>
          </p:nvSpPr>
          <p:spPr>
            <a:xfrm>
              <a:off x="3378276" y="3305902"/>
              <a:ext cx="16932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✓ 5-15 usuarios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8" name="Google Shape;378;p26"/>
            <p:cNvSpPr txBox="1"/>
            <p:nvPr/>
          </p:nvSpPr>
          <p:spPr>
            <a:xfrm>
              <a:off x="3378276" y="3576557"/>
              <a:ext cx="16932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✓ 3-5 módulos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9" name="Google Shape;379;p26"/>
            <p:cNvSpPr txBox="1"/>
            <p:nvPr/>
          </p:nvSpPr>
          <p:spPr>
            <a:xfrm>
              <a:off x="3378276" y="3847212"/>
              <a:ext cx="16932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✓ Soporte prioritario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0" name="Google Shape;380;p26"/>
            <p:cNvSpPr txBox="1"/>
            <p:nvPr/>
          </p:nvSpPr>
          <p:spPr>
            <a:xfrm>
              <a:off x="3378276" y="4117867"/>
              <a:ext cx="18795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✓ Capacitación avanzada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81" name="Google Shape;381;p26"/>
          <p:cNvSpPr/>
          <p:nvPr/>
        </p:nvSpPr>
        <p:spPr>
          <a:xfrm>
            <a:off x="6032646" y="2070598"/>
            <a:ext cx="2275200" cy="2628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2" name="Google Shape;382;p26"/>
          <p:cNvGrpSpPr/>
          <p:nvPr/>
        </p:nvGrpSpPr>
        <p:grpSpPr>
          <a:xfrm>
            <a:off x="6124646" y="2202134"/>
            <a:ext cx="2091200" cy="2298767"/>
            <a:chOff x="5833609" y="2044700"/>
            <a:chExt cx="2091200" cy="2298767"/>
          </a:xfrm>
        </p:grpSpPr>
        <p:sp>
          <p:nvSpPr>
            <p:cNvPr id="383" name="Google Shape;383;p26"/>
            <p:cNvSpPr txBox="1"/>
            <p:nvPr/>
          </p:nvSpPr>
          <p:spPr>
            <a:xfrm>
              <a:off x="5833609" y="2044700"/>
              <a:ext cx="18204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000" b="1">
                  <a:solidFill>
                    <a:srgbClr val="2639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Enterprise</a:t>
              </a:r>
              <a:endParaRPr sz="2000" b="1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4" name="Google Shape;384;p26"/>
            <p:cNvSpPr txBox="1"/>
            <p:nvPr/>
          </p:nvSpPr>
          <p:spPr>
            <a:xfrm>
              <a:off x="5833609" y="2362200"/>
              <a:ext cx="18204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Para grandes operaciones</a:t>
              </a:r>
              <a:endParaRPr sz="12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5" name="Google Shape;385;p26"/>
            <p:cNvSpPr/>
            <p:nvPr/>
          </p:nvSpPr>
          <p:spPr>
            <a:xfrm>
              <a:off x="6024109" y="2946300"/>
              <a:ext cx="1439400" cy="25500"/>
            </a:xfrm>
            <a:prstGeom prst="rect">
              <a:avLst/>
            </a:prstGeom>
            <a:solidFill>
              <a:srgbClr val="44A2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6"/>
            <p:cNvSpPr txBox="1"/>
            <p:nvPr/>
          </p:nvSpPr>
          <p:spPr>
            <a:xfrm>
              <a:off x="5897109" y="3035247"/>
              <a:ext cx="16932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Todo personalizado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7" name="Google Shape;387;p26"/>
            <p:cNvSpPr txBox="1"/>
            <p:nvPr/>
          </p:nvSpPr>
          <p:spPr>
            <a:xfrm>
              <a:off x="5897109" y="3305902"/>
              <a:ext cx="16932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Usuarios ilimitados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8" name="Google Shape;388;p26"/>
            <p:cNvSpPr txBox="1"/>
            <p:nvPr/>
          </p:nvSpPr>
          <p:spPr>
            <a:xfrm>
              <a:off x="5897109" y="3576557"/>
              <a:ext cx="16932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Todos los módulos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9" name="Google Shape;389;p26"/>
            <p:cNvSpPr txBox="1"/>
            <p:nvPr/>
          </p:nvSpPr>
          <p:spPr>
            <a:xfrm>
              <a:off x="5897109" y="3847212"/>
              <a:ext cx="16932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Soporte 24/7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0" name="Google Shape;390;p26"/>
            <p:cNvSpPr txBox="1"/>
            <p:nvPr/>
          </p:nvSpPr>
          <p:spPr>
            <a:xfrm>
              <a:off x="5897109" y="4117867"/>
              <a:ext cx="20277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✓ Acompañamiento on-site</a:t>
              </a:r>
              <a:endParaRPr sz="11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91" name="Google Shape;391;p26"/>
          <p:cNvSpPr txBox="1"/>
          <p:nvPr/>
        </p:nvSpPr>
        <p:spPr>
          <a:xfrm>
            <a:off x="582750" y="612327"/>
            <a:ext cx="7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rPr>
              <a:t>Inversión Flexible</a:t>
            </a:r>
            <a:endParaRPr sz="3200" b="1" dirty="0">
              <a:solidFill>
                <a:srgbClr val="2639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26"/>
          <p:cNvSpPr txBox="1"/>
          <p:nvPr/>
        </p:nvSpPr>
        <p:spPr>
          <a:xfrm>
            <a:off x="658950" y="1090899"/>
            <a:ext cx="78456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Planes adaptados a tu tamaño y necesidades</a:t>
            </a:r>
            <a:endParaRPr sz="1600" dirty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76;p14">
            <a:extLst>
              <a:ext uri="{FF2B5EF4-FFF2-40B4-BE49-F238E27FC236}">
                <a16:creationId xmlns:a16="http://schemas.microsoft.com/office/drawing/2014/main" id="{7A0FABC4-5D2D-AD42-A279-4DE5193419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74;p26"/>
          <p:cNvSpPr txBox="1"/>
          <p:nvPr/>
        </p:nvSpPr>
        <p:spPr>
          <a:xfrm>
            <a:off x="3598250" y="2519634"/>
            <a:ext cx="18204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Para empresas en crecimiento</a:t>
            </a:r>
            <a:endParaRPr sz="1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"/>
          <p:cNvSpPr txBox="1"/>
          <p:nvPr/>
        </p:nvSpPr>
        <p:spPr>
          <a:xfrm>
            <a:off x="635000" y="4460703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263980"/>
                </a:solidFill>
                <a:latin typeface="Roboto"/>
                <a:ea typeface="Roboto"/>
                <a:cs typeface="Roboto"/>
                <a:sym typeface="Roboto"/>
              </a:rPr>
              <a:t>✓ Partner oficial Odoo    ✓ Soporte en español    ✓ +60 empresas atendidas</a:t>
            </a:r>
            <a:endParaRPr sz="1200" b="1" dirty="0">
              <a:solidFill>
                <a:srgbClr val="2639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98" name="Google Shape;398;p27"/>
          <p:cNvGrpSpPr/>
          <p:nvPr/>
        </p:nvGrpSpPr>
        <p:grpSpPr>
          <a:xfrm>
            <a:off x="914400" y="2077495"/>
            <a:ext cx="2201400" cy="1440000"/>
            <a:chOff x="635000" y="2209800"/>
            <a:chExt cx="2201400" cy="1440000"/>
          </a:xfrm>
        </p:grpSpPr>
        <p:sp>
          <p:nvSpPr>
            <p:cNvPr id="399" name="Google Shape;399;p27"/>
            <p:cNvSpPr/>
            <p:nvPr/>
          </p:nvSpPr>
          <p:spPr>
            <a:xfrm>
              <a:off x="635000" y="2209800"/>
              <a:ext cx="2201400" cy="1440000"/>
            </a:xfrm>
            <a:prstGeom prst="roundRect">
              <a:avLst>
                <a:gd name="adj" fmla="val 16667"/>
              </a:avLst>
            </a:prstGeom>
            <a:solidFill>
              <a:srgbClr val="F7FAFC"/>
            </a:solidFill>
            <a:ln w="25400" cap="flat" cmpd="sng">
              <a:solidFill>
                <a:srgbClr val="44A2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0" name="Google Shape;400;p27"/>
            <p:cNvGrpSpPr/>
            <p:nvPr/>
          </p:nvGrpSpPr>
          <p:grpSpPr>
            <a:xfrm>
              <a:off x="825500" y="2362200"/>
              <a:ext cx="1820400" cy="1040069"/>
              <a:chOff x="825500" y="2362200"/>
              <a:chExt cx="1820400" cy="1040069"/>
            </a:xfrm>
          </p:grpSpPr>
          <p:sp>
            <p:nvSpPr>
              <p:cNvPr id="401" name="Google Shape;401;p27"/>
              <p:cNvSpPr txBox="1"/>
              <p:nvPr/>
            </p:nvSpPr>
            <p:spPr>
              <a:xfrm>
                <a:off x="825500" y="2830669"/>
                <a:ext cx="1820400" cy="31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600" b="1">
                    <a:solidFill>
                      <a:srgbClr val="263980"/>
                    </a:solidFill>
                    <a:latin typeface="Roboto"/>
                    <a:ea typeface="Roboto"/>
                    <a:cs typeface="Roboto"/>
                    <a:sym typeface="Roboto"/>
                  </a:rPr>
                  <a:t>WhatsApp</a:t>
                </a:r>
                <a:endParaRPr sz="16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2" name="Google Shape;402;p27"/>
              <p:cNvSpPr txBox="1"/>
              <p:nvPr/>
            </p:nvSpPr>
            <p:spPr>
              <a:xfrm>
                <a:off x="825500" y="3148169"/>
                <a:ext cx="1820400" cy="2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200">
                    <a:solidFill>
                      <a:srgbClr val="2D3748"/>
                    </a:solidFill>
                    <a:latin typeface="Roboto"/>
                    <a:ea typeface="Roboto"/>
                    <a:cs typeface="Roboto"/>
                    <a:sym typeface="Roboto"/>
                  </a:rPr>
                  <a:t>+52 81 3506 1795</a:t>
                </a:r>
                <a:endParaRPr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403" name="Google Shape;403;p27" title="Whatsapp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519700" y="2362200"/>
                <a:ext cx="432000" cy="432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04" name="Google Shape;404;p27"/>
          <p:cNvGrpSpPr/>
          <p:nvPr/>
        </p:nvGrpSpPr>
        <p:grpSpPr>
          <a:xfrm>
            <a:off x="5952067" y="2077495"/>
            <a:ext cx="2201400" cy="1440000"/>
            <a:chOff x="5672667" y="2209800"/>
            <a:chExt cx="2201400" cy="1440000"/>
          </a:xfrm>
        </p:grpSpPr>
        <p:sp>
          <p:nvSpPr>
            <p:cNvPr id="405" name="Google Shape;405;p27"/>
            <p:cNvSpPr/>
            <p:nvPr/>
          </p:nvSpPr>
          <p:spPr>
            <a:xfrm>
              <a:off x="5672667" y="2209800"/>
              <a:ext cx="2201400" cy="1440000"/>
            </a:xfrm>
            <a:prstGeom prst="roundRect">
              <a:avLst>
                <a:gd name="adj" fmla="val 16667"/>
              </a:avLst>
            </a:prstGeom>
            <a:solidFill>
              <a:srgbClr val="F7FAFC"/>
            </a:solidFill>
            <a:ln w="25400" cap="flat" cmpd="sng">
              <a:solidFill>
                <a:srgbClr val="44A2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6" name="Google Shape;406;p27"/>
            <p:cNvGrpSpPr/>
            <p:nvPr/>
          </p:nvGrpSpPr>
          <p:grpSpPr>
            <a:xfrm>
              <a:off x="5863167" y="2362200"/>
              <a:ext cx="1820400" cy="1040069"/>
              <a:chOff x="5863167" y="2362200"/>
              <a:chExt cx="1820400" cy="1040069"/>
            </a:xfrm>
          </p:grpSpPr>
          <p:sp>
            <p:nvSpPr>
              <p:cNvPr id="407" name="Google Shape;407;p27"/>
              <p:cNvSpPr txBox="1"/>
              <p:nvPr/>
            </p:nvSpPr>
            <p:spPr>
              <a:xfrm>
                <a:off x="5863167" y="2830669"/>
                <a:ext cx="1820400" cy="31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600" b="1">
                    <a:solidFill>
                      <a:srgbClr val="263980"/>
                    </a:solidFill>
                    <a:latin typeface="Roboto"/>
                    <a:ea typeface="Roboto"/>
                    <a:cs typeface="Roboto"/>
                    <a:sym typeface="Roboto"/>
                  </a:rPr>
                  <a:t>Agenda</a:t>
                </a:r>
                <a:endParaRPr sz="16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8" name="Google Shape;408;p27"/>
              <p:cNvSpPr txBox="1"/>
              <p:nvPr/>
            </p:nvSpPr>
            <p:spPr>
              <a:xfrm>
                <a:off x="5863167" y="3148169"/>
                <a:ext cx="1820400" cy="2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200">
                    <a:solidFill>
                      <a:srgbClr val="2D3748"/>
                    </a:solidFill>
                    <a:latin typeface="Roboto"/>
                    <a:ea typeface="Roboto"/>
                    <a:cs typeface="Roboto"/>
                    <a:sym typeface="Roboto"/>
                  </a:rPr>
                  <a:t>Demo personalizada</a:t>
                </a:r>
                <a:endParaRPr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409" name="Google Shape;409;p27" title="Calendar V3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573398" y="2362200"/>
                <a:ext cx="399938" cy="432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10" name="Google Shape;410;p27"/>
          <p:cNvGrpSpPr/>
          <p:nvPr/>
        </p:nvGrpSpPr>
        <p:grpSpPr>
          <a:xfrm>
            <a:off x="3433233" y="2077495"/>
            <a:ext cx="2201400" cy="1440000"/>
            <a:chOff x="3153833" y="2209800"/>
            <a:chExt cx="2201400" cy="1440000"/>
          </a:xfrm>
        </p:grpSpPr>
        <p:sp>
          <p:nvSpPr>
            <p:cNvPr id="411" name="Google Shape;411;p27"/>
            <p:cNvSpPr/>
            <p:nvPr/>
          </p:nvSpPr>
          <p:spPr>
            <a:xfrm>
              <a:off x="3153833" y="2209800"/>
              <a:ext cx="2201400" cy="1440000"/>
            </a:xfrm>
            <a:prstGeom prst="roundRect">
              <a:avLst>
                <a:gd name="adj" fmla="val 16667"/>
              </a:avLst>
            </a:prstGeom>
            <a:solidFill>
              <a:srgbClr val="F7FAFC"/>
            </a:solidFill>
            <a:ln w="25400" cap="flat" cmpd="sng">
              <a:solidFill>
                <a:srgbClr val="44A2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2" name="Google Shape;412;p27"/>
            <p:cNvGrpSpPr/>
            <p:nvPr/>
          </p:nvGrpSpPr>
          <p:grpSpPr>
            <a:xfrm>
              <a:off x="3344333" y="2362200"/>
              <a:ext cx="1820400" cy="1040069"/>
              <a:chOff x="3344333" y="2362200"/>
              <a:chExt cx="1820400" cy="1040069"/>
            </a:xfrm>
          </p:grpSpPr>
          <p:sp>
            <p:nvSpPr>
              <p:cNvPr id="413" name="Google Shape;413;p27"/>
              <p:cNvSpPr txBox="1"/>
              <p:nvPr/>
            </p:nvSpPr>
            <p:spPr>
              <a:xfrm>
                <a:off x="3344333" y="2830669"/>
                <a:ext cx="1820400" cy="31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600" b="1">
                    <a:solidFill>
                      <a:srgbClr val="263980"/>
                    </a:solidFill>
                    <a:latin typeface="Roboto"/>
                    <a:ea typeface="Roboto"/>
                    <a:cs typeface="Roboto"/>
                    <a:sym typeface="Roboto"/>
                  </a:rPr>
                  <a:t>Email</a:t>
                </a:r>
                <a:endParaRPr sz="1600" b="1">
                  <a:solidFill>
                    <a:srgbClr val="26398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14" name="Google Shape;414;p27"/>
              <p:cNvSpPr txBox="1"/>
              <p:nvPr/>
            </p:nvSpPr>
            <p:spPr>
              <a:xfrm>
                <a:off x="3344333" y="3148169"/>
                <a:ext cx="1820400" cy="2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200">
                    <a:solidFill>
                      <a:srgbClr val="2D3748"/>
                    </a:solidFill>
                    <a:latin typeface="Roboto"/>
                    <a:ea typeface="Roboto"/>
                    <a:cs typeface="Roboto"/>
                    <a:sym typeface="Roboto"/>
                  </a:rPr>
                  <a:t>info@sunname.com.mx</a:t>
                </a:r>
                <a:endParaRPr sz="12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415" name="Google Shape;415;p27" title="mail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035105" y="2362200"/>
                <a:ext cx="438857" cy="432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16" name="Google Shape;416;p27"/>
          <p:cNvGrpSpPr/>
          <p:nvPr/>
        </p:nvGrpSpPr>
        <p:grpSpPr>
          <a:xfrm>
            <a:off x="635000" y="3677695"/>
            <a:ext cx="7874100" cy="381000"/>
            <a:chOff x="635000" y="3955335"/>
            <a:chExt cx="7874100" cy="381000"/>
          </a:xfrm>
        </p:grpSpPr>
        <p:sp>
          <p:nvSpPr>
            <p:cNvPr id="417" name="Google Shape;417;p27"/>
            <p:cNvSpPr txBox="1"/>
            <p:nvPr/>
          </p:nvSpPr>
          <p:spPr>
            <a:xfrm>
              <a:off x="635000" y="3955335"/>
              <a:ext cx="7874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sunname.com.mx</a:t>
              </a:r>
              <a:endParaRPr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8" name="Google Shape;418;p27" title="globe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505200" y="4019835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9" name="Google Shape;419;p27"/>
          <p:cNvSpPr txBox="1"/>
          <p:nvPr/>
        </p:nvSpPr>
        <p:spPr>
          <a:xfrm>
            <a:off x="582750" y="612327"/>
            <a:ext cx="7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Montserrat"/>
                <a:ea typeface="Montserrat"/>
                <a:cs typeface="Montserrat"/>
                <a:sym typeface="Montserrat"/>
              </a:rPr>
              <a:t>¿Listo para transformar tu empresa?</a:t>
            </a:r>
            <a:endParaRPr sz="3200" b="1" dirty="0">
              <a:solidFill>
                <a:srgbClr val="2639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27"/>
          <p:cNvSpPr txBox="1"/>
          <p:nvPr/>
        </p:nvSpPr>
        <p:spPr>
          <a:xfrm>
            <a:off x="658950" y="1090899"/>
            <a:ext cx="78456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Agenda una demo gratuita y descubre cómo Odoo puede optimizar tus operaciones</a:t>
            </a:r>
            <a:endParaRPr sz="1600" dirty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76;p14">
            <a:extLst>
              <a:ext uri="{FF2B5EF4-FFF2-40B4-BE49-F238E27FC236}">
                <a16:creationId xmlns:a16="http://schemas.microsoft.com/office/drawing/2014/main" id="{69322166-F83F-AF6D-1444-B06B408CA3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63980"/>
            </a:gs>
            <a:gs pos="100000">
              <a:srgbClr val="46C2CE"/>
            </a:gs>
          </a:gsLst>
          <a:lin ang="5400012" scaled="0"/>
        </a:gra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8"/>
          <p:cNvSpPr txBox="1"/>
          <p:nvPr/>
        </p:nvSpPr>
        <p:spPr>
          <a:xfrm>
            <a:off x="634950" y="1682700"/>
            <a:ext cx="78741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¡Gracias!</a:t>
            </a:r>
            <a:endParaRPr sz="56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634950" y="2825700"/>
            <a:ext cx="78741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Transformemos juntos tu operación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C1A56"/>
            </a:gs>
            <a:gs pos="100000">
              <a:srgbClr val="263980"/>
            </a:gs>
          </a:gsLst>
          <a:lin ang="5400012" scaled="0"/>
        </a:gra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C1A56"/>
            </a:gs>
            <a:gs pos="100000">
              <a:srgbClr val="7F52A0"/>
            </a:gs>
          </a:gsLst>
          <a:lin ang="5400012" scaled="0"/>
        </a:gra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63980"/>
            </a:gs>
            <a:gs pos="100000">
              <a:srgbClr val="46C2CE"/>
            </a:gs>
          </a:gsLst>
          <a:lin ang="5400012" scaled="0"/>
        </a:gra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4">
            <a:extLst>
              <a:ext uri="{FF2B5EF4-FFF2-40B4-BE49-F238E27FC236}">
                <a16:creationId xmlns:a16="http://schemas.microsoft.com/office/drawing/2014/main" id="{F0DA7192-2048-39F0-6E78-B451C56967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0000" cy="5143500"/>
          </a:xfrm>
          <a:prstGeom prst="rect">
            <a:avLst/>
          </a:prstGeom>
          <a:gradFill>
            <a:gsLst>
              <a:gs pos="0">
                <a:srgbClr val="263980"/>
              </a:gs>
              <a:gs pos="100000">
                <a:srgbClr val="46C2C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E205CEC-8B31-7A2E-9322-6E60528FCFAF}"/>
              </a:ext>
            </a:extLst>
          </p:cNvPr>
          <p:cNvGrpSpPr/>
          <p:nvPr/>
        </p:nvGrpSpPr>
        <p:grpSpPr>
          <a:xfrm>
            <a:off x="555692" y="1443400"/>
            <a:ext cx="8048195" cy="360000"/>
            <a:chOff x="555692" y="1443400"/>
            <a:chExt cx="8048195" cy="360000"/>
          </a:xfrm>
        </p:grpSpPr>
        <p:pic>
          <p:nvPicPr>
            <p:cNvPr id="449" name="Google Shape;44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5692" y="1443400"/>
              <a:ext cx="357188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0" name="Google Shape;45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67535" y="1443400"/>
              <a:ext cx="357188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Google Shape;451;p3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179378" y="1443564"/>
              <a:ext cx="413085" cy="35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2" name="Google Shape;452;p3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47118" y="1443400"/>
              <a:ext cx="440723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3" name="Google Shape;453;p3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942496" y="1443591"/>
              <a:ext cx="440723" cy="3598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3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837874" y="1443591"/>
              <a:ext cx="440723" cy="3598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p3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733252" y="1443400"/>
              <a:ext cx="426667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3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614574" y="1443400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7" name="Google Shape;457;p3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429229" y="1443400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33" title="Alert V2.png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8243887" y="1443400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5C51A4B4-E66C-D7A6-9E04-0B0137548947}"/>
              </a:ext>
            </a:extLst>
          </p:cNvPr>
          <p:cNvGrpSpPr/>
          <p:nvPr/>
        </p:nvGrpSpPr>
        <p:grpSpPr>
          <a:xfrm>
            <a:off x="555625" y="2175635"/>
            <a:ext cx="8048262" cy="360000"/>
            <a:chOff x="555625" y="2175729"/>
            <a:chExt cx="8048262" cy="360000"/>
          </a:xfrm>
        </p:grpSpPr>
        <p:pic>
          <p:nvPicPr>
            <p:cNvPr id="459" name="Google Shape;459;p33" title="Alert V3.png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555625" y="2175729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33" title="Alert.png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1406758" y="2198229"/>
              <a:ext cx="360000" cy="337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1" name="Google Shape;461;p33" title="Applause.png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257891" y="2175729"/>
              <a:ext cx="36864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2" name="Google Shape;462;p33" title="analytics.png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3117664" y="2175729"/>
              <a:ext cx="296719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3" name="Google Shape;463;p33" title="API V2.png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3905516" y="2175729"/>
              <a:ext cx="475052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33" title="Barcode.png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4871701" y="2175729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p33" title="Benchmark.png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5722834" y="2175729"/>
              <a:ext cx="357188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6" name="Google Shape;466;p33" title="Benefit.png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6571155" y="2175729"/>
              <a:ext cx="357188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33" title="Bonus.png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7419476" y="2175729"/>
              <a:ext cx="350156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33" title="Audience Reach.png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8260762" y="2175729"/>
              <a:ext cx="343125" cy="36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2C15B57-69BF-B6DA-A9C1-04E4EE11133A}"/>
              </a:ext>
            </a:extLst>
          </p:cNvPr>
          <p:cNvGrpSpPr/>
          <p:nvPr/>
        </p:nvGrpSpPr>
        <p:grpSpPr>
          <a:xfrm>
            <a:off x="555625" y="2907870"/>
            <a:ext cx="8048262" cy="360000"/>
            <a:chOff x="555625" y="2908058"/>
            <a:chExt cx="8048262" cy="360000"/>
          </a:xfrm>
        </p:grpSpPr>
        <p:pic>
          <p:nvPicPr>
            <p:cNvPr id="469" name="Google Shape;469;p33" title="Bag V3.png"/>
            <p:cNvPicPr preferRelativeResize="0"/>
            <p:nvPr/>
          </p:nvPicPr>
          <p:blipFill>
            <a:blip r:embed="rId22">
              <a:alphaModFix/>
            </a:blip>
            <a:stretch>
              <a:fillRect/>
            </a:stretch>
          </p:blipFill>
          <p:spPr>
            <a:xfrm>
              <a:off x="1500817" y="2908160"/>
              <a:ext cx="327563" cy="3598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33" title="Bar Chart.png"/>
            <p:cNvPicPr preferRelativeResize="0"/>
            <p:nvPr/>
          </p:nvPicPr>
          <p:blipFill>
            <a:blip r:embed="rId23">
              <a:alphaModFix/>
            </a:blip>
            <a:stretch>
              <a:fillRect/>
            </a:stretch>
          </p:blipFill>
          <p:spPr>
            <a:xfrm>
              <a:off x="3163478" y="2908058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p33" title="Bow &amp; Arrow.png"/>
            <p:cNvPicPr preferRelativeResize="0"/>
            <p:nvPr/>
          </p:nvPicPr>
          <p:blipFill>
            <a:blip r:embed="rId24">
              <a:alphaModFix/>
            </a:blip>
            <a:stretch>
              <a:fillRect/>
            </a:stretch>
          </p:blipFill>
          <p:spPr>
            <a:xfrm>
              <a:off x="555625" y="2908058"/>
              <a:ext cx="456237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33" title="Audit.png"/>
            <p:cNvPicPr preferRelativeResize="0"/>
            <p:nvPr/>
          </p:nvPicPr>
          <p:blipFill>
            <a:blip r:embed="rId25">
              <a:alphaModFix/>
            </a:blip>
            <a:stretch>
              <a:fillRect/>
            </a:stretch>
          </p:blipFill>
          <p:spPr>
            <a:xfrm>
              <a:off x="2317335" y="2908058"/>
              <a:ext cx="357188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3" name="Google Shape;473;p33" title="calendar.png"/>
            <p:cNvPicPr preferRelativeResize="0"/>
            <p:nvPr/>
          </p:nvPicPr>
          <p:blipFill>
            <a:blip r:embed="rId26">
              <a:alphaModFix/>
            </a:blip>
            <a:stretch>
              <a:fillRect/>
            </a:stretch>
          </p:blipFill>
          <p:spPr>
            <a:xfrm>
              <a:off x="5685998" y="2908058"/>
              <a:ext cx="362835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4" name="Google Shape;474;p33" title="calendar V2.png"/>
            <p:cNvPicPr preferRelativeResize="0"/>
            <p:nvPr/>
          </p:nvPicPr>
          <p:blipFill>
            <a:blip r:embed="rId27">
              <a:alphaModFix/>
            </a:blip>
            <a:stretch>
              <a:fillRect/>
            </a:stretch>
          </p:blipFill>
          <p:spPr>
            <a:xfrm>
              <a:off x="7389421" y="2908058"/>
              <a:ext cx="362835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5" name="Google Shape;475;p33" title="calendar V3 (2).png"/>
            <p:cNvPicPr preferRelativeResize="0"/>
            <p:nvPr/>
          </p:nvPicPr>
          <p:blipFill>
            <a:blip r:embed="rId28">
              <a:alphaModFix/>
            </a:blip>
            <a:stretch>
              <a:fillRect/>
            </a:stretch>
          </p:blipFill>
          <p:spPr>
            <a:xfrm>
              <a:off x="4012433" y="2908515"/>
              <a:ext cx="362374" cy="359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6" name="Google Shape;476;p33" title="Calendar V3.png"/>
            <p:cNvPicPr preferRelativeResize="0"/>
            <p:nvPr/>
          </p:nvPicPr>
          <p:blipFill>
            <a:blip r:embed="rId29">
              <a:alphaModFix/>
            </a:blip>
            <a:stretch>
              <a:fillRect/>
            </a:stretch>
          </p:blipFill>
          <p:spPr>
            <a:xfrm>
              <a:off x="4863762" y="2908058"/>
              <a:ext cx="333281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7" name="Google Shape;477;p33" title="Calendar V6.png"/>
            <p:cNvPicPr preferRelativeResize="0"/>
            <p:nvPr/>
          </p:nvPicPr>
          <p:blipFill>
            <a:blip r:embed="rId30">
              <a:alphaModFix/>
            </a:blip>
            <a:stretch>
              <a:fillRect/>
            </a:stretch>
          </p:blipFill>
          <p:spPr>
            <a:xfrm>
              <a:off x="6537788" y="2908213"/>
              <a:ext cx="362678" cy="3598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8" name="Google Shape;478;p33" title="Calendar V7.png"/>
            <p:cNvPicPr preferRelativeResize="0"/>
            <p:nvPr/>
          </p:nvPicPr>
          <p:blipFill>
            <a:blip r:embed="rId31">
              <a:alphaModFix/>
            </a:blip>
            <a:stretch>
              <a:fillRect/>
            </a:stretch>
          </p:blipFill>
          <p:spPr>
            <a:xfrm>
              <a:off x="8241209" y="2908213"/>
              <a:ext cx="362678" cy="3598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FC67B68B-C4CE-867A-7945-9D0A788F54B0}"/>
              </a:ext>
            </a:extLst>
          </p:cNvPr>
          <p:cNvGrpSpPr/>
          <p:nvPr/>
        </p:nvGrpSpPr>
        <p:grpSpPr>
          <a:xfrm>
            <a:off x="565462" y="3640105"/>
            <a:ext cx="8038425" cy="360000"/>
            <a:chOff x="565462" y="3640010"/>
            <a:chExt cx="8038425" cy="360000"/>
          </a:xfrm>
        </p:grpSpPr>
        <p:pic>
          <p:nvPicPr>
            <p:cNvPr id="479" name="Google Shape;479;p33" title="Chat V3.png"/>
            <p:cNvPicPr preferRelativeResize="0"/>
            <p:nvPr/>
          </p:nvPicPr>
          <p:blipFill>
            <a:blip r:embed="rId32">
              <a:alphaModFix/>
            </a:blip>
            <a:stretch>
              <a:fillRect/>
            </a:stretch>
          </p:blipFill>
          <p:spPr>
            <a:xfrm>
              <a:off x="7358451" y="3640249"/>
              <a:ext cx="402178" cy="3597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0" name="Google Shape;480;p33" title="Chat V5 (1).png"/>
            <p:cNvPicPr preferRelativeResize="0"/>
            <p:nvPr/>
          </p:nvPicPr>
          <p:blipFill>
            <a:blip r:embed="rId33">
              <a:alphaModFix/>
            </a:blip>
            <a:stretch>
              <a:fillRect/>
            </a:stretch>
          </p:blipFill>
          <p:spPr>
            <a:xfrm>
              <a:off x="3985662" y="3640322"/>
              <a:ext cx="365397" cy="359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1" name="Google Shape;481;p33" title="Chat V5.png"/>
            <p:cNvPicPr preferRelativeResize="0"/>
            <p:nvPr/>
          </p:nvPicPr>
          <p:blipFill>
            <a:blip r:embed="rId34">
              <a:alphaModFix/>
            </a:blip>
            <a:stretch>
              <a:fillRect/>
            </a:stretch>
          </p:blipFill>
          <p:spPr>
            <a:xfrm>
              <a:off x="5686005" y="3640010"/>
              <a:ext cx="347344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2" name="Google Shape;482;p33" title="Chat V6.png"/>
            <p:cNvPicPr preferRelativeResize="0"/>
            <p:nvPr/>
          </p:nvPicPr>
          <p:blipFill>
            <a:blip r:embed="rId35">
              <a:alphaModFix/>
            </a:blip>
            <a:stretch>
              <a:fillRect/>
            </a:stretch>
          </p:blipFill>
          <p:spPr>
            <a:xfrm>
              <a:off x="6522228" y="3640010"/>
              <a:ext cx="347344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3" name="Google Shape;483;p33" title="Call V4.png"/>
            <p:cNvPicPr preferRelativeResize="0"/>
            <p:nvPr/>
          </p:nvPicPr>
          <p:blipFill>
            <a:blip r:embed="rId36">
              <a:alphaModFix/>
            </a:blip>
            <a:stretch>
              <a:fillRect/>
            </a:stretch>
          </p:blipFill>
          <p:spPr>
            <a:xfrm>
              <a:off x="1436347" y="3640010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4" name="Google Shape;484;p33" title="Calling V3.png"/>
            <p:cNvPicPr preferRelativeResize="0"/>
            <p:nvPr/>
          </p:nvPicPr>
          <p:blipFill>
            <a:blip r:embed="rId37">
              <a:alphaModFix/>
            </a:blip>
            <a:stretch>
              <a:fillRect/>
            </a:stretch>
          </p:blipFill>
          <p:spPr>
            <a:xfrm>
              <a:off x="3134105" y="3640165"/>
              <a:ext cx="362678" cy="3598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33" title="Calling V4.png"/>
            <p:cNvPicPr preferRelativeResize="0"/>
            <p:nvPr/>
          </p:nvPicPr>
          <p:blipFill>
            <a:blip r:embed="rId38">
              <a:alphaModFix/>
            </a:blip>
            <a:stretch>
              <a:fillRect/>
            </a:stretch>
          </p:blipFill>
          <p:spPr>
            <a:xfrm>
              <a:off x="2285226" y="3640010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6" name="Google Shape;486;p33" title="Cart V2.png"/>
            <p:cNvPicPr preferRelativeResize="0"/>
            <p:nvPr/>
          </p:nvPicPr>
          <p:blipFill>
            <a:blip r:embed="rId39">
              <a:alphaModFix/>
            </a:blip>
            <a:stretch>
              <a:fillRect/>
            </a:stretch>
          </p:blipFill>
          <p:spPr>
            <a:xfrm>
              <a:off x="4839938" y="3640010"/>
              <a:ext cx="357188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7" name="Google Shape;487;p33" title="Cart.png"/>
            <p:cNvPicPr preferRelativeResize="0"/>
            <p:nvPr/>
          </p:nvPicPr>
          <p:blipFill>
            <a:blip r:embed="rId40">
              <a:alphaModFix/>
            </a:blip>
            <a:stretch>
              <a:fillRect/>
            </a:stretch>
          </p:blipFill>
          <p:spPr>
            <a:xfrm>
              <a:off x="565462" y="3640387"/>
              <a:ext cx="382006" cy="3596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p33" title="Chart.png"/>
            <p:cNvPicPr preferRelativeResize="0"/>
            <p:nvPr/>
          </p:nvPicPr>
          <p:blipFill>
            <a:blip r:embed="rId41">
              <a:alphaModFix/>
            </a:blip>
            <a:stretch>
              <a:fillRect/>
            </a:stretch>
          </p:blipFill>
          <p:spPr>
            <a:xfrm>
              <a:off x="8249512" y="3640010"/>
              <a:ext cx="354375" cy="36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E5AFF446-A906-2196-5276-9842D612BBE7}"/>
              </a:ext>
            </a:extLst>
          </p:cNvPr>
          <p:cNvGrpSpPr/>
          <p:nvPr/>
        </p:nvGrpSpPr>
        <p:grpSpPr>
          <a:xfrm>
            <a:off x="555625" y="4372338"/>
            <a:ext cx="8048262" cy="360000"/>
            <a:chOff x="555625" y="4372338"/>
            <a:chExt cx="8048262" cy="360000"/>
          </a:xfrm>
        </p:grpSpPr>
        <p:pic>
          <p:nvPicPr>
            <p:cNvPr id="489" name="Google Shape;489;p33" title="Chat V2.png"/>
            <p:cNvPicPr preferRelativeResize="0"/>
            <p:nvPr/>
          </p:nvPicPr>
          <p:blipFill>
            <a:blip r:embed="rId42">
              <a:alphaModFix/>
            </a:blip>
            <a:stretch>
              <a:fillRect/>
            </a:stretch>
          </p:blipFill>
          <p:spPr>
            <a:xfrm>
              <a:off x="555625" y="4372338"/>
              <a:ext cx="347344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0" name="Google Shape;490;p33" title="CMS.png"/>
            <p:cNvPicPr preferRelativeResize="0"/>
            <p:nvPr/>
          </p:nvPicPr>
          <p:blipFill>
            <a:blip r:embed="rId43">
              <a:alphaModFix/>
            </a:blip>
            <a:stretch>
              <a:fillRect/>
            </a:stretch>
          </p:blipFill>
          <p:spPr>
            <a:xfrm>
              <a:off x="5758461" y="4372338"/>
              <a:ext cx="4096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1" name="Google Shape;491;p33" title="Chat V9.png"/>
            <p:cNvPicPr preferRelativeResize="0"/>
            <p:nvPr/>
          </p:nvPicPr>
          <p:blipFill>
            <a:blip r:embed="rId44">
              <a:alphaModFix/>
            </a:blip>
            <a:stretch>
              <a:fillRect/>
            </a:stretch>
          </p:blipFill>
          <p:spPr>
            <a:xfrm>
              <a:off x="3136355" y="4372338"/>
              <a:ext cx="347344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33" title="Chat V10.png"/>
            <p:cNvPicPr preferRelativeResize="0"/>
            <p:nvPr/>
          </p:nvPicPr>
          <p:blipFill>
            <a:blip r:embed="rId45">
              <a:alphaModFix/>
            </a:blip>
            <a:stretch>
              <a:fillRect/>
            </a:stretch>
          </p:blipFill>
          <p:spPr>
            <a:xfrm>
              <a:off x="3990997" y="4372338"/>
              <a:ext cx="347344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33" title="Chatbot.png"/>
            <p:cNvPicPr preferRelativeResize="0"/>
            <p:nvPr/>
          </p:nvPicPr>
          <p:blipFill>
            <a:blip r:embed="rId46">
              <a:alphaModFix/>
            </a:blip>
            <a:stretch>
              <a:fillRect/>
            </a:stretch>
          </p:blipFill>
          <p:spPr>
            <a:xfrm>
              <a:off x="4845639" y="4372752"/>
              <a:ext cx="405524" cy="359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33" title="check board.png"/>
            <p:cNvPicPr preferRelativeResize="0"/>
            <p:nvPr/>
          </p:nvPicPr>
          <p:blipFill>
            <a:blip r:embed="rId47">
              <a:alphaModFix/>
            </a:blip>
            <a:stretch>
              <a:fillRect/>
            </a:stretch>
          </p:blipFill>
          <p:spPr>
            <a:xfrm>
              <a:off x="7510220" y="4372379"/>
              <a:ext cx="292467" cy="3599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33" title="Choose.png"/>
            <p:cNvPicPr preferRelativeResize="0"/>
            <p:nvPr/>
          </p:nvPicPr>
          <p:blipFill>
            <a:blip r:embed="rId48">
              <a:alphaModFix/>
            </a:blip>
            <a:stretch>
              <a:fillRect/>
            </a:stretch>
          </p:blipFill>
          <p:spPr>
            <a:xfrm>
              <a:off x="6675359" y="4372440"/>
              <a:ext cx="327563" cy="3598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33" title="Client.png"/>
            <p:cNvPicPr preferRelativeResize="0"/>
            <p:nvPr/>
          </p:nvPicPr>
          <p:blipFill>
            <a:blip r:embed="rId49">
              <a:alphaModFix/>
            </a:blip>
            <a:stretch>
              <a:fillRect/>
            </a:stretch>
          </p:blipFill>
          <p:spPr>
            <a:xfrm>
              <a:off x="2277565" y="4372410"/>
              <a:ext cx="351492" cy="3599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p33" title="Clock.png"/>
            <p:cNvPicPr preferRelativeResize="0"/>
            <p:nvPr/>
          </p:nvPicPr>
          <p:blipFill>
            <a:blip r:embed="rId50">
              <a:alphaModFix/>
            </a:blip>
            <a:stretch>
              <a:fillRect/>
            </a:stretch>
          </p:blipFill>
          <p:spPr>
            <a:xfrm>
              <a:off x="1410267" y="4372338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33" title="CMS V2.png"/>
            <p:cNvPicPr preferRelativeResize="0"/>
            <p:nvPr/>
          </p:nvPicPr>
          <p:blipFill>
            <a:blip r:embed="rId51">
              <a:alphaModFix/>
            </a:blip>
            <a:stretch>
              <a:fillRect/>
            </a:stretch>
          </p:blipFill>
          <p:spPr>
            <a:xfrm>
              <a:off x="8309981" y="4372338"/>
              <a:ext cx="293906" cy="360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99" name="Google Shape;499;p33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>
            <a:off x="6801779" y="16173"/>
            <a:ext cx="2321393" cy="9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1;p15">
            <a:extLst>
              <a:ext uri="{FF2B5EF4-FFF2-40B4-BE49-F238E27FC236}">
                <a16:creationId xmlns:a16="http://schemas.microsoft.com/office/drawing/2014/main" id="{ACFEC8CB-D69F-25C6-7F2D-CDC412562C84}"/>
              </a:ext>
            </a:extLst>
          </p:cNvPr>
          <p:cNvSpPr txBox="1"/>
          <p:nvPr/>
        </p:nvSpPr>
        <p:spPr>
          <a:xfrm>
            <a:off x="555692" y="425245"/>
            <a:ext cx="7874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Encode Sans"/>
                <a:ea typeface="Encode Sans"/>
                <a:cs typeface="Encode Sans"/>
                <a:sym typeface="Encode Sans"/>
              </a:rPr>
              <a:t>Iconografía</a:t>
            </a:r>
            <a:endParaRPr sz="3200" b="1" dirty="0">
              <a:solidFill>
                <a:srgbClr val="26398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" name="Google Shape;82;p15">
            <a:extLst>
              <a:ext uri="{FF2B5EF4-FFF2-40B4-BE49-F238E27FC236}">
                <a16:creationId xmlns:a16="http://schemas.microsoft.com/office/drawing/2014/main" id="{1EBF942D-710B-2875-EE55-B764BEDA0FA8}"/>
              </a:ext>
            </a:extLst>
          </p:cNvPr>
          <p:cNvSpPr/>
          <p:nvPr/>
        </p:nvSpPr>
        <p:spPr>
          <a:xfrm>
            <a:off x="556568" y="1145839"/>
            <a:ext cx="1269900" cy="50700"/>
          </a:xfrm>
          <a:prstGeom prst="rect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34" title="Da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692" y="1440216"/>
            <a:ext cx="362678" cy="35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4" title="Databa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0189" y="1440073"/>
            <a:ext cx="316396" cy="35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4" title="Deadli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2060" y="1440061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4" title="deskto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58404" y="1440373"/>
            <a:ext cx="365397" cy="359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4" title="Easy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35620" y="1440403"/>
            <a:ext cx="234621" cy="359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4" title="Computer Setti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97517" y="1440373"/>
            <a:ext cx="365397" cy="359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4" title="Contrac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74733" y="1440061"/>
            <a:ext cx="3571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4" title="CPU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53879" y="1440061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4" title="Crane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25698" y="1440061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4" title="Data Backup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243742" y="1440061"/>
            <a:ext cx="3571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4" title="Distributor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19892" y="217313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4" title="Dollar Symbol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240930" y="217313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4" title="Coming Soon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076557" y="2173279"/>
            <a:ext cx="447193" cy="35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4" title="Construction V2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468642" y="2173130"/>
            <a:ext cx="490212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4" title="Construction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216632" y="2173197"/>
            <a:ext cx="398887" cy="35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4" title="contac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55692" y="2173130"/>
            <a:ext cx="350156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34" title="CRM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984788" y="2173130"/>
            <a:ext cx="31781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34" title="Customer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542490" y="2173393"/>
            <a:ext cx="465114" cy="35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4" title="Data Transfer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763639" y="2173130"/>
            <a:ext cx="31781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4" title="Data Usage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366886" y="2173272"/>
            <a:ext cx="388708" cy="359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34" title="Collapse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55692" y="290619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4" title="EMI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412158" y="2906199"/>
            <a:ext cx="3571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4" title="Employee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820277" y="2906199"/>
            <a:ext cx="27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4" title="Enable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7370084" y="290619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4" title="Freelance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8226552" y="2906446"/>
            <a:ext cx="374378" cy="359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4" title="Goal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4963811" y="290619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4" title="Handshake.png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4061821" y="2906614"/>
            <a:ext cx="405524" cy="359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4" title="Ecommerce.png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6586743" y="2906199"/>
            <a:ext cx="286875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4" title="Editor.png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3205355" y="290619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4" title="Embedded Vector Search.png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2265812" y="2906199"/>
            <a:ext cx="443077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4" title="Establish.png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4887947" y="3639269"/>
            <a:ext cx="3571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4" title="Face Id.png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017752" y="363926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4" title="Feedback V2.png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3147557" y="363926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4" title="Female Avatar.png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2385643" y="3639269"/>
            <a:ext cx="251719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34" title="Filter.png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1515448" y="363926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34" title="Firewall.png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555692" y="3639269"/>
            <a:ext cx="44956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4" title="Hr.png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755330" y="3639269"/>
            <a:ext cx="36864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34" title="Income.png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6634165" y="3639269"/>
            <a:ext cx="3571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34" title="Individual.png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7501548" y="3639310"/>
            <a:ext cx="292467" cy="359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4" title="information.png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8304211" y="3639269"/>
            <a:ext cx="296719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34" title="KM.png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8243742" y="4372337"/>
            <a:ext cx="3571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4" title="Hire.png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555692" y="4372337"/>
            <a:ext cx="350156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4" title="KPI.png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7416077" y="4372337"/>
            <a:ext cx="3346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34" title="Leaderboard (1).png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6572940" y="4372337"/>
            <a:ext cx="350156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34" title="Leadership.png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5719959" y="4372337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34" title="Lightning V2.png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4857145" y="4372617"/>
            <a:ext cx="369833" cy="35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4" title="Lightning.png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3991504" y="4372778"/>
            <a:ext cx="372660" cy="359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4" title="Logout (1).png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3138523" y="4372337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4" title="Headphone.png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2251810" y="4372442"/>
            <a:ext cx="393732" cy="359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4" title="Hire an Expert.png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>
            <a:off x="1398829" y="4372337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1;p15">
            <a:extLst>
              <a:ext uri="{FF2B5EF4-FFF2-40B4-BE49-F238E27FC236}">
                <a16:creationId xmlns:a16="http://schemas.microsoft.com/office/drawing/2014/main" id="{FEA41BD9-D412-FFF9-490D-80C467C0B425}"/>
              </a:ext>
            </a:extLst>
          </p:cNvPr>
          <p:cNvSpPr txBox="1"/>
          <p:nvPr/>
        </p:nvSpPr>
        <p:spPr>
          <a:xfrm>
            <a:off x="555692" y="425245"/>
            <a:ext cx="7874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Encode Sans"/>
                <a:ea typeface="Encode Sans"/>
                <a:cs typeface="Encode Sans"/>
                <a:sym typeface="Encode Sans"/>
              </a:rPr>
              <a:t>Iconografía</a:t>
            </a:r>
            <a:endParaRPr sz="3200" b="1" dirty="0">
              <a:solidFill>
                <a:srgbClr val="26398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" name="Google Shape;82;p15">
            <a:extLst>
              <a:ext uri="{FF2B5EF4-FFF2-40B4-BE49-F238E27FC236}">
                <a16:creationId xmlns:a16="http://schemas.microsoft.com/office/drawing/2014/main" id="{C0F683BC-7509-1452-26F1-589D94DD39D8}"/>
              </a:ext>
            </a:extLst>
          </p:cNvPr>
          <p:cNvSpPr/>
          <p:nvPr/>
        </p:nvSpPr>
        <p:spPr>
          <a:xfrm>
            <a:off x="556568" y="1145839"/>
            <a:ext cx="1269900" cy="50700"/>
          </a:xfrm>
          <a:prstGeom prst="rect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35" title="Key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934" y="144079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35" title="Proce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056" y="1440796"/>
            <a:ext cx="347344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35" title="Repai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6205" y="1440796"/>
            <a:ext cx="31078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35" title="Reselle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69468" y="144079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5" title="Retai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29002" y="144079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35" title="Rocket V2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8536" y="144079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5" title="Maintenanc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48070" y="144079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35" title="Manufacturer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07604" y="144079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35" title="Marketing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67138" y="144079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5" title="Money Off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26672" y="144079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5" title="Profile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296886" y="2173681"/>
            <a:ext cx="430601" cy="359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5" title="Radar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236986" y="2173681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5" title="reports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885255" y="2173681"/>
            <a:ext cx="2896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5" title="Management Team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684445" y="2173681"/>
            <a:ext cx="282656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5" title="Managemen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432558" y="2173681"/>
            <a:ext cx="3571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5" title="Money V2 (1)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63056" y="2173681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5" title="Money V2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032628" y="2173681"/>
            <a:ext cx="343125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5" title="Money V3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299248" y="2173681"/>
            <a:ext cx="3571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35" title="No Item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165938" y="2173681"/>
            <a:ext cx="3571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35" title="Ok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6476603" y="2173681"/>
            <a:ext cx="31078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35" title="Morale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8234307" y="2906566"/>
            <a:ext cx="362678" cy="35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35" title="note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63056" y="2906566"/>
            <a:ext cx="293906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35" title="Online Sessions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1360119" y="290656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35" title="Operation (1)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7368468" y="2906566"/>
            <a:ext cx="362678" cy="35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35" title="Operation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2223276" y="290656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35" title="Participant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3086433" y="290656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35" title="Planning.png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5675904" y="2906566"/>
            <a:ext cx="32625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35" title="play.png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3949590" y="290656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35" title="PlayPause.png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4812747" y="290656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35" title="Plugin.png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6505311" y="290656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5" title="Logout.png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563056" y="3639764"/>
            <a:ext cx="365397" cy="359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35" title="Mail V3.png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1379775" y="3639764"/>
            <a:ext cx="365397" cy="359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5" title="mail.png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196494" y="3639764"/>
            <a:ext cx="365397" cy="359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5" title="Marketing Campaign.png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5493663" y="3639451"/>
            <a:ext cx="397242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5" title="Newspaper.png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3829932" y="3639861"/>
            <a:ext cx="377276" cy="359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5" title="No Data.png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7214371" y="3639452"/>
            <a:ext cx="456237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5" title="No Money.png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8121934" y="3639451"/>
            <a:ext cx="475052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5" title="open folder.png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6342227" y="3639452"/>
            <a:ext cx="420822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5" title="Planning (1).png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4658530" y="3639628"/>
            <a:ext cx="383811" cy="359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5" title="Power Plant.png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3013213" y="3639764"/>
            <a:ext cx="365397" cy="359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35" title="QR Code V2.png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563056" y="4372338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35" title="Question Hub.png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3369778" y="4372338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35" title="Register.png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211231" y="4372338"/>
            <a:ext cx="31078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5" title="Rent.png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8262391" y="4372437"/>
            <a:ext cx="334595" cy="35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35" title="Partnership.png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2248640" y="4372515"/>
            <a:ext cx="639685" cy="359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35" title="Price Tag.png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1404509" y="4372493"/>
            <a:ext cx="362678" cy="35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35" title="share.png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5003465" y="4372338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5" title="Shield (1).png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6686371" y="4372350"/>
            <a:ext cx="253117" cy="35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5" title="Star V3.png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5844918" y="4372338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35" title="Stocks (1).png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>
            <a:off x="7420941" y="4372338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1;p15">
            <a:extLst>
              <a:ext uri="{FF2B5EF4-FFF2-40B4-BE49-F238E27FC236}">
                <a16:creationId xmlns:a16="http://schemas.microsoft.com/office/drawing/2014/main" id="{E482FAA4-6F35-4DAD-1931-0A561DF18894}"/>
              </a:ext>
            </a:extLst>
          </p:cNvPr>
          <p:cNvSpPr txBox="1"/>
          <p:nvPr/>
        </p:nvSpPr>
        <p:spPr>
          <a:xfrm>
            <a:off x="555692" y="425245"/>
            <a:ext cx="7874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Encode Sans"/>
                <a:ea typeface="Encode Sans"/>
                <a:cs typeface="Encode Sans"/>
                <a:sym typeface="Encode Sans"/>
              </a:rPr>
              <a:t>Iconografía</a:t>
            </a:r>
            <a:endParaRPr sz="3200" b="1" dirty="0">
              <a:solidFill>
                <a:srgbClr val="26398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" name="Google Shape;82;p15">
            <a:extLst>
              <a:ext uri="{FF2B5EF4-FFF2-40B4-BE49-F238E27FC236}">
                <a16:creationId xmlns:a16="http://schemas.microsoft.com/office/drawing/2014/main" id="{EA599377-907D-F16C-61EA-AB81CF0BE67E}"/>
              </a:ext>
            </a:extLst>
          </p:cNvPr>
          <p:cNvSpPr/>
          <p:nvPr/>
        </p:nvSpPr>
        <p:spPr>
          <a:xfrm>
            <a:off x="556568" y="1145839"/>
            <a:ext cx="1269900" cy="50700"/>
          </a:xfrm>
          <a:prstGeom prst="rect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36" title="Shiel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8289" y="1441247"/>
            <a:ext cx="244609" cy="359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36" title="Shuff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3989" y="1441362"/>
            <a:ext cx="434438" cy="35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36" title="Startu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1260" y="1441131"/>
            <a:ext cx="25593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36" title="Supplie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963" y="1441131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36" title="Support V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41145" y="1441131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36" title="Suppor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2236" y="1441131"/>
            <a:ext cx="354375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36" title="Targe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50054" y="1441131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36" title="Teamwork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69518" y="1441131"/>
            <a:ext cx="31078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36" title="Time V3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11388" y="1441131"/>
            <a:ext cx="286875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36" title="Save Money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117702" y="1441172"/>
            <a:ext cx="292467" cy="359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36" title="Tax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58963" y="2173933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36" title="Time Stamp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445500" y="2173933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36" title="time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332037" y="2173933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36" title="Rocket V2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986023" y="2173933"/>
            <a:ext cx="320625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36" title="Rpa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105111" y="2173933"/>
            <a:ext cx="354375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36" title="Sales V2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685972" y="2173933"/>
            <a:ext cx="309375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36" title="Scope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218574" y="2173933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36" title="Security Cam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833185" y="2173933"/>
            <a:ext cx="32625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36" title="Security V2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7521884" y="2173933"/>
            <a:ext cx="286875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36" title="Security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8335294" y="2173933"/>
            <a:ext cx="262969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36" title="shopping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8219003" y="3639537"/>
            <a:ext cx="37926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36" title="SLA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7465501" y="3639537"/>
            <a:ext cx="398887" cy="35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36" title="Star V2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6750889" y="3639537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36" title="Stocks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1312462" y="3639537"/>
            <a:ext cx="4096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36" title="Team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4620963" y="3639537"/>
            <a:ext cx="639685" cy="359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36" title="Schedule Mail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58963" y="3639537"/>
            <a:ext cx="398887" cy="35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36" title="Schedule.png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076674" y="3639537"/>
            <a:ext cx="432127" cy="359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36" title="Search V2.png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5615260" y="3639537"/>
            <a:ext cx="781017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36" title="Search V3.png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3690351" y="3639537"/>
            <a:ext cx="576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36" title="Setting V2.png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2863413" y="3639537"/>
            <a:ext cx="472326" cy="359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36" title="Star.png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6455639" y="2906735"/>
            <a:ext cx="374378" cy="359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36" title="Telephone headset.png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8211406" y="2906735"/>
            <a:ext cx="386857" cy="359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36" title="Thumb Down.png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7327284" y="2906735"/>
            <a:ext cx="386857" cy="359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36" title="To Do (1).png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725767" y="2906735"/>
            <a:ext cx="362678" cy="35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36" title="SEO (1).png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5585712" y="2906735"/>
            <a:ext cx="372660" cy="359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36" title="SEO V2.png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1413418" y="2906735"/>
            <a:ext cx="350156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36" title="SEO.png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2260841" y="2906735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36" title="Service V2.png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558963" y="2906735"/>
            <a:ext cx="3571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36" title="Service.png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3941625" y="2906735"/>
            <a:ext cx="286875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36" title="setting.png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3118108" y="2906735"/>
            <a:ext cx="32625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36" title="To Do.png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558963" y="4372338"/>
            <a:ext cx="293906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36" title="Training.png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6579082" y="4372338"/>
            <a:ext cx="3571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36" title="user profile.png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7464225" y="4372338"/>
            <a:ext cx="344522" cy="359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36" title="User V4.png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8336700" y="4372338"/>
            <a:ext cx="26156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36" title="User V5.png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5758725" y="4372338"/>
            <a:ext cx="292402" cy="359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36" title="User V6.png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4912957" y="4372338"/>
            <a:ext cx="31781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36" title="Whatsapp.png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380824" y="4372338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36" title="Work V2.png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2268779" y="4372338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36" title="Work.png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3156734" y="4372338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36" title="Wrench V2.png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>
            <a:off x="4044689" y="4372338"/>
            <a:ext cx="340313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1;p15">
            <a:extLst>
              <a:ext uri="{FF2B5EF4-FFF2-40B4-BE49-F238E27FC236}">
                <a16:creationId xmlns:a16="http://schemas.microsoft.com/office/drawing/2014/main" id="{FA12F4F6-2895-8BAD-70C6-D23C8C02F429}"/>
              </a:ext>
            </a:extLst>
          </p:cNvPr>
          <p:cNvSpPr txBox="1"/>
          <p:nvPr/>
        </p:nvSpPr>
        <p:spPr>
          <a:xfrm>
            <a:off x="555692" y="425245"/>
            <a:ext cx="7874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Encode Sans"/>
                <a:ea typeface="Encode Sans"/>
                <a:cs typeface="Encode Sans"/>
                <a:sym typeface="Encode Sans"/>
              </a:rPr>
              <a:t>Iconografía</a:t>
            </a:r>
            <a:endParaRPr sz="3200" b="1" dirty="0">
              <a:solidFill>
                <a:srgbClr val="26398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" name="Google Shape;82;p15">
            <a:extLst>
              <a:ext uri="{FF2B5EF4-FFF2-40B4-BE49-F238E27FC236}">
                <a16:creationId xmlns:a16="http://schemas.microsoft.com/office/drawing/2014/main" id="{E46EBC17-E754-87DF-E20E-E4B0EF617B25}"/>
              </a:ext>
            </a:extLst>
          </p:cNvPr>
          <p:cNvSpPr/>
          <p:nvPr/>
        </p:nvSpPr>
        <p:spPr>
          <a:xfrm>
            <a:off x="556568" y="1145839"/>
            <a:ext cx="1269900" cy="50700"/>
          </a:xfrm>
          <a:prstGeom prst="rect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37" title="Versu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4288" y="1440634"/>
            <a:ext cx="404179" cy="359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37" title="Vide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755" y="1440634"/>
            <a:ext cx="416616" cy="35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37" title="Volunte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1107" y="1440634"/>
            <a:ext cx="365397" cy="359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37" title="VPN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9791" y="1440634"/>
            <a:ext cx="379036" cy="359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37" title="Warehous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15281" y="1440634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37" title="Wholesal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15142" y="1440634"/>
            <a:ext cx="362678" cy="35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37" title="Workshop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42114" y="1440634"/>
            <a:ext cx="398887" cy="35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37" title="Wrench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1994" y="1440634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37" title="Zoom in V2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248568" y="1440634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37" title="Zoom in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81855" y="1440634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37" title="Unmute V2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37676" y="2173903"/>
            <a:ext cx="469596" cy="359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37" title="User V3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54385" y="2173437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37" title="User V4 (1)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973941" y="2173465"/>
            <a:ext cx="404179" cy="359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37" title="VPN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66619" y="2173894"/>
            <a:ext cx="432127" cy="359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37" title="Warranty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254106" y="2173628"/>
            <a:ext cx="440723" cy="359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37" title="Webinar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458302" y="2173857"/>
            <a:ext cx="438346" cy="359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37" title="Youtube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356204" y="2173857"/>
            <a:ext cx="438346" cy="359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37" title="Shipping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766828" y="2173527"/>
            <a:ext cx="289615" cy="359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37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7515999" y="2173437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37" title="location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8335558" y="2173621"/>
            <a:ext cx="27281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37" title="Transportation Boat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55944" y="4372728"/>
            <a:ext cx="532140" cy="35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37" title="Pin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97666" y="2906424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37" title="Cart V2 (1)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1456080" y="2906424"/>
            <a:ext cx="357188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37" title="Bag V5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3157440" y="2906424"/>
            <a:ext cx="334633" cy="359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37" title="Price Tag (1)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3990487" y="2906424"/>
            <a:ext cx="362699" cy="359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37" title="user profile (1)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2311682" y="2906424"/>
            <a:ext cx="347344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37" title="Marketplace.png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4851600" y="2906424"/>
            <a:ext cx="382006" cy="35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37" title="Flight.png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5732020" y="2906424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37" title="Why.png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8315904" y="2906424"/>
            <a:ext cx="292467" cy="359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37" title="Compass.png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7457488" y="2906424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37" title="Cruise.png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6590434" y="2906424"/>
            <a:ext cx="36864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37" title="Distance.png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3872545" y="3639263"/>
            <a:ext cx="606269" cy="359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37" title="Hotel.png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7340189" y="3639408"/>
            <a:ext cx="302344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37" title="Map V2.png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2194097" y="3639927"/>
            <a:ext cx="405524" cy="359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37" title="Paper Plane.png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3033321" y="3639686"/>
            <a:ext cx="405524" cy="359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37" title="Person Arrives.png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5679495" y="3639581"/>
            <a:ext cx="31078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37" title="Plane.png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8076231" y="3639444"/>
            <a:ext cx="532140" cy="35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37" title="Scooter.png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6423976" y="3639754"/>
            <a:ext cx="48251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37" title="Suitcase.png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4912514" y="3639927"/>
            <a:ext cx="33328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37" title="Tourist.png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397719" y="3639227"/>
            <a:ext cx="362678" cy="35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37" title="Wholesale (1).png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601341" y="3639245"/>
            <a:ext cx="362678" cy="359845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37"/>
          <p:cNvSpPr txBox="1"/>
          <p:nvPr/>
        </p:nvSpPr>
        <p:spPr>
          <a:xfrm>
            <a:off x="1397719" y="4371875"/>
            <a:ext cx="317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rgbClr val="263980"/>
                </a:solidFill>
              </a:rPr>
              <a:t>https://animatedicons.co/icons/minimalistic</a:t>
            </a:r>
            <a:endParaRPr sz="1200" dirty="0">
              <a:solidFill>
                <a:srgbClr val="263980"/>
              </a:solidFill>
            </a:endParaRPr>
          </a:p>
        </p:txBody>
      </p:sp>
      <p:sp>
        <p:nvSpPr>
          <p:cNvPr id="2" name="Google Shape;81;p15">
            <a:extLst>
              <a:ext uri="{FF2B5EF4-FFF2-40B4-BE49-F238E27FC236}">
                <a16:creationId xmlns:a16="http://schemas.microsoft.com/office/drawing/2014/main" id="{81F823A7-A1C9-D972-DB32-C0BA1BD563A6}"/>
              </a:ext>
            </a:extLst>
          </p:cNvPr>
          <p:cNvSpPr txBox="1"/>
          <p:nvPr/>
        </p:nvSpPr>
        <p:spPr>
          <a:xfrm>
            <a:off x="555692" y="425245"/>
            <a:ext cx="7874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rgbClr val="263980"/>
                </a:solidFill>
                <a:latin typeface="Encode Sans"/>
                <a:ea typeface="Encode Sans"/>
                <a:cs typeface="Encode Sans"/>
                <a:sym typeface="Encode Sans"/>
              </a:rPr>
              <a:t>Iconografía</a:t>
            </a:r>
            <a:endParaRPr sz="3200" b="1" dirty="0">
              <a:solidFill>
                <a:srgbClr val="26398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" name="Google Shape;82;p15">
            <a:extLst>
              <a:ext uri="{FF2B5EF4-FFF2-40B4-BE49-F238E27FC236}">
                <a16:creationId xmlns:a16="http://schemas.microsoft.com/office/drawing/2014/main" id="{4959C6AD-F0B0-3FB5-7468-15657638B5E7}"/>
              </a:ext>
            </a:extLst>
          </p:cNvPr>
          <p:cNvSpPr/>
          <p:nvPr/>
        </p:nvSpPr>
        <p:spPr>
          <a:xfrm>
            <a:off x="556568" y="1145839"/>
            <a:ext cx="1269900" cy="50700"/>
          </a:xfrm>
          <a:prstGeom prst="rect">
            <a:avLst/>
          </a:prstGeom>
          <a:solidFill>
            <a:srgbClr val="44A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807</Words>
  <Application>Microsoft Office PowerPoint</Application>
  <PresentationFormat>Presentación en pantalla (16:9)</PresentationFormat>
  <Paragraphs>214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Encode Sans</vt:lpstr>
      <vt:lpstr>Montserrat</vt:lpstr>
      <vt:lpstr>Roboto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Eduardo Acevedo Garcia</cp:lastModifiedBy>
  <cp:revision>5</cp:revision>
  <dcterms:modified xsi:type="dcterms:W3CDTF">2026-03-23T22:47:46Z</dcterms:modified>
</cp:coreProperties>
</file>