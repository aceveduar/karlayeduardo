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340" userDrawn="1">
          <p15:clr>
            <a:srgbClr val="A4A3A4"/>
          </p15:clr>
        </p15:guide>
        <p15:guide id="4" pos="7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9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14" y="132"/>
      </p:cViewPr>
      <p:guideLst>
        <p:guide orient="horz" pos="1620"/>
        <p:guide pos="2880"/>
        <p:guide pos="340"/>
        <p:guide pos="7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Nivel de adopción (%)</c:v>
                </c:pt>
              </c:strCache>
            </c:strRef>
          </c:tx>
          <c:spPr>
            <a:solidFill>
              <a:srgbClr val="46C2C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8A-4C14-9F24-27E52D31C04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F8A-4C14-9F24-27E52D31C04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F8A-4C14-9F24-27E52D31C046}"/>
              </c:ext>
            </c:extLst>
          </c:dPt>
          <c:dPt>
            <c:idx val="3"/>
            <c:invertIfNegative val="0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8A-4C14-9F24-27E52D31C04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F8A-4C14-9F24-27E52D31C046}"/>
              </c:ext>
            </c:extLst>
          </c:dPt>
          <c:dPt>
            <c:idx val="5"/>
            <c:invertIfNegative val="0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F8A-4C14-9F24-27E52D31C0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398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CRM/Ventas</c:v>
                </c:pt>
                <c:pt idx="1">
                  <c:v>Inventario</c:v>
                </c:pt>
                <c:pt idx="2">
                  <c:v>Compras</c:v>
                </c:pt>
                <c:pt idx="3">
                  <c:v>Contabilidad</c:v>
                </c:pt>
                <c:pt idx="4">
                  <c:v>Facturación</c:v>
                </c:pt>
                <c:pt idx="5">
                  <c:v>Banco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85</c:v>
                </c:pt>
                <c:pt idx="2">
                  <c:v>88</c:v>
                </c:pt>
                <c:pt idx="3">
                  <c:v>55</c:v>
                </c:pt>
                <c:pt idx="4">
                  <c:v>75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F8A-4C14-9F24-27E52D31C0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074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315200" y="-731520"/>
            <a:ext cx="2926080" cy="2926080"/>
          </a:xfrm>
          <a:prstGeom prst="ellipse">
            <a:avLst/>
          </a:prstGeom>
          <a:solidFill>
            <a:srgbClr val="46C2CE">
              <a:alpha val="30000"/>
            </a:srgbClr>
          </a:solidFill>
          <a:ln w="12700">
            <a:solidFill>
              <a:srgbClr val="46C2C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02920" y="2971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 Technologies · Q1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520440"/>
            <a:ext cx="54864" cy="6400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658368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TU NEGOCIO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Confidencial · 2026</a:t>
            </a:r>
            <a:endParaRPr lang="en-US" sz="1000" dirty="0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6F332FF8-EE67-40F0-5005-BFEFDBF7D0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217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2C1A56"/>
          </a:solidFill>
          <a:ln w="12700">
            <a:solidFill>
              <a:srgbClr val="2C1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46C2CE">
              <a:alpha val="20000"/>
            </a:srgbClr>
          </a:solidFill>
          <a:ln w="12700">
            <a:solidFill>
              <a:srgbClr val="46C2C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6C2C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hicimos?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y resultados del período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03120"/>
            <a:ext cx="914400" cy="914400"/>
          </a:xfrm>
          <a:prstGeom prst="rect">
            <a:avLst/>
          </a:prstGeom>
        </p:spPr>
      </p:pic>
      <p:pic>
        <p:nvPicPr>
          <p:cNvPr id="10" name="Image 0">
            <a:extLst>
              <a:ext uri="{FF2B5EF4-FFF2-40B4-BE49-F238E27FC236}">
                <a16:creationId xmlns:a16="http://schemas.microsoft.com/office/drawing/2014/main" id="{68478BFD-2EF7-B50F-7756-0F7EA2B8DB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2838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201168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320h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7432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dedicadas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400h planificadas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450592" y="96012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2450592" y="960120"/>
            <a:ext cx="201168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09728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50592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2450592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45059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8 módulos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626864" y="96012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4626864" y="960120"/>
            <a:ext cx="201168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109728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26864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4626864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lanzados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62686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6803136" y="96012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6803136" y="960120"/>
            <a:ext cx="201168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109728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03136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6803136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estimado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80313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trimestre anterior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365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475488" y="3090672"/>
            <a:ext cx="310896" cy="31089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5"/>
          <p:cNvSpPr/>
          <p:nvPr/>
        </p:nvSpPr>
        <p:spPr>
          <a:xfrm>
            <a:off x="3657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15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6576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del proyecto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2258568" y="3090672"/>
            <a:ext cx="310896" cy="31089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28"/>
          <p:cNvSpPr/>
          <p:nvPr/>
        </p:nvSpPr>
        <p:spPr>
          <a:xfrm>
            <a:off x="21488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10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21488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requerimientos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4041648" y="3090672"/>
            <a:ext cx="310896" cy="31089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1"/>
          <p:cNvSpPr/>
          <p:nvPr/>
        </p:nvSpPr>
        <p:spPr>
          <a:xfrm>
            <a:off x="39319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5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9319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fase 1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5824728" y="3090672"/>
            <a:ext cx="310896" cy="31089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4"/>
          <p:cNvSpPr/>
          <p:nvPr/>
        </p:nvSpPr>
        <p:spPr>
          <a:xfrm>
            <a:off x="571500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7150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usuarios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7607808" y="3090672"/>
            <a:ext cx="310896" cy="31089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7"/>
          <p:cNvSpPr/>
          <p:nvPr/>
        </p:nvSpPr>
        <p:spPr>
          <a:xfrm>
            <a:off x="749808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15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74980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fase 2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Impulsa Tu Negocio</a:t>
            </a:r>
            <a:endParaRPr lang="en-US" sz="900" dirty="0"/>
          </a:p>
        </p:txBody>
      </p:sp>
      <p:pic>
        <p:nvPicPr>
          <p:cNvPr id="49" name="Image 0">
            <a:extLst>
              <a:ext uri="{FF2B5EF4-FFF2-40B4-BE49-F238E27FC236}">
                <a16:creationId xmlns:a16="http://schemas.microsoft.com/office/drawing/2014/main" id="{AB400A65-34CB-A387-8571-58E50F659F1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0" y="960120"/>
            <a:ext cx="201168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114032" y="932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0" y="1307592"/>
            <a:ext cx="201168" cy="2011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114032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655064"/>
            <a:ext cx="201168" cy="20116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114032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2002536"/>
            <a:ext cx="201168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114032" y="1975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2350008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114032" y="2322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96012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1024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Ventas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1024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137160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2651760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2880360" y="1344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182880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0292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1892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24028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02920" y="2240280"/>
            <a:ext cx="2651760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880360" y="22128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69748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0292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2761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310896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502920" y="3108960"/>
            <a:ext cx="2651760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880360" y="3081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56616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502920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3630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502920" y="3977640"/>
            <a:ext cx="1723644" cy="16459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2880360" y="39502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66160" y="96012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3703320" y="1024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1024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03320" y="137160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3703320" y="1371600"/>
            <a:ext cx="2386584" cy="16459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6080760" y="13441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66160" y="182880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370332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32120" y="1892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03320" y="224028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3703320" y="2240280"/>
            <a:ext cx="1325880" cy="16459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6080760" y="22128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566160" y="269748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370332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32120" y="2761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03320" y="310896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3703320" y="3108960"/>
            <a:ext cx="530352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6080760" y="3081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566160" y="356616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3703320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532120" y="3630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03320" y="3977640"/>
            <a:ext cx="26517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8"/>
          <p:cNvSpPr/>
          <p:nvPr/>
        </p:nvSpPr>
        <p:spPr>
          <a:xfrm>
            <a:off x="6080760" y="39502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4480560"/>
            <a:ext cx="6217920" cy="324612"/>
          </a:xfrm>
          <a:prstGeom prst="rect">
            <a:avLst/>
          </a:prstGeom>
          <a:solidFill>
            <a:srgbClr val="FFF3CD"/>
          </a:solidFill>
          <a:ln w="63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502920" y="4480560"/>
            <a:ext cx="5943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Nota: El departamento de Contabilidad requiere capacitación adicional. Marketing en pausa hasta próximo ciclo.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pic>
        <p:nvPicPr>
          <p:cNvPr id="66" name="Image 0">
            <a:extLst>
              <a:ext uri="{FF2B5EF4-FFF2-40B4-BE49-F238E27FC236}">
                <a16:creationId xmlns:a16="http://schemas.microsoft.com/office/drawing/2014/main" id="{FE933258-1007-0B31-7A9B-BBEE58C27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DEL EQUIPO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64008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5742432" y="1005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de Cuenta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42432" y="1252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77840" y="1664208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5577840" y="1664208"/>
            <a:ext cx="64008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742432" y="1709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Ventas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42432" y="19568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368296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5577840" y="2368296"/>
            <a:ext cx="64008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5742432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Compras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42432" y="2660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7840" y="3072384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5577840" y="3072384"/>
            <a:ext cx="64008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5742432" y="3118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42432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transición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3776472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5577840" y="3776472"/>
            <a:ext cx="64008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5742432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42432" y="4069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pic>
        <p:nvPicPr>
          <p:cNvPr id="28" name="Image 0">
            <a:extLst>
              <a:ext uri="{FF2B5EF4-FFF2-40B4-BE49-F238E27FC236}">
                <a16:creationId xmlns:a16="http://schemas.microsoft.com/office/drawing/2014/main" id="{71E99268-4EF6-8EC4-255C-C2E6A305CE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EMPRESARIALES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88720" y="1078992"/>
            <a:ext cx="868680" cy="86868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28016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487168"/>
            <a:ext cx="146304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457200" y="2670048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58368" y="2633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en calidad de leads con herramientas de generación integradas.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419856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658368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 mejorada con flujo de actividades en el CRM.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169664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58368" y="4133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perdidos reducidos a menos del 8% del total.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9601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4114800" y="1078992"/>
            <a:ext cx="868680" cy="868680"/>
          </a:xfrm>
          <a:prstGeom prst="ellipse">
            <a:avLst/>
          </a:prstGeom>
          <a:solidFill>
            <a:srgbClr val="2C1A56"/>
          </a:solidFill>
          <a:ln w="12700">
            <a:solidFill>
              <a:srgbClr val="2C1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280160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0040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840480" y="2487168"/>
            <a:ext cx="146304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3383280" y="2670048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3584448" y="2633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de productos desde recepción hasta entrega.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383280" y="3419856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3584448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15% en errores de stock mediante automatización.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383280" y="4169664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3584448" y="4133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módulo de compras en tiempo real.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26480" y="9601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7040880" y="1078992"/>
            <a:ext cx="868680" cy="86868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280160"/>
            <a:ext cx="475488" cy="4754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2648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766560" y="2487168"/>
            <a:ext cx="146304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6"/>
          <p:cNvSpPr/>
          <p:nvPr/>
        </p:nvSpPr>
        <p:spPr>
          <a:xfrm>
            <a:off x="6309360" y="2670048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7"/>
          <p:cNvSpPr/>
          <p:nvPr/>
        </p:nvSpPr>
        <p:spPr>
          <a:xfrm>
            <a:off x="6510528" y="2633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en producción con más de 320 horas de desarrollo.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309360" y="3419856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9"/>
          <p:cNvSpPr/>
          <p:nvPr/>
        </p:nvSpPr>
        <p:spPr>
          <a:xfrm>
            <a:off x="6510528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continuo: menos de 3 incidentes por semana.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309360" y="4169664"/>
            <a:ext cx="128016" cy="12801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6510528" y="41330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completada al 80% del personal clave.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pic>
        <p:nvPicPr>
          <p:cNvPr id="40" name="Image 0">
            <a:extLst>
              <a:ext uri="{FF2B5EF4-FFF2-40B4-BE49-F238E27FC236}">
                <a16:creationId xmlns:a16="http://schemas.microsoft.com/office/drawing/2014/main" id="{1DE52738-1B56-D4BF-287E-26C9AC320A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6C2C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aprendimos?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y mejoras del proceso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03120"/>
            <a:ext cx="914400" cy="914400"/>
          </a:xfrm>
          <a:prstGeom prst="rect">
            <a:avLst/>
          </a:prstGeom>
        </p:spPr>
      </p:pic>
      <p:pic>
        <p:nvPicPr>
          <p:cNvPr id="11" name="Image 0">
            <a:extLst>
              <a:ext uri="{FF2B5EF4-FFF2-40B4-BE49-F238E27FC236}">
                <a16:creationId xmlns:a16="http://schemas.microsoft.com/office/drawing/2014/main" id="{A3F657CA-24B3-49D7-A5F3-AF135E9F18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2838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solidFill>
            <a:srgbClr val="E8F9FA"/>
          </a:solidFill>
          <a:ln w="12700">
            <a:solidFill>
              <a:srgbClr val="46C2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241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55064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713232" y="16002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presenciales periódicas para temas complejos.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713232" y="23500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remotas diarias de seguimiento con el equipo.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713232" y="30998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 activamente a los usuarios desde el inicio.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04488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713232" y="384962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Agilizar los procesos de entrega y validación continua.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960120"/>
            <a:ext cx="4206240" cy="3749040"/>
          </a:xfrm>
          <a:prstGeom prst="rect">
            <a:avLst/>
          </a:prstGeom>
          <a:solidFill>
            <a:srgbClr val="F3EEF9"/>
          </a:solidFill>
          <a:ln w="12700">
            <a:solidFill>
              <a:srgbClr val="7F5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4846320" y="960120"/>
            <a:ext cx="4206240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024128"/>
            <a:ext cx="347472" cy="34747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</a:ln>
        </p:spPr>
      </p:pic>
      <p:sp>
        <p:nvSpPr>
          <p:cNvPr id="19" name="Text 15"/>
          <p:cNvSpPr/>
          <p:nvPr/>
        </p:nvSpPr>
        <p:spPr>
          <a:xfrm>
            <a:off x="544068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029200" y="1655064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5193792" y="16002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en funcionalidades estándar primero.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029200" y="2404872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5193792" y="23500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replicar procesos anteriores sin análisis previo.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0" y="3154680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5193792" y="30998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vocabulario técnico en comunicaciones internas.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29200" y="3904488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5193792" y="384962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gestión del cambio con los equipos resistentes.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pic>
        <p:nvPicPr>
          <p:cNvPr id="31" name="Image 0">
            <a:extLst>
              <a:ext uri="{FF2B5EF4-FFF2-40B4-BE49-F238E27FC236}">
                <a16:creationId xmlns:a16="http://schemas.microsoft.com/office/drawing/2014/main" id="{B509F961-4C72-2ECC-0505-784199ED7A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914400"/>
            <a:ext cx="4572000" cy="4572000"/>
          </a:xfrm>
          <a:prstGeom prst="ellipse">
            <a:avLst/>
          </a:prstGeom>
          <a:solidFill>
            <a:srgbClr val="46C2CE">
              <a:alpha val="20000"/>
            </a:srgbClr>
          </a:solidFill>
          <a:ln w="12700">
            <a:solidFill>
              <a:srgbClr val="46C2C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C1A56"/>
          </a:solidFill>
          <a:ln w="12700">
            <a:solidFill>
              <a:srgbClr val="2C1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6C2C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digitales.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sigue para Sunname?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y oportunidades de crecimiento digital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11680"/>
            <a:ext cx="1005840" cy="1005840"/>
          </a:xfrm>
          <a:prstGeom prst="rect">
            <a:avLst/>
          </a:prstGeom>
        </p:spPr>
      </p:pic>
      <p:pic>
        <p:nvPicPr>
          <p:cNvPr id="12" name="Image 0">
            <a:extLst>
              <a:ext uri="{FF2B5EF4-FFF2-40B4-BE49-F238E27FC236}">
                <a16:creationId xmlns:a16="http://schemas.microsoft.com/office/drawing/2014/main" id="{C441CEE3-02CB-88B0-BD0C-32D4D27789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2838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DIGITALES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52728" y="1554480"/>
            <a:ext cx="777240" cy="777240"/>
          </a:xfrm>
          <a:prstGeom prst="ellipse">
            <a:avLst/>
          </a:prstGeom>
          <a:solidFill>
            <a:srgbClr val="46C2CE">
              <a:alpha val="85000"/>
            </a:srgbClr>
          </a:solidFill>
          <a:ln w="12700">
            <a:solidFill>
              <a:srgbClr val="46C2C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4752" y="1719072"/>
            <a:ext cx="384048" cy="38404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" name="Text 6"/>
          <p:cNvSpPr/>
          <p:nvPr/>
        </p:nvSpPr>
        <p:spPr>
          <a:xfrm>
            <a:off x="27432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sin papel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2907792"/>
            <a:ext cx="128016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11480" y="29992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firma electrónica y gestión documental digital. Actualmente 3 FTE dedicados a escanear y buscar documentos.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977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45720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737360" y="3977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173736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Bajo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82112" y="9601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3182112" y="960120"/>
            <a:ext cx="2743200" cy="47548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3182112" y="960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160520" y="1554480"/>
            <a:ext cx="777240" cy="777240"/>
          </a:xfrm>
          <a:prstGeom prst="ellipse">
            <a:avLst/>
          </a:prstGeom>
          <a:solidFill>
            <a:srgbClr val="7F52A0">
              <a:alpha val="85000"/>
            </a:srgbClr>
          </a:solidFill>
          <a:ln w="12700">
            <a:solidFill>
              <a:srgbClr val="7F52A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71907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8211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facturación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913632" y="2907792"/>
            <a:ext cx="1280160" cy="36576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3319272" y="29992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aplicación de Documentos para captura automática. Actualmente 2 FTE registran facturas manualmente.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364992" y="3977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3364992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645152" y="3977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4645152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Medio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89904" y="96012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6089904" y="960120"/>
            <a:ext cx="2743200" cy="47548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6089904" y="960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7068312" y="1554480"/>
            <a:ext cx="777240" cy="777240"/>
          </a:xfrm>
          <a:prstGeom prst="ellipse">
            <a:avLst/>
          </a:prstGeom>
          <a:solidFill>
            <a:srgbClr val="263980">
              <a:alpha val="85000"/>
            </a:srgbClr>
          </a:solidFill>
          <a:ln w="12700">
            <a:solidFill>
              <a:srgbClr val="26398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1719072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089904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Reclutamiento digital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821424" y="2907792"/>
            <a:ext cx="1280160" cy="36576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0"/>
          <p:cNvSpPr/>
          <p:nvPr/>
        </p:nvSpPr>
        <p:spPr>
          <a:xfrm>
            <a:off x="6227064" y="29992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postulación hasta la integración del empleado en una plataforma unificada. Eliminar herramientas duplicadas.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272784" y="3977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2"/>
          <p:cNvSpPr/>
          <p:nvPr/>
        </p:nvSpPr>
        <p:spPr>
          <a:xfrm>
            <a:off x="6272784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Medio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7552944" y="3977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4"/>
          <p:cNvSpPr/>
          <p:nvPr/>
        </p:nvSpPr>
        <p:spPr>
          <a:xfrm>
            <a:off x="7552944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Medio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pic>
        <p:nvPicPr>
          <p:cNvPr id="43" name="Image 0">
            <a:extLst>
              <a:ext uri="{FF2B5EF4-FFF2-40B4-BE49-F238E27FC236}">
                <a16:creationId xmlns:a16="http://schemas.microsoft.com/office/drawing/2014/main" id="{991F92A0-3E47-D5FD-432D-5AFBB9C75F6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— Q2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5880" y="1051560"/>
            <a:ext cx="0" cy="3566160"/>
          </a:xfrm>
          <a:prstGeom prst="line">
            <a:avLst/>
          </a:prstGeom>
          <a:noFill/>
          <a:ln w="25400">
            <a:solidFill>
              <a:srgbClr val="46C2C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61288" y="1115568"/>
            <a:ext cx="338328" cy="33832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161288" y="111556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19072" y="1005840"/>
            <a:ext cx="7040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719072" y="1005840"/>
            <a:ext cx="64008" cy="7772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8745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Contabilidad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07899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583680" y="1078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1353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capacitación del equipo y poner en producción el módulo completo.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61288" y="2011680"/>
            <a:ext cx="338328" cy="338328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161288" y="20116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19072" y="1901952"/>
            <a:ext cx="7040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719072" y="1901952"/>
            <a:ext cx="64008" cy="7772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87452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Facturación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975104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583680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2249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el módulo validado e integrar con OCR para automatización.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61288" y="2907792"/>
            <a:ext cx="338328" cy="33832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161288" y="29077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19072" y="2798064"/>
            <a:ext cx="7040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1719072" y="2798064"/>
            <a:ext cx="64008" cy="77724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1874520" y="2843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Módulo Banco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871216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58368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74520" y="31455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integración bancaria y conciliaciones automáticas.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61288" y="3803904"/>
            <a:ext cx="338328" cy="338328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1161288" y="38039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19072" y="3694176"/>
            <a:ext cx="7040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1719072" y="3694176"/>
            <a:ext cx="64008" cy="7772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1874520" y="3739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Marketing Digital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3767328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583680" y="3767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alcance y cronograma para reactivar el módulo de Marketing.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·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</p:txBody>
      </p:sp>
      <p:pic>
        <p:nvPicPr>
          <p:cNvPr id="39" name="Image 0">
            <a:extLst>
              <a:ext uri="{FF2B5EF4-FFF2-40B4-BE49-F238E27FC236}">
                <a16:creationId xmlns:a16="http://schemas.microsoft.com/office/drawing/2014/main" id="{6DE94B0B-3DDE-7FF0-7D48-445CC7003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3539" y="51480"/>
            <a:ext cx="1857921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46C2CE">
              <a:alpha val="30000"/>
            </a:srgbClr>
          </a:solidFill>
          <a:ln w="12700">
            <a:solidFill>
              <a:srgbClr val="46C2C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217920" y="4572000"/>
            <a:ext cx="2926080" cy="571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0799" y="457200"/>
            <a:ext cx="2322402" cy="900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1417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137160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impulsamos tu negocio hacia el futuro digital.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46C2CE">
              <a:alpha val="50000"/>
            </a:srgbClr>
          </a:solidFill>
          <a:ln w="12700">
            <a:solidFill>
              <a:srgbClr val="46C2C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82880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info@sunname.com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www.sunname.com.mx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TU NEGOCIO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Confidencial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621</Words>
  <Application>Microsoft Office PowerPoint</Application>
  <PresentationFormat>Presentación en pantalla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Sunname Technologies - Reporte de Progreso</dc:title>
  <dc:subject>PptxGenJS Presentation</dc:subject>
  <dc:creator>PptxGenJS</dc:creator>
  <cp:lastModifiedBy>Eduardo Acevedo Garcia</cp:lastModifiedBy>
  <cp:revision>4</cp:revision>
  <dcterms:created xsi:type="dcterms:W3CDTF">2026-02-20T04:44:19Z</dcterms:created>
  <dcterms:modified xsi:type="dcterms:W3CDTF">2026-02-20T05:28:52Z</dcterms:modified>
</cp:coreProperties>
</file>