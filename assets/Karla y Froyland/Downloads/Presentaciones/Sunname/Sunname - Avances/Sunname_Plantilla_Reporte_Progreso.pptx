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6" r:id="rId34"/>
    <p:sldId id="297" r:id="rId35"/>
    <p:sldId id="298" r:id="rId36"/>
    <p:sldId id="29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" userDrawn="1">
          <p15:clr>
            <a:srgbClr val="A4A3A4"/>
          </p15:clr>
        </p15:guide>
        <p15:guide id="2" pos="2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>
        <p:guide orient="horz" pos="259"/>
        <p:guide pos="2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100" b="0" i="0" u="none" strike="noStrike">
                <a:solidFill>
                  <a:srgbClr val="000000"/>
                </a:solidFill>
                <a:latin typeface="Arial"/>
              </a:rPr>
              <a:t>Estado General del Período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 general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6C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07-4CFD-9FB6-988782D9F4E7}"/>
              </c:ext>
            </c:extLst>
          </c:dPt>
          <c:dPt>
            <c:idx val="1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07-4CFD-9FB6-988782D9F4E7}"/>
              </c:ext>
            </c:extLst>
          </c:dPt>
          <c:dPt>
            <c:idx val="2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07-4CFD-9FB6-988782D9F4E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07-4CFD-9FB6-988782D9F4E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07-4CFD-9FB6-988782D9F4E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07-4CFD-9FB6-988782D9F4E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Completado</c:v>
                </c:pt>
                <c:pt idx="1">
                  <c:v>En progreso</c:v>
                </c:pt>
                <c:pt idx="2">
                  <c:v>Pendiente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07-4CFD-9FB6-988782D9F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46C2C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3F-43B4-9D01-476E32CDBAB5}"/>
              </c:ext>
            </c:extLst>
          </c:dPt>
          <c:dPt>
            <c:idx val="1"/>
            <c:invertIfNegative val="0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3F-43B4-9D01-476E32CDBAB5}"/>
              </c:ext>
            </c:extLst>
          </c:dPt>
          <c:dPt>
            <c:idx val="2"/>
            <c:invertIfNegative val="0"/>
            <c:bubble3D val="0"/>
            <c:spPr>
              <a:solidFill>
                <a:srgbClr val="2639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3F-43B4-9D01-476E32CDBAB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B3F-43B4-9D01-476E32CDBAB5}"/>
              </c:ext>
            </c:extLst>
          </c:dPt>
          <c:dPt>
            <c:idx val="4"/>
            <c:invertIfNegative val="0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3F-43B4-9D01-476E32CDBAB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398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Área A</c:v>
                </c:pt>
                <c:pt idx="1">
                  <c:v>Área B</c:v>
                </c:pt>
                <c:pt idx="2">
                  <c:v>Área C</c:v>
                </c:pt>
                <c:pt idx="3">
                  <c:v>Área D</c:v>
                </c:pt>
                <c:pt idx="4">
                  <c:v>Área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65</c:v>
                </c:pt>
                <c:pt idx="2">
                  <c:v>45</c:v>
                </c:pt>
                <c:pt idx="3">
                  <c:v>90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3F-43B4-9D01-476E32CDBA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Período actual</c:v>
                </c:pt>
              </c:strCache>
            </c:strRef>
          </c:tx>
          <c:spPr>
            <a:ln w="31750" cap="flat">
              <a:solidFill>
                <a:srgbClr val="46C2C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6C2CE"/>
              </a:solidFill>
              <a:ln w="9525" cap="flat">
                <a:solidFill>
                  <a:srgbClr val="46C2C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  <c:pt idx="5">
                  <c:v>Sem 6</c:v>
                </c:pt>
                <c:pt idx="6">
                  <c:v>Sem 7</c:v>
                </c:pt>
                <c:pt idx="7">
                  <c:v>Sem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70</c:v>
                </c:pt>
                <c:pt idx="4">
                  <c:v>65</c:v>
                </c:pt>
                <c:pt idx="5">
                  <c:v>82</c:v>
                </c:pt>
                <c:pt idx="6">
                  <c:v>78</c:v>
                </c:pt>
                <c:pt idx="7">
                  <c:v>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26F-4496-9F88-89BAB97C18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Período anterior</c:v>
                </c:pt>
              </c:strCache>
            </c:strRef>
          </c:tx>
          <c:spPr>
            <a:ln w="31750" cap="flat">
              <a:solidFill>
                <a:srgbClr val="7F52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F52A0"/>
              </a:solidFill>
              <a:ln w="9525" cap="flat">
                <a:solidFill>
                  <a:srgbClr val="7F52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  <c:pt idx="5">
                  <c:v>Sem 6</c:v>
                </c:pt>
                <c:pt idx="6">
                  <c:v>Sem 7</c:v>
                </c:pt>
                <c:pt idx="7">
                  <c:v>Sem 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35</c:v>
                </c:pt>
                <c:pt idx="1">
                  <c:v>40</c:v>
                </c:pt>
                <c:pt idx="2">
                  <c:v>42</c:v>
                </c:pt>
                <c:pt idx="3">
                  <c:v>52</c:v>
                </c:pt>
                <c:pt idx="4">
                  <c:v>58</c:v>
                </c:pt>
                <c:pt idx="5">
                  <c:v>65</c:v>
                </c:pt>
                <c:pt idx="6">
                  <c:v>68</c:v>
                </c:pt>
                <c:pt idx="7">
                  <c:v>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26F-4496-9F88-89BAB97C18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Métrica A (actual)</c:v>
                </c:pt>
              </c:strCache>
            </c:strRef>
          </c:tx>
          <c:spPr>
            <a:solidFill>
              <a:srgbClr val="46C2C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398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58</c:v>
                </c:pt>
                <c:pt idx="2">
                  <c:v>65</c:v>
                </c:pt>
                <c:pt idx="3">
                  <c:v>72</c:v>
                </c:pt>
                <c:pt idx="4">
                  <c:v>68</c:v>
                </c:pt>
                <c:pt idx="5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85-42AB-8DE6-71EF6261F1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Métrica B (meta)</c:v>
                </c:pt>
              </c:strCache>
            </c:strRef>
          </c:tx>
          <c:spPr>
            <a:solidFill>
              <a:srgbClr val="7F52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6398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55</c:v>
                </c:pt>
                <c:pt idx="2">
                  <c:v>60</c:v>
                </c:pt>
                <c:pt idx="3">
                  <c:v>70</c:v>
                </c:pt>
                <c:pt idx="4">
                  <c:v>75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85-42AB-8DE6-71EF6261F1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639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8C-41D0-BCEE-902E888296F7}"/>
              </c:ext>
            </c:extLst>
          </c:dPt>
          <c:dPt>
            <c:idx val="1"/>
            <c:bubble3D val="0"/>
            <c:spPr>
              <a:solidFill>
                <a:srgbClr val="46C2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8C-41D0-BCEE-902E888296F7}"/>
              </c:ext>
            </c:extLst>
          </c:dPt>
          <c:dPt>
            <c:idx val="2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8C-41D0-BCEE-902E888296F7}"/>
              </c:ext>
            </c:extLst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78C-41D0-BCEE-902E888296F7}"/>
              </c:ext>
            </c:extLst>
          </c:dPt>
          <c:dPt>
            <c:idx val="4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78C-41D0-BCEE-902E888296F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8C-41D0-BCEE-902E888296F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78C-41D0-BCEE-902E888296F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78C-41D0-BCEE-902E888296F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78C-41D0-BCEE-902E888296F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78C-41D0-BCEE-902E888296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Categoría A</c:v>
                </c:pt>
                <c:pt idx="1">
                  <c:v>Categoría B</c:v>
                </c:pt>
                <c:pt idx="2">
                  <c:v>Categoría C</c:v>
                </c:pt>
                <c:pt idx="3">
                  <c:v>Categoría D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8C-41D0-BCEE-902E888296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Nivel de adopción (%)</c:v>
                </c:pt>
              </c:strCache>
            </c:strRef>
          </c:tx>
          <c:spPr>
            <a:solidFill>
              <a:srgbClr val="46C2C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BE-4474-B78C-4653869B874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4BE-4474-B78C-4653869B874D}"/>
              </c:ext>
            </c:extLst>
          </c:dPt>
          <c:dPt>
            <c:idx val="2"/>
            <c:invertIfNegative val="0"/>
            <c:bubble3D val="0"/>
            <c:spPr>
              <a:solidFill>
                <a:srgbClr val="7F52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BE-4474-B78C-4653869B874D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BE-4474-B78C-4653869B874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E4BE-4474-B78C-4653869B874D}"/>
              </c:ext>
            </c:extLst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BE-4474-B78C-4653869B874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6398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Área A</c:v>
                </c:pt>
                <c:pt idx="1">
                  <c:v>Área B</c:v>
                </c:pt>
                <c:pt idx="2">
                  <c:v>Área C</c:v>
                </c:pt>
                <c:pt idx="3">
                  <c:v>Área D</c:v>
                </c:pt>
                <c:pt idx="4">
                  <c:v>Área E</c:v>
                </c:pt>
                <c:pt idx="5">
                  <c:v>Área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85</c:v>
                </c:pt>
                <c:pt idx="2">
                  <c:v>70</c:v>
                </c:pt>
                <c:pt idx="3">
                  <c:v>60</c:v>
                </c:pt>
                <c:pt idx="4">
                  <c:v>88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4BE-4474-B78C-4653869B87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47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hart" Target="../charts/char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chart" Target="../charts/chart6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46C2CE">
              <a:alpha val="30000"/>
            </a:srgbClr>
          </a:solidFill>
          <a:ln w="12700">
            <a:solidFill>
              <a:srgbClr val="46C2C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263980">
              <a:alpha val="60000"/>
            </a:srgbClr>
          </a:solidFill>
          <a:ln w="12700">
            <a:solidFill>
              <a:srgbClr val="2639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3474720" cy="4800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02920" y="199339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Período · Mes / Trimestre / Año]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3493008"/>
            <a:ext cx="64008" cy="6858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685800" y="34930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TU NEGOCIO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0" y="4718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sunname.com.mx</a:t>
            </a:r>
            <a:endParaRPr lang="en-US" sz="900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99860B27-DA13-C47B-97C7-DE5F9DFD2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552" y="172352"/>
            <a:ext cx="2322404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CONTENIDO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93268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65760" y="932688"/>
            <a:ext cx="64008" cy="10972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530352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98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188720" y="1024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principales · Panorama general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00600" y="93268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4800600" y="932688"/>
            <a:ext cx="64008" cy="10972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4965192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6C2C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623560" y="10241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hicimos?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23560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· Línea de tiempo · Estado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219456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530352" y="22677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52A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18872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 Métricas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887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· Gráficos · Análisis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800600" y="219456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4800600" y="2194560"/>
            <a:ext cx="64008" cy="10972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4965192" y="22677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98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562356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&amp; Adaptación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6235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Productividad · Colaboración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5760" y="345643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7"/>
          <p:cNvSpPr/>
          <p:nvPr/>
        </p:nvSpPr>
        <p:spPr>
          <a:xfrm>
            <a:off x="365760" y="3456432"/>
            <a:ext cx="64008" cy="10972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8"/>
          <p:cNvSpPr/>
          <p:nvPr/>
        </p:nvSpPr>
        <p:spPr>
          <a:xfrm>
            <a:off x="530352" y="352958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6C2C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1188720" y="3547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88720" y="4005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· Adaptar · Mejorar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800600" y="345643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2"/>
          <p:cNvSpPr/>
          <p:nvPr/>
        </p:nvSpPr>
        <p:spPr>
          <a:xfrm>
            <a:off x="4800600" y="3456432"/>
            <a:ext cx="64008" cy="10972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3"/>
          <p:cNvSpPr/>
          <p:nvPr/>
        </p:nvSpPr>
        <p:spPr>
          <a:xfrm>
            <a:off x="4965192" y="352958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52A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5623560" y="3547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&amp; Siguientes Pasos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623560" y="40050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Prioridades · Fechas</a:t>
            </a:r>
            <a:endParaRPr lang="en-US" sz="950" dirty="0"/>
          </a:p>
        </p:txBody>
      </p:sp>
      <p:pic>
        <p:nvPicPr>
          <p:cNvPr id="39" name="Gráfico 38">
            <a:extLst>
              <a:ext uri="{FF2B5EF4-FFF2-40B4-BE49-F238E27FC236}">
                <a16:creationId xmlns:a16="http://schemas.microsoft.com/office/drawing/2014/main" id="{E58213E3-1B81-EC54-D0A7-6C58643BF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457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período · KPIs clave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2286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071387F9-05EF-0CC3-25E6-321021EFC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19" y="4731536"/>
            <a:ext cx="1393444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PRINCIPALES DEL PERÍODO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6032" y="91440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77800" dist="635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56032" y="914400"/>
            <a:ext cx="2011680" cy="7315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832104" y="1115568"/>
            <a:ext cx="868680" cy="86868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35024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256032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56032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 #1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6072" y="3547872"/>
            <a:ext cx="1371600" cy="274320"/>
          </a:xfrm>
          <a:prstGeom prst="rect">
            <a:avLst/>
          </a:prstGeom>
          <a:solidFill>
            <a:srgbClr val="E8F9EE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576072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+00% vs anterior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432304" y="91440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77800" dist="635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2432304" y="914400"/>
            <a:ext cx="2011680" cy="731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3008376" y="1115568"/>
            <a:ext cx="868680" cy="86868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335024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432304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$0,000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2432304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2432304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 #2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752344" y="3547872"/>
            <a:ext cx="1371600" cy="274320"/>
          </a:xfrm>
          <a:prstGeom prst="rect">
            <a:avLst/>
          </a:prstGeom>
          <a:solidFill>
            <a:srgbClr val="E8F9EE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2752344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+00% vs anterior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4608576" y="91440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77800" dist="635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3"/>
          <p:cNvSpPr/>
          <p:nvPr/>
        </p:nvSpPr>
        <p:spPr>
          <a:xfrm>
            <a:off x="4608576" y="914400"/>
            <a:ext cx="2011680" cy="7315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5184648" y="1115568"/>
            <a:ext cx="868680" cy="86868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335024"/>
            <a:ext cx="429768" cy="4297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08576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00%</a:t>
            </a:r>
            <a:endParaRPr lang="en-US" sz="3200" dirty="0"/>
          </a:p>
        </p:txBody>
      </p:sp>
      <p:sp>
        <p:nvSpPr>
          <p:cNvPr id="32" name="Text 26"/>
          <p:cNvSpPr/>
          <p:nvPr/>
        </p:nvSpPr>
        <p:spPr>
          <a:xfrm>
            <a:off x="4608576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608576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 #3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928616" y="3547872"/>
            <a:ext cx="1371600" cy="274320"/>
          </a:xfrm>
          <a:prstGeom prst="rect">
            <a:avLst/>
          </a:prstGeom>
          <a:solidFill>
            <a:srgbClr val="FDECEA"/>
          </a:solidFill>
          <a:ln w="63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29"/>
          <p:cNvSpPr/>
          <p:nvPr/>
        </p:nvSpPr>
        <p:spPr>
          <a:xfrm>
            <a:off x="4928616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-0% vs anterior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784848" y="914400"/>
            <a:ext cx="20116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77800" dist="635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1"/>
          <p:cNvSpPr/>
          <p:nvPr/>
        </p:nvSpPr>
        <p:spPr>
          <a:xfrm>
            <a:off x="6784848" y="914400"/>
            <a:ext cx="2011680" cy="7315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2"/>
          <p:cNvSpPr/>
          <p:nvPr/>
        </p:nvSpPr>
        <p:spPr>
          <a:xfrm>
            <a:off x="7360920" y="1115568"/>
            <a:ext cx="868680" cy="86868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1335024"/>
            <a:ext cx="429768" cy="4297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784848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</a:t>
            </a:r>
            <a:endParaRPr lang="en-US" sz="3200" dirty="0"/>
          </a:p>
        </p:txBody>
      </p:sp>
      <p:sp>
        <p:nvSpPr>
          <p:cNvPr id="41" name="Text 34"/>
          <p:cNvSpPr/>
          <p:nvPr/>
        </p:nvSpPr>
        <p:spPr>
          <a:xfrm>
            <a:off x="6784848" y="2816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ahorradas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6784848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Principal #4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7104888" y="3547872"/>
            <a:ext cx="1371600" cy="274320"/>
          </a:xfrm>
          <a:prstGeom prst="rect">
            <a:avLst/>
          </a:prstGeom>
          <a:solidFill>
            <a:srgbClr val="E8F9EE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7"/>
          <p:cNvSpPr/>
          <p:nvPr/>
        </p:nvSpPr>
        <p:spPr>
          <a:xfrm>
            <a:off x="7104888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+00h vs anterior</a:t>
            </a:r>
            <a:endParaRPr lang="en-US" sz="800" dirty="0"/>
          </a:p>
        </p:txBody>
      </p:sp>
      <p:pic>
        <p:nvPicPr>
          <p:cNvPr id="45" name="Gráfico 44">
            <a:extLst>
              <a:ext uri="{FF2B5EF4-FFF2-40B4-BE49-F238E27FC236}">
                <a16:creationId xmlns:a16="http://schemas.microsoft.com/office/drawing/2014/main" id="{D95C7EFD-451F-521A-D08C-967543E87F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 DEL PERÍODO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60120"/>
            <a:ext cx="41148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60120"/>
            <a:ext cx="411480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5720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Período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148132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aquí el contexto general del período. ¿Cuáles fueron las principales prioridades? ¿Qué circunstancias especiales se dieron? Máximo 3-4 oraciones.]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2999232"/>
            <a:ext cx="146304" cy="14630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749808" y="2944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principal #1 del período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346704"/>
            <a:ext cx="146304" cy="14630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749808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principal #2 del período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3694176"/>
            <a:ext cx="146304" cy="14630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749808" y="3639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principal #3 del período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4041648"/>
            <a:ext cx="146304" cy="14630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749808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atención / mejora identificada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663440" y="960120"/>
          <a:ext cx="4160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3" name="Gráfico 22">
            <a:extLst>
              <a:ext uri="{FF2B5EF4-FFF2-40B4-BE49-F238E27FC236}">
                <a16:creationId xmlns:a16="http://schemas.microsoft.com/office/drawing/2014/main" id="{B0B694D1-3B27-E1BE-F472-633C6F433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457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hicimos?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realizadas · Avances del período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2286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38893E48-A0DF-AEB6-A3AF-48447EDA1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19" y="4731536"/>
            <a:ext cx="1393444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 DEL PERÍODO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317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969264" y="2441448"/>
            <a:ext cx="347472" cy="347472"/>
          </a:xfrm>
          <a:prstGeom prst="ellipse">
            <a:avLst/>
          </a:prstGeom>
          <a:solidFill>
            <a:srgbClr val="2639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292608" y="914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[Fecha 1]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79576" y="1188720"/>
            <a:ext cx="54864" cy="1252728"/>
          </a:xfrm>
          <a:prstGeom prst="rect">
            <a:avLst/>
          </a:prstGeom>
          <a:solidFill>
            <a:srgbClr val="263980">
              <a:alpha val="60000"/>
            </a:srgbClr>
          </a:solidFill>
          <a:ln w="12700">
            <a:solidFill>
              <a:srgbClr val="2639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292608" y="1188720"/>
            <a:ext cx="182880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365760" y="1444752"/>
            <a:ext cx="16824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365760" y="1444752"/>
            <a:ext cx="1682496" cy="54864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42976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9768" y="179222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del hito o actividad principal.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06624" y="2441448"/>
            <a:ext cx="347472" cy="347472"/>
          </a:xfrm>
          <a:prstGeom prst="ellipse">
            <a:avLst/>
          </a:prstGeom>
          <a:solidFill>
            <a:srgbClr val="46C2C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2029968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[Fecha 2]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16936" y="2788920"/>
            <a:ext cx="54864" cy="338328"/>
          </a:xfrm>
          <a:prstGeom prst="rect">
            <a:avLst/>
          </a:prstGeom>
          <a:solidFill>
            <a:srgbClr val="46C2CE">
              <a:alpha val="60000"/>
            </a:srgbClr>
          </a:solidFill>
          <a:ln w="12700">
            <a:solidFill>
              <a:srgbClr val="46C2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2103120" y="3401568"/>
            <a:ext cx="16824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2103120" y="3401568"/>
            <a:ext cx="1682496" cy="54864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2167128" y="3493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167128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del hito o actividad principal.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443984" y="2441448"/>
            <a:ext cx="347472" cy="347472"/>
          </a:xfrm>
          <a:prstGeom prst="ellipse">
            <a:avLst/>
          </a:prstGeom>
          <a:solidFill>
            <a:srgbClr val="7F52A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3767328" y="914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[Fecha 3]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54296" y="1188720"/>
            <a:ext cx="54864" cy="1252728"/>
          </a:xfrm>
          <a:prstGeom prst="rect">
            <a:avLst/>
          </a:prstGeom>
          <a:solidFill>
            <a:srgbClr val="7F52A0">
              <a:alpha val="60000"/>
            </a:srgbClr>
          </a:solidFill>
          <a:ln w="12700">
            <a:solidFill>
              <a:srgbClr val="7F52A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5"/>
          <p:cNvSpPr/>
          <p:nvPr/>
        </p:nvSpPr>
        <p:spPr>
          <a:xfrm>
            <a:off x="3767328" y="1188720"/>
            <a:ext cx="182880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6"/>
          <p:cNvSpPr/>
          <p:nvPr/>
        </p:nvSpPr>
        <p:spPr>
          <a:xfrm>
            <a:off x="3840480" y="1444752"/>
            <a:ext cx="16824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7"/>
          <p:cNvSpPr/>
          <p:nvPr/>
        </p:nvSpPr>
        <p:spPr>
          <a:xfrm>
            <a:off x="3840480" y="1444752"/>
            <a:ext cx="1682496" cy="54864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8"/>
          <p:cNvSpPr/>
          <p:nvPr/>
        </p:nvSpPr>
        <p:spPr>
          <a:xfrm>
            <a:off x="390448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904488" y="179222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del hito o actividad principal.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181344" y="2441448"/>
            <a:ext cx="347472" cy="347472"/>
          </a:xfrm>
          <a:prstGeom prst="ellipse">
            <a:avLst/>
          </a:prstGeom>
          <a:solidFill>
            <a:srgbClr val="2639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5504688" y="3127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[Fecha 4]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391656" y="2788920"/>
            <a:ext cx="54864" cy="338328"/>
          </a:xfrm>
          <a:prstGeom prst="rect">
            <a:avLst/>
          </a:prstGeom>
          <a:solidFill>
            <a:srgbClr val="263980">
              <a:alpha val="60000"/>
            </a:srgbClr>
          </a:solidFill>
          <a:ln w="12700">
            <a:solidFill>
              <a:srgbClr val="2639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3"/>
          <p:cNvSpPr/>
          <p:nvPr/>
        </p:nvSpPr>
        <p:spPr>
          <a:xfrm>
            <a:off x="5577840" y="3401568"/>
            <a:ext cx="16824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4"/>
          <p:cNvSpPr/>
          <p:nvPr/>
        </p:nvSpPr>
        <p:spPr>
          <a:xfrm>
            <a:off x="5577840" y="3401568"/>
            <a:ext cx="1682496" cy="54864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5"/>
          <p:cNvSpPr/>
          <p:nvPr/>
        </p:nvSpPr>
        <p:spPr>
          <a:xfrm>
            <a:off x="5641848" y="3493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641848" y="3749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del hito o actividad principal.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918704" y="2441448"/>
            <a:ext cx="347472" cy="347472"/>
          </a:xfrm>
          <a:prstGeom prst="ellipse">
            <a:avLst/>
          </a:prstGeom>
          <a:solidFill>
            <a:srgbClr val="46C2C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8"/>
          <p:cNvSpPr/>
          <p:nvPr/>
        </p:nvSpPr>
        <p:spPr>
          <a:xfrm>
            <a:off x="7242048" y="914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[Fecha 5]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129016" y="1188720"/>
            <a:ext cx="54864" cy="1252728"/>
          </a:xfrm>
          <a:prstGeom prst="rect">
            <a:avLst/>
          </a:prstGeom>
          <a:solidFill>
            <a:srgbClr val="46C2CE">
              <a:alpha val="60000"/>
            </a:srgbClr>
          </a:solidFill>
          <a:ln w="12700">
            <a:solidFill>
              <a:srgbClr val="46C2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0"/>
          <p:cNvSpPr/>
          <p:nvPr/>
        </p:nvSpPr>
        <p:spPr>
          <a:xfrm>
            <a:off x="7242048" y="1188720"/>
            <a:ext cx="182880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1"/>
          <p:cNvSpPr/>
          <p:nvPr/>
        </p:nvSpPr>
        <p:spPr>
          <a:xfrm>
            <a:off x="7315200" y="1444752"/>
            <a:ext cx="168249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5" name="Shape 42"/>
          <p:cNvSpPr/>
          <p:nvPr/>
        </p:nvSpPr>
        <p:spPr>
          <a:xfrm>
            <a:off x="7315200" y="1444752"/>
            <a:ext cx="1682496" cy="54864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3"/>
          <p:cNvSpPr/>
          <p:nvPr/>
        </p:nvSpPr>
        <p:spPr>
          <a:xfrm>
            <a:off x="737920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9208" y="179222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del hito o actividad principal.</a:t>
            </a:r>
            <a:endParaRPr lang="en-US" sz="800" dirty="0"/>
          </a:p>
        </p:txBody>
      </p:sp>
      <p:pic>
        <p:nvPicPr>
          <p:cNvPr id="48" name="Gráfico 47">
            <a:extLst>
              <a:ext uri="{FF2B5EF4-FFF2-40B4-BE49-F238E27FC236}">
                <a16:creationId xmlns:a16="http://schemas.microsoft.com/office/drawing/2014/main" id="{CAA81E50-631E-46D4-F360-F0E6E936C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PROYECTOS / MÓDULOS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93268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94360" y="8961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21408" y="932688"/>
            <a:ext cx="164592" cy="16459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2350008" y="8961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77056" y="932688"/>
            <a:ext cx="164592" cy="16459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105656" y="8961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revisión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32704" y="93268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5861304" y="8961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88352" y="93268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7616952" y="8961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1207008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320040" y="1207008"/>
            <a:ext cx="64008" cy="7589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484632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880360" y="1252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880360" y="1527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" y="1728216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484632" y="1728216"/>
            <a:ext cx="3063240" cy="137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3584448" y="1700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0040" y="2093976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5"/>
          <p:cNvSpPr/>
          <p:nvPr/>
        </p:nvSpPr>
        <p:spPr>
          <a:xfrm>
            <a:off x="320040" y="2093976"/>
            <a:ext cx="64008" cy="7589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484632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B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88036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880360" y="2414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4632" y="2615184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0"/>
          <p:cNvSpPr/>
          <p:nvPr/>
        </p:nvSpPr>
        <p:spPr>
          <a:xfrm>
            <a:off x="484632" y="2615184"/>
            <a:ext cx="2297430" cy="1371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3584448" y="25877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2980944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3"/>
          <p:cNvSpPr/>
          <p:nvPr/>
        </p:nvSpPr>
        <p:spPr>
          <a:xfrm>
            <a:off x="320040" y="2980944"/>
            <a:ext cx="64008" cy="7589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4"/>
          <p:cNvSpPr/>
          <p:nvPr/>
        </p:nvSpPr>
        <p:spPr>
          <a:xfrm>
            <a:off x="484632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C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2880360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880360" y="33009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4632" y="3502152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8"/>
          <p:cNvSpPr/>
          <p:nvPr/>
        </p:nvSpPr>
        <p:spPr>
          <a:xfrm>
            <a:off x="484632" y="3502152"/>
            <a:ext cx="1684782" cy="1371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9"/>
          <p:cNvSpPr/>
          <p:nvPr/>
        </p:nvSpPr>
        <p:spPr>
          <a:xfrm>
            <a:off x="3584448" y="3474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3867912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41"/>
          <p:cNvSpPr/>
          <p:nvPr/>
        </p:nvSpPr>
        <p:spPr>
          <a:xfrm>
            <a:off x="320040" y="3867912"/>
            <a:ext cx="64008" cy="75895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2"/>
          <p:cNvSpPr/>
          <p:nvPr/>
        </p:nvSpPr>
        <p:spPr>
          <a:xfrm>
            <a:off x="484632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D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288036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2880360" y="4187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revisión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84632" y="4389120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46"/>
          <p:cNvSpPr/>
          <p:nvPr/>
        </p:nvSpPr>
        <p:spPr>
          <a:xfrm>
            <a:off x="484632" y="4389120"/>
            <a:ext cx="2756916" cy="13716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7"/>
          <p:cNvSpPr/>
          <p:nvPr/>
        </p:nvSpPr>
        <p:spPr>
          <a:xfrm>
            <a:off x="3584448" y="43616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754880" y="1207008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2" name="Shape 49"/>
          <p:cNvSpPr/>
          <p:nvPr/>
        </p:nvSpPr>
        <p:spPr>
          <a:xfrm>
            <a:off x="4754880" y="1207008"/>
            <a:ext cx="64008" cy="7589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0"/>
          <p:cNvSpPr/>
          <p:nvPr/>
        </p:nvSpPr>
        <p:spPr>
          <a:xfrm>
            <a:off x="4919472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E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315200" y="1252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7315200" y="1527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919472" y="1728216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4"/>
          <p:cNvSpPr/>
          <p:nvPr/>
        </p:nvSpPr>
        <p:spPr>
          <a:xfrm>
            <a:off x="4919472" y="1728216"/>
            <a:ext cx="612648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5"/>
          <p:cNvSpPr/>
          <p:nvPr/>
        </p:nvSpPr>
        <p:spPr>
          <a:xfrm>
            <a:off x="8019288" y="1700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754880" y="2093976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0" name="Shape 57"/>
          <p:cNvSpPr/>
          <p:nvPr/>
        </p:nvSpPr>
        <p:spPr>
          <a:xfrm>
            <a:off x="4754880" y="2093976"/>
            <a:ext cx="64008" cy="7589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8"/>
          <p:cNvSpPr/>
          <p:nvPr/>
        </p:nvSpPr>
        <p:spPr>
          <a:xfrm>
            <a:off x="4919472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F</a:t>
            </a:r>
            <a:endParaRPr lang="en-US" sz="1050" dirty="0"/>
          </a:p>
        </p:txBody>
      </p:sp>
      <p:sp>
        <p:nvSpPr>
          <p:cNvPr id="62" name="Text 59"/>
          <p:cNvSpPr/>
          <p:nvPr/>
        </p:nvSpPr>
        <p:spPr>
          <a:xfrm>
            <a:off x="731520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7315200" y="24140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919472" y="2615184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2"/>
          <p:cNvSpPr/>
          <p:nvPr/>
        </p:nvSpPr>
        <p:spPr>
          <a:xfrm>
            <a:off x="4919472" y="2615184"/>
            <a:ext cx="3063240" cy="137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3"/>
          <p:cNvSpPr/>
          <p:nvPr/>
        </p:nvSpPr>
        <p:spPr>
          <a:xfrm>
            <a:off x="8019288" y="25877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754880" y="2980944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8" name="Shape 65"/>
          <p:cNvSpPr/>
          <p:nvPr/>
        </p:nvSpPr>
        <p:spPr>
          <a:xfrm>
            <a:off x="4754880" y="2980944"/>
            <a:ext cx="64008" cy="75895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6"/>
          <p:cNvSpPr/>
          <p:nvPr/>
        </p:nvSpPr>
        <p:spPr>
          <a:xfrm>
            <a:off x="4919472" y="3026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G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7315200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7315200" y="33009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919472" y="3502152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3" name="Shape 70"/>
          <p:cNvSpPr/>
          <p:nvPr/>
        </p:nvSpPr>
        <p:spPr>
          <a:xfrm>
            <a:off x="4919472" y="3502152"/>
            <a:ext cx="1225296" cy="1371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Text 71"/>
          <p:cNvSpPr/>
          <p:nvPr/>
        </p:nvSpPr>
        <p:spPr>
          <a:xfrm>
            <a:off x="8019288" y="34747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754880" y="3867912"/>
            <a:ext cx="4160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6" name="Shape 73"/>
          <p:cNvSpPr/>
          <p:nvPr/>
        </p:nvSpPr>
        <p:spPr>
          <a:xfrm>
            <a:off x="4754880" y="3867912"/>
            <a:ext cx="64008" cy="7589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7" name="Text 74"/>
          <p:cNvSpPr/>
          <p:nvPr/>
        </p:nvSpPr>
        <p:spPr>
          <a:xfrm>
            <a:off x="4919472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/ Módulo H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731520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7315200" y="4187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919472" y="4389120"/>
            <a:ext cx="306324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1" name="Text 78"/>
          <p:cNvSpPr/>
          <p:nvPr/>
        </p:nvSpPr>
        <p:spPr>
          <a:xfrm>
            <a:off x="8019288" y="43616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pic>
        <p:nvPicPr>
          <p:cNvPr id="82" name="Gráfico 81">
            <a:extLst>
              <a:ext uri="{FF2B5EF4-FFF2-40B4-BE49-F238E27FC236}">
                <a16:creationId xmlns:a16="http://schemas.microsoft.com/office/drawing/2014/main" id="{50204114-5CD0-F400-0772-0FE14057F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DEL PERÍODO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92608" y="914400"/>
            <a:ext cx="2743200" cy="6400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29768" y="100584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06984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Equipo 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1709928"/>
            <a:ext cx="54864" cy="5029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612648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#1 con descripción breve y resultado.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2441448"/>
            <a:ext cx="54864" cy="5029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612648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#2 con descripción breve y resultado.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3172968"/>
            <a:ext cx="54864" cy="5029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612648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#3 con descripción breve y resultado.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3904488"/>
            <a:ext cx="54864" cy="5029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612648" y="3858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#4 con descripción breve y resultado.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00400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3337560" y="100584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069848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13632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Equipo B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364992" y="1709928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3"/>
          <p:cNvSpPr/>
          <p:nvPr/>
        </p:nvSpPr>
        <p:spPr>
          <a:xfrm>
            <a:off x="3520440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#1 con descripción breve y resultado.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364992" y="2441448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3520440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#2 con descripción breve y resultado.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364992" y="3172968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7"/>
          <p:cNvSpPr/>
          <p:nvPr/>
        </p:nvSpPr>
        <p:spPr>
          <a:xfrm>
            <a:off x="3520440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#3 con descripción breve y resultado.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364992" y="3904488"/>
            <a:ext cx="54864" cy="5029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9"/>
          <p:cNvSpPr/>
          <p:nvPr/>
        </p:nvSpPr>
        <p:spPr>
          <a:xfrm>
            <a:off x="3520440" y="3858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#4 con descripción breve y resultado.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108192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6" name="Shape 31"/>
          <p:cNvSpPr/>
          <p:nvPr/>
        </p:nvSpPr>
        <p:spPr>
          <a:xfrm>
            <a:off x="6108192" y="914400"/>
            <a:ext cx="2743200" cy="64008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2"/>
          <p:cNvSpPr/>
          <p:nvPr/>
        </p:nvSpPr>
        <p:spPr>
          <a:xfrm>
            <a:off x="6245352" y="1005840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69848"/>
            <a:ext cx="320040" cy="32004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21424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Equipo C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6272784" y="1709928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5"/>
          <p:cNvSpPr/>
          <p:nvPr/>
        </p:nvSpPr>
        <p:spPr>
          <a:xfrm>
            <a:off x="6428232" y="1664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#1 con descripción breve y resultado.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272784" y="2441448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7"/>
          <p:cNvSpPr/>
          <p:nvPr/>
        </p:nvSpPr>
        <p:spPr>
          <a:xfrm>
            <a:off x="6428232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#2 con descripción breve y resultado.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272784" y="3172968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39"/>
          <p:cNvSpPr/>
          <p:nvPr/>
        </p:nvSpPr>
        <p:spPr>
          <a:xfrm>
            <a:off x="6428232" y="31272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#3 con descripción breve y resultado.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272784" y="3904488"/>
            <a:ext cx="54864" cy="5029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1"/>
          <p:cNvSpPr/>
          <p:nvPr/>
        </p:nvSpPr>
        <p:spPr>
          <a:xfrm>
            <a:off x="6428232" y="38587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realizada #4 con descripción breve y resultado.</a:t>
            </a:r>
            <a:endParaRPr lang="en-US" sz="900" dirty="0"/>
          </a:p>
        </p:txBody>
      </p:sp>
      <p:pic>
        <p:nvPicPr>
          <p:cNvPr id="48" name="Gráfico 47">
            <a:extLst>
              <a:ext uri="{FF2B5EF4-FFF2-40B4-BE49-F238E27FC236}">
                <a16:creationId xmlns:a16="http://schemas.microsoft.com/office/drawing/2014/main" id="{97773F3D-392F-0749-9868-F315A9F6BE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TIEMPO INVERTIDO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14400"/>
            <a:ext cx="416052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57200" y="1024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024128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1508760"/>
            <a:ext cx="3749040" cy="38404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54864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inicial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651760" y="1554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$[00,000]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1984248"/>
            <a:ext cx="3749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548640" y="20299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real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51760" y="2029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$[00,000]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2459736"/>
            <a:ext cx="3749040" cy="38404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548640" y="2505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651760" y="2505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$[±0,000]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2935224"/>
            <a:ext cx="3749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548640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ejecutado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651760" y="2980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[00]%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presupuestal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" y="3794760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3"/>
          <p:cNvSpPr/>
          <p:nvPr/>
        </p:nvSpPr>
        <p:spPr>
          <a:xfrm>
            <a:off x="457200" y="3794760"/>
            <a:ext cx="2852928" cy="20116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4"/>
          <p:cNvSpPr/>
          <p:nvPr/>
        </p:nvSpPr>
        <p:spPr>
          <a:xfrm>
            <a:off x="457200" y="4041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ejecutado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663440" y="91440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4663440" y="914400"/>
            <a:ext cx="416052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4800600" y="1024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Invertido</a:t>
            </a:r>
            <a:endParaRPr lang="en-US" sz="13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024128"/>
            <a:ext cx="347472" cy="347472"/>
          </a:xfrm>
          <a:prstGeom prst="rect">
            <a:avLst/>
          </a:prstGeom>
        </p:spPr>
      </p:pic>
      <p:graphicFrame>
        <p:nvGraphicFramePr>
          <p:cNvPr id="33" name="Chart 0"/>
          <p:cNvGraphicFramePr/>
          <p:nvPr/>
        </p:nvGraphicFramePr>
        <p:xfrm>
          <a:off x="4663440" y="1463040"/>
          <a:ext cx="41605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351FB85F-D309-BE58-FFF3-CB22497470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8" name="Text 5"/>
          <p:cNvSpPr/>
          <p:nvPr/>
        </p:nvSpPr>
        <p:spPr>
          <a:xfrm>
            <a:off x="731520" y="457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 Métricas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 · Gráficos · Tendencias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2286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CA04583A-5722-8C7B-7944-E178BB144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19" y="4731536"/>
            <a:ext cx="1393444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— [NOMBRE DE LA MÉTRICA]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914400"/>
          <a:ext cx="5760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6309360" y="914400"/>
            <a:ext cx="2514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6309360" y="914400"/>
            <a:ext cx="54864" cy="80467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6446520" y="960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446520" y="13258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del período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46520" y="14996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309360" y="1856232"/>
            <a:ext cx="2514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6309360" y="1856232"/>
            <a:ext cx="54864" cy="804672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6446520" y="19019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446520" y="22677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semanal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446520" y="244144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309360" y="2798064"/>
            <a:ext cx="2514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6309360" y="2798064"/>
            <a:ext cx="54864" cy="8046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446520" y="284378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+117%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446520" y="32095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total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446520" y="33832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sem1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309360" y="3739896"/>
            <a:ext cx="2514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6309360" y="3739896"/>
            <a:ext cx="54864" cy="804672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6446520" y="37856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+26%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6446520" y="41513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Período anterior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446520" y="432511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800" dirty="0"/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9EFECB00-BFFC-C638-3B99-73BB8A2BE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— [MÉTRICA A VS MÉTRICA B]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914400"/>
          <a:ext cx="8503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Gráfico 9">
            <a:extLst>
              <a:ext uri="{FF2B5EF4-FFF2-40B4-BE49-F238E27FC236}">
                <a16:creationId xmlns:a16="http://schemas.microsoft.com/office/drawing/2014/main" id="{62890D76-BA25-6DF7-6963-109219C3C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— [NOMBRE DE LA VARIABLE]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914400"/>
          <a:ext cx="45720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914400"/>
          <a:ext cx="3749040" cy="292607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[00,000]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[00,000]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[00,000]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[00,000]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[00,000]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[00,000]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074920" y="3977640"/>
            <a:ext cx="374904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7"/>
          <p:cNvSpPr/>
          <p:nvPr/>
        </p:nvSpPr>
        <p:spPr>
          <a:xfrm>
            <a:off x="521208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[Agrega aquí cualquier observación relevante sobre la distribución mostrada.]</a:t>
            </a:r>
            <a:endParaRPr lang="en-US" sz="900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3832D364-1A32-6CD4-CCF8-FE216BB8D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Y RESULTADOS DEL PERÍODO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92608" y="914400"/>
            <a:ext cx="2743200" cy="5943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241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6968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Ventas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9768" y="1600200"/>
            <a:ext cx="1216152" cy="566928"/>
          </a:xfrm>
          <a:prstGeom prst="rect">
            <a:avLst/>
          </a:prstGeom>
          <a:solidFill>
            <a:srgbClr val="263980">
              <a:alpha val="12000"/>
            </a:srgbClr>
          </a:solidFill>
          <a:ln w="12700">
            <a:solidFill>
              <a:srgbClr val="2639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429768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29768" y="19019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1737360" y="1600200"/>
            <a:ext cx="1216152" cy="566928"/>
          </a:xfrm>
          <a:prstGeom prst="rect">
            <a:avLst/>
          </a:prstGeom>
          <a:solidFill>
            <a:srgbClr val="263980">
              <a:alpha val="12000"/>
            </a:srgbClr>
          </a:solidFill>
          <a:ln w="12700">
            <a:solidFill>
              <a:srgbClr val="2639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1737360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$0M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737360" y="19019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57200" y="2414016"/>
            <a:ext cx="137160" cy="13716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676656" y="23042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A.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3099816"/>
            <a:ext cx="137160" cy="13716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76656" y="29900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B.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" y="3785616"/>
            <a:ext cx="137160" cy="13716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676656" y="36758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C.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200400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3200400" y="914400"/>
            <a:ext cx="2743200" cy="5943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2412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94760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Operativa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337560" y="1600200"/>
            <a:ext cx="1216152" cy="566928"/>
          </a:xfrm>
          <a:prstGeom prst="rect">
            <a:avLst/>
          </a:prstGeom>
          <a:solidFill>
            <a:srgbClr val="46C2CE">
              <a:alpha val="12000"/>
            </a:srgbClr>
          </a:solidFill>
          <a:ln w="12700">
            <a:solidFill>
              <a:srgbClr val="46C2C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3337560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3337560" y="19019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ahorr.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4645152" y="1600200"/>
            <a:ext cx="1216152" cy="566928"/>
          </a:xfrm>
          <a:prstGeom prst="rect">
            <a:avLst/>
          </a:prstGeom>
          <a:solidFill>
            <a:srgbClr val="46C2CE">
              <a:alpha val="12000"/>
            </a:srgbClr>
          </a:solidFill>
          <a:ln w="12700">
            <a:solidFill>
              <a:srgbClr val="46C2C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8"/>
          <p:cNvSpPr/>
          <p:nvPr/>
        </p:nvSpPr>
        <p:spPr>
          <a:xfrm>
            <a:off x="4645152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00%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4645152" y="19019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364992" y="2414016"/>
            <a:ext cx="137160" cy="13716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3584448" y="23042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A.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3364992" y="3099816"/>
            <a:ext cx="137160" cy="13716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3"/>
          <p:cNvSpPr/>
          <p:nvPr/>
        </p:nvSpPr>
        <p:spPr>
          <a:xfrm>
            <a:off x="3584448" y="29900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B.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364992" y="3785616"/>
            <a:ext cx="137160" cy="13716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5"/>
          <p:cNvSpPr/>
          <p:nvPr/>
        </p:nvSpPr>
        <p:spPr>
          <a:xfrm>
            <a:off x="3584448" y="36758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C.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108192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2" name="Shape 37"/>
          <p:cNvSpPr/>
          <p:nvPr/>
        </p:nvSpPr>
        <p:spPr>
          <a:xfrm>
            <a:off x="6108192" y="914400"/>
            <a:ext cx="2743200" cy="59436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024128"/>
            <a:ext cx="365760" cy="36576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702552" y="960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Tecnología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245352" y="1600200"/>
            <a:ext cx="1216152" cy="566928"/>
          </a:xfrm>
          <a:prstGeom prst="rect">
            <a:avLst/>
          </a:prstGeom>
          <a:solidFill>
            <a:srgbClr val="7F52A0">
              <a:alpha val="12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0"/>
          <p:cNvSpPr/>
          <p:nvPr/>
        </p:nvSpPr>
        <p:spPr>
          <a:xfrm>
            <a:off x="6245352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6245352" y="19019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750" dirty="0"/>
          </a:p>
        </p:txBody>
      </p:sp>
      <p:sp>
        <p:nvSpPr>
          <p:cNvPr id="48" name="Shape 42"/>
          <p:cNvSpPr/>
          <p:nvPr/>
        </p:nvSpPr>
        <p:spPr>
          <a:xfrm>
            <a:off x="7552944" y="1600200"/>
            <a:ext cx="1216152" cy="566928"/>
          </a:xfrm>
          <a:prstGeom prst="rect">
            <a:avLst/>
          </a:prstGeom>
          <a:solidFill>
            <a:srgbClr val="7F52A0">
              <a:alpha val="12000"/>
            </a:srgbClr>
          </a:solidFill>
          <a:ln w="12700">
            <a:solidFill>
              <a:srgbClr val="7F52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3"/>
          <p:cNvSpPr/>
          <p:nvPr/>
        </p:nvSpPr>
        <p:spPr>
          <a:xfrm>
            <a:off x="7552944" y="162763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800" dirty="0"/>
          </a:p>
        </p:txBody>
      </p:sp>
      <p:sp>
        <p:nvSpPr>
          <p:cNvPr id="50" name="Text 44"/>
          <p:cNvSpPr/>
          <p:nvPr/>
        </p:nvSpPr>
        <p:spPr>
          <a:xfrm>
            <a:off x="7552944" y="190195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750" dirty="0"/>
          </a:p>
        </p:txBody>
      </p:sp>
      <p:sp>
        <p:nvSpPr>
          <p:cNvPr id="51" name="Shape 45"/>
          <p:cNvSpPr/>
          <p:nvPr/>
        </p:nvSpPr>
        <p:spPr>
          <a:xfrm>
            <a:off x="6272784" y="2414016"/>
            <a:ext cx="137160" cy="13716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6"/>
          <p:cNvSpPr/>
          <p:nvPr/>
        </p:nvSpPr>
        <p:spPr>
          <a:xfrm>
            <a:off x="6492240" y="23042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A.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6272784" y="3099816"/>
            <a:ext cx="137160" cy="13716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48"/>
          <p:cNvSpPr/>
          <p:nvPr/>
        </p:nvSpPr>
        <p:spPr>
          <a:xfrm>
            <a:off x="6492240" y="29900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B.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272784" y="3785616"/>
            <a:ext cx="137160" cy="13716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0"/>
          <p:cNvSpPr/>
          <p:nvPr/>
        </p:nvSpPr>
        <p:spPr>
          <a:xfrm>
            <a:off x="6492240" y="367588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 o resultado específico C.</a:t>
            </a:r>
            <a:endParaRPr lang="en-US" sz="900" dirty="0"/>
          </a:p>
        </p:txBody>
      </p:sp>
      <p:pic>
        <p:nvPicPr>
          <p:cNvPr id="57" name="Gráfico 56">
            <a:extLst>
              <a:ext uri="{FF2B5EF4-FFF2-40B4-BE49-F238E27FC236}">
                <a16:creationId xmlns:a16="http://schemas.microsoft.com/office/drawing/2014/main" id="{8F83EF00-8BE0-7B70-5B12-E1767DBAF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457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&amp; Adaptación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· Roles · Productividad · Adopción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2286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68C5DA5-0110-E8A0-5478-D40D5907B5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19" y="4731536"/>
            <a:ext cx="1393444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ADOPCIÓN POR ÁREA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8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91440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5833872" y="914400"/>
            <a:ext cx="29900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5833872" y="914400"/>
            <a:ext cx="64008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8366760" y="1014984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12471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9320" y="960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Persona A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989320" y="1252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833872" y="1673352"/>
            <a:ext cx="29900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2"/>
          <p:cNvSpPr/>
          <p:nvPr/>
        </p:nvSpPr>
        <p:spPr>
          <a:xfrm>
            <a:off x="5833872" y="1673352"/>
            <a:ext cx="64008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8366760" y="1773936"/>
            <a:ext cx="438912" cy="43891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1883664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89320" y="17190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Persona B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989320" y="20116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833872" y="2432304"/>
            <a:ext cx="29900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7"/>
          <p:cNvSpPr/>
          <p:nvPr/>
        </p:nvSpPr>
        <p:spPr>
          <a:xfrm>
            <a:off x="5833872" y="2432304"/>
            <a:ext cx="64008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8366760" y="2532888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642616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89320" y="2478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Persona C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989320" y="27706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transición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833872" y="3191256"/>
            <a:ext cx="29900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2"/>
          <p:cNvSpPr/>
          <p:nvPr/>
        </p:nvSpPr>
        <p:spPr>
          <a:xfrm>
            <a:off x="5833872" y="3191256"/>
            <a:ext cx="64008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3"/>
          <p:cNvSpPr/>
          <p:nvPr/>
        </p:nvSpPr>
        <p:spPr>
          <a:xfrm>
            <a:off x="8366760" y="3291840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3401568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989320" y="3236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Persona D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89320" y="35295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transición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833872" y="3950208"/>
            <a:ext cx="299008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27"/>
          <p:cNvSpPr/>
          <p:nvPr/>
        </p:nvSpPr>
        <p:spPr>
          <a:xfrm>
            <a:off x="5833872" y="3950208"/>
            <a:ext cx="64008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28"/>
          <p:cNvSpPr/>
          <p:nvPr/>
        </p:nvSpPr>
        <p:spPr>
          <a:xfrm>
            <a:off x="8366760" y="4050792"/>
            <a:ext cx="438912" cy="43891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160520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989320" y="3995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Persona 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989320" y="42885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</a:t>
            </a:r>
            <a:endParaRPr lang="en-US" sz="900" dirty="0"/>
          </a:p>
        </p:txBody>
      </p:sp>
      <p:pic>
        <p:nvPicPr>
          <p:cNvPr id="40" name="Gráfico 39">
            <a:extLst>
              <a:ext uri="{FF2B5EF4-FFF2-40B4-BE49-F238E27FC236}">
                <a16:creationId xmlns:a16="http://schemas.microsoft.com/office/drawing/2014/main" id="{A255D094-8F86-ED12-28E9-0F77966EE8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RESPONSABILIDADES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Responsable   A = Aprobador   C = Consultado   I = Informado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22208" cy="332841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9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F52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F52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F52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F52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F52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/ Entregable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F52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6C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Gráfico 9">
            <a:extLst>
              <a:ext uri="{FF2B5EF4-FFF2-40B4-BE49-F238E27FC236}">
                <a16:creationId xmlns:a16="http://schemas.microsoft.com/office/drawing/2014/main" id="{2581AEFA-3AAE-DAD9-0868-478C43534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Y CLIMA DEL EQUIPO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051560"/>
            <a:ext cx="2743200" cy="27432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  <a:effectLst>
            <a:outerShdw blurRad="177800" dist="635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[8.5]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486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general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1051560"/>
            <a:ext cx="5166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3794760" y="1097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interna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94760" y="1399032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3794760" y="1399032"/>
            <a:ext cx="3224174" cy="12801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7955280" y="13624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8.2/10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0" y="1764792"/>
            <a:ext cx="5166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3794760" y="1810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trabajo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794760" y="2112264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8"/>
          <p:cNvSpPr/>
          <p:nvPr/>
        </p:nvSpPr>
        <p:spPr>
          <a:xfrm>
            <a:off x="3794760" y="2112264"/>
            <a:ext cx="2948940" cy="128016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7955280" y="2075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7.5/10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0" y="2478024"/>
            <a:ext cx="5166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3794760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soporte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94760" y="2825496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3794760" y="2825496"/>
            <a:ext cx="3538728" cy="12801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7955280" y="27889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0" y="3191256"/>
            <a:ext cx="5166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379476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del proyecto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794760" y="3538728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3794760" y="3538728"/>
            <a:ext cx="3460090" cy="128016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/>
          <p:nvPr/>
        </p:nvSpPr>
        <p:spPr>
          <a:xfrm>
            <a:off x="7955280" y="35021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8.8/10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0" y="3904488"/>
            <a:ext cx="5166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Text 31"/>
          <p:cNvSpPr/>
          <p:nvPr/>
        </p:nvSpPr>
        <p:spPr>
          <a:xfrm>
            <a:off x="379476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de objetivos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794760" y="4251960"/>
            <a:ext cx="393192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3"/>
          <p:cNvSpPr/>
          <p:nvPr/>
        </p:nvSpPr>
        <p:spPr>
          <a:xfrm>
            <a:off x="3794760" y="4251960"/>
            <a:ext cx="3106217" cy="128016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4"/>
          <p:cNvSpPr/>
          <p:nvPr/>
        </p:nvSpPr>
        <p:spPr>
          <a:xfrm>
            <a:off x="7955280" y="42153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7.9/10</a:t>
            </a:r>
            <a:endParaRPr lang="en-US" sz="900" dirty="0"/>
          </a:p>
        </p:txBody>
      </p:sp>
      <p:pic>
        <p:nvPicPr>
          <p:cNvPr id="38" name="Gráfico 37">
            <a:extLst>
              <a:ext uri="{FF2B5EF4-FFF2-40B4-BE49-F238E27FC236}">
                <a16:creationId xmlns:a16="http://schemas.microsoft.com/office/drawing/2014/main" id="{ECA636BD-83AE-2791-77DC-D72F692FE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457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· Adaptar · Dejar de hacer · Explorar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2286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6F2E4AC-26C9-4BFF-294A-269712DE1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19" y="4731536"/>
            <a:ext cx="1393444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 — RETROSPECTIVA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" y="914400"/>
            <a:ext cx="2743200" cy="3794760"/>
          </a:xfrm>
          <a:prstGeom prst="rect">
            <a:avLst/>
          </a:prstGeom>
          <a:solidFill>
            <a:srgbClr val="E8F9FA"/>
          </a:solidFill>
          <a:ln w="10160">
            <a:solidFill>
              <a:srgbClr val="46C2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92608" y="914400"/>
            <a:ext cx="2743200" cy="5486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29768" y="1005840"/>
            <a:ext cx="365760" cy="3657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29768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que funcionaron bien y deben continuar.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2048256"/>
            <a:ext cx="54864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612648" y="1993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exitosa que debe mantenerse #1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2706624"/>
            <a:ext cx="54864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612648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exitosa que debe mantenerse #2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3364992"/>
            <a:ext cx="54864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612648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exitosa que debe mantenerse #3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4023360"/>
            <a:ext cx="54864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612648" y="39684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exitosa que debe mantenerse #4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00400" y="914400"/>
            <a:ext cx="2743200" cy="3794760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3337560" y="1005840"/>
            <a:ext cx="365760" cy="3657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07899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22192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3337560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funcionan pero necesitan ajuste.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364992" y="2048256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3520440" y="1993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que necesita mejora #1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364992" y="2706624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7"/>
          <p:cNvSpPr/>
          <p:nvPr/>
        </p:nvSpPr>
        <p:spPr>
          <a:xfrm>
            <a:off x="3520440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que necesita mejora #2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364992" y="3364992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9"/>
          <p:cNvSpPr/>
          <p:nvPr/>
        </p:nvSpPr>
        <p:spPr>
          <a:xfrm>
            <a:off x="3520440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que necesita mejora #3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364992" y="4023360"/>
            <a:ext cx="54864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3520440" y="39684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que necesita mejora #4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108192" y="914400"/>
            <a:ext cx="2743200" cy="3794760"/>
          </a:xfrm>
          <a:prstGeom prst="rect">
            <a:avLst/>
          </a:prstGeom>
          <a:solidFill>
            <a:srgbClr val="FDF2F2"/>
          </a:solidFill>
          <a:ln w="1016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3"/>
          <p:cNvSpPr/>
          <p:nvPr/>
        </p:nvSpPr>
        <p:spPr>
          <a:xfrm>
            <a:off x="6108192" y="914400"/>
            <a:ext cx="274320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4"/>
          <p:cNvSpPr/>
          <p:nvPr/>
        </p:nvSpPr>
        <p:spPr>
          <a:xfrm>
            <a:off x="6245352" y="1005840"/>
            <a:ext cx="365760" cy="36576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078992"/>
            <a:ext cx="219456" cy="21945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729984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HACER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6245352" y="1536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que no generan valor y deben eliminarse.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6272784" y="2048256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8"/>
          <p:cNvSpPr/>
          <p:nvPr/>
        </p:nvSpPr>
        <p:spPr>
          <a:xfrm>
            <a:off x="6428232" y="19933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 eliminar o simplificar #1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6272784" y="2706624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0"/>
          <p:cNvSpPr/>
          <p:nvPr/>
        </p:nvSpPr>
        <p:spPr>
          <a:xfrm>
            <a:off x="6428232" y="2651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 eliminar o simplificar #2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272784" y="3364992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2"/>
          <p:cNvSpPr/>
          <p:nvPr/>
        </p:nvSpPr>
        <p:spPr>
          <a:xfrm>
            <a:off x="6428232" y="3310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 eliminar o simplificar #3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272784" y="4023360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4"/>
          <p:cNvSpPr/>
          <p:nvPr/>
        </p:nvSpPr>
        <p:spPr>
          <a:xfrm>
            <a:off x="6428232" y="396849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a eliminar o simplificar #4</a:t>
            </a:r>
            <a:endParaRPr lang="en-US" sz="900" dirty="0"/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68941EC1-3A93-F090-7F38-D3F532D78B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E IMPEDIMENTOS IDENTIFICADOS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76072" y="886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Alto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48840" y="914400"/>
            <a:ext cx="201168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2404872" y="886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77640" y="914400"/>
            <a:ext cx="201168" cy="2011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233672" y="886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Bajo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1207008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320040" y="1207008"/>
            <a:ext cx="64008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475488" y="1316736"/>
            <a:ext cx="777240" cy="274320"/>
          </a:xfrm>
          <a:prstGeom prst="rect">
            <a:avLst/>
          </a:prstGeom>
          <a:solidFill>
            <a:srgbClr val="E74C3C">
              <a:alpha val="15000"/>
            </a:srgbClr>
          </a:solidFill>
          <a:ln w="63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475488" y="13167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371600" y="1243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/ Impedimento #1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71600" y="1527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Alta  ·  [Responsable]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114800" y="12984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Descripción de la acción de mitigación propuesta.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1911096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320040" y="1911096"/>
            <a:ext cx="64008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475488" y="2020824"/>
            <a:ext cx="777240" cy="274320"/>
          </a:xfrm>
          <a:prstGeom prst="rect">
            <a:avLst/>
          </a:prstGeom>
          <a:solidFill>
            <a:srgbClr val="E74C3C">
              <a:alpha val="15000"/>
            </a:srgbClr>
          </a:solidFill>
          <a:ln w="63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475488" y="20208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371600" y="1947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/ Impedimento #2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371600" y="2231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Media  ·  [Responsable]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0" y="200253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Descripción de la acción de mitigación propuesta.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2615184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7"/>
          <p:cNvSpPr/>
          <p:nvPr/>
        </p:nvSpPr>
        <p:spPr>
          <a:xfrm>
            <a:off x="320040" y="2615184"/>
            <a:ext cx="64008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8"/>
          <p:cNvSpPr/>
          <p:nvPr/>
        </p:nvSpPr>
        <p:spPr>
          <a:xfrm>
            <a:off x="475488" y="2724912"/>
            <a:ext cx="777240" cy="274320"/>
          </a:xfrm>
          <a:prstGeom prst="rect">
            <a:avLst/>
          </a:prstGeom>
          <a:solidFill>
            <a:srgbClr val="F39C12">
              <a:alpha val="15000"/>
            </a:srgbClr>
          </a:solidFill>
          <a:ln w="63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/>
          <p:nvPr/>
        </p:nvSpPr>
        <p:spPr>
          <a:xfrm>
            <a:off x="475488" y="2724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37160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/ Impedimento #3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371600" y="29352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Alta  ·  [Responsable]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0" y="270662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Descripción de la acción de mitigación propuesta.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20040" y="3319272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4"/>
          <p:cNvSpPr/>
          <p:nvPr/>
        </p:nvSpPr>
        <p:spPr>
          <a:xfrm>
            <a:off x="320040" y="3319272"/>
            <a:ext cx="64008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5"/>
          <p:cNvSpPr/>
          <p:nvPr/>
        </p:nvSpPr>
        <p:spPr>
          <a:xfrm>
            <a:off x="475488" y="3429000"/>
            <a:ext cx="777240" cy="274320"/>
          </a:xfrm>
          <a:prstGeom prst="rect">
            <a:avLst/>
          </a:prstGeom>
          <a:solidFill>
            <a:srgbClr val="F39C12">
              <a:alpha val="15000"/>
            </a:srgbClr>
          </a:solidFill>
          <a:ln w="63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6"/>
          <p:cNvSpPr/>
          <p:nvPr/>
        </p:nvSpPr>
        <p:spPr>
          <a:xfrm>
            <a:off x="475488" y="3429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37160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/ Impedimento #4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371600" y="3639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Baja  ·  [Responsable]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114800" y="34107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Descripción de la acción de mitigación propuesta.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20040" y="4023360"/>
            <a:ext cx="8503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41"/>
          <p:cNvSpPr/>
          <p:nvPr/>
        </p:nvSpPr>
        <p:spPr>
          <a:xfrm>
            <a:off x="320040" y="4023360"/>
            <a:ext cx="64008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2"/>
          <p:cNvSpPr/>
          <p:nvPr/>
        </p:nvSpPr>
        <p:spPr>
          <a:xfrm>
            <a:off x="475488" y="4133088"/>
            <a:ext cx="777240" cy="274320"/>
          </a:xfrm>
          <a:prstGeom prst="rect">
            <a:avLst/>
          </a:prstGeom>
          <a:solidFill>
            <a:srgbClr val="2ECC71">
              <a:alpha val="15000"/>
            </a:srgbClr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3"/>
          <p:cNvSpPr/>
          <p:nvPr/>
        </p:nvSpPr>
        <p:spPr>
          <a:xfrm>
            <a:off x="475488" y="4133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37160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/ Impedimento #5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37160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Media  ·  [Responsable]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0" y="41148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Descripción de la acción de mitigación propuesta.</a:t>
            </a:r>
            <a:endParaRPr lang="en-US" sz="900" dirty="0"/>
          </a:p>
        </p:txBody>
      </p:sp>
      <p:pic>
        <p:nvPicPr>
          <p:cNvPr id="50" name="Gráfico 49">
            <a:extLst>
              <a:ext uri="{FF2B5EF4-FFF2-40B4-BE49-F238E27FC236}">
                <a16:creationId xmlns:a16="http://schemas.microsoft.com/office/drawing/2014/main" id="{E763036E-EDEE-41BF-D36E-83BF818E3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EN COLABORACIÓN Y PROCESOS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14400"/>
            <a:ext cx="4160520" cy="54864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960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mejorar la colaboración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4632" y="157276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484632" y="1572768"/>
            <a:ext cx="54864" cy="65836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630936" y="1618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30936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comunicación interna y reuniones de equipo.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84632" y="235000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484632" y="2350008"/>
            <a:ext cx="54864" cy="65836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630936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30936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cómo se documenta el trabajo y las decisiones.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84632" y="312724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484632" y="3127248"/>
            <a:ext cx="54864" cy="65836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630936" y="3172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ágiles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0936" y="3401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metodología de trabajo y flujo de tareas.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84632" y="390448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484632" y="3904488"/>
            <a:ext cx="54864" cy="65836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630936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30936" y="4178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herramientas digitales y plataformas utilizadas.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754880" y="91440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6"/>
          <p:cNvSpPr/>
          <p:nvPr/>
        </p:nvSpPr>
        <p:spPr>
          <a:xfrm>
            <a:off x="4754880" y="914400"/>
            <a:ext cx="4160520" cy="5486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0584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349240" y="960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mejorar la entrega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919472" y="157276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29"/>
          <p:cNvSpPr/>
          <p:nvPr/>
        </p:nvSpPr>
        <p:spPr>
          <a:xfrm>
            <a:off x="4919472" y="1572768"/>
            <a:ext cx="54864" cy="65836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0"/>
          <p:cNvSpPr/>
          <p:nvPr/>
        </p:nvSpPr>
        <p:spPr>
          <a:xfrm>
            <a:off x="5065776" y="1618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065776" y="18470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estándares de calidad y revisión de entregables.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919472" y="235000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3"/>
          <p:cNvSpPr/>
          <p:nvPr/>
        </p:nvSpPr>
        <p:spPr>
          <a:xfrm>
            <a:off x="4919472" y="2350008"/>
            <a:ext cx="54864" cy="65836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4"/>
          <p:cNvSpPr/>
          <p:nvPr/>
        </p:nvSpPr>
        <p:spPr>
          <a:xfrm>
            <a:off x="5065776" y="2395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065776" y="2624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estimación y cumplimiento de fechas.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919472" y="312724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37"/>
          <p:cNvSpPr/>
          <p:nvPr/>
        </p:nvSpPr>
        <p:spPr>
          <a:xfrm>
            <a:off x="4919472" y="3127248"/>
            <a:ext cx="54864" cy="65836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38"/>
          <p:cNvSpPr/>
          <p:nvPr/>
        </p:nvSpPr>
        <p:spPr>
          <a:xfrm>
            <a:off x="5065776" y="31729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065776" y="3401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el proceso de validación con stakeholders.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919472" y="3904488"/>
            <a:ext cx="3822192" cy="65836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1"/>
          <p:cNvSpPr/>
          <p:nvPr/>
        </p:nvSpPr>
        <p:spPr>
          <a:xfrm>
            <a:off x="4919472" y="3904488"/>
            <a:ext cx="54864" cy="65836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2"/>
          <p:cNvSpPr/>
          <p:nvPr/>
        </p:nvSpPr>
        <p:spPr>
          <a:xfrm>
            <a:off x="5065776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Retrospectivas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5065776" y="41788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mejora en la frecuencia y profundidad de retrospectivas.</a:t>
            </a:r>
            <a:endParaRPr lang="en-US" sz="850" dirty="0"/>
          </a:p>
        </p:txBody>
      </p:sp>
      <p:pic>
        <p:nvPicPr>
          <p:cNvPr id="49" name="Gráfico 48">
            <a:extLst>
              <a:ext uri="{FF2B5EF4-FFF2-40B4-BE49-F238E27FC236}">
                <a16:creationId xmlns:a16="http://schemas.microsoft.com/office/drawing/2014/main" id="{912FBF94-ED04-44F5-B287-95C3DB9D80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457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1783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&amp; Siguientes Pasos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Prioridades · Próximas acciones</a:t>
            </a:r>
            <a:endParaRPr lang="en-US" sz="1600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4218880B-B16A-9B2A-AE44-43E286551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819" y="4731536"/>
            <a:ext cx="1393444" cy="540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" y="3246120"/>
            <a:ext cx="22860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IDENTIFICADAS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92608" y="914400"/>
            <a:ext cx="2743200" cy="47548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292608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52728" y="1508760"/>
            <a:ext cx="822960" cy="822960"/>
          </a:xfrm>
          <a:prstGeom prst="ellipse">
            <a:avLst/>
          </a:prstGeom>
          <a:solidFill>
            <a:srgbClr val="263980">
              <a:alpha val="86000"/>
            </a:srgbClr>
          </a:solidFill>
          <a:ln w="12700">
            <a:solidFill>
              <a:srgbClr val="263980">
                <a:alpha val="86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70992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Digital 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78408" y="2889504"/>
            <a:ext cx="1371600" cy="36576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457200" y="297180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oportunidad digital, qué problema resuelve, qué beneficios genera y cuántas personas se benefician.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56616" y="3840480"/>
            <a:ext cx="804672" cy="228600"/>
          </a:xfrm>
          <a:prstGeom prst="rect">
            <a:avLst/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356616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1216152" y="3840480"/>
            <a:ext cx="804672" cy="228600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1216152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Bajo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2075688" y="3840480"/>
            <a:ext cx="804672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2075688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3200400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3200400" y="914400"/>
            <a:ext cx="2743200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3200400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4160520" y="1508760"/>
            <a:ext cx="822960" cy="822960"/>
          </a:xfrm>
          <a:prstGeom prst="ellipse">
            <a:avLst/>
          </a:prstGeom>
          <a:solidFill>
            <a:srgbClr val="46C2CE">
              <a:alpha val="86000"/>
            </a:srgbClr>
          </a:solidFill>
          <a:ln w="12700">
            <a:solidFill>
              <a:srgbClr val="46C2CE">
                <a:alpha val="86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709928"/>
            <a:ext cx="420624" cy="42062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00400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Digital B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886200" y="2889504"/>
            <a:ext cx="1371600" cy="36576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3364992" y="297180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oportunidad digital, qué problema resuelve, qué beneficios genera y cuántas personas se benefician.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3264408" y="3840480"/>
            <a:ext cx="804672" cy="228600"/>
          </a:xfrm>
          <a:prstGeom prst="rect">
            <a:avLst/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7"/>
          <p:cNvSpPr/>
          <p:nvPr/>
        </p:nvSpPr>
        <p:spPr>
          <a:xfrm>
            <a:off x="3264408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Alto</a:t>
            </a:r>
            <a:endParaRPr lang="en-US" sz="650" dirty="0"/>
          </a:p>
        </p:txBody>
      </p:sp>
      <p:sp>
        <p:nvSpPr>
          <p:cNvPr id="33" name="Shape 28"/>
          <p:cNvSpPr/>
          <p:nvPr/>
        </p:nvSpPr>
        <p:spPr>
          <a:xfrm>
            <a:off x="4123944" y="3840480"/>
            <a:ext cx="804672" cy="228600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9"/>
          <p:cNvSpPr/>
          <p:nvPr/>
        </p:nvSpPr>
        <p:spPr>
          <a:xfrm>
            <a:off x="4123944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Medio</a:t>
            </a:r>
            <a:endParaRPr lang="en-US" sz="650" dirty="0"/>
          </a:p>
        </p:txBody>
      </p:sp>
      <p:sp>
        <p:nvSpPr>
          <p:cNvPr id="35" name="Shape 30"/>
          <p:cNvSpPr/>
          <p:nvPr/>
        </p:nvSpPr>
        <p:spPr>
          <a:xfrm>
            <a:off x="4983480" y="3840480"/>
            <a:ext cx="804672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1"/>
          <p:cNvSpPr/>
          <p:nvPr/>
        </p:nvSpPr>
        <p:spPr>
          <a:xfrm>
            <a:off x="4983480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650" dirty="0"/>
          </a:p>
        </p:txBody>
      </p:sp>
      <p:sp>
        <p:nvSpPr>
          <p:cNvPr id="37" name="Shape 32"/>
          <p:cNvSpPr/>
          <p:nvPr/>
        </p:nvSpPr>
        <p:spPr>
          <a:xfrm>
            <a:off x="6108192" y="91440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3"/>
          <p:cNvSpPr/>
          <p:nvPr/>
        </p:nvSpPr>
        <p:spPr>
          <a:xfrm>
            <a:off x="6108192" y="914400"/>
            <a:ext cx="2743200" cy="47548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4"/>
          <p:cNvSpPr/>
          <p:nvPr/>
        </p:nvSpPr>
        <p:spPr>
          <a:xfrm>
            <a:off x="6108192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40" name="Shape 35"/>
          <p:cNvSpPr/>
          <p:nvPr/>
        </p:nvSpPr>
        <p:spPr>
          <a:xfrm>
            <a:off x="7068312" y="1508760"/>
            <a:ext cx="822960" cy="822960"/>
          </a:xfrm>
          <a:prstGeom prst="ellipse">
            <a:avLst/>
          </a:prstGeom>
          <a:solidFill>
            <a:srgbClr val="7F52A0">
              <a:alpha val="86000"/>
            </a:srgbClr>
          </a:solidFill>
          <a:ln w="12700">
            <a:solidFill>
              <a:srgbClr val="7F52A0">
                <a:alpha val="86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09928"/>
            <a:ext cx="420624" cy="42062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108192" y="2468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Digital C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6793992" y="2889504"/>
            <a:ext cx="1371600" cy="36576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8"/>
          <p:cNvSpPr/>
          <p:nvPr/>
        </p:nvSpPr>
        <p:spPr>
          <a:xfrm>
            <a:off x="6272784" y="297180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oportunidad digital, qué problema resuelve, qué beneficios genera y cuántas personas se benefician.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6172200" y="3840480"/>
            <a:ext cx="804672" cy="228600"/>
          </a:xfrm>
          <a:prstGeom prst="rect">
            <a:avLst/>
          </a:prstGeom>
          <a:solidFill>
            <a:srgbClr val="E8F9FA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0"/>
          <p:cNvSpPr/>
          <p:nvPr/>
        </p:nvSpPr>
        <p:spPr>
          <a:xfrm>
            <a:off x="6172200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Medio</a:t>
            </a:r>
            <a:endParaRPr lang="en-US" sz="650" dirty="0"/>
          </a:p>
        </p:txBody>
      </p:sp>
      <p:sp>
        <p:nvSpPr>
          <p:cNvPr id="47" name="Shape 41"/>
          <p:cNvSpPr/>
          <p:nvPr/>
        </p:nvSpPr>
        <p:spPr>
          <a:xfrm>
            <a:off x="7031736" y="3840480"/>
            <a:ext cx="804672" cy="228600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2"/>
          <p:cNvSpPr/>
          <p:nvPr/>
        </p:nvSpPr>
        <p:spPr>
          <a:xfrm>
            <a:off x="7031736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Esfuerzo: Medio</a:t>
            </a:r>
            <a:endParaRPr lang="en-US" sz="650" dirty="0"/>
          </a:p>
        </p:txBody>
      </p:sp>
      <p:sp>
        <p:nvSpPr>
          <p:cNvPr id="49" name="Shape 43"/>
          <p:cNvSpPr/>
          <p:nvPr/>
        </p:nvSpPr>
        <p:spPr>
          <a:xfrm>
            <a:off x="7891272" y="3840480"/>
            <a:ext cx="804672" cy="228600"/>
          </a:xfrm>
          <a:prstGeom prst="rect">
            <a:avLst/>
          </a:prstGeom>
          <a:solidFill>
            <a:srgbClr val="EFF6FF"/>
          </a:solidFill>
          <a:ln w="635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4"/>
          <p:cNvSpPr/>
          <p:nvPr/>
        </p:nvSpPr>
        <p:spPr>
          <a:xfrm>
            <a:off x="7891272" y="38404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650" dirty="0"/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B9BA670B-80CD-0669-36E0-BEF719B709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PRÓXIMOS [X] MESES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8229600" cy="0"/>
          </a:xfrm>
          <a:prstGeom prst="line">
            <a:avLst/>
          </a:prstGeom>
          <a:noFill/>
          <a:ln w="254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8595360" y="1490472"/>
            <a:ext cx="182880" cy="164592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1115568" y="1399032"/>
            <a:ext cx="347472" cy="347472"/>
          </a:xfrm>
          <a:prstGeom prst="ellipse">
            <a:avLst/>
          </a:prstGeom>
          <a:solidFill>
            <a:srgbClr val="2639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11480" y="932688"/>
            <a:ext cx="1920240" cy="38404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411480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 / Mes 1-3]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1828800"/>
            <a:ext cx="1920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411480" y="1828800"/>
            <a:ext cx="1920240" cy="54864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521208" y="2029968"/>
            <a:ext cx="155448" cy="155448"/>
          </a:xfrm>
          <a:prstGeom prst="ellipse">
            <a:avLst/>
          </a:prstGeom>
          <a:solidFill>
            <a:srgbClr val="263980">
              <a:alpha val="80000"/>
            </a:srgbClr>
          </a:solidFill>
          <a:ln w="12700">
            <a:solidFill>
              <a:srgbClr val="26398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758952" y="19385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208" y="2852928"/>
            <a:ext cx="155448" cy="155448"/>
          </a:xfrm>
          <a:prstGeom prst="ellipse">
            <a:avLst/>
          </a:prstGeom>
          <a:solidFill>
            <a:srgbClr val="263980">
              <a:alpha val="80000"/>
            </a:srgbClr>
          </a:solidFill>
          <a:ln w="12700">
            <a:solidFill>
              <a:srgbClr val="26398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758952" y="27614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B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21208" y="3675888"/>
            <a:ext cx="155448" cy="155448"/>
          </a:xfrm>
          <a:prstGeom prst="ellipse">
            <a:avLst/>
          </a:prstGeom>
          <a:solidFill>
            <a:srgbClr val="263980">
              <a:alpha val="80000"/>
            </a:srgbClr>
          </a:solidFill>
          <a:ln w="12700">
            <a:solidFill>
              <a:srgbClr val="26398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758952" y="35844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C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91840" y="1399032"/>
            <a:ext cx="347472" cy="347472"/>
          </a:xfrm>
          <a:prstGeom prst="ellipse">
            <a:avLst/>
          </a:prstGeom>
          <a:solidFill>
            <a:srgbClr val="46C2C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2587752" y="932688"/>
            <a:ext cx="1920240" cy="38404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2587752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[Q2 / Mes 4-6]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87752" y="1828800"/>
            <a:ext cx="1920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2587752" y="1828800"/>
            <a:ext cx="1920240" cy="54864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4"/>
          <p:cNvSpPr/>
          <p:nvPr/>
        </p:nvSpPr>
        <p:spPr>
          <a:xfrm>
            <a:off x="2697480" y="2029968"/>
            <a:ext cx="155448" cy="155448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2935224" y="19385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A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97480" y="2852928"/>
            <a:ext cx="155448" cy="155448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7"/>
          <p:cNvSpPr/>
          <p:nvPr/>
        </p:nvSpPr>
        <p:spPr>
          <a:xfrm>
            <a:off x="2935224" y="27614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B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697480" y="3675888"/>
            <a:ext cx="155448" cy="155448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9"/>
          <p:cNvSpPr/>
          <p:nvPr/>
        </p:nvSpPr>
        <p:spPr>
          <a:xfrm>
            <a:off x="2935224" y="35844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C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68112" y="1399032"/>
            <a:ext cx="347472" cy="347472"/>
          </a:xfrm>
          <a:prstGeom prst="ellipse">
            <a:avLst/>
          </a:prstGeom>
          <a:solidFill>
            <a:srgbClr val="7F52A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1"/>
          <p:cNvSpPr/>
          <p:nvPr/>
        </p:nvSpPr>
        <p:spPr>
          <a:xfrm>
            <a:off x="4764024" y="932688"/>
            <a:ext cx="1920240" cy="38404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2"/>
          <p:cNvSpPr/>
          <p:nvPr/>
        </p:nvSpPr>
        <p:spPr>
          <a:xfrm>
            <a:off x="4764024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[Q3 / Mes 7-9]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64024" y="1828800"/>
            <a:ext cx="1920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Shape 34"/>
          <p:cNvSpPr/>
          <p:nvPr/>
        </p:nvSpPr>
        <p:spPr>
          <a:xfrm>
            <a:off x="4764024" y="1828800"/>
            <a:ext cx="1920240" cy="54864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5"/>
          <p:cNvSpPr/>
          <p:nvPr/>
        </p:nvSpPr>
        <p:spPr>
          <a:xfrm>
            <a:off x="4873752" y="2029968"/>
            <a:ext cx="155448" cy="155448"/>
          </a:xfrm>
          <a:prstGeom prst="ellipse">
            <a:avLst/>
          </a:prstGeom>
          <a:solidFill>
            <a:srgbClr val="7F52A0">
              <a:alpha val="80000"/>
            </a:srgbClr>
          </a:solidFill>
          <a:ln w="12700">
            <a:solidFill>
              <a:srgbClr val="7F52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6"/>
          <p:cNvSpPr/>
          <p:nvPr/>
        </p:nvSpPr>
        <p:spPr>
          <a:xfrm>
            <a:off x="5111496" y="19385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73752" y="2852928"/>
            <a:ext cx="155448" cy="155448"/>
          </a:xfrm>
          <a:prstGeom prst="ellipse">
            <a:avLst/>
          </a:prstGeom>
          <a:solidFill>
            <a:srgbClr val="7F52A0">
              <a:alpha val="80000"/>
            </a:srgbClr>
          </a:solidFill>
          <a:ln w="12700">
            <a:solidFill>
              <a:srgbClr val="7F52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8"/>
          <p:cNvSpPr/>
          <p:nvPr/>
        </p:nvSpPr>
        <p:spPr>
          <a:xfrm>
            <a:off x="5111496" y="27614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B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644384" y="1399032"/>
            <a:ext cx="347472" cy="347472"/>
          </a:xfrm>
          <a:prstGeom prst="ellipse">
            <a:avLst/>
          </a:prstGeom>
          <a:solidFill>
            <a:srgbClr val="F39C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0"/>
          <p:cNvSpPr/>
          <p:nvPr/>
        </p:nvSpPr>
        <p:spPr>
          <a:xfrm>
            <a:off x="6940296" y="932688"/>
            <a:ext cx="19202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1"/>
          <p:cNvSpPr/>
          <p:nvPr/>
        </p:nvSpPr>
        <p:spPr>
          <a:xfrm>
            <a:off x="6940296" y="932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[Q4 / Mes 10-12]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940296" y="1828800"/>
            <a:ext cx="1920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6" name="Shape 43"/>
          <p:cNvSpPr/>
          <p:nvPr/>
        </p:nvSpPr>
        <p:spPr>
          <a:xfrm>
            <a:off x="6940296" y="1828800"/>
            <a:ext cx="192024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Shape 44"/>
          <p:cNvSpPr/>
          <p:nvPr/>
        </p:nvSpPr>
        <p:spPr>
          <a:xfrm>
            <a:off x="7050024" y="2029968"/>
            <a:ext cx="155448" cy="155448"/>
          </a:xfrm>
          <a:prstGeom prst="ellipse">
            <a:avLst/>
          </a:prstGeom>
          <a:solidFill>
            <a:srgbClr val="F39C12">
              <a:alpha val="80000"/>
            </a:srgbClr>
          </a:solidFill>
          <a:ln w="12700">
            <a:solidFill>
              <a:srgbClr val="F39C1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5"/>
          <p:cNvSpPr/>
          <p:nvPr/>
        </p:nvSpPr>
        <p:spPr>
          <a:xfrm>
            <a:off x="7287768" y="19385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A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050024" y="2852928"/>
            <a:ext cx="155448" cy="155448"/>
          </a:xfrm>
          <a:prstGeom prst="ellipse">
            <a:avLst/>
          </a:prstGeom>
          <a:solidFill>
            <a:srgbClr val="F39C12">
              <a:alpha val="80000"/>
            </a:srgbClr>
          </a:solidFill>
          <a:ln w="12700">
            <a:solidFill>
              <a:srgbClr val="F39C1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7"/>
          <p:cNvSpPr/>
          <p:nvPr/>
        </p:nvSpPr>
        <p:spPr>
          <a:xfrm>
            <a:off x="7287768" y="27614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/ entregable B</a:t>
            </a:r>
            <a:endParaRPr lang="en-US" sz="900" dirty="0"/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12F8AD65-4609-3018-1450-4781D65CB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— ACCIONES INMEDIATAS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298448" y="1024128"/>
            <a:ext cx="0" cy="3685032"/>
          </a:xfrm>
          <a:prstGeom prst="line">
            <a:avLst/>
          </a:prstGeom>
          <a:noFill/>
          <a:ln w="25400">
            <a:solidFill>
              <a:srgbClr val="46C2CE"/>
            </a:solidFill>
            <a:prstDash val="sysDot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1124712" y="1069848"/>
            <a:ext cx="347472" cy="347472"/>
          </a:xfrm>
          <a:prstGeom prst="ellipse">
            <a:avLst/>
          </a:prstGeom>
          <a:solidFill>
            <a:srgbClr val="46C2C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124712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64208" y="960120"/>
            <a:ext cx="71597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1664208" y="960120"/>
            <a:ext cx="64008" cy="6583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0972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4028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inmediata #1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240280" y="1307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detallada de la acción, qué se va a hacer y cuál es el resultado esperado.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537960" y="1005840"/>
            <a:ext cx="10515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6537960" y="10058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[DD/MM]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537960" y="1307592"/>
            <a:ext cx="1051560" cy="256032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6"/>
          <p:cNvSpPr/>
          <p:nvPr/>
        </p:nvSpPr>
        <p:spPr>
          <a:xfrm>
            <a:off x="6537960" y="1307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124712" y="1819656"/>
            <a:ext cx="347472" cy="347472"/>
          </a:xfrm>
          <a:prstGeom prst="ellipse">
            <a:avLst/>
          </a:prstGeom>
          <a:solidFill>
            <a:srgbClr val="2639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1124712" y="1819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664208" y="1709928"/>
            <a:ext cx="71597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0"/>
          <p:cNvSpPr/>
          <p:nvPr/>
        </p:nvSpPr>
        <p:spPr>
          <a:xfrm>
            <a:off x="1664208" y="1709928"/>
            <a:ext cx="64008" cy="65836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847088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240280" y="1755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inmediata #2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24028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detallada de la acción, qué se va a hacer y cuál es el resultado esperado.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6537960" y="1755648"/>
            <a:ext cx="10515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4"/>
          <p:cNvSpPr/>
          <p:nvPr/>
        </p:nvSpPr>
        <p:spPr>
          <a:xfrm>
            <a:off x="6537960" y="17556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[DD/MM]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537960" y="2057400"/>
            <a:ext cx="1051560" cy="256032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6"/>
          <p:cNvSpPr/>
          <p:nvPr/>
        </p:nvSpPr>
        <p:spPr>
          <a:xfrm>
            <a:off x="6537960" y="20574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1124712" y="2569464"/>
            <a:ext cx="347472" cy="347472"/>
          </a:xfrm>
          <a:prstGeom prst="ellipse">
            <a:avLst/>
          </a:prstGeom>
          <a:solidFill>
            <a:srgbClr val="7F52A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8"/>
          <p:cNvSpPr/>
          <p:nvPr/>
        </p:nvSpPr>
        <p:spPr>
          <a:xfrm>
            <a:off x="1124712" y="2569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1664208" y="2459736"/>
            <a:ext cx="71597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30"/>
          <p:cNvSpPr/>
          <p:nvPr/>
        </p:nvSpPr>
        <p:spPr>
          <a:xfrm>
            <a:off x="1664208" y="2459736"/>
            <a:ext cx="64008" cy="65836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596896"/>
            <a:ext cx="320040" cy="3200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240280" y="2505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inmediata #3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2240280" y="2807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detallada de la acción, qué se va a hacer y cuál es el resultado esperado.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6537960" y="2505456"/>
            <a:ext cx="10515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4"/>
          <p:cNvSpPr/>
          <p:nvPr/>
        </p:nvSpPr>
        <p:spPr>
          <a:xfrm>
            <a:off x="6537960" y="25054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[DD/MM]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537960" y="2807208"/>
            <a:ext cx="1051560" cy="256032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6"/>
          <p:cNvSpPr/>
          <p:nvPr/>
        </p:nvSpPr>
        <p:spPr>
          <a:xfrm>
            <a:off x="6537960" y="28072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1124712" y="3319272"/>
            <a:ext cx="347472" cy="347472"/>
          </a:xfrm>
          <a:prstGeom prst="ellipse">
            <a:avLst/>
          </a:prstGeom>
          <a:solidFill>
            <a:srgbClr val="F39C1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8"/>
          <p:cNvSpPr/>
          <p:nvPr/>
        </p:nvSpPr>
        <p:spPr>
          <a:xfrm>
            <a:off x="1124712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1664208" y="3209544"/>
            <a:ext cx="71597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6" name="Shape 40"/>
          <p:cNvSpPr/>
          <p:nvPr/>
        </p:nvSpPr>
        <p:spPr>
          <a:xfrm>
            <a:off x="1664208" y="3209544"/>
            <a:ext cx="64008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3346704"/>
            <a:ext cx="320040" cy="32004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2240280" y="32552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inmediata #4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2240280" y="35570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detallada de la acción, qué se va a hacer y cuál es el resultado esperado.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6537960" y="3255264"/>
            <a:ext cx="10515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4"/>
          <p:cNvSpPr/>
          <p:nvPr/>
        </p:nvSpPr>
        <p:spPr>
          <a:xfrm>
            <a:off x="6537960" y="32552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[DD/MM]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537960" y="3557016"/>
            <a:ext cx="1051560" cy="256032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46"/>
          <p:cNvSpPr/>
          <p:nvPr/>
        </p:nvSpPr>
        <p:spPr>
          <a:xfrm>
            <a:off x="6537960" y="355701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1124712" y="4069080"/>
            <a:ext cx="347472" cy="347472"/>
          </a:xfrm>
          <a:prstGeom prst="ellipse">
            <a:avLst/>
          </a:prstGeom>
          <a:solidFill>
            <a:srgbClr val="46C2C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48"/>
          <p:cNvSpPr/>
          <p:nvPr/>
        </p:nvSpPr>
        <p:spPr>
          <a:xfrm>
            <a:off x="1124712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1664208" y="3959352"/>
            <a:ext cx="71597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7" name="Shape 50"/>
          <p:cNvSpPr/>
          <p:nvPr/>
        </p:nvSpPr>
        <p:spPr>
          <a:xfrm>
            <a:off x="1664208" y="3959352"/>
            <a:ext cx="64008" cy="65836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4096512"/>
            <a:ext cx="320040" cy="32004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2240280" y="4005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inmediata #5</a:t>
            </a:r>
            <a:endParaRPr lang="en-US" sz="1100" dirty="0"/>
          </a:p>
        </p:txBody>
      </p:sp>
      <p:sp>
        <p:nvSpPr>
          <p:cNvPr id="60" name="Text 52"/>
          <p:cNvSpPr/>
          <p:nvPr/>
        </p:nvSpPr>
        <p:spPr>
          <a:xfrm>
            <a:off x="2240280" y="4306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detallada de la acción, qué se va a hacer y cuál es el resultado esperado.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6537960" y="4005072"/>
            <a:ext cx="105156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54"/>
          <p:cNvSpPr/>
          <p:nvPr/>
        </p:nvSpPr>
        <p:spPr>
          <a:xfrm>
            <a:off x="6537960" y="40050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[DD/MM]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6537960" y="4306824"/>
            <a:ext cx="1051560" cy="256032"/>
          </a:xfrm>
          <a:prstGeom prst="rect">
            <a:avLst/>
          </a:prstGeom>
          <a:solidFill>
            <a:srgbClr val="F3EEF9"/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56"/>
          <p:cNvSpPr/>
          <p:nvPr/>
        </p:nvSpPr>
        <p:spPr>
          <a:xfrm>
            <a:off x="6537960" y="43068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[Responsable]</a:t>
            </a:r>
            <a:endParaRPr lang="en-US" sz="800" dirty="0"/>
          </a:p>
        </p:txBody>
      </p:sp>
      <p:pic>
        <p:nvPicPr>
          <p:cNvPr id="65" name="Gráfico 64">
            <a:extLst>
              <a:ext uri="{FF2B5EF4-FFF2-40B4-BE49-F238E27FC236}">
                <a16:creationId xmlns:a16="http://schemas.microsoft.com/office/drawing/2014/main" id="{95876D89-9B32-B691-A8B0-21DA98A001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2C1A56">
              <a:alpha val="60000"/>
            </a:srgbClr>
          </a:solidFill>
          <a:ln w="12700">
            <a:solidFill>
              <a:srgbClr val="2C1A5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5029200" cy="5029200"/>
          </a:xfrm>
          <a:prstGeom prst="ellipse">
            <a:avLst/>
          </a:prstGeom>
          <a:solidFill>
            <a:srgbClr val="46C2CE">
              <a:alpha val="20000"/>
            </a:srgbClr>
          </a:solidFill>
          <a:ln w="12700">
            <a:solidFill>
              <a:srgbClr val="46C2C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1A56"/>
          </a:solidFill>
          <a:ln w="12700">
            <a:solidFill>
              <a:srgbClr val="2C1A5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292608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6" name="Image 0" descr="/mnt/user-data/uploads/SUN001_Rebranding_Sunname_Logotip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892040"/>
            <a:ext cx="1463040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54864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 aquí una frase inspiradora, el mensaje clave del período, o una cita que represente el espíritu del equipo y los logros alcanzados.]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0" y="3383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[Autor o Fuente] · Sunname Technologies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[TÍTULO DE LA DIAPOSITIVA]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5303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14400"/>
            <a:ext cx="530352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57200" y="10241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[Subtítulo o tema principal]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14630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[Desarrolla aquí el contenido principal de esta sección. Puedes escribir párrafos de análisis, hallazgos importantes, o cualquier información relevante que necesites comunicar al equipo o a los stakeholders.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diapositiva de texto libre te permite agregar más contexto o profundidad a cualquier tema del reporte. Mantén un máximo de 150 palabras para garantizar legibilidad.]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3858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 o conclusión #1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 o conclusión #2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 o conclusión #3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914400"/>
            <a:ext cx="3017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5806440" y="914400"/>
            <a:ext cx="3017520" cy="6400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5943600" y="1024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[Datos o Visual]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1463040"/>
            <a:ext cx="2743200" cy="182880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59436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 aquí un gráfico, imagen, tabla o captura de pantalla]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0" y="3429000"/>
            <a:ext cx="1261872" cy="731520"/>
          </a:xfrm>
          <a:prstGeom prst="rect">
            <a:avLst/>
          </a:prstGeom>
          <a:solidFill>
            <a:srgbClr val="46C2CE">
              <a:alpha val="12000"/>
            </a:srgbClr>
          </a:solidFill>
          <a:ln w="12700">
            <a:solidFill>
              <a:srgbClr val="46C2C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5943600" y="3456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[00]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43600" y="37947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#1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333488" y="3429000"/>
            <a:ext cx="1261872" cy="731520"/>
          </a:xfrm>
          <a:prstGeom prst="rect">
            <a:avLst/>
          </a:prstGeom>
          <a:solidFill>
            <a:srgbClr val="46C2CE">
              <a:alpha val="12000"/>
            </a:srgbClr>
          </a:solidFill>
          <a:ln w="12700">
            <a:solidFill>
              <a:srgbClr val="46C2C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7333488" y="345643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[00%]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333488" y="37947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#2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94360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 o fuente de los datos mostrados en esta diapositiva.]</a:t>
            </a:r>
            <a:endParaRPr lang="en-US" sz="800" dirty="0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3783B4CF-4ABB-28D5-BDD3-9C5889C5E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-274320"/>
            <a:ext cx="3657600" cy="3657600"/>
          </a:xfrm>
          <a:prstGeom prst="ellipse">
            <a:avLst/>
          </a:prstGeom>
          <a:solidFill>
            <a:srgbClr val="46C2CE">
              <a:alpha val="28000"/>
            </a:srgbClr>
          </a:solidFill>
          <a:ln w="12700">
            <a:solidFill>
              <a:srgbClr val="46C2CE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5029200" cy="502920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94360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/mnt/user-data/uploads/SUN001_Rebranding_Sunname_Logotipo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892040"/>
            <a:ext cx="1463040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6576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46C2C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endParaRPr lang="en-US" sz="10000" dirty="0"/>
          </a:p>
        </p:txBody>
      </p:sp>
      <p:sp>
        <p:nvSpPr>
          <p:cNvPr id="9" name="Text 6"/>
          <p:cNvSpPr/>
          <p:nvPr/>
        </p:nvSpPr>
        <p:spPr>
          <a:xfrm>
            <a:off x="822960" y="109728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&amp;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¿Comentarios, dudas o puntos para discutir con el equipo?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3611880"/>
            <a:ext cx="64008" cy="59436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1005840" y="3611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reunión: [Fecha] · Preparado por: [Nombre]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94560" y="0"/>
            <a:ext cx="6629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Y APÉNDICE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Impulsa Tu Negocio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046720" y="4846320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14400"/>
            <a:ext cx="4160520" cy="6400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5720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Adicionales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146304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[Escribe aquí cualquier nota adicional, aclaración o contexto que no cupo en las diapositivas anteriores pero que es relevante para el entendimiento completo del reporte.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usar este espacio para: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Glosario de términos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Supuestos del análisis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Fuentes de datos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Metodología utilizada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otra información de soporte]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914400"/>
            <a:ext cx="41605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663440" y="914400"/>
            <a:ext cx="4160520" cy="640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480060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Referencias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206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sistema / herramienta de donde vienen los datos]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0600" y="20391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0" y="20391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[Reporte o documento de referencia utilizado]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0600" y="25694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20640" y="25694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[Encuesta o fuente primaria de información]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00600" y="30998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30998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[Informe externo, benchmark o comparativo]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36301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20640" y="36301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[Cualquier otra fuente relevante]</a:t>
            </a:r>
            <a:endParaRPr lang="en-US" sz="1000" dirty="0"/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6AF93952-990D-956E-7872-01C2AF26A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7" y="49137"/>
            <a:ext cx="1857924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5943600" cy="59436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4114800" cy="4114800"/>
          </a:xfrm>
          <a:prstGeom prst="ellipse">
            <a:avLst/>
          </a:prstGeom>
          <a:solidFill>
            <a:srgbClr val="46C2CE">
              <a:alpha val="32000"/>
            </a:srgbClr>
          </a:solidFill>
          <a:ln w="12700">
            <a:solidFill>
              <a:srgbClr val="46C2C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1371600" y="260604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impulsamos tu negocio hacia el futuro digital.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0" y="3246120"/>
            <a:ext cx="3657600" cy="36576"/>
          </a:xfrm>
          <a:prstGeom prst="rect">
            <a:avLst/>
          </a:prstGeom>
          <a:solidFill>
            <a:srgbClr val="46C2CE">
              <a:alpha val="60000"/>
            </a:srgbClr>
          </a:solidFill>
          <a:ln w="12700">
            <a:solidFill>
              <a:srgbClr val="46C2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828800" y="3383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www.sunname.com.mx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info@sunname.com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TU NEGOCIO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0" y="4736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sunname.com.mx · 2026</a:t>
            </a:r>
            <a:endParaRPr lang="en-US" sz="900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FCD9DA80-BA97-691B-2A31-59FE8A0FF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0798" y="424140"/>
            <a:ext cx="2322404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0D6E">
              <a:alpha val="40000"/>
            </a:srgbClr>
          </a:solidFill>
          <a:ln w="12700">
            <a:solidFill>
              <a:srgbClr val="0D0D6E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2D0070">
              <a:alpha val="30000"/>
            </a:srgbClr>
          </a:solidFill>
          <a:ln w="12700">
            <a:solidFill>
              <a:srgbClr val="2D0070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0D45"/>
          </a:solidFill>
          <a:ln w="12700">
            <a:solidFill>
              <a:srgbClr val="0D0D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24128"/>
            <a:ext cx="91440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0" cap="none" spc="5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AVANCE DEL PROYECTO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Atio Group  ·  Odoo v19  ·  CRS Global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228600"/>
            <a:ext cx="1508760" cy="502920"/>
          </a:xfrm>
          <a:prstGeom prst="rect">
            <a:avLst/>
          </a:prstGeom>
          <a:solidFill>
            <a:srgbClr val="1A0050"/>
          </a:solidFill>
          <a:ln w="12700">
            <a:solidFill>
              <a:srgbClr val="6B21E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0" y="2286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Sprint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2651760" cy="3474720"/>
          </a:xfrm>
          <a:prstGeom prst="rect">
            <a:avLst/>
          </a:prstGeom>
          <a:solidFill>
            <a:srgbClr val="0F0F42"/>
          </a:solidFill>
          <a:ln w="19050">
            <a:solidFill>
              <a:srgbClr val="00D4FF"/>
            </a:solidFill>
            <a:prstDash val="solid"/>
          </a:ln>
          <a:effectLst>
            <a:outerShdw blurRad="254000" dist="38100" dir="16200000" algn="bl" rotWithShape="0">
              <a:srgbClr val="00A8CC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1280160"/>
            <a:ext cx="2651760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78508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Módulos Base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2286000" cy="201168"/>
          </a:xfrm>
          <a:prstGeom prst="rect">
            <a:avLst/>
          </a:prstGeom>
          <a:solidFill>
            <a:srgbClr val="1A1A5E"/>
          </a:solidFill>
          <a:ln w="635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1714500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 completado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5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|  25% restante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" y="422452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064E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tiempo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0" y="1280160"/>
            <a:ext cx="2651760" cy="3474720"/>
          </a:xfrm>
          <a:prstGeom prst="rect">
            <a:avLst/>
          </a:prstGeom>
          <a:solidFill>
            <a:srgbClr val="0F0F42"/>
          </a:solidFill>
          <a:ln w="19050">
            <a:solidFill>
              <a:srgbClr val="A855F7"/>
            </a:solidFill>
            <a:prstDash val="solid"/>
          </a:ln>
          <a:effectLst>
            <a:outerShdw blurRad="254000" dist="38100" dir="16200000" algn="bl" rotWithShape="0">
              <a:srgbClr val="7C3AED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0" y="1280160"/>
            <a:ext cx="26517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918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9184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58868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9184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Personalización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383280" y="3566160"/>
            <a:ext cx="2286000" cy="201168"/>
          </a:xfrm>
          <a:prstGeom prst="rect">
            <a:avLst/>
          </a:prstGeom>
          <a:solidFill>
            <a:srgbClr val="1A1A5E"/>
          </a:solidFill>
          <a:ln w="635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383280" y="3566160"/>
            <a:ext cx="109728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91840" y="3858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 completado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5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|  52% restante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49040" y="422452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749040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proceso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80760" y="1280160"/>
            <a:ext cx="2651760" cy="3474720"/>
          </a:xfrm>
          <a:prstGeom prst="rect">
            <a:avLst/>
          </a:prstGeom>
          <a:solidFill>
            <a:srgbClr val="0F0F42"/>
          </a:solidFill>
          <a:ln w="19050">
            <a:solidFill>
              <a:srgbClr val="22D3EE"/>
            </a:solidFill>
            <a:prstDash val="solid"/>
          </a:ln>
          <a:effectLst>
            <a:outerShdw blurRad="254000" dist="38100" dir="16200000" algn="bl" rotWithShape="0">
              <a:srgbClr val="0E7490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80760" y="1280160"/>
            <a:ext cx="265176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7220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7220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539228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72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Integraciones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63640" y="3566160"/>
            <a:ext cx="2286000" cy="201168"/>
          </a:xfrm>
          <a:prstGeom prst="rect">
            <a:avLst/>
          </a:prstGeom>
          <a:solidFill>
            <a:srgbClr val="1A1A5E"/>
          </a:solidFill>
          <a:ln w="635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63640" y="3566160"/>
            <a:ext cx="68580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72200" y="3858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 completado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55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|  70% restante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629400" y="422452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D1B0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29400" y="42245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Iniciando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0D45"/>
          </a:solidFill>
          <a:ln w="12700">
            <a:solidFill>
              <a:srgbClr val="0D0D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28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44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CRS Global  ·  Transformación Inteligente para un Mundo Digital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AVANCE DEL PROYECTO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Atio Group · Odoo v19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560320" cy="3749040"/>
          </a:xfrm>
          <a:prstGeom prst="rect">
            <a:avLst/>
          </a:prstGeom>
          <a:solidFill>
            <a:srgbClr val="1A1A6E"/>
          </a:solidFill>
          <a:ln w="19050">
            <a:solidFill>
              <a:srgbClr val="00D4FF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5603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1828800" cy="1828800"/>
          </a:xfrm>
          <a:prstGeom prst="ellipse">
            <a:avLst/>
          </a:prstGeom>
          <a:solidFill>
            <a:srgbClr val="0A0A3C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0" y="109728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94560" y="124428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96192" y="16459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0" y="21945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96192" y="274320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94560" y="314483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645920" y="329184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7280" y="314483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5648" y="274320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5648" y="164592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97280" y="1244288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3749040"/>
            <a:ext cx="2194560" cy="137160"/>
          </a:xfrm>
          <a:prstGeom prst="rect">
            <a:avLst/>
          </a:prstGeom>
          <a:solidFill>
            <a:srgbClr val="0A0A3C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1645920" cy="137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Completado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46120" y="1005840"/>
            <a:ext cx="2560320" cy="3749040"/>
          </a:xfrm>
          <a:prstGeom prst="rect">
            <a:avLst/>
          </a:prstGeom>
          <a:solidFill>
            <a:srgbClr val="1A1A6E"/>
          </a:solidFill>
          <a:ln w="19050">
            <a:solidFill>
              <a:srgbClr val="A855F7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46120" y="1005840"/>
            <a:ext cx="25603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11880" y="1325880"/>
            <a:ext cx="1828800" cy="1828800"/>
          </a:xfrm>
          <a:prstGeom prst="ellipse">
            <a:avLst/>
          </a:prstGeom>
          <a:solidFill>
            <a:srgbClr val="0A0A3C"/>
          </a:solidFill>
          <a:ln w="254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1188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80560" y="109728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0" y="124428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30832" y="164592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577840" y="219456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30832" y="274320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29200" y="314483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480560" y="329184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931920" y="3144832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530288" y="274320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383280" y="219456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530288" y="164592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931920" y="1244288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38328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429000" y="3749040"/>
            <a:ext cx="2194560" cy="137160"/>
          </a:xfrm>
          <a:prstGeom prst="rect">
            <a:avLst/>
          </a:prstGeom>
          <a:solidFill>
            <a:srgbClr val="0A0A3C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429000" y="3749040"/>
            <a:ext cx="1053389" cy="137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38328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Completado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80760" y="1005840"/>
            <a:ext cx="2560320" cy="3749040"/>
          </a:xfrm>
          <a:prstGeom prst="rect">
            <a:avLst/>
          </a:prstGeom>
          <a:solidFill>
            <a:srgbClr val="1A1A6E"/>
          </a:solidFill>
          <a:ln w="19050">
            <a:solidFill>
              <a:srgbClr val="22D3EE"/>
            </a:solidFill>
            <a:prstDash val="solid"/>
          </a:ln>
          <a:effectLst>
            <a:outerShdw blurRad="1905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080760" y="1005840"/>
            <a:ext cx="256032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46520" y="1325880"/>
            <a:ext cx="1828800" cy="1828800"/>
          </a:xfrm>
          <a:prstGeom prst="ellipse">
            <a:avLst/>
          </a:prstGeom>
          <a:solidFill>
            <a:srgbClr val="0A0A3C"/>
          </a:solidFill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4652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315200" y="109728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863840" y="124428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65472" y="164592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412480" y="219456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265472" y="274320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63840" y="3144832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315200" y="329184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766560" y="3144832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364928" y="274320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217920" y="219456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364928" y="1645920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766560" y="1244288"/>
            <a:ext cx="91440" cy="91440"/>
          </a:xfrm>
          <a:prstGeom prst="ellipse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21792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63640" y="3749040"/>
            <a:ext cx="2194560" cy="137160"/>
          </a:xfrm>
          <a:prstGeom prst="rect">
            <a:avLst/>
          </a:prstGeom>
          <a:solidFill>
            <a:srgbClr val="0A0A3C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263640" y="3749040"/>
            <a:ext cx="658368" cy="137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21792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9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Completado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5052A"/>
          </a:solidFill>
          <a:ln w="12700">
            <a:solidFill>
              <a:srgbClr val="0505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57200" y="496519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455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CRS Global · Transformación Inteligente para un Mundo Digital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AVANCE DEL PROYECTO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Implementación Acelerada · Atio Group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9224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656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8952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6384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3816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12480" y="3657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224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04088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1520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8952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6384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3816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12480" y="8686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9224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76656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04088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1520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58952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86384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3816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12480" y="13716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4360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792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9224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76656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04088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1520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58952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86384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3816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412480" y="187452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4360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1792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9224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76656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04088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31520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58952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86384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13816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412480" y="237744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94360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21792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49224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76656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04088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31520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58952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86384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13816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412480" y="288036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94360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21792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49224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76656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04088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31520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58952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786384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13816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412480" y="338328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94360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621792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49224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676656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04088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31520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58952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86384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13816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8412480" y="3886200"/>
            <a:ext cx="64008" cy="64008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1E1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274320" y="1371600"/>
            <a:ext cx="8549640" cy="914400"/>
          </a:xfrm>
          <a:prstGeom prst="rect">
            <a:avLst/>
          </a:prstGeom>
          <a:solidFill>
            <a:srgbClr val="0D0D3A"/>
          </a:solidFill>
          <a:ln w="12700">
            <a:solidFill>
              <a:srgbClr val="1E1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11480" y="14447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16916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169164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788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Módulos base configurados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4846320" y="1719072"/>
            <a:ext cx="3566160" cy="182880"/>
          </a:xfrm>
          <a:prstGeom prst="rect">
            <a:avLst/>
          </a:prstGeom>
          <a:solidFill>
            <a:srgbClr val="1A1A5E"/>
          </a:solidFill>
          <a:ln w="1270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4846320" y="1719072"/>
            <a:ext cx="2674620" cy="182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5682996" y="1691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6574536" y="1691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7466076" y="1691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8458200" y="1673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274320" y="2514600"/>
            <a:ext cx="8549640" cy="914400"/>
          </a:xfrm>
          <a:prstGeom prst="rect">
            <a:avLst/>
          </a:prstGeom>
          <a:solidFill>
            <a:srgbClr val="0D0D3A"/>
          </a:solidFill>
          <a:ln w="12700">
            <a:solidFill>
              <a:srgbClr val="1E1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274320" y="251460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411480" y="25877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6916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169164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788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Desarrollos personalizados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846320" y="2862072"/>
            <a:ext cx="3566160" cy="182880"/>
          </a:xfrm>
          <a:prstGeom prst="rect">
            <a:avLst/>
          </a:prstGeom>
          <a:solidFill>
            <a:srgbClr val="1A1A5E"/>
          </a:solidFill>
          <a:ln w="1270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4846320" y="2862072"/>
            <a:ext cx="1711757" cy="1828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5682996" y="2834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6574536" y="2834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7466076" y="2834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8458200" y="2816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274320" y="3657600"/>
            <a:ext cx="8549640" cy="914400"/>
          </a:xfrm>
          <a:prstGeom prst="rect">
            <a:avLst/>
          </a:prstGeom>
          <a:solidFill>
            <a:srgbClr val="0D0D3A"/>
          </a:solidFill>
          <a:ln w="12700">
            <a:solidFill>
              <a:srgbClr val="1E1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274320" y="3657600"/>
            <a:ext cx="64008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411480" y="3730752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16916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169164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788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Integraciones y APIs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4846320" y="4005072"/>
            <a:ext cx="3566160" cy="182880"/>
          </a:xfrm>
          <a:prstGeom prst="rect">
            <a:avLst/>
          </a:prstGeom>
          <a:solidFill>
            <a:srgbClr val="1A1A5E"/>
          </a:solidFill>
          <a:ln w="12700">
            <a:solidFill>
              <a:srgbClr val="2A2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4846320" y="4005072"/>
            <a:ext cx="1069848" cy="182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5682996" y="3977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6574536" y="3977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7466076" y="3977640"/>
            <a:ext cx="109728" cy="237744"/>
          </a:xfrm>
          <a:prstGeom prst="ellipse">
            <a:avLst/>
          </a:prstGeom>
          <a:solidFill>
            <a:srgbClr val="050520"/>
          </a:solidFill>
          <a:ln w="12700">
            <a:solidFill>
              <a:srgbClr val="4455A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458200" y="3959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0212"/>
          </a:solidFill>
          <a:ln w="12700">
            <a:solidFill>
              <a:srgbClr val="02021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CRS Global · Transformación Inteligente para un Mundo Digital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0E50"/>
          </a:solidFill>
          <a:ln w="12700">
            <a:solidFill>
              <a:srgbClr val="0E0E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795528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AVANCE DEL PROYECTO · ATIO GROUP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06640" y="164592"/>
            <a:ext cx="1508760" cy="457200"/>
          </a:xfrm>
          <a:prstGeom prst="rect">
            <a:avLst/>
          </a:prstGeom>
          <a:solidFill>
            <a:srgbClr val="1A1A7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06640" y="16459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Feb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3474720" cy="3474720"/>
          </a:xfrm>
          <a:prstGeom prst="ellipse">
            <a:avLst/>
          </a:prstGeom>
          <a:solidFill>
            <a:srgbClr val="070730"/>
          </a:solidFill>
          <a:ln w="2286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2743200" cy="2743200"/>
          </a:xfrm>
          <a:prstGeom prst="ellipse">
            <a:avLst/>
          </a:prstGeom>
          <a:solidFill>
            <a:srgbClr val="070730"/>
          </a:solidFill>
          <a:ln w="1778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2011680" cy="2011680"/>
          </a:xfrm>
          <a:prstGeom prst="ellipse">
            <a:avLst/>
          </a:prstGeom>
          <a:solidFill>
            <a:srgbClr val="070730"/>
          </a:solidFill>
          <a:ln w="1270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508760" y="2286000"/>
            <a:ext cx="1005840" cy="1005840"/>
          </a:xfrm>
          <a:prstGeom prst="ellipse">
            <a:avLst/>
          </a:prstGeom>
          <a:solidFill>
            <a:srgbClr val="0E0E50"/>
          </a:solidFill>
          <a:ln w="12700">
            <a:solidFill>
              <a:srgbClr val="0E0E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8760" y="24871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4663440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ABBD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4407408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3616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ABBD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4151376"/>
            <a:ext cx="164592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41056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ABBD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77640" y="1005840"/>
            <a:ext cx="0" cy="3931920"/>
          </a:xfrm>
          <a:prstGeom prst="line">
            <a:avLst/>
          </a:prstGeom>
          <a:noFill/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6052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60520" y="1444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677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Módulos Base &amp; Configuración SAT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60520" y="1755648"/>
            <a:ext cx="4389120" cy="256032"/>
          </a:xfrm>
          <a:prstGeom prst="rect">
            <a:avLst/>
          </a:prstGeom>
          <a:solidFill>
            <a:srgbClr val="111150"/>
          </a:solidFill>
          <a:ln w="6350">
            <a:solidFill>
              <a:srgbClr val="2222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60520" y="1755648"/>
            <a:ext cx="3291840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95160" y="17647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05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75%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60520" y="20665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9/12 tareas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257800" y="171907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171907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52360" y="171907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49640" y="171907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60520" y="2304288"/>
            <a:ext cx="4663440" cy="0"/>
          </a:xfrm>
          <a:prstGeom prst="line">
            <a:avLst/>
          </a:prstGeom>
          <a:noFill/>
          <a:ln w="6350">
            <a:solidFill>
              <a:srgbClr val="111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60520" y="2331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160520" y="2679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677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Desarrollos Personalizados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60520" y="2990088"/>
            <a:ext cx="4389120" cy="256032"/>
          </a:xfrm>
          <a:prstGeom prst="rect">
            <a:avLst/>
          </a:prstGeom>
          <a:solidFill>
            <a:srgbClr val="111150"/>
          </a:solidFill>
          <a:ln w="6350">
            <a:solidFill>
              <a:srgbClr val="2222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160520" y="2990088"/>
            <a:ext cx="2106778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810098" y="2999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05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160520" y="33009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5/11 tareas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257800" y="295351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55080" y="295351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52360" y="295351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549640" y="295351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160520" y="3538728"/>
            <a:ext cx="4663440" cy="0"/>
          </a:xfrm>
          <a:prstGeom prst="line">
            <a:avLst/>
          </a:prstGeom>
          <a:noFill/>
          <a:ln w="6350">
            <a:solidFill>
              <a:srgbClr val="1111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160520" y="3566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160520" y="3913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677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Integraciones &amp; APIs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160520" y="4224528"/>
            <a:ext cx="4389120" cy="256032"/>
          </a:xfrm>
          <a:prstGeom prst="rect">
            <a:avLst/>
          </a:prstGeom>
          <a:solidFill>
            <a:srgbClr val="111150"/>
          </a:solidFill>
          <a:ln w="6350">
            <a:solidFill>
              <a:srgbClr val="2222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60520" y="4224528"/>
            <a:ext cx="1316736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020056" y="4233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052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160520" y="45354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58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3/10 tareas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57800" y="418795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55080" y="418795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452360" y="418795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549640" y="4187952"/>
            <a:ext cx="0" cy="329184"/>
          </a:xfrm>
          <a:prstGeom prst="line">
            <a:avLst/>
          </a:prstGeom>
          <a:noFill/>
          <a:ln w="19050">
            <a:solidFill>
              <a:srgbClr val="0A0A5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A40"/>
          </a:solidFill>
          <a:ln w="12700">
            <a:solidFill>
              <a:srgbClr val="0A0A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0" y="4800600"/>
            <a:ext cx="9144000" cy="27432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7432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D4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Avance Global: 51%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017520" y="4846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55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·  Mes 3 de 6.5  ·  Go-Live Administrativo ✓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772400" y="48463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44A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CRS Global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2474</Words>
  <Application>Microsoft Office PowerPoint</Application>
  <PresentationFormat>Presentación en pantalla (16:9)</PresentationFormat>
  <Paragraphs>603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Sunname Technologies — Plantilla Reporte de Progreso</dc:title>
  <dc:subject>PptxGenJS Presentation</dc:subject>
  <dc:creator>PptxGenJS</dc:creator>
  <cp:lastModifiedBy>Eduardo Acevedo Garcia</cp:lastModifiedBy>
  <cp:revision>6</cp:revision>
  <dcterms:created xsi:type="dcterms:W3CDTF">2026-02-20T05:28:35Z</dcterms:created>
  <dcterms:modified xsi:type="dcterms:W3CDTF">2026-02-20T16:28:09Z</dcterms:modified>
</cp:coreProperties>
</file>