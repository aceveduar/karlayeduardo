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88" r:id="rId2"/>
    <p:sldId id="257" r:id="rId3"/>
    <p:sldId id="258" r:id="rId4"/>
    <p:sldId id="259" r:id="rId5"/>
    <p:sldId id="260" r:id="rId6"/>
    <p:sldId id="261" r:id="rId7"/>
    <p:sldId id="262" r:id="rId8"/>
    <p:sldId id="295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0F5C"/>
    <a:srgbClr val="0D0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94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3DB34-810E-02A6-21E5-825FA767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8B413-2329-D139-43CD-96E224E1D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2FF60-582A-9FB3-BA0C-03ACF2EFF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CA711-52CB-7778-E156-BE39498C38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534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-2286000" y="2743200"/>
            <a:ext cx="5486400" cy="5486400"/>
          </a:xfrm>
          <a:prstGeom prst="ellipse">
            <a:avLst/>
          </a:prstGeom>
          <a:solidFill>
            <a:srgbClr val="2D1B7E">
              <a:alpha val="65000"/>
            </a:srgbClr>
          </a:solidFill>
          <a:ln w="12700">
            <a:solidFill>
              <a:srgbClr val="2D1B7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hape 0"/>
          <p:cNvSpPr/>
          <p:nvPr/>
        </p:nvSpPr>
        <p:spPr>
          <a:xfrm>
            <a:off x="5303520" y="-2286000"/>
            <a:ext cx="6858000" cy="6858000"/>
          </a:xfrm>
          <a:prstGeom prst="ellipse">
            <a:avLst/>
          </a:prstGeom>
          <a:solidFill>
            <a:srgbClr val="2D1B7E"/>
          </a:solidFill>
          <a:ln w="12700">
            <a:solidFill>
              <a:srgbClr val="2D1B7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1E3A8A">
              <a:alpha val="45000"/>
            </a:srgbClr>
          </a:solidFill>
          <a:ln w="12700">
            <a:solidFill>
              <a:srgbClr val="1E3A8A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3657600" cy="4800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AF0ADB3F-3A7F-0007-0DBC-361D954004C8}"/>
              </a:ext>
            </a:extLst>
          </p:cNvPr>
          <p:cNvGrpSpPr/>
          <p:nvPr/>
        </p:nvGrpSpPr>
        <p:grpSpPr>
          <a:xfrm>
            <a:off x="457200" y="347472"/>
            <a:ext cx="1664208" cy="685800"/>
            <a:chOff x="457200" y="347472"/>
            <a:chExt cx="1664208" cy="685800"/>
          </a:xfrm>
        </p:grpSpPr>
        <p:pic>
          <p:nvPicPr>
            <p:cNvPr id="8" name="Image 0" descr="/home/claude/crs_assets/extracted/ppt/media/image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347472"/>
              <a:ext cx="685800" cy="685800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1207008" y="347472"/>
              <a:ext cx="9144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CRS</a:t>
              </a:r>
              <a:endPara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Shape 7"/>
          <p:cNvSpPr/>
          <p:nvPr/>
        </p:nvSpPr>
        <p:spPr>
          <a:xfrm>
            <a:off x="457200" y="1188720"/>
            <a:ext cx="2194560" cy="274320"/>
          </a:xfrm>
          <a:prstGeom prst="rect">
            <a:avLst/>
          </a:prstGeom>
          <a:solidFill>
            <a:srgbClr val="00C2FF">
              <a:alpha val="82000"/>
            </a:srgbClr>
          </a:solidFill>
          <a:ln w="12700">
            <a:solidFill>
              <a:srgbClr val="00C2FF">
                <a:alpha val="8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PRESENTA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57276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2176272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00C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2999232"/>
            <a:ext cx="3474720" cy="438912"/>
          </a:xfrm>
          <a:prstGeom prst="rect">
            <a:avLst/>
          </a:prstGeom>
          <a:solidFill>
            <a:srgbClr val="1E3A8A"/>
          </a:solidFill>
          <a:ln w="15240">
            <a:solidFill>
              <a:srgbClr val="00C2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299923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 dirty="0">
                <a:ln>
                  <a:noFill/>
                </a:ln>
                <a:solidFill>
                  <a:srgbClr val="00C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ATIO GROUP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3547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82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Acelerada  ·  Odoo v19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57200" y="3950208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0080" y="39502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Presenta: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0080" y="4151376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María Dolores Martínez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0" y="4718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65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·  crs-global.com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E7AC4A43-14EF-E4D0-32B1-2BEF6BCFF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055" y="1060704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F169D678-810D-D4A5-17FA-CDC95DFA02A6}"/>
              </a:ext>
            </a:extLst>
          </p:cNvPr>
          <p:cNvGrpSpPr/>
          <p:nvPr/>
        </p:nvGrpSpPr>
        <p:grpSpPr>
          <a:xfrm>
            <a:off x="182880" y="91440"/>
            <a:ext cx="1417320" cy="548640"/>
            <a:chOff x="182880" y="91440"/>
            <a:chExt cx="1417320" cy="548640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2880" y="91440"/>
              <a:ext cx="548640" cy="548640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777240" y="155448"/>
              <a:ext cx="822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CRS</a:t>
              </a:r>
              <a:endParaRPr lang="en-US" sz="1500" dirty="0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3DBB3EF0-BEF3-7DE3-FC2F-F5F0ADB2C111}"/>
              </a:ext>
            </a:extLst>
          </p:cNvPr>
          <p:cNvGrpSpPr/>
          <p:nvPr/>
        </p:nvGrpSpPr>
        <p:grpSpPr>
          <a:xfrm>
            <a:off x="1828800" y="0"/>
            <a:ext cx="6400800" cy="734925"/>
            <a:chOff x="1828800" y="91440"/>
            <a:chExt cx="6400800" cy="709923"/>
          </a:xfrm>
        </p:grpSpPr>
        <p:sp>
          <p:nvSpPr>
            <p:cNvPr id="5" name="Text 2"/>
            <p:cNvSpPr/>
            <p:nvPr/>
          </p:nvSpPr>
          <p:spPr>
            <a:xfrm>
              <a:off x="1828800" y="91440"/>
              <a:ext cx="64008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Célula de Alto Rendimiento</a:t>
              </a:r>
              <a:endParaRPr lang="en-US" sz="24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1828800" y="481323"/>
              <a:ext cx="64008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1CB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 Motor del Proyecto</a:t>
              </a:r>
              <a:endParaRPr lang="en-US" sz="120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para cumplir el cronograma acelerado: nuestro equipo de 5 especialistas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1554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320040" y="1280160"/>
            <a:ext cx="1554480" cy="73152"/>
          </a:xfrm>
          <a:prstGeom prst="rect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868680" y="1417320"/>
            <a:ext cx="457200" cy="457200"/>
          </a:xfrm>
          <a:prstGeom prst="ellipse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8686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0116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" y="2697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5760" y="34290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tiempos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ruta crítica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075688" y="1280160"/>
            <a:ext cx="1554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2075688" y="1280160"/>
            <a:ext cx="1554480" cy="73152"/>
          </a:xfrm>
          <a:prstGeom prst="rect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2624328" y="1417320"/>
            <a:ext cx="457200" cy="457200"/>
          </a:xfrm>
          <a:prstGeom prst="ellipse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2624328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608" y="201168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121408" y="2697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Funcional Sr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121408" y="34290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Financiera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Fiscal SAT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831336" y="1280160"/>
            <a:ext cx="1554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18"/>
          <p:cNvSpPr/>
          <p:nvPr/>
        </p:nvSpPr>
        <p:spPr>
          <a:xfrm>
            <a:off x="3831336" y="1280160"/>
            <a:ext cx="1554480" cy="73152"/>
          </a:xfrm>
          <a:prstGeom prst="rect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4379976" y="1417320"/>
            <a:ext cx="457200" cy="457200"/>
          </a:xfrm>
          <a:prstGeom prst="ellipse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0"/>
          <p:cNvSpPr/>
          <p:nvPr/>
        </p:nvSpPr>
        <p:spPr>
          <a:xfrm>
            <a:off x="4379976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256" y="201168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77056" y="2697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de Operaciones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877056" y="34290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en HW,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y Proyectos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586984" y="1280160"/>
            <a:ext cx="1554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4"/>
          <p:cNvSpPr/>
          <p:nvPr/>
        </p:nvSpPr>
        <p:spPr>
          <a:xfrm>
            <a:off x="5586984" y="1280160"/>
            <a:ext cx="1554480" cy="73152"/>
          </a:xfrm>
          <a:prstGeom prst="rect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5"/>
          <p:cNvSpPr/>
          <p:nvPr/>
        </p:nvSpPr>
        <p:spPr>
          <a:xfrm>
            <a:off x="6135624" y="1417320"/>
            <a:ext cx="457200" cy="457200"/>
          </a:xfrm>
          <a:prstGeom prst="ellipse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6"/>
          <p:cNvSpPr/>
          <p:nvPr/>
        </p:nvSpPr>
        <p:spPr>
          <a:xfrm>
            <a:off x="6135624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904" y="2011680"/>
            <a:ext cx="548640" cy="5486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632704" y="2697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Senior v19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632704" y="34290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API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342632" y="1280160"/>
            <a:ext cx="1554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0"/>
          <p:cNvSpPr/>
          <p:nvPr/>
        </p:nvSpPr>
        <p:spPr>
          <a:xfrm>
            <a:off x="7342632" y="1280160"/>
            <a:ext cx="1554480" cy="73152"/>
          </a:xfrm>
          <a:prstGeom prst="rect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1"/>
          <p:cNvSpPr/>
          <p:nvPr/>
        </p:nvSpPr>
        <p:spPr>
          <a:xfrm>
            <a:off x="7891272" y="1417320"/>
            <a:ext cx="457200" cy="457200"/>
          </a:xfrm>
          <a:prstGeom prst="ellipse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2"/>
          <p:cNvSpPr/>
          <p:nvPr/>
        </p:nvSpPr>
        <p:spPr>
          <a:xfrm>
            <a:off x="789127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5552" y="2011680"/>
            <a:ext cx="548640" cy="5486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388352" y="2697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Datos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7388352" y="34290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de adopción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Global  |  Transformación Digital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4A1FA8">
              <a:alpha val="20000"/>
            </a:srgbClr>
          </a:solidFill>
          <a:ln w="12700">
            <a:solidFill>
              <a:srgbClr val="4A1FA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1FA8">
              <a:alpha val="60000"/>
            </a:srgbClr>
          </a:solidFill>
          <a:ln w="12700">
            <a:solidFill>
              <a:srgbClr val="4A1F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55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828800" y="914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Acelerado — 6.5 Meses Totales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282028"/>
            <a:ext cx="810000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7840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9784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CRÍTICO: Go-Live Administrativo al finalizar el Mes 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053428"/>
            <a:ext cx="2286000" cy="201168"/>
          </a:xfrm>
          <a:prstGeom prst="rect">
            <a:avLst/>
          </a:prstGeom>
          <a:solidFill>
            <a:srgbClr val="1CB8E8">
              <a:alpha val="60000"/>
            </a:srgbClr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667512" y="2172300"/>
            <a:ext cx="219456" cy="219456"/>
          </a:xfrm>
          <a:prstGeom prst="ellipse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457200" y="2510628"/>
            <a:ext cx="228600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457200" y="2510628"/>
            <a:ext cx="54864" cy="2011680"/>
          </a:xfrm>
          <a:prstGeom prst="rect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566928" y="26020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6928" y="28946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 – 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66928" y="319642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Operativo 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de Sistemas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17333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017520" y="2053428"/>
            <a:ext cx="2560320" cy="201168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3319272" y="2172300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3017520" y="2510628"/>
            <a:ext cx="256032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3017520" y="2510628"/>
            <a:ext cx="54864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3127248" y="26020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127248" y="28946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2.5 – 3.5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127248" y="31964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Optimización,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Ecoeficiencia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017520" y="17333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2.5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806440" y="2053428"/>
            <a:ext cx="2743200" cy="201168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4"/>
          <p:cNvSpPr/>
          <p:nvPr/>
        </p:nvSpPr>
        <p:spPr>
          <a:xfrm>
            <a:off x="6153912" y="2172300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5"/>
          <p:cNvSpPr/>
          <p:nvPr/>
        </p:nvSpPr>
        <p:spPr>
          <a:xfrm>
            <a:off x="5806440" y="2510628"/>
            <a:ext cx="274320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6"/>
          <p:cNvSpPr/>
          <p:nvPr/>
        </p:nvSpPr>
        <p:spPr>
          <a:xfrm>
            <a:off x="5806440" y="2510628"/>
            <a:ext cx="54864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5916168" y="26020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916168" y="28946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4 – 6.5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916168" y="31964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Técnicas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Ecosistema Digital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806440" y="17333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1FA8">
              <a:alpha val="60000"/>
            </a:srgbClr>
          </a:solidFill>
          <a:ln w="12700">
            <a:solidFill>
              <a:srgbClr val="4A1F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Global  |  Transformación Digital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55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828800" y="239428"/>
            <a:ext cx="1188720" cy="320040"/>
          </a:xfrm>
          <a:prstGeom prst="rect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1828800" y="2394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914400"/>
            <a:ext cx="4114800" cy="1371600"/>
          </a:xfrm>
          <a:prstGeom prst="rect">
            <a:avLst/>
          </a:prstGeom>
          <a:solidFill>
            <a:srgbClr val="1CB8E8">
              <a:alpha val="12000"/>
            </a:srgbClr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65760" y="914400"/>
            <a:ext cx="54864" cy="1371600"/>
          </a:xfrm>
          <a:prstGeom prst="rect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98755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" y="129844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el control financiero y operativo en tiempo récord.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4231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365760" y="2423160"/>
            <a:ext cx="4114800" cy="347472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502920" y="2423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" y="2907792"/>
            <a:ext cx="201168" cy="201168"/>
          </a:xfrm>
          <a:prstGeom prst="ellipse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777240" y="28529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SAT 4.0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2920" y="3383280"/>
            <a:ext cx="201168" cy="201168"/>
          </a:xfrm>
          <a:prstGeom prst="ellipse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777240" y="33284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 HW/SW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3858768"/>
            <a:ext cx="201168" cy="201168"/>
          </a:xfrm>
          <a:prstGeom prst="ellipse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777240" y="38039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Inventario con Números de Serie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754880" y="914400"/>
            <a:ext cx="4114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0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969264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57800" y="9784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REQUERIDOS DE ATIO (Semana 1)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527048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30368" y="150876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Digitales (CSD) y e.firma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892040" y="1984248"/>
            <a:ext cx="3840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075688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30368" y="20574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de Clientes, Proveedores y Productos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892040" y="2532888"/>
            <a:ext cx="3840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624328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30368" y="260604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de productos y servicios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892040" y="3081528"/>
            <a:ext cx="3840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72968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230368" y="315468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Inventario Seriado auditado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4892040" y="3630168"/>
            <a:ext cx="3840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721608"/>
            <a:ext cx="256032" cy="25603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230368" y="370332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 de comprobación y estados de cuenta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Global  |  Transformación Digital</a:t>
            </a:r>
            <a:endParaRPr lang="en-US" sz="900" dirty="0"/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16860767-2C0D-07D1-8DCF-7000870DDF24}"/>
              </a:ext>
            </a:extLst>
          </p:cNvPr>
          <p:cNvGrpSpPr/>
          <p:nvPr/>
        </p:nvGrpSpPr>
        <p:grpSpPr>
          <a:xfrm>
            <a:off x="3154680" y="44878"/>
            <a:ext cx="5760720" cy="668354"/>
            <a:chOff x="3154680" y="109728"/>
            <a:chExt cx="5760720" cy="668354"/>
          </a:xfrm>
        </p:grpSpPr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E7A87D81-AEF6-875F-28DD-B55464F10130}"/>
                </a:ext>
              </a:extLst>
            </p:cNvPr>
            <p:cNvSpPr/>
            <p:nvPr/>
          </p:nvSpPr>
          <p:spPr>
            <a:xfrm>
              <a:off x="3154680" y="109728"/>
              <a:ext cx="57607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s-MX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MVP Operativo — Sustitución de Sistemas</a:t>
              </a:r>
              <a:endParaRPr lang="en-US" sz="2000" dirty="0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95CA5805-645B-923C-8D4B-62E6746FA78D}"/>
                </a:ext>
              </a:extLst>
            </p:cNvPr>
            <p:cNvSpPr/>
            <p:nvPr/>
          </p:nvSpPr>
          <p:spPr>
            <a:xfrm>
              <a:off x="3154680" y="503762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1CB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Meses 1 – 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55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828800" y="239428"/>
            <a:ext cx="1188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1828800" y="2394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48D88C3F-597F-AB33-8C0B-9C287FC10C99}"/>
              </a:ext>
            </a:extLst>
          </p:cNvPr>
          <p:cNvGrpSpPr/>
          <p:nvPr/>
        </p:nvGrpSpPr>
        <p:grpSpPr>
          <a:xfrm>
            <a:off x="3154680" y="44878"/>
            <a:ext cx="5760720" cy="668354"/>
            <a:chOff x="3154680" y="109728"/>
            <a:chExt cx="5760720" cy="668354"/>
          </a:xfrm>
        </p:grpSpPr>
        <p:sp>
          <p:nvSpPr>
            <p:cNvPr id="7" name="Text 4"/>
            <p:cNvSpPr/>
            <p:nvPr/>
          </p:nvSpPr>
          <p:spPr>
            <a:xfrm>
              <a:off x="3154680" y="109728"/>
              <a:ext cx="57607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Optimización y Control</a:t>
              </a:r>
              <a:endParaRPr lang="en-US" sz="20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3154680" y="503762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1CB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Meses 2.5 – 3.5</a:t>
              </a:r>
              <a:endParaRPr lang="en-US" sz="1100" dirty="0"/>
            </a:p>
          </p:txBody>
        </p:sp>
      </p:grpSp>
      <p:sp>
        <p:nvSpPr>
          <p:cNvPr id="9" name="Shape 6"/>
          <p:cNvSpPr/>
          <p:nvPr/>
        </p:nvSpPr>
        <p:spPr>
          <a:xfrm>
            <a:off x="365760" y="914400"/>
            <a:ext cx="4114800" cy="13716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65760" y="914400"/>
            <a:ext cx="54864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98755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" y="129844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flujos y atención al cliente de alta calidad.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4231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365760" y="2423160"/>
            <a:ext cx="4114800" cy="347472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502920" y="2423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" y="290779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777240" y="28529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para gasolineras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2920" y="338328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777240" y="33284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 de instalación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385876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777240" y="38039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Sign y Aprobaciones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754880" y="914400"/>
            <a:ext cx="4114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0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969264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57800" y="9784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REQUERIDOS DE ATIO (Semana 9)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527048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30368" y="150876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técnico de instalación en gasolineras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892040" y="1984248"/>
            <a:ext cx="3840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075688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30368" y="20574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contratos de distribución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892040" y="2532888"/>
            <a:ext cx="3840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624328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30368" y="260604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identidad y base de datos para Marketing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Global  |  Transformación Digital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55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828800" y="239428"/>
            <a:ext cx="118872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1828800" y="2394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0D19F8A4-3972-C08C-E8D4-3C8BADDA24CA}"/>
              </a:ext>
            </a:extLst>
          </p:cNvPr>
          <p:cNvGrpSpPr/>
          <p:nvPr/>
        </p:nvGrpSpPr>
        <p:grpSpPr>
          <a:xfrm>
            <a:off x="3154680" y="44878"/>
            <a:ext cx="5760720" cy="668354"/>
            <a:chOff x="3154680" y="109728"/>
            <a:chExt cx="5760720" cy="668354"/>
          </a:xfrm>
        </p:grpSpPr>
        <p:sp>
          <p:nvSpPr>
            <p:cNvPr id="7" name="Text 4"/>
            <p:cNvSpPr/>
            <p:nvPr/>
          </p:nvSpPr>
          <p:spPr>
            <a:xfrm>
              <a:off x="3154680" y="109728"/>
              <a:ext cx="57607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Integraciones Especializadas</a:t>
              </a:r>
              <a:endParaRPr lang="en-US" sz="20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3154680" y="503762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1CB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Meses 4 – 6.5</a:t>
              </a:r>
              <a:endParaRPr lang="en-US" sz="1100" dirty="0"/>
            </a:p>
          </p:txBody>
        </p:sp>
      </p:grpSp>
      <p:sp>
        <p:nvSpPr>
          <p:cNvPr id="9" name="Shape 6"/>
          <p:cNvSpPr/>
          <p:nvPr/>
        </p:nvSpPr>
        <p:spPr>
          <a:xfrm>
            <a:off x="365760" y="914400"/>
            <a:ext cx="4114800" cy="137160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65760" y="914400"/>
            <a:ext cx="54864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98755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" y="129844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total y automatización de comisiones en el ecosistema digital.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4231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365760" y="2423160"/>
            <a:ext cx="4114800" cy="347472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502920" y="2423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" y="290779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777240" y="28529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bidireccional con Core Atio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2920" y="338328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777240" y="33284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Comisiones Automático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385876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777240" y="38039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Partners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754880" y="914400"/>
            <a:ext cx="4114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0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969264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57800" y="9784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REQUERIDOS DE ATIO (Semana 16)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527048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30368" y="150876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de la API Atio (Endpoints)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892040" y="1984248"/>
            <a:ext cx="3840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075688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30368" y="20574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lógica de cálculo de comisiones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892040" y="2532888"/>
            <a:ext cx="3840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624328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30368" y="260604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bancarios para pagos masivos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Global  |  Transformación Digital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4A1FA8">
              <a:alpha val="20000"/>
            </a:srgbClr>
          </a:solidFill>
          <a:ln w="12700">
            <a:solidFill>
              <a:srgbClr val="4A1FA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CB8E8">
              <a:alpha val="15000"/>
            </a:srgbClr>
          </a:solidFill>
          <a:ln w="12700">
            <a:solidFill>
              <a:srgbClr val="1CB8E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1FA8">
              <a:alpha val="60000"/>
            </a:srgbClr>
          </a:solidFill>
          <a:ln w="12700">
            <a:solidFill>
              <a:srgbClr val="4A1F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55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828800" y="10972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Adopción Presencial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384048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solidFill>
            <a:srgbClr val="1CB8E8">
              <a:alpha val="80000"/>
            </a:srgbClr>
          </a:solidFill>
          <a:ln w="12700">
            <a:solidFill>
              <a:srgbClr val="1CB8E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058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9264" y="1005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Usuarios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94360" y="15087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empleados inician operación real al finalizar el Mes 2. Transición suave garantizada con soporte en sitio.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846320" y="960120"/>
            <a:ext cx="384048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4846320" y="960120"/>
            <a:ext cx="3840480" cy="45720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00584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58384" y="1005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Éxito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983480" y="15087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intensiva presencial en Semanas 7 y 8.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presencial de nuestra célula durante el primer mes de uso real (Mes 3).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474720"/>
            <a:ext cx="822960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4"/>
          <p:cNvSpPr/>
          <p:nvPr/>
        </p:nvSpPr>
        <p:spPr>
          <a:xfrm>
            <a:off x="640080" y="3364992"/>
            <a:ext cx="228600" cy="228600"/>
          </a:xfrm>
          <a:prstGeom prst="ellipse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5"/>
          <p:cNvSpPr/>
          <p:nvPr/>
        </p:nvSpPr>
        <p:spPr>
          <a:xfrm>
            <a:off x="182880" y="36393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82880" y="39136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Capacitación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Intensiva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651760" y="3364992"/>
            <a:ext cx="228600" cy="228600"/>
          </a:xfrm>
          <a:prstGeom prst="ellipse">
            <a:avLst/>
          </a:prstGeom>
          <a:solidFill>
            <a:srgbClr val="1CB8E8"/>
          </a:solidFill>
          <a:ln w="12700">
            <a:solidFill>
              <a:srgbClr val="1CB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8"/>
          <p:cNvSpPr/>
          <p:nvPr/>
        </p:nvSpPr>
        <p:spPr>
          <a:xfrm>
            <a:off x="2194560" y="36393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2194560" y="39136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63440" y="3364992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1"/>
          <p:cNvSpPr/>
          <p:nvPr/>
        </p:nvSpPr>
        <p:spPr>
          <a:xfrm>
            <a:off x="4206240" y="36393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Mes 2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206240" y="39136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675120" y="3364992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4"/>
          <p:cNvSpPr/>
          <p:nvPr/>
        </p:nvSpPr>
        <p:spPr>
          <a:xfrm>
            <a:off x="6217920" y="36393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217920" y="39136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Presencial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CRS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1FA8">
              <a:alpha val="60000"/>
            </a:srgbClr>
          </a:solidFill>
          <a:ln w="12700">
            <a:solidFill>
              <a:srgbClr val="4A1F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Global  |  Transformación Digital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F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DBA9B-20AA-0C18-8B65-27AF44520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E68D7DA5-3727-79FC-4E34-E683EBBE0969}"/>
              </a:ext>
            </a:extLst>
          </p:cNvPr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CB8E8">
              <a:alpha val="15000"/>
            </a:srgbClr>
          </a:solidFill>
          <a:ln w="12700">
            <a:solidFill>
              <a:srgbClr val="1CB8E8">
                <a:alpha val="1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85989A6-115F-CEDB-F986-7B806480055E}"/>
              </a:ext>
            </a:extLst>
          </p:cNvPr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4A1FA8">
              <a:alpha val="20000"/>
            </a:srgbClr>
          </a:solidFill>
          <a:ln w="12700">
            <a:solidFill>
              <a:srgbClr val="4A1FA8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57A9D4F-434D-3DCD-33E5-C56EC63ADF9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1FA8">
              <a:alpha val="60000"/>
            </a:srgbClr>
          </a:solidFill>
          <a:ln w="12700">
            <a:solidFill>
              <a:srgbClr val="4A1FA8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75548D5-840F-48EF-59DA-999453250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360AD15-3BC1-5B5F-AD31-A566DE5AF45F}"/>
              </a:ext>
            </a:extLst>
          </p:cNvPr>
          <p:cNvSpPr/>
          <p:nvPr/>
        </p:nvSpPr>
        <p:spPr>
          <a:xfrm>
            <a:off x="777240" y="155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5009302-3B0F-7933-89F5-3E3182F96F8C}"/>
              </a:ext>
            </a:extLst>
          </p:cNvPr>
          <p:cNvSpPr/>
          <p:nvPr/>
        </p:nvSpPr>
        <p:spPr>
          <a:xfrm>
            <a:off x="1828800" y="10972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AVANCE DEL PROYECTO</a:t>
            </a: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1E2D18A4-A636-56C7-2A69-C4D58BF923FB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1FA8">
              <a:alpha val="60000"/>
            </a:srgbClr>
          </a:solidFill>
          <a:ln w="12700">
            <a:solidFill>
              <a:srgbClr val="4A1FA8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F6F6D211-F875-3753-9E6E-7DAA9C66F820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ACC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CRS Global  |  Transformación Digital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A86A0D1E-AA83-67E5-70F5-44146ED9DDB7}"/>
              </a:ext>
            </a:extLst>
          </p:cNvPr>
          <p:cNvSpPr/>
          <p:nvPr/>
        </p:nvSpPr>
        <p:spPr>
          <a:xfrm>
            <a:off x="365760" y="1112682"/>
            <a:ext cx="2651760" cy="3474720"/>
          </a:xfrm>
          <a:prstGeom prst="rect">
            <a:avLst/>
          </a:prstGeom>
          <a:solidFill>
            <a:srgbClr val="0F0F42"/>
          </a:solidFill>
          <a:ln w="19050">
            <a:solidFill>
              <a:srgbClr val="00D4FF"/>
            </a:solidFill>
            <a:prstDash val="solid"/>
          </a:ln>
          <a:effectLst>
            <a:outerShdw blurRad="254000" dist="38100" dir="16200000" algn="bl" rotWithShape="0">
              <a:srgbClr val="00A8CC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2C0D7D5C-AE68-3365-F2EA-F5A300B9AD66}"/>
              </a:ext>
            </a:extLst>
          </p:cNvPr>
          <p:cNvSpPr/>
          <p:nvPr/>
        </p:nvSpPr>
        <p:spPr>
          <a:xfrm>
            <a:off x="365760" y="1112682"/>
            <a:ext cx="2651760" cy="4572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509F3957-5122-FD1D-102E-DD4CB0457559}"/>
              </a:ext>
            </a:extLst>
          </p:cNvPr>
          <p:cNvSpPr/>
          <p:nvPr/>
        </p:nvSpPr>
        <p:spPr>
          <a:xfrm>
            <a:off x="457200" y="115840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ESTÁNDAR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C749B4A0-0707-AE23-ADFA-52338B0EC5AB}"/>
              </a:ext>
            </a:extLst>
          </p:cNvPr>
          <p:cNvSpPr/>
          <p:nvPr/>
        </p:nvSpPr>
        <p:spPr>
          <a:xfrm>
            <a:off x="457200" y="166132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A3F18C7E-2977-6A9D-8B6A-57F712308490}"/>
              </a:ext>
            </a:extLst>
          </p:cNvPr>
          <p:cNvSpPr/>
          <p:nvPr/>
        </p:nvSpPr>
        <p:spPr>
          <a:xfrm>
            <a:off x="2129024" y="157452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B7A77EFE-9991-3153-AC68-9145FC53A0C9}"/>
              </a:ext>
            </a:extLst>
          </p:cNvPr>
          <p:cNvSpPr/>
          <p:nvPr/>
        </p:nvSpPr>
        <p:spPr>
          <a:xfrm>
            <a:off x="457200" y="298720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99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Módulos Base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8047E288-EC24-632E-C0AC-F19BAF5AF854}"/>
              </a:ext>
            </a:extLst>
          </p:cNvPr>
          <p:cNvSpPr/>
          <p:nvPr/>
        </p:nvSpPr>
        <p:spPr>
          <a:xfrm>
            <a:off x="548640" y="3398682"/>
            <a:ext cx="2286000" cy="201168"/>
          </a:xfrm>
          <a:prstGeom prst="rect">
            <a:avLst/>
          </a:prstGeom>
          <a:solidFill>
            <a:srgbClr val="1A1A5E"/>
          </a:solidFill>
          <a:ln w="6350">
            <a:solidFill>
              <a:srgbClr val="2A2A7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880406BE-87A5-1C87-3621-D90B8EC0A3F8}"/>
              </a:ext>
            </a:extLst>
          </p:cNvPr>
          <p:cNvSpPr/>
          <p:nvPr/>
        </p:nvSpPr>
        <p:spPr>
          <a:xfrm>
            <a:off x="548640" y="3398682"/>
            <a:ext cx="171450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8A465428-7F32-3F3E-2EDA-8C4D996E7F7E}"/>
              </a:ext>
            </a:extLst>
          </p:cNvPr>
          <p:cNvSpPr/>
          <p:nvPr/>
        </p:nvSpPr>
        <p:spPr>
          <a:xfrm>
            <a:off x="457200" y="369129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 completado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5555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|  25% restante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81476970-3321-AEC7-1AE3-58DAD622D903}"/>
              </a:ext>
            </a:extLst>
          </p:cNvPr>
          <p:cNvSpPr/>
          <p:nvPr/>
        </p:nvSpPr>
        <p:spPr>
          <a:xfrm>
            <a:off x="914400" y="405705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064E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9D4531D5-EBF0-4F9A-B9D2-1A0C6BEE734B}"/>
              </a:ext>
            </a:extLst>
          </p:cNvPr>
          <p:cNvSpPr/>
          <p:nvPr/>
        </p:nvSpPr>
        <p:spPr>
          <a:xfrm>
            <a:off x="914400" y="405705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tiempo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02B57825-A9DF-4832-F018-A84B3BFD115F}"/>
              </a:ext>
            </a:extLst>
          </p:cNvPr>
          <p:cNvSpPr/>
          <p:nvPr/>
        </p:nvSpPr>
        <p:spPr>
          <a:xfrm>
            <a:off x="3246120" y="1112682"/>
            <a:ext cx="2651760" cy="3474720"/>
          </a:xfrm>
          <a:prstGeom prst="rect">
            <a:avLst/>
          </a:prstGeom>
          <a:solidFill>
            <a:srgbClr val="0F0F42"/>
          </a:solidFill>
          <a:ln w="19050">
            <a:solidFill>
              <a:srgbClr val="A855F7"/>
            </a:solidFill>
            <a:prstDash val="solid"/>
          </a:ln>
          <a:effectLst>
            <a:outerShdw blurRad="254000" dist="38100" dir="16200000" algn="bl" rotWithShape="0">
              <a:srgbClr val="7C3AED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2E1B2181-D17C-549E-A806-5096B0ED2E4B}"/>
              </a:ext>
            </a:extLst>
          </p:cNvPr>
          <p:cNvSpPr/>
          <p:nvPr/>
        </p:nvSpPr>
        <p:spPr>
          <a:xfrm>
            <a:off x="3246120" y="1112682"/>
            <a:ext cx="26517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9BF2EAC8-E645-2597-DD93-42337345BE9B}"/>
              </a:ext>
            </a:extLst>
          </p:cNvPr>
          <p:cNvSpPr/>
          <p:nvPr/>
        </p:nvSpPr>
        <p:spPr>
          <a:xfrm>
            <a:off x="3337560" y="115840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92187380-AC73-FCE8-3783-0840E9089052}"/>
              </a:ext>
            </a:extLst>
          </p:cNvPr>
          <p:cNvSpPr/>
          <p:nvPr/>
        </p:nvSpPr>
        <p:spPr>
          <a:xfrm>
            <a:off x="3337560" y="166132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48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258BF469-A548-D8EF-00B7-9900AD6FB701}"/>
              </a:ext>
            </a:extLst>
          </p:cNvPr>
          <p:cNvSpPr/>
          <p:nvPr/>
        </p:nvSpPr>
        <p:spPr>
          <a:xfrm>
            <a:off x="5009384" y="157452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0CE7CF29-7ADD-05F8-5FE4-34CC96C06831}"/>
              </a:ext>
            </a:extLst>
          </p:cNvPr>
          <p:cNvSpPr/>
          <p:nvPr/>
        </p:nvSpPr>
        <p:spPr>
          <a:xfrm>
            <a:off x="3337560" y="298720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99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Personalización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25">
            <a:extLst>
              <a:ext uri="{FF2B5EF4-FFF2-40B4-BE49-F238E27FC236}">
                <a16:creationId xmlns:a16="http://schemas.microsoft.com/office/drawing/2014/main" id="{339A2BE3-26A6-D0B8-4E2F-468C1E57037F}"/>
              </a:ext>
            </a:extLst>
          </p:cNvPr>
          <p:cNvSpPr/>
          <p:nvPr/>
        </p:nvSpPr>
        <p:spPr>
          <a:xfrm>
            <a:off x="3429000" y="3398682"/>
            <a:ext cx="2286000" cy="201168"/>
          </a:xfrm>
          <a:prstGeom prst="rect">
            <a:avLst/>
          </a:prstGeom>
          <a:solidFill>
            <a:srgbClr val="1A1A5E"/>
          </a:solidFill>
          <a:ln w="6350">
            <a:solidFill>
              <a:srgbClr val="2A2A7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EA88CF05-E680-76AD-BDB1-A12BE7E641E2}"/>
              </a:ext>
            </a:extLst>
          </p:cNvPr>
          <p:cNvSpPr/>
          <p:nvPr/>
        </p:nvSpPr>
        <p:spPr>
          <a:xfrm>
            <a:off x="3429000" y="3398682"/>
            <a:ext cx="1097280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204CCE3B-0C4F-772C-2AA3-8D3724855181}"/>
              </a:ext>
            </a:extLst>
          </p:cNvPr>
          <p:cNvSpPr/>
          <p:nvPr/>
        </p:nvSpPr>
        <p:spPr>
          <a:xfrm>
            <a:off x="3337560" y="369129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48% completado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5555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|  52% restante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EC37AF9E-CD08-B264-0220-88B5F0457256}"/>
              </a:ext>
            </a:extLst>
          </p:cNvPr>
          <p:cNvSpPr/>
          <p:nvPr/>
        </p:nvSpPr>
        <p:spPr>
          <a:xfrm>
            <a:off x="3794760" y="405705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2123ADB3-4E89-7394-01CC-719FA4CDBE6A}"/>
              </a:ext>
            </a:extLst>
          </p:cNvPr>
          <p:cNvSpPr/>
          <p:nvPr/>
        </p:nvSpPr>
        <p:spPr>
          <a:xfrm>
            <a:off x="3794760" y="405705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proceso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9B135B49-81D6-62BF-AFA8-8F5A16217024}"/>
              </a:ext>
            </a:extLst>
          </p:cNvPr>
          <p:cNvSpPr/>
          <p:nvPr/>
        </p:nvSpPr>
        <p:spPr>
          <a:xfrm>
            <a:off x="6126480" y="1112682"/>
            <a:ext cx="2651760" cy="3474720"/>
          </a:xfrm>
          <a:prstGeom prst="rect">
            <a:avLst/>
          </a:prstGeom>
          <a:solidFill>
            <a:srgbClr val="0F0F42"/>
          </a:solidFill>
          <a:ln w="19050">
            <a:solidFill>
              <a:srgbClr val="22D3EE"/>
            </a:solidFill>
            <a:prstDash val="solid"/>
          </a:ln>
          <a:effectLst>
            <a:outerShdw blurRad="254000" dist="38100" dir="16200000" algn="bl" rotWithShape="0">
              <a:srgbClr val="0E7490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31">
            <a:extLst>
              <a:ext uri="{FF2B5EF4-FFF2-40B4-BE49-F238E27FC236}">
                <a16:creationId xmlns:a16="http://schemas.microsoft.com/office/drawing/2014/main" id="{EC1FC56B-5F72-F8BC-9014-9BDE8946FCD5}"/>
              </a:ext>
            </a:extLst>
          </p:cNvPr>
          <p:cNvSpPr/>
          <p:nvPr/>
        </p:nvSpPr>
        <p:spPr>
          <a:xfrm>
            <a:off x="6126480" y="1112682"/>
            <a:ext cx="26517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32">
            <a:extLst>
              <a:ext uri="{FF2B5EF4-FFF2-40B4-BE49-F238E27FC236}">
                <a16:creationId xmlns:a16="http://schemas.microsoft.com/office/drawing/2014/main" id="{D49BFF66-54BC-F50C-FAAF-3DED6B458B0F}"/>
              </a:ext>
            </a:extLst>
          </p:cNvPr>
          <p:cNvSpPr/>
          <p:nvPr/>
        </p:nvSpPr>
        <p:spPr>
          <a:xfrm>
            <a:off x="6217920" y="115840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71616427-42B9-3682-4574-61C9F5685919}"/>
              </a:ext>
            </a:extLst>
          </p:cNvPr>
          <p:cNvSpPr/>
          <p:nvPr/>
        </p:nvSpPr>
        <p:spPr>
          <a:xfrm>
            <a:off x="6217920" y="166132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34">
            <a:extLst>
              <a:ext uri="{FF2B5EF4-FFF2-40B4-BE49-F238E27FC236}">
                <a16:creationId xmlns:a16="http://schemas.microsoft.com/office/drawing/2014/main" id="{CFF6B1FC-55A3-B836-1609-59455DE6279D}"/>
              </a:ext>
            </a:extLst>
          </p:cNvPr>
          <p:cNvSpPr/>
          <p:nvPr/>
        </p:nvSpPr>
        <p:spPr>
          <a:xfrm>
            <a:off x="7889744" y="157452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35">
            <a:extLst>
              <a:ext uri="{FF2B5EF4-FFF2-40B4-BE49-F238E27FC236}">
                <a16:creationId xmlns:a16="http://schemas.microsoft.com/office/drawing/2014/main" id="{C536B6AB-A1DB-149A-F554-DAAFF3DDFC46}"/>
              </a:ext>
            </a:extLst>
          </p:cNvPr>
          <p:cNvSpPr/>
          <p:nvPr/>
        </p:nvSpPr>
        <p:spPr>
          <a:xfrm>
            <a:off x="6217920" y="298720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99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Integraciones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36">
            <a:extLst>
              <a:ext uri="{FF2B5EF4-FFF2-40B4-BE49-F238E27FC236}">
                <a16:creationId xmlns:a16="http://schemas.microsoft.com/office/drawing/2014/main" id="{69C3FF19-9809-17E1-0087-47D56850B593}"/>
              </a:ext>
            </a:extLst>
          </p:cNvPr>
          <p:cNvSpPr/>
          <p:nvPr/>
        </p:nvSpPr>
        <p:spPr>
          <a:xfrm>
            <a:off x="6309360" y="3398682"/>
            <a:ext cx="2286000" cy="201168"/>
          </a:xfrm>
          <a:prstGeom prst="rect">
            <a:avLst/>
          </a:prstGeom>
          <a:solidFill>
            <a:srgbClr val="1A1A5E"/>
          </a:solidFill>
          <a:ln w="6350">
            <a:solidFill>
              <a:srgbClr val="2A2A7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37">
            <a:extLst>
              <a:ext uri="{FF2B5EF4-FFF2-40B4-BE49-F238E27FC236}">
                <a16:creationId xmlns:a16="http://schemas.microsoft.com/office/drawing/2014/main" id="{55E21E93-80C2-969D-6A4C-9C358DCF9652}"/>
              </a:ext>
            </a:extLst>
          </p:cNvPr>
          <p:cNvSpPr/>
          <p:nvPr/>
        </p:nvSpPr>
        <p:spPr>
          <a:xfrm>
            <a:off x="6309360" y="3398682"/>
            <a:ext cx="68580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38">
            <a:extLst>
              <a:ext uri="{FF2B5EF4-FFF2-40B4-BE49-F238E27FC236}">
                <a16:creationId xmlns:a16="http://schemas.microsoft.com/office/drawing/2014/main" id="{C461B670-8BEC-A4ED-BD0C-EB78CE58CF9B}"/>
              </a:ext>
            </a:extLst>
          </p:cNvPr>
          <p:cNvSpPr/>
          <p:nvPr/>
        </p:nvSpPr>
        <p:spPr>
          <a:xfrm>
            <a:off x="6217920" y="369129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30% completado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5555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|  70% restante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39">
            <a:extLst>
              <a:ext uri="{FF2B5EF4-FFF2-40B4-BE49-F238E27FC236}">
                <a16:creationId xmlns:a16="http://schemas.microsoft.com/office/drawing/2014/main" id="{C2B10A38-AD5A-3670-4C8D-BD9CD3E3FA1B}"/>
              </a:ext>
            </a:extLst>
          </p:cNvPr>
          <p:cNvSpPr/>
          <p:nvPr/>
        </p:nvSpPr>
        <p:spPr>
          <a:xfrm>
            <a:off x="6675120" y="405705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2D1B0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40">
            <a:extLst>
              <a:ext uri="{FF2B5EF4-FFF2-40B4-BE49-F238E27FC236}">
                <a16:creationId xmlns:a16="http://schemas.microsoft.com/office/drawing/2014/main" id="{CD795B39-DD39-2A1E-201C-F093A904CAB8}"/>
              </a:ext>
            </a:extLst>
          </p:cNvPr>
          <p:cNvSpPr/>
          <p:nvPr/>
        </p:nvSpPr>
        <p:spPr>
          <a:xfrm>
            <a:off x="6675120" y="405705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Iniciando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644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55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828800" y="10972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dar inicio al proyecto, necesitamos avanzar en los siguientes puntos de manera conjunta: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777240" cy="1005840"/>
          </a:xfrm>
          <a:prstGeom prst="rect">
            <a:avLst/>
          </a:prstGeom>
          <a:solidFill>
            <a:srgbClr val="1CB8E8">
              <a:alpha val="85000"/>
            </a:srgbClr>
          </a:solidFill>
          <a:ln w="12700">
            <a:solidFill>
              <a:srgbClr val="1CB8E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457200" y="132588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58191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139903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Nombramiento de Líderes de Área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920240" y="17647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 Group designa a los responsables funcionales por cada área involucrada en el proyecto para asegurar la coordinación efectiva.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457200" y="2468880"/>
            <a:ext cx="777240" cy="100584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457200" y="246888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72491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254203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del Paquete de Información Fase 1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920240" y="29077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del checklist inicial con la documentación requerida: CSD, e.firma, Excel de catálogos y balanza de comprobación.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5"/>
          <p:cNvSpPr/>
          <p:nvPr/>
        </p:nvSpPr>
        <p:spPr>
          <a:xfrm>
            <a:off x="457200" y="3611880"/>
            <a:ext cx="777240" cy="100584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6"/>
          <p:cNvSpPr/>
          <p:nvPr/>
        </p:nvSpPr>
        <p:spPr>
          <a:xfrm>
            <a:off x="457200" y="361188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867912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20240" y="368503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Oficial del Proyecto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920240" y="40507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inaugural con todos los stakeholders para alinear expectativas, confirmar el roadmap y arrancar formalmente la Fase 1.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0F5C"/>
          </a:solidFill>
          <a:ln w="12700">
            <a:solidFill>
              <a:srgbClr val="0D0B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Global  |  Transformación Digital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625</Words>
  <Application>Microsoft Office PowerPoint</Application>
  <PresentationFormat>Presentación en pantalla (16:9)</PresentationFormat>
  <Paragraphs>164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Transformación Digital Atio Group</dc:title>
  <dc:subject>PptxGenJS Presentation</dc:subject>
  <dc:creator>PptxGenJS</dc:creator>
  <cp:lastModifiedBy>Eduardo Acevedo Garcia</cp:lastModifiedBy>
  <cp:revision>12</cp:revision>
  <dcterms:created xsi:type="dcterms:W3CDTF">2026-02-20T07:51:15Z</dcterms:created>
  <dcterms:modified xsi:type="dcterms:W3CDTF">2026-02-20T16:54:47Z</dcterms:modified>
</cp:coreProperties>
</file>