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317" userDrawn="1">
          <p15:clr>
            <a:srgbClr val="A4A3A4"/>
          </p15:clr>
        </p15:guide>
        <p15:guide id="3" pos="15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>
        <p:guide orient="horz" pos="1620"/>
        <p:guide pos="317"/>
        <p:guide pos="15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.svg"/><Relationship Id="rId5" Type="http://schemas.openxmlformats.org/officeDocument/2006/relationships/image" Target="../media/image18.png"/><Relationship Id="rId10" Type="http://schemas.openxmlformats.org/officeDocument/2006/relationships/image" Target="../media/image1.png"/><Relationship Id="rId4" Type="http://schemas.openxmlformats.org/officeDocument/2006/relationships/image" Target="../media/image17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3.png"/><Relationship Id="rId5" Type="http://schemas.openxmlformats.org/officeDocument/2006/relationships/image" Target="../media/image21.png"/><Relationship Id="rId10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2011680"/>
            <a:ext cx="6400800" cy="6400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46C2CE">
              <a:alpha val="32000"/>
            </a:srgbClr>
          </a:solidFill>
          <a:ln w="12700">
            <a:solidFill>
              <a:srgbClr val="46C2CE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2011680" y="3200400"/>
            <a:ext cx="5029200" cy="5029200"/>
          </a:xfrm>
          <a:prstGeom prst="ellipse">
            <a:avLst/>
          </a:prstGeom>
          <a:solidFill>
            <a:srgbClr val="263980">
              <a:alpha val="62000"/>
            </a:srgbClr>
          </a:solidFill>
          <a:ln w="12700">
            <a:solidFill>
              <a:srgbClr val="263980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3474720" cy="48006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502920" y="1143000"/>
            <a:ext cx="2011680" cy="256032"/>
          </a:xfrm>
          <a:prstGeom prst="rect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502920" y="1143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5087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502920" y="210312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502920" y="2944368"/>
            <a:ext cx="3291840" cy="438912"/>
          </a:xfrm>
          <a:prstGeom prst="rect">
            <a:avLst/>
          </a:prstGeom>
          <a:solidFill>
            <a:srgbClr val="263980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02920" y="29443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GROUP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02920" y="34930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Acelerada  ·  Odoo v19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913632"/>
            <a:ext cx="64008" cy="47548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3"/>
          <p:cNvSpPr/>
          <p:nvPr/>
        </p:nvSpPr>
        <p:spPr>
          <a:xfrm>
            <a:off x="685800" y="39136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Presenta: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58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Dolores Martínez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0" y="4718304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sunname.com.mx</a:t>
            </a:r>
            <a:endParaRPr lang="en-US" sz="850" dirty="0"/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ED3B0965-9B3C-6F7A-2D34-D123E2987F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36" y="142738"/>
            <a:ext cx="2786892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03120" y="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ALTO RENDIMIENTO — EL MOTOR DEL PROYECTO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Atio Group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8503920" cy="512064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502920" y="91440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para cumplir este cronograma acelerado es nuestro equipo de 5 especialistas dedicados.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1572768"/>
            <a:ext cx="16002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320040" y="1572768"/>
            <a:ext cx="1600200" cy="5669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02336" y="1636776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402336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307592" y="1627632"/>
            <a:ext cx="475488" cy="47548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174650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1480" y="22128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480" y="2679192"/>
            <a:ext cx="45720" cy="5669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521208" y="267919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tiempos y ruta crítica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1480" y="33375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la coordinación general, seguimiento del cronograma y gestión de riesgos del proyecto.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039112" y="1572768"/>
            <a:ext cx="16002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2039112" y="1572768"/>
            <a:ext cx="160020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19"/>
          <p:cNvSpPr/>
          <p:nvPr/>
        </p:nvSpPr>
        <p:spPr>
          <a:xfrm>
            <a:off x="2121408" y="1636776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0"/>
          <p:cNvSpPr/>
          <p:nvPr/>
        </p:nvSpPr>
        <p:spPr>
          <a:xfrm>
            <a:off x="2121408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3026664" y="1627632"/>
            <a:ext cx="475488" cy="47548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1746504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130552" y="22128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Funcional Sr.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2130552" y="2679192"/>
            <a:ext cx="4572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4"/>
          <p:cNvSpPr/>
          <p:nvPr/>
        </p:nvSpPr>
        <p:spPr>
          <a:xfrm>
            <a:off x="2240280" y="267919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Financiera y Fiscal SAT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2130552" y="33375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 en configuración contable, cumplimiento SAT 4.0 y flujos financieros críticos.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3758184" y="1572768"/>
            <a:ext cx="16002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27"/>
          <p:cNvSpPr/>
          <p:nvPr/>
        </p:nvSpPr>
        <p:spPr>
          <a:xfrm>
            <a:off x="3758184" y="1572768"/>
            <a:ext cx="1600200" cy="56692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28"/>
          <p:cNvSpPr/>
          <p:nvPr/>
        </p:nvSpPr>
        <p:spPr>
          <a:xfrm>
            <a:off x="3840480" y="1636776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9"/>
          <p:cNvSpPr/>
          <p:nvPr/>
        </p:nvSpPr>
        <p:spPr>
          <a:xfrm>
            <a:off x="3840480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745736" y="1627632"/>
            <a:ext cx="475488" cy="47548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746504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849624" y="22128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de Operaciones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849624" y="2679192"/>
            <a:ext cx="45720" cy="56692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3"/>
          <p:cNvSpPr/>
          <p:nvPr/>
        </p:nvSpPr>
        <p:spPr>
          <a:xfrm>
            <a:off x="3959352" y="267919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HW, Series y Proyectos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3849624" y="33375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ventas de hardware, control de números de serie e inventario y gestión de proyectos.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5477256" y="1572768"/>
            <a:ext cx="16002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2" name="Shape 36"/>
          <p:cNvSpPr/>
          <p:nvPr/>
        </p:nvSpPr>
        <p:spPr>
          <a:xfrm>
            <a:off x="5477256" y="1572768"/>
            <a:ext cx="1600200" cy="5669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37"/>
          <p:cNvSpPr/>
          <p:nvPr/>
        </p:nvSpPr>
        <p:spPr>
          <a:xfrm>
            <a:off x="5559552" y="1636776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8"/>
          <p:cNvSpPr/>
          <p:nvPr/>
        </p:nvSpPr>
        <p:spPr>
          <a:xfrm>
            <a:off x="5559552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6464808" y="1627632"/>
            <a:ext cx="475488" cy="47548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746504"/>
            <a:ext cx="237744" cy="23774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5568696" y="22128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Senior v19</a:t>
            </a:r>
            <a:endParaRPr lang="en-US" sz="1050" dirty="0"/>
          </a:p>
        </p:txBody>
      </p:sp>
      <p:sp>
        <p:nvSpPr>
          <p:cNvPr id="48" name="Shape 41"/>
          <p:cNvSpPr/>
          <p:nvPr/>
        </p:nvSpPr>
        <p:spPr>
          <a:xfrm>
            <a:off x="5568696" y="2679192"/>
            <a:ext cx="45720" cy="5669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2"/>
          <p:cNvSpPr/>
          <p:nvPr/>
        </p:nvSpPr>
        <p:spPr>
          <a:xfrm>
            <a:off x="5678424" y="267919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y API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5568696" y="33375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integraciones técnicas, desarrollo de módulos personalizados y conectividad con sistemas externos.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7196328" y="1572768"/>
            <a:ext cx="16002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2" name="Shape 45"/>
          <p:cNvSpPr/>
          <p:nvPr/>
        </p:nvSpPr>
        <p:spPr>
          <a:xfrm>
            <a:off x="7196328" y="1572768"/>
            <a:ext cx="160020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Shape 46"/>
          <p:cNvSpPr/>
          <p:nvPr/>
        </p:nvSpPr>
        <p:spPr>
          <a:xfrm>
            <a:off x="7278624" y="1636776"/>
            <a:ext cx="402336" cy="402336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47"/>
          <p:cNvSpPr/>
          <p:nvPr/>
        </p:nvSpPr>
        <p:spPr>
          <a:xfrm>
            <a:off x="7278624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8183880" y="1627632"/>
            <a:ext cx="475488" cy="475488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2" y="1746504"/>
            <a:ext cx="237744" cy="237744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>
            <a:off x="7287768" y="221284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Datos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7287768" y="2679192"/>
            <a:ext cx="4572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1"/>
          <p:cNvSpPr/>
          <p:nvPr/>
        </p:nvSpPr>
        <p:spPr>
          <a:xfrm>
            <a:off x="7397496" y="267919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y soporte adopción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7287768" y="3337560"/>
            <a:ext cx="1417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y validación de datos maestros, carga masiva de inventario y soporte en la adopción del sistema.</a:t>
            </a:r>
            <a:endParaRPr lang="en-US" sz="800" dirty="0"/>
          </a:p>
        </p:txBody>
      </p:sp>
      <p:pic>
        <p:nvPicPr>
          <p:cNvPr id="61" name="Gráfico 60">
            <a:extLst>
              <a:ext uri="{FF2B5EF4-FFF2-40B4-BE49-F238E27FC236}">
                <a16:creationId xmlns:a16="http://schemas.microsoft.com/office/drawing/2014/main" id="{5ABF915C-ECF2-8C3B-E138-213565C9AC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87" y="12970"/>
            <a:ext cx="185793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03120" y="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ACELERADO — 6.5 MESES TOTALES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Atio Group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" y="2212848"/>
            <a:ext cx="8458200" cy="1097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47472" y="914400"/>
            <a:ext cx="2743200" cy="118872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2496312" y="987552"/>
            <a:ext cx="475488" cy="47548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08813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" y="96926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– 2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4632" y="1188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536192" y="2103120"/>
            <a:ext cx="384048" cy="384048"/>
          </a:xfrm>
          <a:prstGeom prst="ellipse">
            <a:avLst/>
          </a:prstGeom>
          <a:solidFill>
            <a:srgbClr val="26398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347472" y="2450592"/>
            <a:ext cx="27432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639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347472" y="2450592"/>
            <a:ext cx="54864" cy="123444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512064" y="2505456"/>
            <a:ext cx="248716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Operativo 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de Sistemas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46120" y="914400"/>
            <a:ext cx="2697480" cy="118872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5349240" y="987552"/>
            <a:ext cx="475488" cy="47548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08813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83280" y="969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2.5 – 3.5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38328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4411980" y="2103120"/>
            <a:ext cx="384048" cy="384048"/>
          </a:xfrm>
          <a:prstGeom prst="ellipse">
            <a:avLst/>
          </a:prstGeom>
          <a:solidFill>
            <a:srgbClr val="7F52A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3246120" y="2450592"/>
            <a:ext cx="26974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7F52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1"/>
          <p:cNvSpPr/>
          <p:nvPr/>
        </p:nvSpPr>
        <p:spPr>
          <a:xfrm>
            <a:off x="3246120" y="2450592"/>
            <a:ext cx="54864" cy="123444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2"/>
          <p:cNvSpPr/>
          <p:nvPr/>
        </p:nvSpPr>
        <p:spPr>
          <a:xfrm>
            <a:off x="3410712" y="2505456"/>
            <a:ext cx="24414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Optimización, Control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Ecoeficiencia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108192" y="914400"/>
            <a:ext cx="2697480" cy="1188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8211312" y="987552"/>
            <a:ext cx="475488" cy="475488"/>
          </a:xfrm>
          <a:prstGeom prst="ellipse">
            <a:avLst/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1088136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245352" y="969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 – 6.5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245352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7274052" y="2103120"/>
            <a:ext cx="384048" cy="384048"/>
          </a:xfrm>
          <a:prstGeom prst="ellipse">
            <a:avLst/>
          </a:prstGeom>
          <a:solidFill>
            <a:srgbClr val="46C2C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28"/>
          <p:cNvSpPr/>
          <p:nvPr/>
        </p:nvSpPr>
        <p:spPr>
          <a:xfrm>
            <a:off x="6108192" y="2450592"/>
            <a:ext cx="26974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46C2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5" name="Shape 29"/>
          <p:cNvSpPr/>
          <p:nvPr/>
        </p:nvSpPr>
        <p:spPr>
          <a:xfrm>
            <a:off x="6108192" y="2450592"/>
            <a:ext cx="54864" cy="123444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0"/>
          <p:cNvSpPr/>
          <p:nvPr/>
        </p:nvSpPr>
        <p:spPr>
          <a:xfrm>
            <a:off x="6272784" y="2505456"/>
            <a:ext cx="24414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Técnicas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Ecosistema Digital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3035808" y="3794760"/>
            <a:ext cx="0" cy="566928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2"/>
          <p:cNvSpPr/>
          <p:nvPr/>
        </p:nvSpPr>
        <p:spPr>
          <a:xfrm>
            <a:off x="347472" y="3813048"/>
            <a:ext cx="4114800" cy="502920"/>
          </a:xfrm>
          <a:prstGeom prst="rect">
            <a:avLst/>
          </a:prstGeom>
          <a:solidFill>
            <a:srgbClr val="F39C12">
              <a:alpha val="90000"/>
            </a:srgbClr>
          </a:solidFill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3"/>
          <p:cNvSpPr/>
          <p:nvPr/>
        </p:nvSpPr>
        <p:spPr>
          <a:xfrm>
            <a:off x="457200" y="3904488"/>
            <a:ext cx="310896" cy="310896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968496"/>
            <a:ext cx="182880" cy="18288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68680" y="3813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CRÍTICO  ·  Go-Live Administrativo al finalizar el Mes 2</a:t>
            </a:r>
            <a:endParaRPr lang="en-US" sz="1050" dirty="0"/>
          </a:p>
        </p:txBody>
      </p:sp>
      <p:pic>
        <p:nvPicPr>
          <p:cNvPr id="42" name="Gráfico 41">
            <a:extLst>
              <a:ext uri="{FF2B5EF4-FFF2-40B4-BE49-F238E27FC236}">
                <a16:creationId xmlns:a16="http://schemas.microsoft.com/office/drawing/2014/main" id="{612FE756-1399-0AD3-2F92-1FA0ABD466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587" y="12970"/>
            <a:ext cx="185793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4754880" cy="475488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365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1664208"/>
            <a:ext cx="2286000" cy="310896"/>
          </a:xfrm>
          <a:prstGeom prst="rect">
            <a:avLst/>
          </a:prstGeom>
          <a:solidFill>
            <a:srgbClr val="46C2CE">
              <a:alpha val="85000"/>
            </a:srgbClr>
          </a:solidFill>
          <a:ln w="12700">
            <a:solidFill>
              <a:srgbClr val="46C2C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731520" y="1664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–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" y="20848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MVP Operativo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731520" y="2926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Tomar el control financiero y operativo en tiempo récord.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31520" y="3493008"/>
            <a:ext cx="228600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87F4B9FC-60AE-748D-A80A-4B4D6ADE9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628" y="4734395"/>
            <a:ext cx="1393448" cy="54000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89B5D8A3-F265-5277-0A29-5A881DF2E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36" y="142738"/>
            <a:ext cx="2786892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03120" y="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MVP OPERATIVO  ·  MESES 1-2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Atio Group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32688"/>
            <a:ext cx="50292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32688"/>
            <a:ext cx="5029200" cy="5669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241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9784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664208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566928" y="1828800"/>
            <a:ext cx="493776" cy="493776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4767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17190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SAT 4.0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52144" y="1993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 y recepción de CFDI, catálogos fiscales, retenciones y contabilidad electrónica.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2642616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566928" y="2807208"/>
            <a:ext cx="493776" cy="49377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260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52144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 HW/SW y Series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52144" y="2971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órdenes de venta de hardware y software con trazabilidad por número de serie.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57200" y="3621024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566928" y="3785616"/>
            <a:ext cx="493776" cy="493776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0448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2144" y="3675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Inventario Seriado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52144" y="3950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del inventario inicial con validación y asignación de números de serie auditados.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532120" y="932688"/>
            <a:ext cx="32918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2"/>
          <p:cNvSpPr/>
          <p:nvPr/>
        </p:nvSpPr>
        <p:spPr>
          <a:xfrm>
            <a:off x="5532120" y="932688"/>
            <a:ext cx="329184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102412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08192" y="97840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 ·  Semana 1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5650992" y="1664208"/>
            <a:ext cx="3017520" cy="47548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25"/>
          <p:cNvSpPr/>
          <p:nvPr/>
        </p:nvSpPr>
        <p:spPr>
          <a:xfrm>
            <a:off x="5742432" y="1737360"/>
            <a:ext cx="329184" cy="329184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728" y="1819656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163056" y="166420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Digitales (CSD) y e.firma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5650992" y="2249424"/>
            <a:ext cx="3017520" cy="47548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28"/>
          <p:cNvSpPr/>
          <p:nvPr/>
        </p:nvSpPr>
        <p:spPr>
          <a:xfrm>
            <a:off x="5742432" y="2322576"/>
            <a:ext cx="329184" cy="32918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2404872"/>
            <a:ext cx="164592" cy="16459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163056" y="22494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Clientes y Proveedores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5650992" y="2834640"/>
            <a:ext cx="3017520" cy="47548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1"/>
          <p:cNvSpPr/>
          <p:nvPr/>
        </p:nvSpPr>
        <p:spPr>
          <a:xfrm>
            <a:off x="5742432" y="2907792"/>
            <a:ext cx="329184" cy="329184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728" y="2990088"/>
            <a:ext cx="164592" cy="16459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163056" y="283464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de Productos y Servicios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5650992" y="3419856"/>
            <a:ext cx="3017520" cy="47548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34"/>
          <p:cNvSpPr/>
          <p:nvPr/>
        </p:nvSpPr>
        <p:spPr>
          <a:xfrm>
            <a:off x="5742432" y="3493008"/>
            <a:ext cx="329184" cy="329184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3575304"/>
            <a:ext cx="164592" cy="164592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163056" y="341985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Inventario Seriado auditado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5650992" y="4005072"/>
            <a:ext cx="3017520" cy="475488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Shape 37"/>
          <p:cNvSpPr/>
          <p:nvPr/>
        </p:nvSpPr>
        <p:spPr>
          <a:xfrm>
            <a:off x="5742432" y="4078224"/>
            <a:ext cx="329184" cy="329184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4728" y="4160520"/>
            <a:ext cx="164592" cy="164592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6163056" y="40050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 de comprobación y estados de cuenta</a:t>
            </a:r>
            <a:endParaRPr lang="en-US" sz="900" dirty="0"/>
          </a:p>
        </p:txBody>
      </p:sp>
      <p:pic>
        <p:nvPicPr>
          <p:cNvPr id="52" name="Gráfico 51">
            <a:extLst>
              <a:ext uri="{FF2B5EF4-FFF2-40B4-BE49-F238E27FC236}">
                <a16:creationId xmlns:a16="http://schemas.microsoft.com/office/drawing/2014/main" id="{7D89C17D-AEBB-7CD4-7E04-AB00EF43D09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587" y="12970"/>
            <a:ext cx="185793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4754880" cy="475488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365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1664208"/>
            <a:ext cx="2286000" cy="310896"/>
          </a:xfrm>
          <a:prstGeom prst="rect">
            <a:avLst/>
          </a:prstGeom>
          <a:solidFill>
            <a:srgbClr val="46C2CE">
              <a:alpha val="85000"/>
            </a:srgbClr>
          </a:solidFill>
          <a:ln w="12700">
            <a:solidFill>
              <a:srgbClr val="46C2C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731520" y="1664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2.5 – 3.5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" y="20848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Optimización y Control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731520" y="2926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Automatización de flujos y atención al cliente.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31520" y="3493008"/>
            <a:ext cx="228600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35F4E6DD-83DD-9E78-A6DB-1B877CE2F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628" y="4734395"/>
            <a:ext cx="1393448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03120" y="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OPTIMIZACIÓN Y CONTROL  ·  MESES 2.5-3.5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Atio Group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32688"/>
            <a:ext cx="50292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32688"/>
            <a:ext cx="5029200" cy="566928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241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9784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664208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566928" y="1828800"/>
            <a:ext cx="493776" cy="493776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4767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17190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para Gasolineras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52144" y="1993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soporte técnico especializado para tickets de instalación y mantenimiento en gasolineras.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2642616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566928" y="2807208"/>
            <a:ext cx="493776" cy="493776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260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52144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 de Instalación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52144" y="2971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seguimiento y control de proyectos de instalación de equipos en clientes.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57200" y="3621024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566928" y="3785616"/>
            <a:ext cx="493776" cy="49377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0448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2144" y="3675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Sign y Aprobaciones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52144" y="3950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de contratos de distribución y flujos de aprobación internos digitales.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532120" y="932688"/>
            <a:ext cx="32918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2"/>
          <p:cNvSpPr/>
          <p:nvPr/>
        </p:nvSpPr>
        <p:spPr>
          <a:xfrm>
            <a:off x="5532120" y="932688"/>
            <a:ext cx="329184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102412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08192" y="97840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 ·  Semana 9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5650992" y="1664208"/>
            <a:ext cx="3017520" cy="585216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25"/>
          <p:cNvSpPr/>
          <p:nvPr/>
        </p:nvSpPr>
        <p:spPr>
          <a:xfrm>
            <a:off x="5742432" y="1773936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1856232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181344" y="16642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técnico de instalación en gasolineras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5650992" y="2368296"/>
            <a:ext cx="3017520" cy="585216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28"/>
          <p:cNvSpPr/>
          <p:nvPr/>
        </p:nvSpPr>
        <p:spPr>
          <a:xfrm>
            <a:off x="5742432" y="2478024"/>
            <a:ext cx="347472" cy="347472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2560320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181344" y="236829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contratos de distribución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5650992" y="3072384"/>
            <a:ext cx="3017520" cy="585216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1"/>
          <p:cNvSpPr/>
          <p:nvPr/>
        </p:nvSpPr>
        <p:spPr>
          <a:xfrm>
            <a:off x="5742432" y="3182112"/>
            <a:ext cx="347472" cy="347472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728" y="3264408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181344" y="307238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identidad de marca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5650992" y="3776472"/>
            <a:ext cx="3017520" cy="585216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34"/>
          <p:cNvSpPr/>
          <p:nvPr/>
        </p:nvSpPr>
        <p:spPr>
          <a:xfrm>
            <a:off x="5742432" y="3886200"/>
            <a:ext cx="347472" cy="347472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3968496"/>
            <a:ext cx="182880" cy="182880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181344" y="377647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para campañas de Marketing</a:t>
            </a:r>
            <a:endParaRPr lang="en-US" sz="900" dirty="0"/>
          </a:p>
        </p:txBody>
      </p:sp>
      <p:pic>
        <p:nvPicPr>
          <p:cNvPr id="48" name="Gráfico 47">
            <a:extLst>
              <a:ext uri="{FF2B5EF4-FFF2-40B4-BE49-F238E27FC236}">
                <a16:creationId xmlns:a16="http://schemas.microsoft.com/office/drawing/2014/main" id="{9E463364-9BE2-8E0B-92AD-7D3ACC76D0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587" y="12970"/>
            <a:ext cx="185793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3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4754880" cy="4754880"/>
          </a:xfrm>
          <a:prstGeom prst="ellipse">
            <a:avLst/>
          </a:prstGeom>
          <a:solidFill>
            <a:srgbClr val="263980">
              <a:alpha val="70000"/>
            </a:srgbClr>
          </a:solidFill>
          <a:ln w="12700">
            <a:solidFill>
              <a:srgbClr val="26398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2560320"/>
            <a:ext cx="4114800" cy="4114800"/>
          </a:xfrm>
          <a:prstGeom prst="ellipse">
            <a:avLst/>
          </a:prstGeom>
          <a:solidFill>
            <a:srgbClr val="46C2CE">
              <a:alpha val="25000"/>
            </a:srgbClr>
          </a:solidFill>
          <a:ln w="12700">
            <a:solidFill>
              <a:srgbClr val="46C2C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2743200" cy="2743200"/>
          </a:xfrm>
          <a:prstGeom prst="ellipse">
            <a:avLst/>
          </a:prstGeom>
          <a:solidFill>
            <a:srgbClr val="7F52A0">
              <a:alpha val="40000"/>
            </a:srgbClr>
          </a:solidFill>
          <a:ln w="12700">
            <a:solidFill>
              <a:srgbClr val="7F52A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731520" y="3657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46C2C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1188720" cy="1188720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1901952"/>
            <a:ext cx="685800" cy="685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1664208"/>
            <a:ext cx="2286000" cy="310896"/>
          </a:xfrm>
          <a:prstGeom prst="rect">
            <a:avLst/>
          </a:prstGeom>
          <a:solidFill>
            <a:srgbClr val="46C2CE">
              <a:alpha val="85000"/>
            </a:srgbClr>
          </a:solidFill>
          <a:ln w="12700">
            <a:solidFill>
              <a:srgbClr val="46C2C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731520" y="16642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 – 6.5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31520" y="20848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Integraciones Especializadas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731520" y="292608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Conectividad total y automatización de comisiones.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31520" y="3493008"/>
            <a:ext cx="2286000" cy="45720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D2B643A8-00D4-600C-AA74-2F1CBD159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628" y="4734395"/>
            <a:ext cx="1393448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03120" y="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INTEGRACIONES ESPECIALIZADAS  ·  MESES 4-6.5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 </a:t>
            </a:r>
            <a:r>
              <a:rPr lang="en-US" sz="8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Atio Group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32688"/>
            <a:ext cx="502920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320040" y="932688"/>
            <a:ext cx="502920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0241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9784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Principales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664208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566928" y="1828800"/>
            <a:ext cx="493776" cy="493776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4767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52144" y="17190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Bidireccional con Core Atio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152144" y="199339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en tiempo real entre Odoo v19 y el sistema Core de Atio vía endpoints REST/JSON.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2642616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4"/>
          <p:cNvSpPr/>
          <p:nvPr/>
        </p:nvSpPr>
        <p:spPr>
          <a:xfrm>
            <a:off x="566928" y="2807208"/>
            <a:ext cx="493776" cy="493776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2608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52144" y="26974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Comisiones Automático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52144" y="29718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liquidación automática de comisiones a partners según matriz lógica definida.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57200" y="3621024"/>
            <a:ext cx="4754880" cy="822960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18"/>
          <p:cNvSpPr/>
          <p:nvPr/>
        </p:nvSpPr>
        <p:spPr>
          <a:xfrm>
            <a:off x="566928" y="3785616"/>
            <a:ext cx="493776" cy="493776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04488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52144" y="3675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Partners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152144" y="39502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self-service para distribuidores: consulta de comisiones, pedidos y reportes en línea.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5532120" y="932688"/>
            <a:ext cx="32918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2"/>
          <p:cNvSpPr/>
          <p:nvPr/>
        </p:nvSpPr>
        <p:spPr>
          <a:xfrm>
            <a:off x="5532120" y="932688"/>
            <a:ext cx="3291840" cy="5669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568" y="1024128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108192" y="97840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Requeridos  ·  Semana 16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5650992" y="1664208"/>
            <a:ext cx="3017520" cy="621792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25"/>
          <p:cNvSpPr/>
          <p:nvPr/>
        </p:nvSpPr>
        <p:spPr>
          <a:xfrm>
            <a:off x="5742432" y="1783080"/>
            <a:ext cx="365760" cy="365760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4728" y="1874520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181344" y="166420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 API Atio (Endpoints)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5650992" y="2414016"/>
            <a:ext cx="3017520" cy="621792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28"/>
          <p:cNvSpPr/>
          <p:nvPr/>
        </p:nvSpPr>
        <p:spPr>
          <a:xfrm>
            <a:off x="5742432" y="2532888"/>
            <a:ext cx="365760" cy="36576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2624328"/>
            <a:ext cx="201168" cy="20116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181344" y="241401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lógica de cálculo de comisiones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5650992" y="3163824"/>
            <a:ext cx="3017520" cy="621792"/>
          </a:xfrm>
          <a:prstGeom prst="rect">
            <a:avLst/>
          </a:prstGeom>
          <a:solidFill>
            <a:srgbClr val="F4F6FB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Shape 31"/>
          <p:cNvSpPr/>
          <p:nvPr/>
        </p:nvSpPr>
        <p:spPr>
          <a:xfrm>
            <a:off x="5742432" y="3282696"/>
            <a:ext cx="365760" cy="365760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4728" y="3374136"/>
            <a:ext cx="201168" cy="20116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6181344" y="316382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bancarios para pagos masivos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5650992" y="3913632"/>
            <a:ext cx="3017520" cy="6400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60720" y="4023360"/>
            <a:ext cx="274320" cy="27432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108192" y="39136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layouts bancarios para automatizar pagos masivos a partners.</a:t>
            </a:r>
            <a:endParaRPr lang="en-US" sz="850" dirty="0"/>
          </a:p>
        </p:txBody>
      </p:sp>
      <p:pic>
        <p:nvPicPr>
          <p:cNvPr id="47" name="Gráfico 46">
            <a:extLst>
              <a:ext uri="{FF2B5EF4-FFF2-40B4-BE49-F238E27FC236}">
                <a16:creationId xmlns:a16="http://schemas.microsoft.com/office/drawing/2014/main" id="{A80830AE-128F-7ACD-2BD1-8042A87CE7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587" y="12970"/>
            <a:ext cx="185793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2103120" y="0"/>
            <a:ext cx="6720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ADOPCIÓN PRESENCIAL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sunname.com.mx  ·  Impulsa Tu Negocio  ·  Atio Group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955280" y="4846320"/>
            <a:ext cx="1005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0040" y="932688"/>
            <a:ext cx="4114800" cy="3767328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  <a:effectLst>
            <a:outerShdw blurRad="177800" dist="635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7"/>
          <p:cNvSpPr/>
          <p:nvPr/>
        </p:nvSpPr>
        <p:spPr>
          <a:xfrm>
            <a:off x="2560320" y="-274320"/>
            <a:ext cx="3200400" cy="3200400"/>
          </a:xfrm>
          <a:prstGeom prst="ellipse">
            <a:avLst/>
          </a:prstGeom>
          <a:solidFill>
            <a:srgbClr val="46C2CE">
              <a:alpha val="18000"/>
            </a:srgbClr>
          </a:solidFill>
          <a:ln w="12700">
            <a:solidFill>
              <a:srgbClr val="46C2CE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7F52A0">
              <a:alpha val="30000"/>
            </a:srgbClr>
          </a:solidFill>
          <a:ln w="12700">
            <a:solidFill>
              <a:srgbClr val="7F52A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155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8448" y="107899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Éxito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57200" y="1901952"/>
            <a:ext cx="3749040" cy="36576"/>
          </a:xfrm>
          <a:prstGeom prst="rect">
            <a:avLst/>
          </a:prstGeom>
          <a:solidFill>
            <a:srgbClr val="46C2CE">
              <a:alpha val="60000"/>
            </a:srgbClr>
          </a:solidFill>
          <a:ln w="12700">
            <a:solidFill>
              <a:srgbClr val="46C2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1"/>
          <p:cNvSpPr/>
          <p:nvPr/>
        </p:nvSpPr>
        <p:spPr>
          <a:xfrm>
            <a:off x="457200" y="2139696"/>
            <a:ext cx="384048" cy="384048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2240280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Usuarios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6012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empleados de Atio inician operación real en Odoo al finalizar el Mes 2, sincronizado con el Go-Live administrativo.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7F52A0">
              <a:alpha val="80000"/>
            </a:srgbClr>
          </a:solidFill>
          <a:ln w="12700">
            <a:solidFill>
              <a:srgbClr val="7F52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10896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Intensiva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96012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presenciales en la Semana 7 y 8, cubiertas por nuestra célula especializada in situ en las instalaciones de Atio.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46C2CE">
              <a:alpha val="80000"/>
            </a:srgbClr>
          </a:solidFill>
          <a:ln w="12700">
            <a:solidFill>
              <a:srgbClr val="46C2C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977640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3813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Presencial Mes 3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96012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primer mes de operación real, la célula brinda acompañamiento presencial para garantizar la adopción exitosa.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4617720" y="932688"/>
            <a:ext cx="4206240" cy="3767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1"/>
          <p:cNvSpPr/>
          <p:nvPr/>
        </p:nvSpPr>
        <p:spPr>
          <a:xfrm>
            <a:off x="4617720" y="932688"/>
            <a:ext cx="4206240" cy="566928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2"/>
          <p:cNvSpPr/>
          <p:nvPr/>
        </p:nvSpPr>
        <p:spPr>
          <a:xfrm>
            <a:off x="5212080" y="97840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Adopción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285232" y="1627632"/>
            <a:ext cx="0" cy="2944368"/>
          </a:xfrm>
          <a:prstGeom prst="line">
            <a:avLst/>
          </a:prstGeom>
          <a:noFill/>
          <a:ln w="25400">
            <a:solidFill>
              <a:srgbClr val="46C2CE"/>
            </a:solidFill>
            <a:prstDash val="sysDot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24"/>
          <p:cNvSpPr/>
          <p:nvPr/>
        </p:nvSpPr>
        <p:spPr>
          <a:xfrm>
            <a:off x="5093208" y="1737360"/>
            <a:ext cx="384048" cy="384048"/>
          </a:xfrm>
          <a:prstGeom prst="ellipse">
            <a:avLst/>
          </a:prstGeom>
          <a:solidFill>
            <a:srgbClr val="F39C12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1837944"/>
            <a:ext cx="182880" cy="18288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596128" y="1700784"/>
            <a:ext cx="749808" cy="237744"/>
          </a:xfrm>
          <a:prstGeom prst="rect">
            <a:avLst/>
          </a:prstGeom>
          <a:solidFill>
            <a:srgbClr val="F39C12">
              <a:alpha val="88000"/>
            </a:srgbClr>
          </a:solidFill>
          <a:ln w="63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26"/>
          <p:cNvSpPr/>
          <p:nvPr/>
        </p:nvSpPr>
        <p:spPr>
          <a:xfrm>
            <a:off x="5596128" y="170078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800" dirty="0"/>
          </a:p>
        </p:txBody>
      </p:sp>
      <p:sp>
        <p:nvSpPr>
          <p:cNvPr id="36" name="Text 27"/>
          <p:cNvSpPr/>
          <p:nvPr/>
        </p:nvSpPr>
        <p:spPr>
          <a:xfrm>
            <a:off x="6473952" y="1682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Administrativo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6473952" y="19568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empiezan a operar en Odoo.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5093208" y="2450592"/>
            <a:ext cx="384048" cy="384048"/>
          </a:xfrm>
          <a:prstGeom prst="ellipse">
            <a:avLst/>
          </a:prstGeom>
          <a:solidFill>
            <a:srgbClr val="26398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551176"/>
            <a:ext cx="182880" cy="18288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596128" y="2414016"/>
            <a:ext cx="749808" cy="237744"/>
          </a:xfrm>
          <a:prstGeom prst="rect">
            <a:avLst/>
          </a:prstGeom>
          <a:solidFill>
            <a:srgbClr val="263980">
              <a:alpha val="88000"/>
            </a:srgbClr>
          </a:solidFill>
          <a:ln w="635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1"/>
          <p:cNvSpPr/>
          <p:nvPr/>
        </p:nvSpPr>
        <p:spPr>
          <a:xfrm>
            <a:off x="5596128" y="24140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63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7-8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6473952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Intensiva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6473952" y="26700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presenciales con toda la célula.</a:t>
            </a:r>
            <a:endParaRPr lang="en-US" sz="850" dirty="0"/>
          </a:p>
        </p:txBody>
      </p:sp>
      <p:sp>
        <p:nvSpPr>
          <p:cNvPr id="44" name="Shape 34"/>
          <p:cNvSpPr/>
          <p:nvPr/>
        </p:nvSpPr>
        <p:spPr>
          <a:xfrm>
            <a:off x="5093208" y="3163824"/>
            <a:ext cx="384048" cy="384048"/>
          </a:xfrm>
          <a:prstGeom prst="ellipse">
            <a:avLst/>
          </a:prstGeom>
          <a:solidFill>
            <a:srgbClr val="46C2CE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3264408"/>
            <a:ext cx="182880" cy="182880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5596128" y="3127248"/>
            <a:ext cx="749808" cy="237744"/>
          </a:xfrm>
          <a:prstGeom prst="rect">
            <a:avLst/>
          </a:prstGeom>
          <a:solidFill>
            <a:srgbClr val="46C2CE">
              <a:alpha val="88000"/>
            </a:srgbClr>
          </a:solidFill>
          <a:ln w="635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36"/>
          <p:cNvSpPr/>
          <p:nvPr/>
        </p:nvSpPr>
        <p:spPr>
          <a:xfrm>
            <a:off x="5596128" y="31272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6473952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Presencial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6473952" y="3383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in situ primer mes real.</a:t>
            </a:r>
            <a:endParaRPr lang="en-US" sz="850" dirty="0"/>
          </a:p>
        </p:txBody>
      </p:sp>
      <p:sp>
        <p:nvSpPr>
          <p:cNvPr id="50" name="Shape 39"/>
          <p:cNvSpPr/>
          <p:nvPr/>
        </p:nvSpPr>
        <p:spPr>
          <a:xfrm>
            <a:off x="5093208" y="3877056"/>
            <a:ext cx="384048" cy="384048"/>
          </a:xfrm>
          <a:prstGeom prst="ellipse">
            <a:avLst/>
          </a:prstGeom>
          <a:solidFill>
            <a:srgbClr val="7F52A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792" y="3977640"/>
            <a:ext cx="182880" cy="182880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5596128" y="3840480"/>
            <a:ext cx="749808" cy="237744"/>
          </a:xfrm>
          <a:prstGeom prst="rect">
            <a:avLst/>
          </a:prstGeom>
          <a:solidFill>
            <a:srgbClr val="7F52A0">
              <a:alpha val="88000"/>
            </a:srgbClr>
          </a:solidFill>
          <a:ln w="635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41"/>
          <p:cNvSpPr/>
          <p:nvPr/>
        </p:nvSpPr>
        <p:spPr>
          <a:xfrm>
            <a:off x="5596128" y="384048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F5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4+</a:t>
            </a:r>
            <a:endParaRPr lang="en-US" sz="800" dirty="0"/>
          </a:p>
        </p:txBody>
      </p:sp>
      <p:sp>
        <p:nvSpPr>
          <p:cNvPr id="54" name="Text 42"/>
          <p:cNvSpPr/>
          <p:nvPr/>
        </p:nvSpPr>
        <p:spPr>
          <a:xfrm>
            <a:off x="6473952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Autónoma</a:t>
            </a:r>
            <a:endParaRPr lang="en-US" sz="1000" dirty="0"/>
          </a:p>
        </p:txBody>
      </p:sp>
      <p:sp>
        <p:nvSpPr>
          <p:cNvPr id="55" name="Text 43"/>
          <p:cNvSpPr/>
          <p:nvPr/>
        </p:nvSpPr>
        <p:spPr>
          <a:xfrm>
            <a:off x="6473952" y="40965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Atio opera de forma independiente.</a:t>
            </a:r>
            <a:endParaRPr lang="en-US" sz="850" dirty="0"/>
          </a:p>
        </p:txBody>
      </p:sp>
      <p:pic>
        <p:nvPicPr>
          <p:cNvPr id="56" name="Gráfico 55">
            <a:extLst>
              <a:ext uri="{FF2B5EF4-FFF2-40B4-BE49-F238E27FC236}">
                <a16:creationId xmlns:a16="http://schemas.microsoft.com/office/drawing/2014/main" id="{6597960D-21B9-864B-F6B6-5CB52860B2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587" y="12970"/>
            <a:ext cx="1857930" cy="720000"/>
          </a:xfrm>
          <a:prstGeom prst="rect">
            <a:avLst/>
          </a:prstGeom>
        </p:spPr>
      </p:pic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71AD507C-0B6C-2A5B-3408-170CE4EF24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1042416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828800"/>
            <a:ext cx="6400800" cy="6400800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766560" y="-731520"/>
            <a:ext cx="4114800" cy="4114800"/>
          </a:xfrm>
          <a:prstGeom prst="ellipse">
            <a:avLst/>
          </a:prstGeom>
          <a:solidFill>
            <a:srgbClr val="46C2CE">
              <a:alpha val="30000"/>
            </a:srgbClr>
          </a:solidFill>
          <a:ln w="12700">
            <a:solidFill>
              <a:srgbClr val="46C2C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-1828800" y="2926080"/>
            <a:ext cx="5029200" cy="5029200"/>
          </a:xfrm>
          <a:prstGeom prst="ellipse">
            <a:avLst/>
          </a:prstGeom>
          <a:solidFill>
            <a:srgbClr val="263980">
              <a:alpha val="60000"/>
            </a:srgbClr>
          </a:solidFill>
          <a:ln w="12700">
            <a:solidFill>
              <a:srgbClr val="26398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943600" y="4846320"/>
            <a:ext cx="3200400" cy="29718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502920" y="1005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502920" y="1664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arrancar el proyecto juntos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2103120"/>
            <a:ext cx="2286000" cy="45720"/>
          </a:xfrm>
          <a:prstGeom prst="rect">
            <a:avLst/>
          </a:prstGeom>
          <a:solidFill>
            <a:srgbClr val="46C2CE">
              <a:alpha val="60000"/>
            </a:srgbClr>
          </a:solidFill>
          <a:ln w="12700">
            <a:solidFill>
              <a:srgbClr val="46C2C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8"/>
          <p:cNvSpPr/>
          <p:nvPr/>
        </p:nvSpPr>
        <p:spPr>
          <a:xfrm>
            <a:off x="502920" y="2304288"/>
            <a:ext cx="4663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502920" y="2304288"/>
            <a:ext cx="64008" cy="685800"/>
          </a:xfrm>
          <a:prstGeom prst="rect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640080" y="2432304"/>
            <a:ext cx="429768" cy="429768"/>
          </a:xfrm>
          <a:prstGeom prst="ellipse">
            <a:avLst/>
          </a:prstGeom>
          <a:solidFill>
            <a:srgbClr val="46C2CE"/>
          </a:solidFill>
          <a:ln w="12700">
            <a:solidFill>
              <a:srgbClr val="46C2C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640080" y="2432304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70432" y="2359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Nombramiento de líderes de área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170432" y="262432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Group designa a los responsables por área que serán los puntos de contacto durante el proyecto.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02920" y="3108960"/>
            <a:ext cx="4663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5"/>
          <p:cNvSpPr/>
          <p:nvPr/>
        </p:nvSpPr>
        <p:spPr>
          <a:xfrm>
            <a:off x="502920" y="3108960"/>
            <a:ext cx="64008" cy="685800"/>
          </a:xfrm>
          <a:prstGeom prst="rect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640080" y="3236976"/>
            <a:ext cx="429768" cy="429768"/>
          </a:xfrm>
          <a:prstGeom prst="ellipse">
            <a:avLst/>
          </a:prstGeom>
          <a:solidFill>
            <a:srgbClr val="7F52A0"/>
          </a:solidFill>
          <a:ln w="12700">
            <a:solidFill>
              <a:srgbClr val="7F52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640080" y="3236976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170432" y="31638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Paquete Fase 1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170432" y="3429000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 entrega el "Paquete de Información Fase 1": el checklist inicial con todos los insumos requeridos en la Semana 1.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02920" y="3913632"/>
            <a:ext cx="46634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1"/>
          <p:cNvSpPr/>
          <p:nvPr/>
        </p:nvSpPr>
        <p:spPr>
          <a:xfrm>
            <a:off x="502920" y="3913632"/>
            <a:ext cx="64008" cy="685800"/>
          </a:xfrm>
          <a:prstGeom prst="rect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2"/>
          <p:cNvSpPr/>
          <p:nvPr/>
        </p:nvSpPr>
        <p:spPr>
          <a:xfrm>
            <a:off x="640080" y="4041648"/>
            <a:ext cx="429768" cy="429768"/>
          </a:xfrm>
          <a:prstGeom prst="ellipse">
            <a:avLst/>
          </a:prstGeom>
          <a:solidFill>
            <a:srgbClr val="263980"/>
          </a:solidFill>
          <a:ln w="12700">
            <a:solidFill>
              <a:srgbClr val="26398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3"/>
          <p:cNvSpPr/>
          <p:nvPr/>
        </p:nvSpPr>
        <p:spPr>
          <a:xfrm>
            <a:off x="640080" y="4041648"/>
            <a:ext cx="429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170432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Oficial del Proyecto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70432" y="4233672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inaugural con toda la célula y los líderes de Atio para alinear expectativas, cronograma y compromisos.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5376672" y="347472"/>
            <a:ext cx="3447288" cy="4389120"/>
          </a:xfrm>
          <a:prstGeom prst="rect">
            <a:avLst/>
          </a:prstGeom>
          <a:solidFill>
            <a:srgbClr val="26398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5468112" y="59436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¡Listos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Kick-off!</a:t>
            </a:r>
            <a:endParaRPr lang="en-US" sz="3200" dirty="0"/>
          </a:p>
        </p:txBody>
      </p:sp>
      <p:sp>
        <p:nvSpPr>
          <p:cNvPr id="32" name="Shape 28"/>
          <p:cNvSpPr/>
          <p:nvPr/>
        </p:nvSpPr>
        <p:spPr>
          <a:xfrm>
            <a:off x="5943600" y="2697480"/>
            <a:ext cx="2286000" cy="45720"/>
          </a:xfrm>
          <a:prstGeom prst="rect">
            <a:avLst/>
          </a:prstGeom>
          <a:solidFill>
            <a:srgbClr val="46C2CE">
              <a:alpha val="70000"/>
            </a:srgbClr>
          </a:solidFill>
          <a:ln w="12700">
            <a:solidFill>
              <a:srgbClr val="46C2C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5468112" y="28346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Dolores Martínez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468112" y="31821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Sunname Technologies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6172200" y="3566160"/>
            <a:ext cx="1828800" cy="1828800"/>
          </a:xfrm>
          <a:prstGeom prst="ellipse">
            <a:avLst/>
          </a:prstGeom>
          <a:solidFill>
            <a:srgbClr val="46C2CE">
              <a:alpha val="15000"/>
            </a:srgbClr>
          </a:solidFill>
          <a:ln w="12700">
            <a:solidFill>
              <a:srgbClr val="46C2C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977640"/>
            <a:ext cx="731520" cy="7315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0" y="4892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 ·  sunname.com.mx  ·  Atio Group</a:t>
            </a:r>
            <a:endParaRPr lang="en-US" sz="800" dirty="0"/>
          </a:p>
        </p:txBody>
      </p:sp>
      <p:pic>
        <p:nvPicPr>
          <p:cNvPr id="39" name="Gráfico 38">
            <a:extLst>
              <a:ext uri="{FF2B5EF4-FFF2-40B4-BE49-F238E27FC236}">
                <a16:creationId xmlns:a16="http://schemas.microsoft.com/office/drawing/2014/main" id="{D590BA27-4A1F-42D7-40B9-2BEC7A8E51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36" y="142738"/>
            <a:ext cx="2786892" cy="10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918</Words>
  <Application>Microsoft Office PowerPoint</Application>
  <PresentationFormat>Presentación en pantalla (16:9)</PresentationFormat>
  <Paragraphs>157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Atio Group — Transformación Digital Odoo v19</dc:title>
  <dc:subject>PptxGenJS Presentation</dc:subject>
  <dc:creator>PptxGenJS</dc:creator>
  <cp:lastModifiedBy>Eduardo Acevedo Garcia</cp:lastModifiedBy>
  <cp:revision>4</cp:revision>
  <dcterms:created xsi:type="dcterms:W3CDTF">2026-02-20T06:27:16Z</dcterms:created>
  <dcterms:modified xsi:type="dcterms:W3CDTF">2026-02-20T07:36:00Z</dcterms:modified>
</cp:coreProperties>
</file>