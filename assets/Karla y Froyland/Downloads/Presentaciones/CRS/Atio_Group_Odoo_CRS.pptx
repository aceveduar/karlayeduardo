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FD8"/>
    <a:srgbClr val="1E3A8A"/>
    <a:srgbClr val="1A0F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69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2286000" y="2743200"/>
            <a:ext cx="5486400" cy="5486400"/>
          </a:xfrm>
          <a:prstGeom prst="ellipse">
            <a:avLst/>
          </a:prstGeom>
          <a:solidFill>
            <a:srgbClr val="2D1B7E">
              <a:alpha val="65000"/>
            </a:srgbClr>
          </a:solidFill>
          <a:ln w="12700">
            <a:solidFill>
              <a:srgbClr val="2D1B7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5303520" y="-2286000"/>
            <a:ext cx="6858000" cy="6858000"/>
          </a:xfrm>
          <a:prstGeom prst="ellipse">
            <a:avLst/>
          </a:prstGeom>
          <a:solidFill>
            <a:srgbClr val="2D1B7E"/>
          </a:solidFill>
          <a:ln w="12700">
            <a:solidFill>
              <a:srgbClr val="2D1B7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1E3A8A">
              <a:alpha val="45000"/>
            </a:srgbClr>
          </a:solidFill>
          <a:ln w="12700">
            <a:solidFill>
              <a:srgbClr val="1E3A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3657600" cy="4800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4747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57200" y="1188720"/>
            <a:ext cx="2194560" cy="274320"/>
          </a:xfrm>
          <a:prstGeom prst="rect">
            <a:avLst/>
          </a:prstGeom>
          <a:solidFill>
            <a:srgbClr val="00C2FF">
              <a:alpha val="82000"/>
            </a:srgbClr>
          </a:solidFill>
          <a:ln w="12700">
            <a:solidFill>
              <a:srgbClr val="00C2FF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5720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157276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57200" y="217627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4200" dirty="0"/>
          </a:p>
        </p:txBody>
      </p:sp>
      <p:sp>
        <p:nvSpPr>
          <p:cNvPr id="14" name="Shape 11"/>
          <p:cNvSpPr/>
          <p:nvPr/>
        </p:nvSpPr>
        <p:spPr>
          <a:xfrm>
            <a:off x="457200" y="2999232"/>
            <a:ext cx="3474720" cy="438912"/>
          </a:xfrm>
          <a:prstGeom prst="rect">
            <a:avLst/>
          </a:prstGeom>
          <a:solidFill>
            <a:srgbClr val="1E3A8A"/>
          </a:solidFill>
          <a:ln w="1524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457200" y="299923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 GROUP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7200" y="3547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Acelerada  ·  Odoo v19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950208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640080" y="3950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4151376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Dolores Martínez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0" y="4718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·  crs-global.com</a:t>
            </a:r>
            <a:endParaRPr lang="en-US" sz="85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7AC4A43-14EF-E4D0-32B1-2BEF6BCFF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055" y="1060704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144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" y="1280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72768" y="164592"/>
            <a:ext cx="0" cy="411480"/>
          </a:xfrm>
          <a:prstGeom prst="line">
            <a:avLst/>
          </a:prstGeom>
          <a:noFill/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73736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ALTO RENDIMIENTO — EL MOTOR DEL PROYECTO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2286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22860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crs-global.com  ·  Transformación Inteligente para un Mundo Digital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932688"/>
            <a:ext cx="8503920" cy="512064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0" y="704412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502920" y="978408"/>
            <a:ext cx="8138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para cumplir este cronograma acelerado es nuestro equipo de 5 especialistas dedicados.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608" y="1554480"/>
            <a:ext cx="1609344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292608" y="1554480"/>
            <a:ext cx="1609344" cy="59436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384048" y="1627632"/>
            <a:ext cx="420624" cy="420624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384048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298448" y="1627632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1737360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4048" y="22128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84048" y="2706624"/>
            <a:ext cx="45720" cy="5669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493776" y="270662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tiempos y ruta crítica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84048" y="3364992"/>
            <a:ext cx="1426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general, seguimiento del cronograma y gestión de riesgos del proyecto.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020824" y="1554480"/>
            <a:ext cx="1609344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3"/>
          <p:cNvSpPr/>
          <p:nvPr/>
        </p:nvSpPr>
        <p:spPr>
          <a:xfrm>
            <a:off x="2020824" y="1554480"/>
            <a:ext cx="1609344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5"/>
          <p:cNvSpPr/>
          <p:nvPr/>
        </p:nvSpPr>
        <p:spPr>
          <a:xfrm>
            <a:off x="2112264" y="1627632"/>
            <a:ext cx="420624" cy="420624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6"/>
          <p:cNvSpPr/>
          <p:nvPr/>
        </p:nvSpPr>
        <p:spPr>
          <a:xfrm>
            <a:off x="2112264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026664" y="1627632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1737360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2112264" y="22128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Funcional Sr.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2112264" y="2706624"/>
            <a:ext cx="45720" cy="5669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0"/>
          <p:cNvSpPr/>
          <p:nvPr/>
        </p:nvSpPr>
        <p:spPr>
          <a:xfrm>
            <a:off x="2221992" y="270662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Financiera y Fiscal SAT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2112264" y="3364992"/>
            <a:ext cx="1426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 en configuración contable, cumplimiento SAT 4.0 y flujos financieros críticos.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3749040" y="1554480"/>
            <a:ext cx="1609344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Shape 33"/>
          <p:cNvSpPr/>
          <p:nvPr/>
        </p:nvSpPr>
        <p:spPr>
          <a:xfrm>
            <a:off x="3749040" y="1554480"/>
            <a:ext cx="1609344" cy="59436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5"/>
          <p:cNvSpPr/>
          <p:nvPr/>
        </p:nvSpPr>
        <p:spPr>
          <a:xfrm>
            <a:off x="3840480" y="1627632"/>
            <a:ext cx="420624" cy="420624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6"/>
          <p:cNvSpPr/>
          <p:nvPr/>
        </p:nvSpPr>
        <p:spPr>
          <a:xfrm>
            <a:off x="384048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4754880" y="1627632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1737360"/>
            <a:ext cx="201168" cy="20116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3840480" y="22128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de Operaciones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3840480" y="2706624"/>
            <a:ext cx="45720" cy="5669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0"/>
          <p:cNvSpPr/>
          <p:nvPr/>
        </p:nvSpPr>
        <p:spPr>
          <a:xfrm>
            <a:off x="3950208" y="270662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HW, Series y Proyectos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3840480" y="3364992"/>
            <a:ext cx="1426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 hardware, control de números de serie, inventario y gestión de proyectos.</a:t>
            </a:r>
            <a:endParaRPr lang="en-US" sz="800" dirty="0"/>
          </a:p>
        </p:txBody>
      </p:sp>
      <p:sp>
        <p:nvSpPr>
          <p:cNvPr id="48" name="Shape 42"/>
          <p:cNvSpPr/>
          <p:nvPr/>
        </p:nvSpPr>
        <p:spPr>
          <a:xfrm>
            <a:off x="5477256" y="1554480"/>
            <a:ext cx="1609344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9" name="Shape 43"/>
          <p:cNvSpPr/>
          <p:nvPr/>
        </p:nvSpPr>
        <p:spPr>
          <a:xfrm>
            <a:off x="5477256" y="1554480"/>
            <a:ext cx="1609344" cy="59436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5"/>
          <p:cNvSpPr/>
          <p:nvPr/>
        </p:nvSpPr>
        <p:spPr>
          <a:xfrm>
            <a:off x="5568696" y="1627632"/>
            <a:ext cx="420624" cy="420624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6"/>
          <p:cNvSpPr/>
          <p:nvPr/>
        </p:nvSpPr>
        <p:spPr>
          <a:xfrm>
            <a:off x="5568696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3" name="Shape 47"/>
          <p:cNvSpPr/>
          <p:nvPr/>
        </p:nvSpPr>
        <p:spPr>
          <a:xfrm>
            <a:off x="6483096" y="1627632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1737360"/>
            <a:ext cx="201168" cy="201168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5568696" y="22128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Senior v19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5568696" y="2706624"/>
            <a:ext cx="45720" cy="5669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0"/>
          <p:cNvSpPr/>
          <p:nvPr/>
        </p:nvSpPr>
        <p:spPr>
          <a:xfrm>
            <a:off x="5678424" y="270662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y API</a:t>
            </a:r>
            <a:endParaRPr lang="en-US" sz="850" dirty="0"/>
          </a:p>
        </p:txBody>
      </p:sp>
      <p:sp>
        <p:nvSpPr>
          <p:cNvPr id="58" name="Text 51"/>
          <p:cNvSpPr/>
          <p:nvPr/>
        </p:nvSpPr>
        <p:spPr>
          <a:xfrm>
            <a:off x="5568696" y="3364992"/>
            <a:ext cx="1426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técnicas, módulos personalizados y conectividad con sistemas externos.</a:t>
            </a:r>
            <a:endParaRPr lang="en-US" sz="800" dirty="0"/>
          </a:p>
        </p:txBody>
      </p:sp>
      <p:sp>
        <p:nvSpPr>
          <p:cNvPr id="59" name="Shape 52"/>
          <p:cNvSpPr/>
          <p:nvPr/>
        </p:nvSpPr>
        <p:spPr>
          <a:xfrm>
            <a:off x="7205472" y="1554480"/>
            <a:ext cx="1609344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0" name="Shape 53"/>
          <p:cNvSpPr/>
          <p:nvPr/>
        </p:nvSpPr>
        <p:spPr>
          <a:xfrm>
            <a:off x="7205472" y="1554480"/>
            <a:ext cx="1609344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Shape 55"/>
          <p:cNvSpPr/>
          <p:nvPr/>
        </p:nvSpPr>
        <p:spPr>
          <a:xfrm>
            <a:off x="7296912" y="1627632"/>
            <a:ext cx="420624" cy="420624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56"/>
          <p:cNvSpPr/>
          <p:nvPr/>
        </p:nvSpPr>
        <p:spPr>
          <a:xfrm>
            <a:off x="7296912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4" name="Shape 57"/>
          <p:cNvSpPr/>
          <p:nvPr/>
        </p:nvSpPr>
        <p:spPr>
          <a:xfrm>
            <a:off x="8211312" y="1627632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1737360"/>
            <a:ext cx="201168" cy="201168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7296912" y="22128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Datos</a:t>
            </a:r>
            <a:endParaRPr lang="en-US" sz="1000" dirty="0"/>
          </a:p>
        </p:txBody>
      </p:sp>
      <p:sp>
        <p:nvSpPr>
          <p:cNvPr id="67" name="Shape 59"/>
          <p:cNvSpPr/>
          <p:nvPr/>
        </p:nvSpPr>
        <p:spPr>
          <a:xfrm>
            <a:off x="7296912" y="2706624"/>
            <a:ext cx="45720" cy="5669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Text 60"/>
          <p:cNvSpPr/>
          <p:nvPr/>
        </p:nvSpPr>
        <p:spPr>
          <a:xfrm>
            <a:off x="7406640" y="270662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y soporte adopción</a:t>
            </a:r>
            <a:endParaRPr lang="en-US" sz="850" dirty="0"/>
          </a:p>
        </p:txBody>
      </p:sp>
      <p:sp>
        <p:nvSpPr>
          <p:cNvPr id="69" name="Text 61"/>
          <p:cNvSpPr/>
          <p:nvPr/>
        </p:nvSpPr>
        <p:spPr>
          <a:xfrm>
            <a:off x="7296912" y="3364992"/>
            <a:ext cx="1426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y validación de datos maestros, carga masiva de inventario y soporte adopción.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144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" y="1280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72768" y="164592"/>
            <a:ext cx="0" cy="411480"/>
          </a:xfrm>
          <a:prstGeom prst="line">
            <a:avLst/>
          </a:prstGeom>
          <a:noFill/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73736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ACELERADO — 6.5 MESES TOTALES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2286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22860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crs-global.com  ·  Transformación Inteligente para un Mundo Digital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" y="2212848"/>
            <a:ext cx="8458200" cy="12801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47472" y="914400"/>
            <a:ext cx="2743200" cy="118872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2468880" y="1005840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10642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4632" y="98755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– 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4632" y="12070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517904" y="2084832"/>
            <a:ext cx="402336" cy="402336"/>
          </a:xfrm>
          <a:prstGeom prst="ellipse">
            <a:avLst/>
          </a:prstGeom>
          <a:solidFill>
            <a:srgbClr val="1A0F5C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347472" y="2450592"/>
            <a:ext cx="2743200" cy="1234440"/>
          </a:xfrm>
          <a:prstGeom prst="rect">
            <a:avLst/>
          </a:prstGeom>
          <a:solidFill>
            <a:srgbClr val="FFFFFF"/>
          </a:solidFill>
          <a:ln w="11430">
            <a:solidFill>
              <a:srgbClr val="1A0F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347472" y="2450592"/>
            <a:ext cx="64008" cy="123444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530352" y="252374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Operativo 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Sistemas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246120" y="914400"/>
            <a:ext cx="2697480" cy="1188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2"/>
          <p:cNvSpPr/>
          <p:nvPr/>
        </p:nvSpPr>
        <p:spPr>
          <a:xfrm>
            <a:off x="5321808" y="1005840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110642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383280" y="987552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2.5 – 3.5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383280" y="1207008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4393692" y="2084832"/>
            <a:ext cx="402336" cy="402336"/>
          </a:xfrm>
          <a:prstGeom prst="ellipse">
            <a:avLst/>
          </a:prstGeom>
          <a:solidFill>
            <a:srgbClr val="1E3A8A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6"/>
          <p:cNvSpPr/>
          <p:nvPr/>
        </p:nvSpPr>
        <p:spPr>
          <a:xfrm>
            <a:off x="3246120" y="2450592"/>
            <a:ext cx="2697480" cy="1234440"/>
          </a:xfrm>
          <a:prstGeom prst="rect">
            <a:avLst/>
          </a:prstGeom>
          <a:solidFill>
            <a:srgbClr val="FFFFFF"/>
          </a:solidFill>
          <a:ln w="11430">
            <a:solidFill>
              <a:srgbClr val="1E3A8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27"/>
          <p:cNvSpPr/>
          <p:nvPr/>
        </p:nvSpPr>
        <p:spPr>
          <a:xfrm>
            <a:off x="3246120" y="2450592"/>
            <a:ext cx="64008" cy="1234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9"/>
          <p:cNvSpPr/>
          <p:nvPr/>
        </p:nvSpPr>
        <p:spPr>
          <a:xfrm>
            <a:off x="3429000" y="2523744"/>
            <a:ext cx="2404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Optimización, Control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Ecoeficiencia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108192" y="914400"/>
            <a:ext cx="2697480" cy="11887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2"/>
          <p:cNvSpPr/>
          <p:nvPr/>
        </p:nvSpPr>
        <p:spPr>
          <a:xfrm>
            <a:off x="8183880" y="1005840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1106424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45352" y="987552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 – 6.5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245352" y="1207008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600" dirty="0"/>
          </a:p>
        </p:txBody>
      </p:sp>
      <p:sp>
        <p:nvSpPr>
          <p:cNvPr id="41" name="Shape 35"/>
          <p:cNvSpPr/>
          <p:nvPr/>
        </p:nvSpPr>
        <p:spPr>
          <a:xfrm>
            <a:off x="7255764" y="2084832"/>
            <a:ext cx="402336" cy="402336"/>
          </a:xfrm>
          <a:prstGeom prst="ellipse">
            <a:avLst/>
          </a:prstGeom>
          <a:solidFill>
            <a:srgbClr val="1D6FD8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36"/>
          <p:cNvSpPr/>
          <p:nvPr/>
        </p:nvSpPr>
        <p:spPr>
          <a:xfrm>
            <a:off x="6108192" y="2450592"/>
            <a:ext cx="2697480" cy="1234440"/>
          </a:xfrm>
          <a:prstGeom prst="rect">
            <a:avLst/>
          </a:prstGeom>
          <a:solidFill>
            <a:srgbClr val="FFFFFF"/>
          </a:solidFill>
          <a:ln w="11430">
            <a:solidFill>
              <a:srgbClr val="1D6F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3" name="Shape 37"/>
          <p:cNvSpPr/>
          <p:nvPr/>
        </p:nvSpPr>
        <p:spPr>
          <a:xfrm>
            <a:off x="6108192" y="2450592"/>
            <a:ext cx="64008" cy="123444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39"/>
          <p:cNvSpPr/>
          <p:nvPr/>
        </p:nvSpPr>
        <p:spPr>
          <a:xfrm>
            <a:off x="6291072" y="2523744"/>
            <a:ext cx="24048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Técnicas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Ecosistema Digital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347472" y="3858768"/>
            <a:ext cx="4297680" cy="502920"/>
          </a:xfrm>
          <a:prstGeom prst="rect">
            <a:avLst/>
          </a:prstGeom>
          <a:solidFill>
            <a:srgbClr val="F59E0B">
              <a:alpha val="88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2"/>
          <p:cNvSpPr/>
          <p:nvPr/>
        </p:nvSpPr>
        <p:spPr>
          <a:xfrm>
            <a:off x="457200" y="394106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014216"/>
            <a:ext cx="173736" cy="173736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877824" y="3858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CRÍTICO  ·  Go-Live Administrativo al finalizar el Mes 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E3A8A">
              <a:alpha val="35000"/>
            </a:srgbClr>
          </a:solidFill>
          <a:ln w="12700">
            <a:solidFill>
              <a:srgbClr val="1E3A8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914400"/>
            <a:ext cx="3200400" cy="3200400"/>
          </a:xfrm>
          <a:prstGeom prst="ellipse">
            <a:avLst/>
          </a:prstGeom>
          <a:solidFill>
            <a:srgbClr val="1D6FD8">
              <a:alpha val="45000"/>
            </a:srgbClr>
          </a:solidFill>
          <a:ln w="12700">
            <a:solidFill>
              <a:srgbClr val="1D6F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93ED0F99-BC95-429E-29E2-CE459D3EAE95}"/>
              </a:ext>
            </a:extLst>
          </p:cNvPr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D1B7E">
              <a:alpha val="50000"/>
            </a:srgbClr>
          </a:solidFill>
          <a:ln w="12700">
            <a:solidFill>
              <a:srgbClr val="2D1B7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2926080" cy="2971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737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0" dirty="0"/>
          </a:p>
        </p:txBody>
      </p:sp>
      <p:sp>
        <p:nvSpPr>
          <p:cNvPr id="11" name="Shape 8"/>
          <p:cNvSpPr/>
          <p:nvPr/>
        </p:nvSpPr>
        <p:spPr>
          <a:xfrm>
            <a:off x="731520" y="1685410"/>
            <a:ext cx="2377440" cy="329184"/>
          </a:xfrm>
          <a:prstGeom prst="rect">
            <a:avLst/>
          </a:prstGeom>
          <a:solidFill>
            <a:srgbClr val="00C2FF">
              <a:alpha val="85000"/>
            </a:srgbClr>
          </a:solidFill>
          <a:ln w="12700">
            <a:solidFill>
              <a:srgbClr val="00C2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731520" y="168541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– 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60920" y="1600200"/>
            <a:ext cx="1188720" cy="1188720"/>
          </a:xfrm>
          <a:prstGeom prst="ellipse">
            <a:avLst/>
          </a:prstGeom>
          <a:solidFill>
            <a:srgbClr val="00C2FF">
              <a:alpha val="80000"/>
            </a:srgbClr>
          </a:solidFill>
          <a:ln w="12700">
            <a:solidFill>
              <a:srgbClr val="00C2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856232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1993392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MVP Operativo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73152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Tomar el control financiero y operativo en tiempo récord.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731520" y="3429000"/>
            <a:ext cx="228600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144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" y="1280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72768" y="164592"/>
            <a:ext cx="0" cy="411480"/>
          </a:xfrm>
          <a:prstGeom prst="line">
            <a:avLst/>
          </a:prstGeom>
          <a:noFill/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73736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MVP OPERATIVO  ·  MESES 1-2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2286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22860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crs-global.com  ·  Transformación Inteligente para un Mundo Digital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932688"/>
            <a:ext cx="50292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20040" y="932688"/>
            <a:ext cx="5029200" cy="585216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04241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6112" y="978408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Principales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1682496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566928" y="1847088"/>
            <a:ext cx="512064" cy="512064"/>
          </a:xfrm>
          <a:prstGeom prst="ellipse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97510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70432" y="174650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SAT 4.0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70432" y="20299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y recepción de CFDI, catálogos fiscales, retenciones y contabilidad electrónica.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2670048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566928" y="2834640"/>
            <a:ext cx="512064" cy="51206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296265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70432" y="27340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 HW/SW y Series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70432" y="301752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órdenes de venta de hardware y software con trazabilidad por número de serie.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657600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2"/>
          <p:cNvSpPr/>
          <p:nvPr/>
        </p:nvSpPr>
        <p:spPr>
          <a:xfrm>
            <a:off x="566928" y="3822192"/>
            <a:ext cx="512064" cy="512064"/>
          </a:xfrm>
          <a:prstGeom prst="ellipse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395020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70432" y="37216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Inventario Seriado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1170432" y="400507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del inventario inicial con validación y asignación de números de serie auditados.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532120" y="932688"/>
            <a:ext cx="32918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Shape 26"/>
          <p:cNvSpPr/>
          <p:nvPr/>
        </p:nvSpPr>
        <p:spPr>
          <a:xfrm>
            <a:off x="5532120" y="932688"/>
            <a:ext cx="3291840" cy="5852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8" y="1042416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26480" y="9784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 ·  Semana 1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650992" y="1664208"/>
            <a:ext cx="3017520" cy="493776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0"/>
          <p:cNvSpPr/>
          <p:nvPr/>
        </p:nvSpPr>
        <p:spPr>
          <a:xfrm>
            <a:off x="5742432" y="1746504"/>
            <a:ext cx="329184" cy="329184"/>
          </a:xfrm>
          <a:prstGeom prst="ellipse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728" y="1828800"/>
            <a:ext cx="164592" cy="16459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163056" y="1664208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Digitales (CSD) y e.firma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5650992" y="2267712"/>
            <a:ext cx="3017520" cy="493776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33"/>
          <p:cNvSpPr/>
          <p:nvPr/>
        </p:nvSpPr>
        <p:spPr>
          <a:xfrm>
            <a:off x="5742432" y="2350008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4728" y="2432304"/>
            <a:ext cx="164592" cy="16459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163056" y="226771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de Clientes y Proveedores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5650992" y="2871216"/>
            <a:ext cx="3017520" cy="493776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36"/>
          <p:cNvSpPr/>
          <p:nvPr/>
        </p:nvSpPr>
        <p:spPr>
          <a:xfrm>
            <a:off x="5742432" y="2953512"/>
            <a:ext cx="329184" cy="329184"/>
          </a:xfrm>
          <a:prstGeom prst="ellipse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3035808"/>
            <a:ext cx="164592" cy="16459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163056" y="287121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de Productos y Servicios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5650992" y="3474720"/>
            <a:ext cx="3017520" cy="493776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39"/>
          <p:cNvSpPr/>
          <p:nvPr/>
        </p:nvSpPr>
        <p:spPr>
          <a:xfrm>
            <a:off x="5742432" y="3557016"/>
            <a:ext cx="329184" cy="329184"/>
          </a:xfrm>
          <a:prstGeom prst="ellipse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3639312"/>
            <a:ext cx="164592" cy="164592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6163056" y="3474720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Inventario Seriado auditado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5650992" y="4078224"/>
            <a:ext cx="3017520" cy="493776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42"/>
          <p:cNvSpPr/>
          <p:nvPr/>
        </p:nvSpPr>
        <p:spPr>
          <a:xfrm>
            <a:off x="5742432" y="4160520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4728" y="4242816"/>
            <a:ext cx="164592" cy="164592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163056" y="40782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de comprobación y estados de cuenta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291D4F70-577A-692B-9F5F-175ABD32CE27}"/>
              </a:ext>
            </a:extLst>
          </p:cNvPr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D1B7E">
              <a:alpha val="50000"/>
            </a:srgbClr>
          </a:solidFill>
          <a:ln w="12700">
            <a:solidFill>
              <a:srgbClr val="2D1B7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E3A8A">
              <a:alpha val="35000"/>
            </a:srgbClr>
          </a:solidFill>
          <a:ln w="12700">
            <a:solidFill>
              <a:srgbClr val="1E3A8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914400"/>
            <a:ext cx="3200400" cy="3200400"/>
          </a:xfrm>
          <a:prstGeom prst="ellipse">
            <a:avLst/>
          </a:prstGeom>
          <a:solidFill>
            <a:srgbClr val="1D6FD8">
              <a:alpha val="45000"/>
            </a:srgbClr>
          </a:solidFill>
          <a:ln w="12700">
            <a:solidFill>
              <a:srgbClr val="1D6F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2926080" cy="2971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737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0" dirty="0"/>
          </a:p>
        </p:txBody>
      </p:sp>
      <p:sp>
        <p:nvSpPr>
          <p:cNvPr id="13" name="Shape 10"/>
          <p:cNvSpPr/>
          <p:nvPr/>
        </p:nvSpPr>
        <p:spPr>
          <a:xfrm>
            <a:off x="7360920" y="1600200"/>
            <a:ext cx="1188720" cy="1188720"/>
          </a:xfrm>
          <a:prstGeom prst="ellipse">
            <a:avLst/>
          </a:prstGeom>
          <a:solidFill>
            <a:srgbClr val="00C2FF">
              <a:alpha val="80000"/>
            </a:srgbClr>
          </a:solidFill>
          <a:ln w="12700">
            <a:solidFill>
              <a:srgbClr val="00C2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856232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1993392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Optimización y Control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73152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Automatización de flujos y atención al cliente.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731520" y="3429000"/>
            <a:ext cx="228600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6E517BD1-CCAD-34B2-92D4-C5D3EA3B2F9B}"/>
              </a:ext>
            </a:extLst>
          </p:cNvPr>
          <p:cNvSpPr/>
          <p:nvPr/>
        </p:nvSpPr>
        <p:spPr>
          <a:xfrm>
            <a:off x="731520" y="1685410"/>
            <a:ext cx="2377440" cy="329184"/>
          </a:xfrm>
          <a:prstGeom prst="rect">
            <a:avLst/>
          </a:prstGeom>
          <a:solidFill>
            <a:srgbClr val="00C2FF">
              <a:alpha val="85000"/>
            </a:srgbClr>
          </a:solidFill>
          <a:ln w="12700">
            <a:solidFill>
              <a:srgbClr val="00C2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1F407F4-E0B4-1382-91C6-C8A0E09A4B7B}"/>
              </a:ext>
            </a:extLst>
          </p:cNvPr>
          <p:cNvSpPr/>
          <p:nvPr/>
        </p:nvSpPr>
        <p:spPr>
          <a:xfrm>
            <a:off x="731520" y="168541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2.5 – 3.5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144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" y="1280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72768" y="164592"/>
            <a:ext cx="0" cy="411480"/>
          </a:xfrm>
          <a:prstGeom prst="line">
            <a:avLst/>
          </a:prstGeom>
          <a:noFill/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73736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OPTIMIZACIÓN Y CONTROL  ·  MESES 2.5-3.5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2286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22860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crs-global.com  ·  Transformación Inteligente para un Mundo Digital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932688"/>
            <a:ext cx="50292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20040" y="932688"/>
            <a:ext cx="5029200" cy="5852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04241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6112" y="978408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Principales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1682496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566928" y="1847088"/>
            <a:ext cx="512064" cy="512064"/>
          </a:xfrm>
          <a:prstGeom prst="ellipse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97510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70432" y="174650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para Gasolineras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70432" y="20299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soporte técnico especializado para tickets de instalación y mantenimiento en gasolineras.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2670048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566928" y="2834640"/>
            <a:ext cx="512064" cy="51206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296265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70432" y="27340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de Instalación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70432" y="301752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Planificación, seguimiento y control de proyectos de instalación de equipos en clientes.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657600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2"/>
          <p:cNvSpPr/>
          <p:nvPr/>
        </p:nvSpPr>
        <p:spPr>
          <a:xfrm>
            <a:off x="566928" y="3822192"/>
            <a:ext cx="512064" cy="512064"/>
          </a:xfrm>
          <a:prstGeom prst="ellipse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395020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70432" y="37216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Sign y Aprobaciones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1170432" y="400507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de contratos de distribución y flujos de aprobación internos digitales.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532120" y="932688"/>
            <a:ext cx="32918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Shape 26"/>
          <p:cNvSpPr/>
          <p:nvPr/>
        </p:nvSpPr>
        <p:spPr>
          <a:xfrm>
            <a:off x="5532120" y="932688"/>
            <a:ext cx="3291840" cy="585216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8" y="1042416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26480" y="9784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 ·  Semana 9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650992" y="1664208"/>
            <a:ext cx="3017520" cy="603504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0"/>
          <p:cNvSpPr/>
          <p:nvPr/>
        </p:nvSpPr>
        <p:spPr>
          <a:xfrm>
            <a:off x="5742432" y="1773936"/>
            <a:ext cx="347472" cy="347472"/>
          </a:xfrm>
          <a:prstGeom prst="ellipse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1856232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181344" y="16642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técnico de instalación en gasolineras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5650992" y="2386584"/>
            <a:ext cx="3017520" cy="603504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33"/>
          <p:cNvSpPr/>
          <p:nvPr/>
        </p:nvSpPr>
        <p:spPr>
          <a:xfrm>
            <a:off x="5742432" y="2496312"/>
            <a:ext cx="347472" cy="34747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2578608"/>
            <a:ext cx="182880" cy="18288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181344" y="23865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contratos de distribución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5650992" y="3108960"/>
            <a:ext cx="3017520" cy="603504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36"/>
          <p:cNvSpPr/>
          <p:nvPr/>
        </p:nvSpPr>
        <p:spPr>
          <a:xfrm>
            <a:off x="5742432" y="3218688"/>
            <a:ext cx="347472" cy="347472"/>
          </a:xfrm>
          <a:prstGeom prst="ellipse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728" y="3300984"/>
            <a:ext cx="182880" cy="18288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181344" y="31089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identidad de marca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5650992" y="3831336"/>
            <a:ext cx="3017520" cy="603504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39"/>
          <p:cNvSpPr/>
          <p:nvPr/>
        </p:nvSpPr>
        <p:spPr>
          <a:xfrm>
            <a:off x="5742432" y="3941064"/>
            <a:ext cx="347472" cy="347472"/>
          </a:xfrm>
          <a:prstGeom prst="ellipse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4728" y="4023360"/>
            <a:ext cx="182880" cy="18288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6181344" y="38313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para campañas de Marketing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2C9DF002-06FC-F026-FA01-0C40E823DE84}"/>
              </a:ext>
            </a:extLst>
          </p:cNvPr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D1B7E">
              <a:alpha val="50000"/>
            </a:srgbClr>
          </a:solidFill>
          <a:ln w="12700">
            <a:solidFill>
              <a:srgbClr val="2D1B7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E3A8A">
              <a:alpha val="35000"/>
            </a:srgbClr>
          </a:solidFill>
          <a:ln w="12700">
            <a:solidFill>
              <a:srgbClr val="1E3A8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914400"/>
            <a:ext cx="3200400" cy="3200400"/>
          </a:xfrm>
          <a:prstGeom prst="ellipse">
            <a:avLst/>
          </a:prstGeom>
          <a:solidFill>
            <a:srgbClr val="1D6FD8">
              <a:alpha val="45000"/>
            </a:srgbClr>
          </a:solidFill>
          <a:ln w="12700">
            <a:solidFill>
              <a:srgbClr val="1D6F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2926080" cy="2971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737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00C2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0" dirty="0"/>
          </a:p>
        </p:txBody>
      </p:sp>
      <p:sp>
        <p:nvSpPr>
          <p:cNvPr id="13" name="Shape 10"/>
          <p:cNvSpPr/>
          <p:nvPr/>
        </p:nvSpPr>
        <p:spPr>
          <a:xfrm>
            <a:off x="7360920" y="1600200"/>
            <a:ext cx="1188720" cy="1188720"/>
          </a:xfrm>
          <a:prstGeom prst="ellipse">
            <a:avLst/>
          </a:prstGeom>
          <a:solidFill>
            <a:srgbClr val="00C2FF">
              <a:alpha val="80000"/>
            </a:srgbClr>
          </a:solidFill>
          <a:ln w="12700">
            <a:solidFill>
              <a:srgbClr val="00C2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856232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2284936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Integraciones Especializadas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731520" y="31261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Conectividad total y automatización de comisiones.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731520" y="3720544"/>
            <a:ext cx="228600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ED8EA85C-F814-246D-0FCE-52E6CC183D05}"/>
              </a:ext>
            </a:extLst>
          </p:cNvPr>
          <p:cNvSpPr/>
          <p:nvPr/>
        </p:nvSpPr>
        <p:spPr>
          <a:xfrm>
            <a:off x="731520" y="1685410"/>
            <a:ext cx="2377440" cy="329184"/>
          </a:xfrm>
          <a:prstGeom prst="rect">
            <a:avLst/>
          </a:prstGeom>
          <a:solidFill>
            <a:srgbClr val="00C2FF">
              <a:alpha val="85000"/>
            </a:srgbClr>
          </a:solidFill>
          <a:ln w="12700">
            <a:solidFill>
              <a:srgbClr val="00C2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B7232FE-B038-2270-FD5F-3294477DA663}"/>
              </a:ext>
            </a:extLst>
          </p:cNvPr>
          <p:cNvSpPr/>
          <p:nvPr/>
        </p:nvSpPr>
        <p:spPr>
          <a:xfrm>
            <a:off x="731520" y="168541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 – 6.5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144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" y="1280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72768" y="164592"/>
            <a:ext cx="0" cy="411480"/>
          </a:xfrm>
          <a:prstGeom prst="line">
            <a:avLst/>
          </a:prstGeom>
          <a:noFill/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73736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INTEGRACIONES ESPECIALIZADAS  ·  MESES 4-6.5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2286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22860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crs-global.com  ·  Transformación Inteligente para un Mundo Digital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932688"/>
            <a:ext cx="50292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20040" y="932688"/>
            <a:ext cx="5029200" cy="585216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04241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6112" y="978408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Principales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1682496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566928" y="1847088"/>
            <a:ext cx="512064" cy="512064"/>
          </a:xfrm>
          <a:prstGeom prst="ellipse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97510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70432" y="174650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Bidireccional con Core Atio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70432" y="20299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tiempo real entre Odoo v19 y el sistema Core de Atio vía endpoints REST/JSON.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2670048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566928" y="2834640"/>
            <a:ext cx="512064" cy="51206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296265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70432" y="27340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Comisiones Automático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70432" y="301752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liquidación automática de comisiones a partners según matriz lógica definida.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657600"/>
            <a:ext cx="4773168" cy="841248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2"/>
          <p:cNvSpPr/>
          <p:nvPr/>
        </p:nvSpPr>
        <p:spPr>
          <a:xfrm>
            <a:off x="566928" y="3822192"/>
            <a:ext cx="512064" cy="512064"/>
          </a:xfrm>
          <a:prstGeom prst="ellipse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395020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70432" y="37216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Partners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1170432" y="400507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self-service para distribuidores: consulta de comisiones, pedidos y reportes en línea.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532120" y="932688"/>
            <a:ext cx="32918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Shape 26"/>
          <p:cNvSpPr/>
          <p:nvPr/>
        </p:nvSpPr>
        <p:spPr>
          <a:xfrm>
            <a:off x="5532120" y="932688"/>
            <a:ext cx="3291840" cy="585216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8" y="1042416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26480" y="9784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 ·  Semana 16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650992" y="1664208"/>
            <a:ext cx="3017520" cy="640080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0"/>
          <p:cNvSpPr/>
          <p:nvPr/>
        </p:nvSpPr>
        <p:spPr>
          <a:xfrm>
            <a:off x="5742432" y="1792224"/>
            <a:ext cx="365760" cy="365760"/>
          </a:xfrm>
          <a:prstGeom prst="ellipse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728" y="1883664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181344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 API Atio (Endpoints)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5650992" y="2432304"/>
            <a:ext cx="3017520" cy="640080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33"/>
          <p:cNvSpPr/>
          <p:nvPr/>
        </p:nvSpPr>
        <p:spPr>
          <a:xfrm>
            <a:off x="5742432" y="2560320"/>
            <a:ext cx="365760" cy="3657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4728" y="2651760"/>
            <a:ext cx="201168" cy="20116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181344" y="24323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lógica de cálculo de comisiones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5650992" y="3200400"/>
            <a:ext cx="3017520" cy="640080"/>
          </a:xfrm>
          <a:prstGeom prst="rect">
            <a:avLst/>
          </a:prstGeom>
          <a:solidFill>
            <a:srgbClr val="F0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36"/>
          <p:cNvSpPr/>
          <p:nvPr/>
        </p:nvSpPr>
        <p:spPr>
          <a:xfrm>
            <a:off x="5742432" y="3328416"/>
            <a:ext cx="365760" cy="365760"/>
          </a:xfrm>
          <a:prstGeom prst="ellipse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4728" y="3419856"/>
            <a:ext cx="201168" cy="20116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181344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bancarios para pagos masivos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5650992" y="3977640"/>
            <a:ext cx="3017520" cy="566928"/>
          </a:xfrm>
          <a:prstGeom prst="rect">
            <a:avLst/>
          </a:prstGeom>
          <a:solidFill>
            <a:srgbClr val="1A0F5C"/>
          </a:solidFill>
          <a:ln w="1016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0720" y="4087368"/>
            <a:ext cx="256032" cy="256032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108192" y="39776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bancarios para automatizar pagos masivos a partners.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1"/>
          <p:cNvSpPr/>
          <p:nvPr/>
        </p:nvSpPr>
        <p:spPr>
          <a:xfrm>
            <a:off x="2286000" y="-365760"/>
            <a:ext cx="3474720" cy="3474720"/>
          </a:xfrm>
          <a:prstGeom prst="ellipse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-731520" y="3474720"/>
            <a:ext cx="2926080" cy="2926080"/>
          </a:xfrm>
          <a:prstGeom prst="ellipse">
            <a:avLst/>
          </a:prstGeom>
          <a:solidFill>
            <a:srgbClr val="2D1B7E">
              <a:alpha val="30000"/>
            </a:srgbClr>
          </a:solidFill>
          <a:ln w="12700">
            <a:solidFill>
              <a:srgbClr val="2D1B7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144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" y="1280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72768" y="164592"/>
            <a:ext cx="0" cy="411480"/>
          </a:xfrm>
          <a:prstGeom prst="line">
            <a:avLst/>
          </a:prstGeom>
          <a:noFill/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737360" y="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ADOPCIÓN PRESENCIAL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2286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22860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crs-global.com  ·  Transformación Inteligente para un Mundo Digital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932688"/>
            <a:ext cx="4114800" cy="3767328"/>
          </a:xfrm>
          <a:prstGeom prst="rect">
            <a:avLst/>
          </a:prstGeom>
          <a:solidFill>
            <a:srgbClr val="1A0F5C"/>
          </a:solidFill>
          <a:ln w="12700">
            <a:solidFill>
              <a:srgbClr val="1A0F5C"/>
            </a:solidFill>
            <a:prstDash val="solid"/>
          </a:ln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15568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10789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Éxito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457200" y="1847088"/>
            <a:ext cx="3749040" cy="36576"/>
          </a:xfrm>
          <a:prstGeom prst="rect">
            <a:avLst/>
          </a:prstGeom>
          <a:solidFill>
            <a:srgbClr val="00C2FF">
              <a:alpha val="6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00C2FF">
              <a:alpha val="78000"/>
            </a:srgbClr>
          </a:solidFill>
          <a:ln w="12700">
            <a:solidFill>
              <a:srgbClr val="00C2FF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2221992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9264" y="2057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Usuarios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69264" y="231343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empleados de Atio inician operación real en Odoo al finalizar el Mes 2, sincronizado con el Go-Live administrativo.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57200" y="2999232"/>
            <a:ext cx="384048" cy="384048"/>
          </a:xfrm>
          <a:prstGeom prst="ellipse">
            <a:avLst/>
          </a:prstGeom>
          <a:solidFill>
            <a:srgbClr val="0EA5E9">
              <a:alpha val="78000"/>
            </a:srgbClr>
          </a:solidFill>
          <a:ln w="12700">
            <a:solidFill>
              <a:srgbClr val="0EA5E9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099816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9264" y="2935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Intensiva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69264" y="31912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presenciales en la Semana 7 y 8, cubiertas por nuestra célula especializada in situ en las instalaciones de Atio.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57200" y="3877056"/>
            <a:ext cx="384048" cy="384048"/>
          </a:xfrm>
          <a:prstGeom prst="ellipse">
            <a:avLst/>
          </a:prstGeom>
          <a:solidFill>
            <a:srgbClr val="00C2FF">
              <a:alpha val="78000"/>
            </a:srgbClr>
          </a:solidFill>
          <a:ln w="12700">
            <a:solidFill>
              <a:srgbClr val="00C2FF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977640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9264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Presencial Mes 3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969264" y="40690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primer mes de operación real, la célula brinda acompañamiento presencial para garantizar la adopción exitosa.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617720" y="932688"/>
            <a:ext cx="42062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25"/>
          <p:cNvSpPr/>
          <p:nvPr/>
        </p:nvSpPr>
        <p:spPr>
          <a:xfrm>
            <a:off x="4617720" y="932688"/>
            <a:ext cx="4206240" cy="5852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1042416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30368" y="97840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Adopción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285232" y="1627632"/>
            <a:ext cx="0" cy="2944368"/>
          </a:xfrm>
          <a:prstGeom prst="line">
            <a:avLst/>
          </a:prstGeom>
          <a:noFill/>
          <a:ln w="25400">
            <a:solidFill>
              <a:srgbClr val="00C2FF"/>
            </a:solidFill>
            <a:prstDash val="sysDot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29"/>
          <p:cNvSpPr/>
          <p:nvPr/>
        </p:nvSpPr>
        <p:spPr>
          <a:xfrm>
            <a:off x="5093208" y="1746504"/>
            <a:ext cx="384048" cy="384048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3792" y="1847088"/>
            <a:ext cx="182880" cy="182880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5605272" y="1709928"/>
            <a:ext cx="777240" cy="246888"/>
          </a:xfrm>
          <a:prstGeom prst="rect">
            <a:avLst/>
          </a:prstGeom>
          <a:solidFill>
            <a:srgbClr val="F59E0B">
              <a:alpha val="86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1"/>
          <p:cNvSpPr/>
          <p:nvPr/>
        </p:nvSpPr>
        <p:spPr>
          <a:xfrm>
            <a:off x="5605272" y="170992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1" name="Text 32"/>
          <p:cNvSpPr/>
          <p:nvPr/>
        </p:nvSpPr>
        <p:spPr>
          <a:xfrm>
            <a:off x="6473952" y="1691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Administrativo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6473952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empiezan a operar en Odoo.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5093208" y="2468880"/>
            <a:ext cx="384048" cy="384048"/>
          </a:xfrm>
          <a:prstGeom prst="ellipse">
            <a:avLst/>
          </a:prstGeom>
          <a:solidFill>
            <a:srgbClr val="1A0F5C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569464"/>
            <a:ext cx="182880" cy="182880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5605272" y="2432304"/>
            <a:ext cx="777240" cy="246888"/>
          </a:xfrm>
          <a:prstGeom prst="rect">
            <a:avLst/>
          </a:prstGeom>
          <a:solidFill>
            <a:srgbClr val="1A0F5C">
              <a:alpha val="86000"/>
            </a:srgbClr>
          </a:solidFill>
          <a:ln w="6350">
            <a:solidFill>
              <a:srgbClr val="1A0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36"/>
          <p:cNvSpPr/>
          <p:nvPr/>
        </p:nvSpPr>
        <p:spPr>
          <a:xfrm>
            <a:off x="5605272" y="243230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7-8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7" name="Text 37"/>
          <p:cNvSpPr/>
          <p:nvPr/>
        </p:nvSpPr>
        <p:spPr>
          <a:xfrm>
            <a:off x="6473952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Intensiva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6473952" y="26883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presenciales con toda la célula.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5093208" y="3191256"/>
            <a:ext cx="384048" cy="384048"/>
          </a:xfrm>
          <a:prstGeom prst="ellipse">
            <a:avLst/>
          </a:prstGeom>
          <a:solidFill>
            <a:srgbClr val="1E3A8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3291840"/>
            <a:ext cx="182880" cy="182880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5605272" y="3154680"/>
            <a:ext cx="777240" cy="246888"/>
          </a:xfrm>
          <a:prstGeom prst="rect">
            <a:avLst/>
          </a:prstGeom>
          <a:solidFill>
            <a:srgbClr val="1E3A8A">
              <a:alpha val="86000"/>
            </a:srgbClr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1"/>
          <p:cNvSpPr/>
          <p:nvPr/>
        </p:nvSpPr>
        <p:spPr>
          <a:xfrm>
            <a:off x="5605272" y="315468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53" name="Text 42"/>
          <p:cNvSpPr/>
          <p:nvPr/>
        </p:nvSpPr>
        <p:spPr>
          <a:xfrm>
            <a:off x="6473952" y="3136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Presencial</a:t>
            </a:r>
            <a:endParaRPr lang="en-US" sz="1000" dirty="0"/>
          </a:p>
        </p:txBody>
      </p:sp>
      <p:sp>
        <p:nvSpPr>
          <p:cNvPr id="54" name="Text 43"/>
          <p:cNvSpPr/>
          <p:nvPr/>
        </p:nvSpPr>
        <p:spPr>
          <a:xfrm>
            <a:off x="6473952" y="3410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in situ primer mes real.</a:t>
            </a:r>
            <a:endParaRPr lang="en-US" sz="850" dirty="0"/>
          </a:p>
        </p:txBody>
      </p:sp>
      <p:sp>
        <p:nvSpPr>
          <p:cNvPr id="55" name="Shape 44"/>
          <p:cNvSpPr/>
          <p:nvPr/>
        </p:nvSpPr>
        <p:spPr>
          <a:xfrm>
            <a:off x="5093208" y="3913632"/>
            <a:ext cx="384048" cy="384048"/>
          </a:xfrm>
          <a:prstGeom prst="ellipse">
            <a:avLst/>
          </a:prstGeom>
          <a:solidFill>
            <a:srgbClr val="1D6FD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3792" y="4014216"/>
            <a:ext cx="182880" cy="182880"/>
          </a:xfrm>
          <a:prstGeom prst="rect">
            <a:avLst/>
          </a:prstGeom>
        </p:spPr>
      </p:pic>
      <p:sp>
        <p:nvSpPr>
          <p:cNvPr id="57" name="Shape 45"/>
          <p:cNvSpPr/>
          <p:nvPr/>
        </p:nvSpPr>
        <p:spPr>
          <a:xfrm>
            <a:off x="5605272" y="3877056"/>
            <a:ext cx="777240" cy="246888"/>
          </a:xfrm>
          <a:prstGeom prst="rect">
            <a:avLst/>
          </a:prstGeom>
          <a:solidFill>
            <a:srgbClr val="1D6FD8">
              <a:alpha val="86000"/>
            </a:srgbClr>
          </a:solidFill>
          <a:ln w="6350">
            <a:solidFill>
              <a:srgbClr val="1D6F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46"/>
          <p:cNvSpPr/>
          <p:nvPr/>
        </p:nvSpPr>
        <p:spPr>
          <a:xfrm>
            <a:off x="5605272" y="387705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4+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59" name="Text 47"/>
          <p:cNvSpPr/>
          <p:nvPr/>
        </p:nvSpPr>
        <p:spPr>
          <a:xfrm>
            <a:off x="6473952" y="3858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Autónoma</a:t>
            </a:r>
            <a:endParaRPr lang="en-US" sz="1000" dirty="0"/>
          </a:p>
        </p:txBody>
      </p:sp>
      <p:sp>
        <p:nvSpPr>
          <p:cNvPr id="60" name="Text 48"/>
          <p:cNvSpPr/>
          <p:nvPr/>
        </p:nvSpPr>
        <p:spPr>
          <a:xfrm>
            <a:off x="6473952" y="4133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Atio opera de forma independiente.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2011680"/>
            <a:ext cx="6858000" cy="6858000"/>
          </a:xfrm>
          <a:prstGeom prst="ellipse">
            <a:avLst/>
          </a:prstGeom>
          <a:solidFill>
            <a:srgbClr val="2D1B7E"/>
          </a:solidFill>
          <a:ln w="12700">
            <a:solidFill>
              <a:srgbClr val="2D1B7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1E3A8A">
              <a:alpha val="45000"/>
            </a:srgbClr>
          </a:solidFill>
          <a:ln w="12700">
            <a:solidFill>
              <a:srgbClr val="1E3A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-2011680" y="2743200"/>
            <a:ext cx="5303520" cy="5303520"/>
          </a:xfrm>
          <a:prstGeom prst="ellipse">
            <a:avLst/>
          </a:prstGeom>
          <a:solidFill>
            <a:srgbClr val="2D1B7E">
              <a:alpha val="62000"/>
            </a:srgbClr>
          </a:solidFill>
          <a:ln w="12700">
            <a:solidFill>
              <a:srgbClr val="2D1B7E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943600" y="4846320"/>
            <a:ext cx="3200400" cy="2971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7375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846320"/>
            <a:ext cx="777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4846320"/>
            <a:ext cx="3657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crs-global.com</a:t>
            </a:r>
            <a:endParaRPr lang="en-US" sz="900" dirty="0"/>
          </a:p>
        </p:txBody>
      </p:sp>
      <p:pic>
        <p:nvPicPr>
          <p:cNvPr id="11" name="Image 1" descr="/home/claude/crs_assets/extract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3200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7200" y="1051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57200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arrancar el proyecto juntos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157984"/>
            <a:ext cx="2560320" cy="45720"/>
          </a:xfrm>
          <a:prstGeom prst="rect">
            <a:avLst/>
          </a:prstGeom>
          <a:solidFill>
            <a:srgbClr val="00C2FF">
              <a:alpha val="58000"/>
            </a:srgbClr>
          </a:solidFill>
          <a:ln w="12700">
            <a:solidFill>
              <a:srgbClr val="00C2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457200" y="2304288"/>
            <a:ext cx="4709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457200" y="2304288"/>
            <a:ext cx="64008" cy="6858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603504" y="2432304"/>
            <a:ext cx="429768" cy="42976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603504" y="243230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133856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Nombramiento de líderes de área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33856" y="26334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 Group designa a los responsables por área que serán los puntos de contacto durante el proyecto.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7200" y="3108960"/>
            <a:ext cx="4709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9"/>
          <p:cNvSpPr/>
          <p:nvPr/>
        </p:nvSpPr>
        <p:spPr>
          <a:xfrm>
            <a:off x="457200" y="3108960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603504" y="3236976"/>
            <a:ext cx="429768" cy="4297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603504" y="32369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133856" y="3163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del Paquete Fase 1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33856" y="343814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 entrega el "Paquete de Información Fase 1": el checklist inicial con todos los insumos requeridos en la Semana 1.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57200" y="3913632"/>
            <a:ext cx="4709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5"/>
          <p:cNvSpPr/>
          <p:nvPr/>
        </p:nvSpPr>
        <p:spPr>
          <a:xfrm>
            <a:off x="457200" y="3913632"/>
            <a:ext cx="64008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6"/>
          <p:cNvSpPr/>
          <p:nvPr/>
        </p:nvSpPr>
        <p:spPr>
          <a:xfrm>
            <a:off x="603504" y="4041648"/>
            <a:ext cx="429768" cy="42976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603504" y="404164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1133856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Oficial del Proyecto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1133856" y="424281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inaugural con toda la célula y los líderes de Atio para alinear expectativas, cronograma y compromisos.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5413248" y="292608"/>
            <a:ext cx="3456432" cy="4434840"/>
          </a:xfrm>
          <a:prstGeom prst="rect">
            <a:avLst/>
          </a:prstGeom>
          <a:solidFill>
            <a:srgbClr val="1E3A8A">
              <a:alpha val="72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1"/>
          <p:cNvSpPr/>
          <p:nvPr/>
        </p:nvSpPr>
        <p:spPr>
          <a:xfrm>
            <a:off x="5413248" y="292608"/>
            <a:ext cx="3456432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2"/>
          <p:cNvSpPr/>
          <p:nvPr/>
        </p:nvSpPr>
        <p:spPr>
          <a:xfrm>
            <a:off x="5504688" y="5486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¡Listos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Kick-off!</a:t>
            </a:r>
            <a:endParaRPr lang="en-US" sz="3000" dirty="0"/>
          </a:p>
        </p:txBody>
      </p:sp>
      <p:sp>
        <p:nvSpPr>
          <p:cNvPr id="37" name="Shape 33"/>
          <p:cNvSpPr/>
          <p:nvPr/>
        </p:nvSpPr>
        <p:spPr>
          <a:xfrm>
            <a:off x="5989320" y="2697480"/>
            <a:ext cx="2286000" cy="45720"/>
          </a:xfrm>
          <a:prstGeom prst="rect">
            <a:avLst/>
          </a:prstGeom>
          <a:solidFill>
            <a:srgbClr val="00C2FF">
              <a:alpha val="68000"/>
            </a:srgbClr>
          </a:solidFill>
          <a:ln w="12700">
            <a:solidFill>
              <a:srgbClr val="00C2FF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/>
          <p:nvPr/>
        </p:nvSpPr>
        <p:spPr>
          <a:xfrm>
            <a:off x="5504688" y="2834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Dolores Martínez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5504688" y="3200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Global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5504688" y="35478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C2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Inteligente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00C2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Mundo Digital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291072" y="4224528"/>
            <a:ext cx="1783080" cy="1783080"/>
          </a:xfrm>
          <a:prstGeom prst="ellipse">
            <a:avLst/>
          </a:prstGeom>
          <a:solidFill>
            <a:srgbClr val="00C2FF">
              <a:alpha val="18000"/>
            </a:srgbClr>
          </a:solidFill>
          <a:ln w="12700">
            <a:solidFill>
              <a:srgbClr val="00C2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572000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900</Words>
  <Application>Microsoft Office PowerPoint</Application>
  <PresentationFormat>Presentación en pantalla (16:9)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Atio Group — Transformación Digital Odoo v19 · CRS</dc:title>
  <dc:subject>PptxGenJS Presentation</dc:subject>
  <dc:creator>PptxGenJS</dc:creator>
  <cp:lastModifiedBy>Eduardo Acevedo Garcia</cp:lastModifiedBy>
  <cp:revision>21</cp:revision>
  <dcterms:created xsi:type="dcterms:W3CDTF">2026-02-20T06:52:36Z</dcterms:created>
  <dcterms:modified xsi:type="dcterms:W3CDTF">2026-02-20T08:27:32Z</dcterms:modified>
</cp:coreProperties>
</file>